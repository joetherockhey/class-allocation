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Poppins Heavy" charset="1" panose="00000A00000000000000"/>
      <p:regular r:id="rId27"/>
    </p:embeddedFont>
    <p:embeddedFont>
      <p:font typeface="Poppins Semi-Bold" charset="1" panose="00000700000000000000"/>
      <p:regular r:id="rId28"/>
    </p:embeddedFont>
    <p:embeddedFont>
      <p:font typeface="Poppins" charset="1" panose="00000500000000000000"/>
      <p:regular r:id="rId29"/>
    </p:embeddedFont>
    <p:embeddedFont>
      <p:font typeface="Poppins Ultra-Bold" charset="1" panose="00000900000000000000"/>
      <p:regular r:id="rId30"/>
    </p:embeddedFont>
    <p:embeddedFont>
      <p:font typeface="Poppins Bold" charset="1" panose="00000800000000000000"/>
      <p:regular r:id="rId31"/>
    </p:embeddedFont>
    <p:embeddedFont>
      <p:font typeface="Milestone Script" charset="1" panose="00000000000000000000"/>
      <p:regular r:id="rId32"/>
    </p:embeddedFont>
    <p:embeddedFont>
      <p:font typeface="Jack in the Box" charset="1" panose="030006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94066" y="-422976"/>
            <a:ext cx="10247257" cy="12119945"/>
            <a:chOff x="0" y="0"/>
            <a:chExt cx="649285" cy="767942"/>
          </a:xfrm>
        </p:grpSpPr>
        <p:sp>
          <p:nvSpPr>
            <p:cNvPr name="Freeform 3" id="3"/>
            <p:cNvSpPr/>
            <p:nvPr/>
          </p:nvSpPr>
          <p:spPr>
            <a:xfrm flipH="false" flipV="false" rot="0">
              <a:off x="0" y="0"/>
              <a:ext cx="649285" cy="767942"/>
            </a:xfrm>
            <a:custGeom>
              <a:avLst/>
              <a:gdLst/>
              <a:ahLst/>
              <a:cxnLst/>
              <a:rect r="r" b="b" t="t" l="l"/>
              <a:pathLst>
                <a:path h="767942" w="649285">
                  <a:moveTo>
                    <a:pt x="0" y="0"/>
                  </a:moveTo>
                  <a:lnTo>
                    <a:pt x="649285" y="0"/>
                  </a:lnTo>
                  <a:lnTo>
                    <a:pt x="649285" y="767942"/>
                  </a:lnTo>
                  <a:lnTo>
                    <a:pt x="0" y="767942"/>
                  </a:lnTo>
                  <a:close/>
                </a:path>
              </a:pathLst>
            </a:custGeom>
            <a:gradFill rotWithShape="true">
              <a:gsLst>
                <a:gs pos="0">
                  <a:srgbClr val="841F0B">
                    <a:alpha val="100000"/>
                  </a:srgbClr>
                </a:gs>
                <a:gs pos="100000">
                  <a:srgbClr val="F80118">
                    <a:alpha val="100000"/>
                  </a:srgbClr>
                </a:gs>
              </a:gsLst>
              <a:lin ang="0"/>
            </a:gradFill>
          </p:spPr>
        </p:sp>
        <p:sp>
          <p:nvSpPr>
            <p:cNvPr name="TextBox 4" id="4"/>
            <p:cNvSpPr txBox="true"/>
            <p:nvPr/>
          </p:nvSpPr>
          <p:spPr>
            <a:xfrm>
              <a:off x="0" y="28575"/>
              <a:ext cx="649285" cy="739367"/>
            </a:xfrm>
            <a:prstGeom prst="rect">
              <a:avLst/>
            </a:prstGeom>
          </p:spPr>
          <p:txBody>
            <a:bodyPr anchor="ctr" rtlCol="false" tIns="50800" lIns="50800" bIns="50800" rIns="50800"/>
            <a:lstStyle/>
            <a:p>
              <a:pPr algn="ctr">
                <a:lnSpc>
                  <a:spcPts val="1919"/>
                </a:lnSpc>
              </a:pPr>
            </a:p>
          </p:txBody>
        </p:sp>
      </p:grpSp>
      <p:grpSp>
        <p:nvGrpSpPr>
          <p:cNvPr name="Group 5" id="5"/>
          <p:cNvGrpSpPr/>
          <p:nvPr/>
        </p:nvGrpSpPr>
        <p:grpSpPr>
          <a:xfrm rot="0">
            <a:off x="9144000" y="-823190"/>
            <a:ext cx="10956449" cy="12119945"/>
            <a:chOff x="0" y="0"/>
            <a:chExt cx="694220" cy="767942"/>
          </a:xfrm>
        </p:grpSpPr>
        <p:sp>
          <p:nvSpPr>
            <p:cNvPr name="Freeform 6" id="6"/>
            <p:cNvSpPr/>
            <p:nvPr/>
          </p:nvSpPr>
          <p:spPr>
            <a:xfrm flipH="false" flipV="false" rot="0">
              <a:off x="0" y="0"/>
              <a:ext cx="694220" cy="767942"/>
            </a:xfrm>
            <a:custGeom>
              <a:avLst/>
              <a:gdLst/>
              <a:ahLst/>
              <a:cxnLst/>
              <a:rect r="r" b="b" t="t" l="l"/>
              <a:pathLst>
                <a:path h="767942" w="694220">
                  <a:moveTo>
                    <a:pt x="0" y="0"/>
                  </a:moveTo>
                  <a:lnTo>
                    <a:pt x="694220" y="0"/>
                  </a:lnTo>
                  <a:lnTo>
                    <a:pt x="694220" y="767942"/>
                  </a:lnTo>
                  <a:lnTo>
                    <a:pt x="0" y="767942"/>
                  </a:lnTo>
                  <a:close/>
                </a:path>
              </a:pathLst>
            </a:custGeom>
            <a:gradFill rotWithShape="true">
              <a:gsLst>
                <a:gs pos="0">
                  <a:srgbClr val="4ABD28">
                    <a:alpha val="100000"/>
                  </a:srgbClr>
                </a:gs>
                <a:gs pos="100000">
                  <a:srgbClr val="008601">
                    <a:alpha val="100000"/>
                  </a:srgbClr>
                </a:gs>
              </a:gsLst>
              <a:lin ang="0"/>
            </a:gradFill>
          </p:spPr>
        </p:sp>
        <p:sp>
          <p:nvSpPr>
            <p:cNvPr name="TextBox 7" id="7"/>
            <p:cNvSpPr txBox="true"/>
            <p:nvPr/>
          </p:nvSpPr>
          <p:spPr>
            <a:xfrm>
              <a:off x="0" y="28575"/>
              <a:ext cx="694220" cy="739367"/>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229430" y="-3412012"/>
            <a:ext cx="17254647" cy="17254647"/>
          </a:xfrm>
          <a:custGeom>
            <a:avLst/>
            <a:gdLst/>
            <a:ahLst/>
            <a:cxnLst/>
            <a:rect r="r" b="b" t="t" l="l"/>
            <a:pathLst>
              <a:path h="17254647" w="17254647">
                <a:moveTo>
                  <a:pt x="0" y="0"/>
                </a:moveTo>
                <a:lnTo>
                  <a:pt x="17254648" y="0"/>
                </a:lnTo>
                <a:lnTo>
                  <a:pt x="17254648" y="17254647"/>
                </a:lnTo>
                <a:lnTo>
                  <a:pt x="0" y="17254647"/>
                </a:lnTo>
                <a:lnTo>
                  <a:pt x="0" y="0"/>
                </a:lnTo>
                <a:close/>
              </a:path>
            </a:pathLst>
          </a:custGeom>
          <a:blipFill>
            <a:blip r:embed="rId2">
              <a:alphaModFix amt="78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4">
              <a:alphaModFix amt="65000"/>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028700" y="-745535"/>
            <a:ext cx="19447556" cy="12765064"/>
            <a:chOff x="0" y="0"/>
            <a:chExt cx="25930075" cy="17020085"/>
          </a:xfrm>
        </p:grpSpPr>
        <p:sp>
          <p:nvSpPr>
            <p:cNvPr name="Freeform 11" id="11"/>
            <p:cNvSpPr/>
            <p:nvPr/>
          </p:nvSpPr>
          <p:spPr>
            <a:xfrm flipH="false" flipV="false" rot="0">
              <a:off x="399947" y="0"/>
              <a:ext cx="25530127" cy="17020085"/>
            </a:xfrm>
            <a:custGeom>
              <a:avLst/>
              <a:gdLst/>
              <a:ahLst/>
              <a:cxnLst/>
              <a:rect r="r" b="b" t="t" l="l"/>
              <a:pathLst>
                <a:path h="17020085" w="25530127">
                  <a:moveTo>
                    <a:pt x="0" y="0"/>
                  </a:moveTo>
                  <a:lnTo>
                    <a:pt x="25530128" y="0"/>
                  </a:lnTo>
                  <a:lnTo>
                    <a:pt x="25530128" y="17020085"/>
                  </a:lnTo>
                  <a:lnTo>
                    <a:pt x="0" y="17020085"/>
                  </a:lnTo>
                  <a:lnTo>
                    <a:pt x="0" y="0"/>
                  </a:lnTo>
                  <a:close/>
                </a:path>
              </a:pathLst>
            </a:custGeom>
            <a:blipFill>
              <a:blip r:embed="rId6">
                <a:alphaModFix amt="37000"/>
              </a:blip>
              <a:stretch>
                <a:fillRect l="0" t="0" r="0" b="0"/>
              </a:stretch>
            </a:blipFill>
          </p:spPr>
        </p:sp>
        <p:sp>
          <p:nvSpPr>
            <p:cNvPr name="Freeform 12" id="12"/>
            <p:cNvSpPr/>
            <p:nvPr/>
          </p:nvSpPr>
          <p:spPr>
            <a:xfrm flipH="false" flipV="false" rot="0">
              <a:off x="0" y="0"/>
              <a:ext cx="25530127" cy="17020085"/>
            </a:xfrm>
            <a:custGeom>
              <a:avLst/>
              <a:gdLst/>
              <a:ahLst/>
              <a:cxnLst/>
              <a:rect r="r" b="b" t="t" l="l"/>
              <a:pathLst>
                <a:path h="17020085" w="25530127">
                  <a:moveTo>
                    <a:pt x="0" y="0"/>
                  </a:moveTo>
                  <a:lnTo>
                    <a:pt x="25530127" y="0"/>
                  </a:lnTo>
                  <a:lnTo>
                    <a:pt x="25530127" y="17020085"/>
                  </a:lnTo>
                  <a:lnTo>
                    <a:pt x="0" y="17020085"/>
                  </a:lnTo>
                  <a:lnTo>
                    <a:pt x="0" y="0"/>
                  </a:lnTo>
                  <a:close/>
                </a:path>
              </a:pathLst>
            </a:custGeom>
            <a:blipFill>
              <a:blip r:embed="rId7"/>
              <a:stretch>
                <a:fillRect l="0" t="0" r="0" b="0"/>
              </a:stretch>
            </a:blipFill>
          </p:spPr>
        </p:sp>
      </p:grpSp>
      <p:sp>
        <p:nvSpPr>
          <p:cNvPr name="Freeform 13" id="13"/>
          <p:cNvSpPr/>
          <p:nvPr/>
        </p:nvSpPr>
        <p:spPr>
          <a:xfrm flipH="false" flipV="false" rot="0">
            <a:off x="-1479981" y="6089755"/>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7227382" y="9258300"/>
            <a:ext cx="3833236" cy="4031369"/>
            <a:chOff x="0" y="0"/>
            <a:chExt cx="338931" cy="356449"/>
          </a:xfrm>
        </p:grpSpPr>
        <p:sp>
          <p:nvSpPr>
            <p:cNvPr name="Freeform 15" id="15"/>
            <p:cNvSpPr/>
            <p:nvPr/>
          </p:nvSpPr>
          <p:spPr>
            <a:xfrm flipH="false" flipV="false" rot="0">
              <a:off x="0" y="0"/>
              <a:ext cx="338931" cy="356449"/>
            </a:xfrm>
            <a:custGeom>
              <a:avLst/>
              <a:gdLst/>
              <a:ahLst/>
              <a:cxnLst/>
              <a:rect r="r" b="b" t="t" l="l"/>
              <a:pathLst>
                <a:path h="356449" w="338931">
                  <a:moveTo>
                    <a:pt x="119919" y="0"/>
                  </a:moveTo>
                  <a:lnTo>
                    <a:pt x="219012" y="0"/>
                  </a:lnTo>
                  <a:cubicBezTo>
                    <a:pt x="285241" y="0"/>
                    <a:pt x="338931" y="53689"/>
                    <a:pt x="338931" y="119919"/>
                  </a:cubicBezTo>
                  <a:lnTo>
                    <a:pt x="338931" y="236531"/>
                  </a:lnTo>
                  <a:cubicBezTo>
                    <a:pt x="338931" y="302760"/>
                    <a:pt x="285241" y="356449"/>
                    <a:pt x="219012" y="356449"/>
                  </a:cubicBezTo>
                  <a:lnTo>
                    <a:pt x="119919" y="356449"/>
                  </a:lnTo>
                  <a:cubicBezTo>
                    <a:pt x="53689" y="356449"/>
                    <a:pt x="0" y="302760"/>
                    <a:pt x="0" y="236531"/>
                  </a:cubicBezTo>
                  <a:lnTo>
                    <a:pt x="0" y="119919"/>
                  </a:lnTo>
                  <a:cubicBezTo>
                    <a:pt x="0" y="53689"/>
                    <a:pt x="53689" y="0"/>
                    <a:pt x="11991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16" id="16"/>
            <p:cNvSpPr txBox="true"/>
            <p:nvPr/>
          </p:nvSpPr>
          <p:spPr>
            <a:xfrm>
              <a:off x="0" y="-38100"/>
              <a:ext cx="338931" cy="394549"/>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256455" y="793800"/>
            <a:ext cx="5770136" cy="3307821"/>
          </a:xfrm>
          <a:prstGeom prst="rect">
            <a:avLst/>
          </a:prstGeom>
        </p:spPr>
        <p:txBody>
          <a:bodyPr anchor="t" rtlCol="false" tIns="0" lIns="0" bIns="0" rIns="0">
            <a:spAutoFit/>
          </a:bodyPr>
          <a:lstStyle/>
          <a:p>
            <a:pPr algn="l">
              <a:lnSpc>
                <a:spcPts val="12172"/>
              </a:lnSpc>
            </a:pPr>
            <a:r>
              <a:rPr lang="en-US" sz="12812" b="true">
                <a:solidFill>
                  <a:srgbClr val="FFFFFF"/>
                </a:solidFill>
                <a:latin typeface="Poppins Heavy"/>
                <a:ea typeface="Poppins Heavy"/>
                <a:cs typeface="Poppins Heavy"/>
                <a:sym typeface="Poppins Heavy"/>
              </a:rPr>
              <a:t>RED FLAG</a:t>
            </a:r>
          </a:p>
        </p:txBody>
      </p:sp>
      <p:grpSp>
        <p:nvGrpSpPr>
          <p:cNvPr name="Group 18" id="18"/>
          <p:cNvGrpSpPr/>
          <p:nvPr/>
        </p:nvGrpSpPr>
        <p:grpSpPr>
          <a:xfrm rot="112350">
            <a:off x="3104164" y="6207708"/>
            <a:ext cx="12046580" cy="948610"/>
            <a:chOff x="0" y="0"/>
            <a:chExt cx="605413" cy="47673"/>
          </a:xfrm>
        </p:grpSpPr>
        <p:sp>
          <p:nvSpPr>
            <p:cNvPr name="Freeform 19" id="19"/>
            <p:cNvSpPr/>
            <p:nvPr/>
          </p:nvSpPr>
          <p:spPr>
            <a:xfrm flipH="false" flipV="false" rot="0">
              <a:off x="0" y="0"/>
              <a:ext cx="605413" cy="47673"/>
            </a:xfrm>
            <a:custGeom>
              <a:avLst/>
              <a:gdLst/>
              <a:ahLst/>
              <a:cxnLst/>
              <a:rect r="r" b="b" t="t" l="l"/>
              <a:pathLst>
                <a:path h="47673" w="605413">
                  <a:moveTo>
                    <a:pt x="23837" y="0"/>
                  </a:moveTo>
                  <a:lnTo>
                    <a:pt x="581577" y="0"/>
                  </a:lnTo>
                  <a:cubicBezTo>
                    <a:pt x="594741" y="0"/>
                    <a:pt x="605413" y="10672"/>
                    <a:pt x="605413" y="23837"/>
                  </a:cubicBezTo>
                  <a:lnTo>
                    <a:pt x="605413" y="23837"/>
                  </a:lnTo>
                  <a:cubicBezTo>
                    <a:pt x="605413" y="30159"/>
                    <a:pt x="602902" y="36222"/>
                    <a:pt x="598432" y="40692"/>
                  </a:cubicBezTo>
                  <a:cubicBezTo>
                    <a:pt x="593961" y="45162"/>
                    <a:pt x="587898" y="47673"/>
                    <a:pt x="581577" y="47673"/>
                  </a:cubicBezTo>
                  <a:lnTo>
                    <a:pt x="23837" y="47673"/>
                  </a:lnTo>
                  <a:cubicBezTo>
                    <a:pt x="17515" y="47673"/>
                    <a:pt x="11452" y="45162"/>
                    <a:pt x="6982" y="40692"/>
                  </a:cubicBezTo>
                  <a:cubicBezTo>
                    <a:pt x="2511" y="36222"/>
                    <a:pt x="0" y="30159"/>
                    <a:pt x="0" y="23837"/>
                  </a:cubicBezTo>
                  <a:lnTo>
                    <a:pt x="0" y="23837"/>
                  </a:lnTo>
                  <a:cubicBezTo>
                    <a:pt x="0" y="17515"/>
                    <a:pt x="2511" y="11452"/>
                    <a:pt x="6982" y="6982"/>
                  </a:cubicBezTo>
                  <a:cubicBezTo>
                    <a:pt x="11452" y="2511"/>
                    <a:pt x="17515" y="0"/>
                    <a:pt x="23837" y="0"/>
                  </a:cubicBezTo>
                  <a:close/>
                </a:path>
              </a:pathLst>
            </a:custGeom>
            <a:solidFill>
              <a:srgbClr val="FFFFFF"/>
            </a:solidFill>
          </p:spPr>
        </p:sp>
        <p:sp>
          <p:nvSpPr>
            <p:cNvPr name="TextBox 20" id="20"/>
            <p:cNvSpPr txBox="true"/>
            <p:nvPr/>
          </p:nvSpPr>
          <p:spPr>
            <a:xfrm>
              <a:off x="0" y="28575"/>
              <a:ext cx="605413" cy="19098"/>
            </a:xfrm>
            <a:prstGeom prst="rect">
              <a:avLst/>
            </a:prstGeom>
          </p:spPr>
          <p:txBody>
            <a:bodyPr anchor="ctr" rtlCol="false" tIns="40921" lIns="40921" bIns="40921" rIns="40921"/>
            <a:lstStyle/>
            <a:p>
              <a:pPr algn="ctr">
                <a:lnSpc>
                  <a:spcPts val="1919"/>
                </a:lnSpc>
              </a:pPr>
            </a:p>
          </p:txBody>
        </p:sp>
      </p:grpSp>
      <p:sp>
        <p:nvSpPr>
          <p:cNvPr name="TextBox 21" id="21"/>
          <p:cNvSpPr txBox="true"/>
          <p:nvPr/>
        </p:nvSpPr>
        <p:spPr>
          <a:xfrm rot="98403">
            <a:off x="3216605" y="6260900"/>
            <a:ext cx="11970800" cy="780133"/>
          </a:xfrm>
          <a:prstGeom prst="rect">
            <a:avLst/>
          </a:prstGeom>
        </p:spPr>
        <p:txBody>
          <a:bodyPr anchor="t" rtlCol="false" tIns="0" lIns="0" bIns="0" rIns="0">
            <a:spAutoFit/>
          </a:bodyPr>
          <a:lstStyle/>
          <a:p>
            <a:pPr algn="ctr">
              <a:lnSpc>
                <a:spcPts val="5722"/>
              </a:lnSpc>
            </a:pPr>
            <a:r>
              <a:rPr lang="en-US" b="true" sz="5155">
                <a:gradFill>
                  <a:gsLst>
                    <a:gs pos="0">
                      <a:srgbClr val="85200C">
                        <a:alpha val="100000"/>
                      </a:srgbClr>
                    </a:gs>
                    <a:gs pos="100000">
                      <a:srgbClr val="DC4B0F">
                        <a:alpha val="100000"/>
                      </a:srgbClr>
                    </a:gs>
                  </a:gsLst>
                  <a:lin ang="0"/>
                </a:gradFill>
                <a:latin typeface="Poppins Heavy"/>
                <a:ea typeface="Poppins Heavy"/>
                <a:cs typeface="Poppins Heavy"/>
                <a:sym typeface="Poppins Heavy"/>
              </a:rPr>
              <a:t>Be a teammate you wish you had!</a:t>
            </a:r>
          </a:p>
        </p:txBody>
      </p:sp>
      <p:sp>
        <p:nvSpPr>
          <p:cNvPr name="TextBox 22" id="22"/>
          <p:cNvSpPr txBox="true"/>
          <p:nvPr/>
        </p:nvSpPr>
        <p:spPr>
          <a:xfrm rot="0">
            <a:off x="11306199" y="793800"/>
            <a:ext cx="5770136" cy="3311926"/>
          </a:xfrm>
          <a:prstGeom prst="rect">
            <a:avLst/>
          </a:prstGeom>
        </p:spPr>
        <p:txBody>
          <a:bodyPr anchor="t" rtlCol="false" tIns="0" lIns="0" bIns="0" rIns="0">
            <a:spAutoFit/>
          </a:bodyPr>
          <a:lstStyle/>
          <a:p>
            <a:pPr algn="r">
              <a:lnSpc>
                <a:spcPts val="12171"/>
              </a:lnSpc>
            </a:pPr>
            <a:r>
              <a:rPr lang="en-US" sz="12812" b="true">
                <a:solidFill>
                  <a:srgbClr val="FFFFFF"/>
                </a:solidFill>
                <a:latin typeface="Poppins Heavy"/>
                <a:ea typeface="Poppins Heavy"/>
                <a:cs typeface="Poppins Heavy"/>
                <a:sym typeface="Poppins Heavy"/>
              </a:rPr>
              <a:t>GREEN FLAG</a:t>
            </a:r>
          </a:p>
        </p:txBody>
      </p:sp>
      <p:sp>
        <p:nvSpPr>
          <p:cNvPr name="Freeform 23" id="23"/>
          <p:cNvSpPr/>
          <p:nvPr/>
        </p:nvSpPr>
        <p:spPr>
          <a:xfrm flipH="false" flipV="false" rot="0">
            <a:off x="7743200" y="9300930"/>
            <a:ext cx="2345131" cy="1127237"/>
          </a:xfrm>
          <a:custGeom>
            <a:avLst/>
            <a:gdLst/>
            <a:ahLst/>
            <a:cxnLst/>
            <a:rect r="r" b="b" t="t" l="l"/>
            <a:pathLst>
              <a:path h="1127237" w="2345131">
                <a:moveTo>
                  <a:pt x="0" y="0"/>
                </a:moveTo>
                <a:lnTo>
                  <a:pt x="2345131" y="0"/>
                </a:lnTo>
                <a:lnTo>
                  <a:pt x="2345131" y="1127237"/>
                </a:lnTo>
                <a:lnTo>
                  <a:pt x="0" y="1127237"/>
                </a:lnTo>
                <a:lnTo>
                  <a:pt x="0" y="0"/>
                </a:lnTo>
                <a:close/>
              </a:path>
            </a:pathLst>
          </a:custGeom>
          <a:blipFill>
            <a:blip r:embed="rId10"/>
            <a:stretch>
              <a:fillRect l="0" t="-15579" r="0" b="0"/>
            </a:stretch>
          </a:blipFill>
        </p:spPr>
      </p:sp>
      <p:grpSp>
        <p:nvGrpSpPr>
          <p:cNvPr name="Group 24" id="24"/>
          <p:cNvGrpSpPr/>
          <p:nvPr/>
        </p:nvGrpSpPr>
        <p:grpSpPr>
          <a:xfrm rot="0">
            <a:off x="3589083" y="7162357"/>
            <a:ext cx="10876641" cy="1041891"/>
            <a:chOff x="0" y="0"/>
            <a:chExt cx="14502188" cy="1389187"/>
          </a:xfrm>
        </p:grpSpPr>
        <p:grpSp>
          <p:nvGrpSpPr>
            <p:cNvPr name="Group 25" id="25"/>
            <p:cNvGrpSpPr/>
            <p:nvPr/>
          </p:nvGrpSpPr>
          <p:grpSpPr>
            <a:xfrm rot="112350">
              <a:off x="11120" y="236087"/>
              <a:ext cx="14465332" cy="917012"/>
              <a:chOff x="0" y="0"/>
              <a:chExt cx="605413" cy="38379"/>
            </a:xfrm>
          </p:grpSpPr>
          <p:sp>
            <p:nvSpPr>
              <p:cNvPr name="Freeform 26" id="26"/>
              <p:cNvSpPr/>
              <p:nvPr/>
            </p:nvSpPr>
            <p:spPr>
              <a:xfrm flipH="false" flipV="false" rot="0">
                <a:off x="0" y="0"/>
                <a:ext cx="605413" cy="38379"/>
              </a:xfrm>
              <a:custGeom>
                <a:avLst/>
                <a:gdLst/>
                <a:ahLst/>
                <a:cxnLst/>
                <a:rect r="r" b="b" t="t" l="l"/>
                <a:pathLst>
                  <a:path h="38379" w="605413">
                    <a:moveTo>
                      <a:pt x="19190" y="0"/>
                    </a:moveTo>
                    <a:lnTo>
                      <a:pt x="586224" y="0"/>
                    </a:lnTo>
                    <a:cubicBezTo>
                      <a:pt x="591313" y="0"/>
                      <a:pt x="596194" y="2022"/>
                      <a:pt x="599793" y="5621"/>
                    </a:cubicBezTo>
                    <a:cubicBezTo>
                      <a:pt x="603391" y="9219"/>
                      <a:pt x="605413" y="14100"/>
                      <a:pt x="605413" y="19190"/>
                    </a:cubicBezTo>
                    <a:lnTo>
                      <a:pt x="605413" y="19190"/>
                    </a:lnTo>
                    <a:cubicBezTo>
                      <a:pt x="605413" y="24279"/>
                      <a:pt x="603391" y="29160"/>
                      <a:pt x="599793" y="32759"/>
                    </a:cubicBezTo>
                    <a:cubicBezTo>
                      <a:pt x="596194" y="36358"/>
                      <a:pt x="591313" y="38379"/>
                      <a:pt x="586224" y="38379"/>
                    </a:cubicBezTo>
                    <a:lnTo>
                      <a:pt x="19190" y="38379"/>
                    </a:lnTo>
                    <a:cubicBezTo>
                      <a:pt x="14100" y="38379"/>
                      <a:pt x="9219" y="36358"/>
                      <a:pt x="5621" y="32759"/>
                    </a:cubicBezTo>
                    <a:cubicBezTo>
                      <a:pt x="2022" y="29160"/>
                      <a:pt x="0" y="24279"/>
                      <a:pt x="0" y="19190"/>
                    </a:cubicBezTo>
                    <a:lnTo>
                      <a:pt x="0" y="19190"/>
                    </a:lnTo>
                    <a:cubicBezTo>
                      <a:pt x="0" y="14100"/>
                      <a:pt x="2022" y="9219"/>
                      <a:pt x="5621" y="5621"/>
                    </a:cubicBezTo>
                    <a:cubicBezTo>
                      <a:pt x="9219" y="2022"/>
                      <a:pt x="14100" y="0"/>
                      <a:pt x="19190" y="0"/>
                    </a:cubicBezTo>
                    <a:close/>
                  </a:path>
                </a:pathLst>
              </a:custGeom>
              <a:solidFill>
                <a:srgbClr val="FFFFFF"/>
              </a:solidFill>
            </p:spPr>
          </p:sp>
          <p:sp>
            <p:nvSpPr>
              <p:cNvPr name="TextBox 27" id="27"/>
              <p:cNvSpPr txBox="true"/>
              <p:nvPr/>
            </p:nvSpPr>
            <p:spPr>
              <a:xfrm>
                <a:off x="0" y="28575"/>
                <a:ext cx="605413" cy="9804"/>
              </a:xfrm>
              <a:prstGeom prst="rect">
                <a:avLst/>
              </a:prstGeom>
            </p:spPr>
            <p:txBody>
              <a:bodyPr anchor="ctr" rtlCol="false" tIns="50800" lIns="50800" bIns="50800" rIns="50800"/>
              <a:lstStyle/>
              <a:p>
                <a:pPr algn="ctr">
                  <a:lnSpc>
                    <a:spcPts val="1919"/>
                  </a:lnSpc>
                </a:pPr>
              </a:p>
            </p:txBody>
          </p:sp>
        </p:grpSp>
        <p:sp>
          <p:nvSpPr>
            <p:cNvPr name="TextBox 28" id="28"/>
            <p:cNvSpPr txBox="true"/>
            <p:nvPr/>
          </p:nvSpPr>
          <p:spPr>
            <a:xfrm rot="109406">
              <a:off x="121924" y="341245"/>
              <a:ext cx="14374336" cy="620450"/>
            </a:xfrm>
            <a:prstGeom prst="rect">
              <a:avLst/>
            </a:prstGeom>
          </p:spPr>
          <p:txBody>
            <a:bodyPr anchor="t" rtlCol="false" tIns="0" lIns="0" bIns="0" rIns="0">
              <a:spAutoFit/>
            </a:bodyPr>
            <a:lstStyle/>
            <a:p>
              <a:pPr algn="ctr">
                <a:lnSpc>
                  <a:spcPts val="3370"/>
                </a:lnSpc>
              </a:pPr>
              <a:r>
                <a:rPr lang="en-US" b="true" sz="3036">
                  <a:gradFill>
                    <a:gsLst>
                      <a:gs pos="0">
                        <a:srgbClr val="85200C">
                          <a:alpha val="100000"/>
                        </a:srgbClr>
                      </a:gs>
                      <a:gs pos="100000">
                        <a:srgbClr val="DC4B0F">
                          <a:alpha val="100000"/>
                        </a:srgbClr>
                      </a:gs>
                    </a:gsLst>
                    <a:lin ang="0"/>
                  </a:gradFill>
                  <a:latin typeface="Poppins Heavy"/>
                  <a:ea typeface="Poppins Heavy"/>
                  <a:cs typeface="Poppins Heavy"/>
                  <a:sym typeface="Poppins Heavy"/>
                </a:rPr>
                <a:t>Developed and facilitated by students – for students</a:t>
              </a:r>
            </a:p>
          </p:txBody>
        </p:sp>
      </p:grpSp>
      <p:sp>
        <p:nvSpPr>
          <p:cNvPr name="TextBox 29" id="29"/>
          <p:cNvSpPr txBox="true"/>
          <p:nvPr/>
        </p:nvSpPr>
        <p:spPr>
          <a:xfrm rot="0">
            <a:off x="591083" y="9082165"/>
            <a:ext cx="6360074" cy="872490"/>
          </a:xfrm>
          <a:prstGeom prst="rect">
            <a:avLst/>
          </a:prstGeom>
        </p:spPr>
        <p:txBody>
          <a:bodyPr anchor="t" rtlCol="false" tIns="0" lIns="0" bIns="0" rIns="0">
            <a:spAutoFit/>
          </a:bodyPr>
          <a:lstStyle/>
          <a:p>
            <a:pPr algn="l">
              <a:lnSpc>
                <a:spcPts val="3330"/>
              </a:lnSpc>
            </a:pPr>
            <a:r>
              <a:rPr lang="en-US" sz="3000" b="true">
                <a:solidFill>
                  <a:srgbClr val="FFFFFF"/>
                </a:solidFill>
                <a:latin typeface="Poppins Heavy"/>
                <a:ea typeface="Poppins Heavy"/>
                <a:cs typeface="Poppins Heavy"/>
                <a:sym typeface="Poppins Heavy"/>
              </a:rPr>
              <a:t>From</a:t>
            </a:r>
            <a:r>
              <a:rPr lang="en-US" sz="3000" b="true">
                <a:solidFill>
                  <a:srgbClr val="FFFFFF"/>
                </a:solidFill>
                <a:latin typeface="Poppins Heavy"/>
                <a:ea typeface="Poppins Heavy"/>
                <a:cs typeface="Poppins Heavy"/>
                <a:sym typeface="Poppins Heavy"/>
              </a:rPr>
              <a:t> WORK3601 to BUSS1000 | Teamwork and peer feedback</a:t>
            </a:r>
          </a:p>
        </p:txBody>
      </p:sp>
      <p:sp>
        <p:nvSpPr>
          <p:cNvPr name="TextBox 30" id="30"/>
          <p:cNvSpPr txBox="true"/>
          <p:nvPr/>
        </p:nvSpPr>
        <p:spPr>
          <a:xfrm rot="0">
            <a:off x="11363349" y="9005584"/>
            <a:ext cx="6662300" cy="939546"/>
          </a:xfrm>
          <a:prstGeom prst="rect">
            <a:avLst/>
          </a:prstGeom>
        </p:spPr>
        <p:txBody>
          <a:bodyPr anchor="t" rtlCol="false" tIns="0" lIns="0" bIns="0" rIns="0">
            <a:spAutoFit/>
          </a:bodyPr>
          <a:lstStyle/>
          <a:p>
            <a:pPr algn="l">
              <a:lnSpc>
                <a:spcPts val="2441"/>
              </a:lnSpc>
            </a:pPr>
            <a:r>
              <a:rPr lang="en-US" sz="2199" b="true">
                <a:solidFill>
                  <a:srgbClr val="FFFFFF"/>
                </a:solidFill>
                <a:latin typeface="Poppins Heavy"/>
                <a:ea typeface="Poppins Heavy"/>
                <a:cs typeface="Poppins Heavy"/>
                <a:sym typeface="Poppins Heavy"/>
              </a:rPr>
              <a:t>6 scenarios.</a:t>
            </a:r>
            <a:r>
              <a:rPr lang="en-US" sz="2199" b="true">
                <a:solidFill>
                  <a:srgbClr val="FFFFFF"/>
                </a:solidFill>
                <a:latin typeface="Poppins Heavy"/>
                <a:ea typeface="Poppins Heavy"/>
                <a:cs typeface="Poppins Heavy"/>
                <a:sym typeface="Poppins Heavy"/>
              </a:rPr>
              <a:t> They get harder as you go. Move to the side of the room that matches your call, then be ready to say why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5980" y="247933"/>
            <a:ext cx="20365243" cy="13542886"/>
          </a:xfrm>
          <a:custGeom>
            <a:avLst/>
            <a:gdLst/>
            <a:ahLst/>
            <a:cxnLst/>
            <a:rect r="r" b="b" t="t" l="l"/>
            <a:pathLst>
              <a:path h="13542886" w="20365243">
                <a:moveTo>
                  <a:pt x="0" y="0"/>
                </a:moveTo>
                <a:lnTo>
                  <a:pt x="20365242" y="0"/>
                </a:lnTo>
                <a:lnTo>
                  <a:pt x="20365242" y="13542887"/>
                </a:lnTo>
                <a:lnTo>
                  <a:pt x="0" y="13542887"/>
                </a:lnTo>
                <a:lnTo>
                  <a:pt x="0" y="0"/>
                </a:lnTo>
                <a:close/>
              </a:path>
            </a:pathLst>
          </a:custGeom>
          <a:blipFill>
            <a:blip r:embed="rId4">
              <a:alphaModFix amt="29000"/>
            </a:blip>
            <a:stretch>
              <a:fillRect l="0" t="0" r="0" b="0"/>
            </a:stretch>
          </a:blipFill>
        </p:spPr>
      </p:sp>
      <p:sp>
        <p:nvSpPr>
          <p:cNvPr name="Freeform 4" id="4"/>
          <p:cNvSpPr/>
          <p:nvPr/>
        </p:nvSpPr>
        <p:spPr>
          <a:xfrm flipH="false" flipV="false" rot="0">
            <a:off x="-368380" y="95533"/>
            <a:ext cx="20365243" cy="13542886"/>
          </a:xfrm>
          <a:custGeom>
            <a:avLst/>
            <a:gdLst/>
            <a:ahLst/>
            <a:cxnLst/>
            <a:rect r="r" b="b" t="t" l="l"/>
            <a:pathLst>
              <a:path h="13542886" w="20365243">
                <a:moveTo>
                  <a:pt x="0" y="0"/>
                </a:moveTo>
                <a:lnTo>
                  <a:pt x="20365242" y="0"/>
                </a:lnTo>
                <a:lnTo>
                  <a:pt x="20365242" y="13542887"/>
                </a:lnTo>
                <a:lnTo>
                  <a:pt x="0" y="13542887"/>
                </a:lnTo>
                <a:lnTo>
                  <a:pt x="0" y="0"/>
                </a:lnTo>
                <a:close/>
              </a:path>
            </a:pathLst>
          </a:custGeom>
          <a:blipFill>
            <a:blip r:embed="rId5"/>
            <a:stretch>
              <a:fillRect l="0" t="0" r="0" b="0"/>
            </a:stretch>
          </a:blipFill>
        </p:spPr>
      </p:sp>
      <p:sp>
        <p:nvSpPr>
          <p:cNvPr name="Freeform 5" id="5"/>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415994" y="9258300"/>
            <a:ext cx="4387595" cy="2093523"/>
            <a:chOff x="0" y="0"/>
            <a:chExt cx="5850127" cy="2791364"/>
          </a:xfrm>
        </p:grpSpPr>
        <p:grpSp>
          <p:nvGrpSpPr>
            <p:cNvPr name="Group 7" id="7"/>
            <p:cNvGrpSpPr/>
            <p:nvPr/>
          </p:nvGrpSpPr>
          <p:grpSpPr>
            <a:xfrm rot="0">
              <a:off x="0" y="0"/>
              <a:ext cx="5850127" cy="2791364"/>
              <a:chOff x="0" y="0"/>
              <a:chExt cx="902797" cy="430766"/>
            </a:xfrm>
          </p:grpSpPr>
          <p:sp>
            <p:nvSpPr>
              <p:cNvPr name="Freeform 8" id="8"/>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9" id="9"/>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10" id="10"/>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8"/>
              <a:stretch>
                <a:fillRect l="0" t="-15579" r="0" b="0"/>
              </a:stretch>
            </a:blipFill>
          </p:spPr>
        </p:sp>
      </p:grpSp>
      <p:grpSp>
        <p:nvGrpSpPr>
          <p:cNvPr name="Group 11" id="11"/>
          <p:cNvGrpSpPr/>
          <p:nvPr/>
        </p:nvGrpSpPr>
        <p:grpSpPr>
          <a:xfrm rot="0">
            <a:off x="3162265" y="9258300"/>
            <a:ext cx="11963470" cy="4031369"/>
            <a:chOff x="0" y="0"/>
            <a:chExt cx="1057797" cy="356449"/>
          </a:xfrm>
        </p:grpSpPr>
        <p:sp>
          <p:nvSpPr>
            <p:cNvPr name="Freeform 12" id="12"/>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3" id="13"/>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3874565" y="9023776"/>
            <a:ext cx="2263079" cy="2785329"/>
            <a:chOff x="0" y="0"/>
            <a:chExt cx="660400" cy="812800"/>
          </a:xfrm>
        </p:grpSpPr>
        <p:sp>
          <p:nvSpPr>
            <p:cNvPr name="Freeform 15" id="15"/>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6" id="16"/>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7" id="17"/>
          <p:cNvGrpSpPr/>
          <p:nvPr/>
        </p:nvGrpSpPr>
        <p:grpSpPr>
          <a:xfrm rot="0">
            <a:off x="2206700" y="1354940"/>
            <a:ext cx="13640468" cy="2911629"/>
            <a:chOff x="0" y="0"/>
            <a:chExt cx="18187291" cy="3882171"/>
          </a:xfrm>
        </p:grpSpPr>
        <p:grpSp>
          <p:nvGrpSpPr>
            <p:cNvPr name="Group 18" id="18"/>
            <p:cNvGrpSpPr/>
            <p:nvPr/>
          </p:nvGrpSpPr>
          <p:grpSpPr>
            <a:xfrm rot="158860">
              <a:off x="467910" y="633497"/>
              <a:ext cx="16973194" cy="2559252"/>
              <a:chOff x="0" y="0"/>
              <a:chExt cx="1448129" cy="218352"/>
            </a:xfrm>
          </p:grpSpPr>
          <p:sp>
            <p:nvSpPr>
              <p:cNvPr name="Freeform 19" id="19"/>
              <p:cNvSpPr/>
              <p:nvPr/>
            </p:nvSpPr>
            <p:spPr>
              <a:xfrm flipH="false" flipV="false" rot="0">
                <a:off x="0" y="0"/>
                <a:ext cx="1448129" cy="218352"/>
              </a:xfrm>
              <a:custGeom>
                <a:avLst/>
                <a:gdLst/>
                <a:ahLst/>
                <a:cxnLst/>
                <a:rect r="r" b="b" t="t" l="l"/>
                <a:pathLst>
                  <a:path h="218352" w="1448129">
                    <a:moveTo>
                      <a:pt x="9027" y="0"/>
                    </a:moveTo>
                    <a:lnTo>
                      <a:pt x="1439102" y="0"/>
                    </a:lnTo>
                    <a:cubicBezTo>
                      <a:pt x="1444087" y="0"/>
                      <a:pt x="1448129" y="4042"/>
                      <a:pt x="1448129" y="9027"/>
                    </a:cubicBezTo>
                    <a:lnTo>
                      <a:pt x="1448129" y="209324"/>
                    </a:lnTo>
                    <a:cubicBezTo>
                      <a:pt x="1448129" y="211718"/>
                      <a:pt x="1447178" y="214015"/>
                      <a:pt x="1445485" y="215708"/>
                    </a:cubicBezTo>
                    <a:cubicBezTo>
                      <a:pt x="1443792" y="217401"/>
                      <a:pt x="1441496" y="218352"/>
                      <a:pt x="1439102" y="218352"/>
                    </a:cubicBezTo>
                    <a:lnTo>
                      <a:pt x="9027" y="218352"/>
                    </a:lnTo>
                    <a:cubicBezTo>
                      <a:pt x="6633" y="218352"/>
                      <a:pt x="4337" y="217401"/>
                      <a:pt x="2644" y="215708"/>
                    </a:cubicBezTo>
                    <a:cubicBezTo>
                      <a:pt x="951" y="214015"/>
                      <a:pt x="0" y="211718"/>
                      <a:pt x="0" y="209324"/>
                    </a:cubicBezTo>
                    <a:lnTo>
                      <a:pt x="0" y="9027"/>
                    </a:lnTo>
                    <a:cubicBezTo>
                      <a:pt x="0" y="6633"/>
                      <a:pt x="951" y="4337"/>
                      <a:pt x="2644" y="2644"/>
                    </a:cubicBezTo>
                    <a:cubicBezTo>
                      <a:pt x="4337" y="951"/>
                      <a:pt x="6633" y="0"/>
                      <a:pt x="9027" y="0"/>
                    </a:cubicBezTo>
                    <a:close/>
                  </a:path>
                </a:pathLst>
              </a:custGeom>
              <a:gradFill rotWithShape="true">
                <a:gsLst>
                  <a:gs pos="0">
                    <a:srgbClr val="841F0B">
                      <a:alpha val="100000"/>
                    </a:srgbClr>
                  </a:gs>
                  <a:gs pos="100000">
                    <a:srgbClr val="DA4610">
                      <a:alpha val="100000"/>
                    </a:srgbClr>
                  </a:gs>
                </a:gsLst>
                <a:lin ang="0"/>
              </a:gradFill>
            </p:spPr>
          </p:sp>
          <p:sp>
            <p:nvSpPr>
              <p:cNvPr name="TextBox 20" id="20"/>
              <p:cNvSpPr txBox="true"/>
              <p:nvPr/>
            </p:nvSpPr>
            <p:spPr>
              <a:xfrm>
                <a:off x="0" y="28575"/>
                <a:ext cx="1448129" cy="189777"/>
              </a:xfrm>
              <a:prstGeom prst="rect">
                <a:avLst/>
              </a:prstGeom>
            </p:spPr>
            <p:txBody>
              <a:bodyPr anchor="ctr" rtlCol="false" tIns="80937" lIns="80937" bIns="80937" rIns="80937"/>
              <a:lstStyle/>
              <a:p>
                <a:pPr algn="ctr">
                  <a:lnSpc>
                    <a:spcPts val="1919"/>
                  </a:lnSpc>
                </a:pPr>
              </a:p>
            </p:txBody>
          </p:sp>
        </p:grpSp>
        <p:sp>
          <p:nvSpPr>
            <p:cNvPr name="TextBox 21" id="21"/>
            <p:cNvSpPr txBox="true"/>
            <p:nvPr/>
          </p:nvSpPr>
          <p:spPr>
            <a:xfrm rot="204077">
              <a:off x="61705" y="732873"/>
              <a:ext cx="18052012" cy="2616099"/>
            </a:xfrm>
            <a:prstGeom prst="rect">
              <a:avLst/>
            </a:prstGeom>
          </p:spPr>
          <p:txBody>
            <a:bodyPr anchor="t" rtlCol="false" tIns="0" lIns="0" bIns="0" rIns="0">
              <a:spAutoFit/>
            </a:bodyPr>
            <a:lstStyle/>
            <a:p>
              <a:pPr algn="ctr">
                <a:lnSpc>
                  <a:spcPts val="13178"/>
                </a:lnSpc>
              </a:pPr>
              <a:r>
                <a:rPr lang="en-US" sz="13871" b="true">
                  <a:solidFill>
                    <a:srgbClr val="FFFFFF"/>
                  </a:solidFill>
                  <a:latin typeface="Poppins Heavy"/>
                  <a:ea typeface="Poppins Heavy"/>
                  <a:cs typeface="Poppins Heavy"/>
                  <a:sym typeface="Poppins Heavy"/>
                </a:rPr>
                <a:t>Introduction</a:t>
              </a:r>
            </a:p>
          </p:txBody>
        </p:sp>
      </p:grpSp>
      <p:sp>
        <p:nvSpPr>
          <p:cNvPr name="TextBox 22" id="22"/>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01</a:t>
            </a:r>
          </a:p>
        </p:txBody>
      </p:sp>
      <p:sp>
        <p:nvSpPr>
          <p:cNvPr name="TextBox 23" id="23"/>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4" id="24"/>
          <p:cNvSpPr txBox="true"/>
          <p:nvPr/>
        </p:nvSpPr>
        <p:spPr>
          <a:xfrm rot="0">
            <a:off x="3298212" y="4337153"/>
            <a:ext cx="11457444" cy="2003206"/>
          </a:xfrm>
          <a:prstGeom prst="rect">
            <a:avLst/>
          </a:prstGeom>
        </p:spPr>
        <p:txBody>
          <a:bodyPr anchor="t" rtlCol="false" tIns="0" lIns="0" bIns="0" rIns="0">
            <a:spAutoFit/>
          </a:bodyPr>
          <a:lstStyle/>
          <a:p>
            <a:pPr algn="ctr">
              <a:lnSpc>
                <a:spcPts val="5021"/>
              </a:lnSpc>
            </a:pPr>
            <a:r>
              <a:rPr lang="en-US" sz="5285" b="true">
                <a:solidFill>
                  <a:srgbClr val="FFFFFF"/>
                </a:solidFill>
                <a:latin typeface="Poppins Semi-Bold"/>
                <a:ea typeface="Poppins Semi-Bold"/>
                <a:cs typeface="Poppins Semi-Bold"/>
                <a:sym typeface="Poppins Semi-Bold"/>
              </a:rPr>
              <a:t>Who are we? Final year students with Management &amp; Leadership as a major/minor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2627462" y="715282"/>
            <a:ext cx="12893842" cy="1817747"/>
            <a:chOff x="0" y="0"/>
            <a:chExt cx="17191789" cy="2423662"/>
          </a:xfrm>
        </p:grpSpPr>
        <p:grpSp>
          <p:nvGrpSpPr>
            <p:cNvPr name="Group 16" id="16"/>
            <p:cNvGrpSpPr/>
            <p:nvPr/>
          </p:nvGrpSpPr>
          <p:grpSpPr>
            <a:xfrm rot="158860">
              <a:off x="342028" y="371106"/>
              <a:ext cx="16105908" cy="1675677"/>
              <a:chOff x="0" y="0"/>
              <a:chExt cx="1598752" cy="166336"/>
            </a:xfrm>
          </p:grpSpPr>
          <p:sp>
            <p:nvSpPr>
              <p:cNvPr name="Freeform 17" id="17"/>
              <p:cNvSpPr/>
              <p:nvPr/>
            </p:nvSpPr>
            <p:spPr>
              <a:xfrm flipH="false" flipV="false" rot="0">
                <a:off x="0" y="0"/>
                <a:ext cx="1598752" cy="166336"/>
              </a:xfrm>
              <a:custGeom>
                <a:avLst/>
                <a:gdLst/>
                <a:ahLst/>
                <a:cxnLst/>
                <a:rect r="r" b="b" t="t" l="l"/>
                <a:pathLst>
                  <a:path h="166336" w="1598752">
                    <a:moveTo>
                      <a:pt x="8177" y="0"/>
                    </a:moveTo>
                    <a:lnTo>
                      <a:pt x="1590575" y="0"/>
                    </a:lnTo>
                    <a:cubicBezTo>
                      <a:pt x="1595091" y="0"/>
                      <a:pt x="1598752" y="3661"/>
                      <a:pt x="1598752" y="8177"/>
                    </a:cubicBezTo>
                    <a:lnTo>
                      <a:pt x="1598752" y="158159"/>
                    </a:lnTo>
                    <a:cubicBezTo>
                      <a:pt x="1598752" y="162675"/>
                      <a:pt x="1595091" y="166336"/>
                      <a:pt x="1590575" y="166336"/>
                    </a:cubicBezTo>
                    <a:lnTo>
                      <a:pt x="8177" y="166336"/>
                    </a:lnTo>
                    <a:cubicBezTo>
                      <a:pt x="3661" y="166336"/>
                      <a:pt x="0" y="162675"/>
                      <a:pt x="0" y="158159"/>
                    </a:cubicBezTo>
                    <a:lnTo>
                      <a:pt x="0" y="8177"/>
                    </a:lnTo>
                    <a:cubicBezTo>
                      <a:pt x="0" y="3661"/>
                      <a:pt x="3661" y="0"/>
                      <a:pt x="8177" y="0"/>
                    </a:cubicBezTo>
                    <a:close/>
                  </a:path>
                </a:pathLst>
              </a:custGeom>
              <a:gradFill rotWithShape="true">
                <a:gsLst>
                  <a:gs pos="0">
                    <a:srgbClr val="841F0B">
                      <a:alpha val="100000"/>
                    </a:srgbClr>
                  </a:gs>
                  <a:gs pos="100000">
                    <a:srgbClr val="DA4610">
                      <a:alpha val="100000"/>
                    </a:srgbClr>
                  </a:gs>
                </a:gsLst>
                <a:lin ang="0"/>
              </a:gradFill>
            </p:spPr>
          </p:sp>
          <p:sp>
            <p:nvSpPr>
              <p:cNvPr name="TextBox 18" id="18"/>
              <p:cNvSpPr txBox="true"/>
              <p:nvPr/>
            </p:nvSpPr>
            <p:spPr>
              <a:xfrm>
                <a:off x="0" y="28575"/>
                <a:ext cx="1598752" cy="137761"/>
              </a:xfrm>
              <a:prstGeom prst="rect">
                <a:avLst/>
              </a:prstGeom>
            </p:spPr>
            <p:txBody>
              <a:bodyPr anchor="ctr" rtlCol="false" tIns="80937" lIns="80937" bIns="80937" rIns="80937"/>
              <a:lstStyle/>
              <a:p>
                <a:pPr algn="ctr">
                  <a:lnSpc>
                    <a:spcPts val="1919"/>
                  </a:lnSpc>
                </a:pPr>
              </a:p>
            </p:txBody>
          </p:sp>
        </p:grpSp>
        <p:sp>
          <p:nvSpPr>
            <p:cNvPr name="TextBox 19" id="19"/>
            <p:cNvSpPr txBox="true"/>
            <p:nvPr/>
          </p:nvSpPr>
          <p:spPr>
            <a:xfrm rot="141634">
              <a:off x="24873" y="510574"/>
              <a:ext cx="17136944" cy="1560831"/>
            </a:xfrm>
            <a:prstGeom prst="rect">
              <a:avLst/>
            </a:prstGeom>
          </p:spPr>
          <p:txBody>
            <a:bodyPr anchor="t" rtlCol="false" tIns="0" lIns="0" bIns="0" rIns="0">
              <a:spAutoFit/>
            </a:bodyPr>
            <a:lstStyle/>
            <a:p>
              <a:pPr algn="ctr">
                <a:lnSpc>
                  <a:spcPts val="7920"/>
                </a:lnSpc>
              </a:pPr>
              <a:r>
                <a:rPr lang="en-US" sz="8337" b="true">
                  <a:solidFill>
                    <a:srgbClr val="FFFFFF"/>
                  </a:solidFill>
                  <a:latin typeface="Poppins Heavy"/>
                  <a:ea typeface="Poppins Heavy"/>
                  <a:cs typeface="Poppins Heavy"/>
                  <a:sym typeface="Poppins Heavy"/>
                </a:rPr>
                <a:t>LEARNING OUTCOMES </a:t>
              </a:r>
            </a:p>
          </p:txBody>
        </p:sp>
      </p:grpSp>
      <p:sp>
        <p:nvSpPr>
          <p:cNvPr name="TextBox 20" id="20"/>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02</a:t>
            </a:r>
          </a:p>
        </p:txBody>
      </p:sp>
      <p:sp>
        <p:nvSpPr>
          <p:cNvPr name="TextBox 21" id="21"/>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grpSp>
        <p:nvGrpSpPr>
          <p:cNvPr name="Group 22" id="22"/>
          <p:cNvGrpSpPr/>
          <p:nvPr/>
        </p:nvGrpSpPr>
        <p:grpSpPr>
          <a:xfrm rot="0">
            <a:off x="3175974" y="2535570"/>
            <a:ext cx="11466222" cy="1932753"/>
            <a:chOff x="0" y="0"/>
            <a:chExt cx="1429057" cy="240883"/>
          </a:xfrm>
        </p:grpSpPr>
        <p:sp>
          <p:nvSpPr>
            <p:cNvPr name="Freeform 23" id="23"/>
            <p:cNvSpPr/>
            <p:nvPr/>
          </p:nvSpPr>
          <p:spPr>
            <a:xfrm flipH="false" flipV="false" rot="0">
              <a:off x="0" y="0"/>
              <a:ext cx="1429057" cy="240883"/>
            </a:xfrm>
            <a:custGeom>
              <a:avLst/>
              <a:gdLst/>
              <a:ahLst/>
              <a:cxnLst/>
              <a:rect r="r" b="b" t="t" l="l"/>
              <a:pathLst>
                <a:path h="240883" w="1429057">
                  <a:moveTo>
                    <a:pt x="6330" y="0"/>
                  </a:moveTo>
                  <a:lnTo>
                    <a:pt x="1422727" y="0"/>
                  </a:lnTo>
                  <a:cubicBezTo>
                    <a:pt x="1426223" y="0"/>
                    <a:pt x="1429057" y="2834"/>
                    <a:pt x="1429057" y="6330"/>
                  </a:cubicBezTo>
                  <a:lnTo>
                    <a:pt x="1429057" y="234553"/>
                  </a:lnTo>
                  <a:cubicBezTo>
                    <a:pt x="1429057" y="236231"/>
                    <a:pt x="1428390" y="237841"/>
                    <a:pt x="1427203" y="239029"/>
                  </a:cubicBezTo>
                  <a:cubicBezTo>
                    <a:pt x="1426016" y="240216"/>
                    <a:pt x="1424405" y="240883"/>
                    <a:pt x="1422727" y="240883"/>
                  </a:cubicBezTo>
                  <a:lnTo>
                    <a:pt x="6330" y="240883"/>
                  </a:lnTo>
                  <a:cubicBezTo>
                    <a:pt x="2834" y="240883"/>
                    <a:pt x="0" y="238049"/>
                    <a:pt x="0" y="234553"/>
                  </a:cubicBezTo>
                  <a:lnTo>
                    <a:pt x="0" y="6330"/>
                  </a:lnTo>
                  <a:cubicBezTo>
                    <a:pt x="0" y="4651"/>
                    <a:pt x="667" y="3041"/>
                    <a:pt x="1854" y="1854"/>
                  </a:cubicBezTo>
                  <a:cubicBezTo>
                    <a:pt x="3041" y="667"/>
                    <a:pt x="4651" y="0"/>
                    <a:pt x="6330" y="0"/>
                  </a:cubicBezTo>
                  <a:close/>
                </a:path>
              </a:pathLst>
            </a:custGeom>
            <a:gradFill rotWithShape="true">
              <a:gsLst>
                <a:gs pos="0">
                  <a:srgbClr val="FFFFFF">
                    <a:alpha val="100000"/>
                  </a:srgbClr>
                </a:gs>
                <a:gs pos="100000">
                  <a:srgbClr val="FFFFFF">
                    <a:alpha val="0"/>
                  </a:srgbClr>
                </a:gs>
              </a:gsLst>
              <a:lin ang="0"/>
            </a:gradFill>
          </p:spPr>
        </p:sp>
        <p:sp>
          <p:nvSpPr>
            <p:cNvPr name="TextBox 24" id="24"/>
            <p:cNvSpPr txBox="true"/>
            <p:nvPr/>
          </p:nvSpPr>
          <p:spPr>
            <a:xfrm>
              <a:off x="0" y="28575"/>
              <a:ext cx="1429057" cy="212308"/>
            </a:xfrm>
            <a:prstGeom prst="rect">
              <a:avLst/>
            </a:prstGeom>
          </p:spPr>
          <p:txBody>
            <a:bodyPr anchor="ctr" rtlCol="false" tIns="40741" lIns="40741" bIns="40741" rIns="40741"/>
            <a:lstStyle/>
            <a:p>
              <a:pPr algn="ctr">
                <a:lnSpc>
                  <a:spcPts val="1919"/>
                </a:lnSpc>
              </a:pPr>
            </a:p>
          </p:txBody>
        </p:sp>
      </p:grpSp>
      <p:grpSp>
        <p:nvGrpSpPr>
          <p:cNvPr name="Group 25" id="25"/>
          <p:cNvGrpSpPr/>
          <p:nvPr/>
        </p:nvGrpSpPr>
        <p:grpSpPr>
          <a:xfrm rot="0">
            <a:off x="3025216" y="2526362"/>
            <a:ext cx="267763" cy="1968990"/>
            <a:chOff x="0" y="0"/>
            <a:chExt cx="56993" cy="419100"/>
          </a:xfrm>
        </p:grpSpPr>
        <p:sp>
          <p:nvSpPr>
            <p:cNvPr name="Freeform 26" id="26"/>
            <p:cNvSpPr/>
            <p:nvPr/>
          </p:nvSpPr>
          <p:spPr>
            <a:xfrm flipH="false" flipV="false" rot="0">
              <a:off x="0" y="0"/>
              <a:ext cx="56993" cy="419100"/>
            </a:xfrm>
            <a:custGeom>
              <a:avLst/>
              <a:gdLst/>
              <a:ahLst/>
              <a:cxnLst/>
              <a:rect r="r" b="b" t="t" l="l"/>
              <a:pathLst>
                <a:path h="419100" w="56993">
                  <a:moveTo>
                    <a:pt x="28497" y="0"/>
                  </a:moveTo>
                  <a:lnTo>
                    <a:pt x="28497" y="0"/>
                  </a:lnTo>
                  <a:cubicBezTo>
                    <a:pt x="36055" y="0"/>
                    <a:pt x="43303" y="3002"/>
                    <a:pt x="48647" y="8346"/>
                  </a:cubicBezTo>
                  <a:cubicBezTo>
                    <a:pt x="53991" y="13691"/>
                    <a:pt x="56993" y="20939"/>
                    <a:pt x="56993" y="28497"/>
                  </a:cubicBezTo>
                  <a:lnTo>
                    <a:pt x="56993" y="390603"/>
                  </a:lnTo>
                  <a:cubicBezTo>
                    <a:pt x="56993" y="406342"/>
                    <a:pt x="44235" y="419100"/>
                    <a:pt x="28497" y="419100"/>
                  </a:cubicBezTo>
                  <a:lnTo>
                    <a:pt x="28497" y="419100"/>
                  </a:lnTo>
                  <a:cubicBezTo>
                    <a:pt x="12758" y="419100"/>
                    <a:pt x="0" y="406342"/>
                    <a:pt x="0" y="390603"/>
                  </a:cubicBezTo>
                  <a:lnTo>
                    <a:pt x="0" y="28497"/>
                  </a:lnTo>
                  <a:cubicBezTo>
                    <a:pt x="0" y="12758"/>
                    <a:pt x="12758" y="0"/>
                    <a:pt x="28497" y="0"/>
                  </a:cubicBezTo>
                  <a:close/>
                </a:path>
              </a:pathLst>
            </a:custGeom>
            <a:solidFill>
              <a:srgbClr val="6E3125"/>
            </a:solidFill>
          </p:spPr>
        </p:sp>
        <p:sp>
          <p:nvSpPr>
            <p:cNvPr name="TextBox 27" id="27"/>
            <p:cNvSpPr txBox="true"/>
            <p:nvPr/>
          </p:nvSpPr>
          <p:spPr>
            <a:xfrm>
              <a:off x="0" y="28575"/>
              <a:ext cx="56993" cy="390525"/>
            </a:xfrm>
            <a:prstGeom prst="rect">
              <a:avLst/>
            </a:prstGeom>
          </p:spPr>
          <p:txBody>
            <a:bodyPr anchor="ctr" rtlCol="false" tIns="49108" lIns="49108" bIns="49108" rIns="49108"/>
            <a:lstStyle/>
            <a:p>
              <a:pPr algn="ctr">
                <a:lnSpc>
                  <a:spcPts val="1919"/>
                </a:lnSpc>
              </a:pPr>
            </a:p>
          </p:txBody>
        </p:sp>
      </p:grpSp>
      <p:sp>
        <p:nvSpPr>
          <p:cNvPr name="TextBox 28" id="28"/>
          <p:cNvSpPr txBox="true"/>
          <p:nvPr/>
        </p:nvSpPr>
        <p:spPr>
          <a:xfrm rot="0">
            <a:off x="3519154" y="2838761"/>
            <a:ext cx="10870554" cy="1247736"/>
          </a:xfrm>
          <a:prstGeom prst="rect">
            <a:avLst/>
          </a:prstGeom>
        </p:spPr>
        <p:txBody>
          <a:bodyPr anchor="t" rtlCol="false" tIns="0" lIns="0" bIns="0" rIns="0">
            <a:spAutoFit/>
          </a:bodyPr>
          <a:lstStyle/>
          <a:p>
            <a:pPr algn="l">
              <a:lnSpc>
                <a:spcPts val="3516"/>
              </a:lnSpc>
            </a:pPr>
            <a:r>
              <a:rPr lang="en-US" sz="3286" b="true">
                <a:solidFill>
                  <a:srgbClr val="6E3125"/>
                </a:solidFill>
                <a:latin typeface="Poppins Heavy"/>
                <a:ea typeface="Poppins Heavy"/>
                <a:cs typeface="Poppins Heavy"/>
                <a:sym typeface="Poppins Heavy"/>
              </a:rPr>
              <a:t>We are here to help you learn from our mistakes! </a:t>
            </a:r>
          </a:p>
          <a:p>
            <a:pPr algn="l">
              <a:lnSpc>
                <a:spcPts val="3516"/>
              </a:lnSpc>
            </a:pPr>
            <a:r>
              <a:rPr lang="en-US" sz="3286" b="true">
                <a:solidFill>
                  <a:srgbClr val="6E3125"/>
                </a:solidFill>
                <a:latin typeface="Poppins Heavy"/>
                <a:ea typeface="Poppins Heavy"/>
                <a:cs typeface="Poppins Heavy"/>
                <a:sym typeface="Poppins Heavy"/>
              </a:rPr>
              <a:t>And we will do our best  </a:t>
            </a:r>
          </a:p>
          <a:p>
            <a:pPr algn="l">
              <a:lnSpc>
                <a:spcPts val="2660"/>
              </a:lnSpc>
            </a:pPr>
            <a:r>
              <a:rPr lang="en-US" sz="2486" b="true">
                <a:solidFill>
                  <a:srgbClr val="6E3125"/>
                </a:solidFill>
                <a:latin typeface="Poppins Heavy"/>
                <a:ea typeface="Poppins Heavy"/>
                <a:cs typeface="Poppins Heavy"/>
                <a:sym typeface="Poppins Heavy"/>
              </a:rPr>
              <a:t>(also, this is our assignment – so be merciful and play with us )</a:t>
            </a:r>
          </a:p>
        </p:txBody>
      </p:sp>
      <p:grpSp>
        <p:nvGrpSpPr>
          <p:cNvPr name="Group 29" id="29"/>
          <p:cNvGrpSpPr/>
          <p:nvPr/>
        </p:nvGrpSpPr>
        <p:grpSpPr>
          <a:xfrm rot="0">
            <a:off x="1076540" y="5037850"/>
            <a:ext cx="7880385" cy="3350146"/>
            <a:chOff x="0" y="0"/>
            <a:chExt cx="10507180" cy="4466861"/>
          </a:xfrm>
        </p:grpSpPr>
        <p:grpSp>
          <p:nvGrpSpPr>
            <p:cNvPr name="Group 30" id="30"/>
            <p:cNvGrpSpPr/>
            <p:nvPr/>
          </p:nvGrpSpPr>
          <p:grpSpPr>
            <a:xfrm rot="0">
              <a:off x="0" y="519968"/>
              <a:ext cx="10507180" cy="3946893"/>
              <a:chOff x="0" y="0"/>
              <a:chExt cx="1000436" cy="375801"/>
            </a:xfrm>
          </p:grpSpPr>
          <p:sp>
            <p:nvSpPr>
              <p:cNvPr name="Freeform 31" id="31"/>
              <p:cNvSpPr/>
              <p:nvPr/>
            </p:nvSpPr>
            <p:spPr>
              <a:xfrm flipH="false" flipV="false" rot="0">
                <a:off x="0" y="0"/>
                <a:ext cx="1000436" cy="375801"/>
              </a:xfrm>
              <a:custGeom>
                <a:avLst/>
                <a:gdLst/>
                <a:ahLst/>
                <a:cxnLst/>
                <a:rect r="r" b="b" t="t" l="l"/>
                <a:pathLst>
                  <a:path h="375801" w="1000436">
                    <a:moveTo>
                      <a:pt x="43943" y="0"/>
                    </a:moveTo>
                    <a:lnTo>
                      <a:pt x="956493" y="0"/>
                    </a:lnTo>
                    <a:cubicBezTo>
                      <a:pt x="980762" y="0"/>
                      <a:pt x="1000436" y="19674"/>
                      <a:pt x="1000436" y="43943"/>
                    </a:cubicBezTo>
                    <a:lnTo>
                      <a:pt x="1000436" y="331859"/>
                    </a:lnTo>
                    <a:cubicBezTo>
                      <a:pt x="1000436" y="356128"/>
                      <a:pt x="980762" y="375801"/>
                      <a:pt x="956493" y="375801"/>
                    </a:cubicBezTo>
                    <a:lnTo>
                      <a:pt x="43943" y="375801"/>
                    </a:lnTo>
                    <a:cubicBezTo>
                      <a:pt x="19674" y="375801"/>
                      <a:pt x="0" y="356128"/>
                      <a:pt x="0" y="331859"/>
                    </a:cubicBezTo>
                    <a:lnTo>
                      <a:pt x="0" y="43943"/>
                    </a:lnTo>
                    <a:cubicBezTo>
                      <a:pt x="0" y="19674"/>
                      <a:pt x="19674" y="0"/>
                      <a:pt x="43943" y="0"/>
                    </a:cubicBezTo>
                    <a:close/>
                  </a:path>
                </a:pathLst>
              </a:custGeom>
              <a:gradFill rotWithShape="true">
                <a:gsLst>
                  <a:gs pos="0">
                    <a:srgbClr val="841F0B">
                      <a:alpha val="100000"/>
                    </a:srgbClr>
                  </a:gs>
                  <a:gs pos="100000">
                    <a:srgbClr val="DA4610">
                      <a:alpha val="100000"/>
                    </a:srgbClr>
                  </a:gs>
                </a:gsLst>
                <a:lin ang="0"/>
              </a:gradFill>
              <a:ln w="85725" cap="rnd">
                <a:solidFill>
                  <a:srgbClr val="6E3125"/>
                </a:solidFill>
                <a:prstDash val="solid"/>
                <a:round/>
              </a:ln>
            </p:spPr>
          </p:sp>
          <p:sp>
            <p:nvSpPr>
              <p:cNvPr name="TextBox 32" id="32"/>
              <p:cNvSpPr txBox="true"/>
              <p:nvPr/>
            </p:nvSpPr>
            <p:spPr>
              <a:xfrm>
                <a:off x="0" y="28575"/>
                <a:ext cx="1000436" cy="347226"/>
              </a:xfrm>
              <a:prstGeom prst="rect">
                <a:avLst/>
              </a:prstGeom>
            </p:spPr>
            <p:txBody>
              <a:bodyPr anchor="ctr" rtlCol="false" tIns="50800" lIns="50800" bIns="50800" rIns="50800"/>
              <a:lstStyle/>
              <a:p>
                <a:pPr algn="ctr">
                  <a:lnSpc>
                    <a:spcPts val="1920"/>
                  </a:lnSpc>
                </a:pPr>
              </a:p>
            </p:txBody>
          </p:sp>
        </p:grpSp>
        <p:grpSp>
          <p:nvGrpSpPr>
            <p:cNvPr name="Group 33" id="33"/>
            <p:cNvGrpSpPr/>
            <p:nvPr/>
          </p:nvGrpSpPr>
          <p:grpSpPr>
            <a:xfrm rot="0">
              <a:off x="514093" y="0"/>
              <a:ext cx="8827304" cy="1039937"/>
              <a:chOff x="0" y="0"/>
              <a:chExt cx="993684" cy="117065"/>
            </a:xfrm>
          </p:grpSpPr>
          <p:sp>
            <p:nvSpPr>
              <p:cNvPr name="Freeform 34" id="34"/>
              <p:cNvSpPr/>
              <p:nvPr/>
            </p:nvSpPr>
            <p:spPr>
              <a:xfrm flipH="false" flipV="false" rot="0">
                <a:off x="0" y="0"/>
                <a:ext cx="993684" cy="117065"/>
              </a:xfrm>
              <a:custGeom>
                <a:avLst/>
                <a:gdLst/>
                <a:ahLst/>
                <a:cxnLst/>
                <a:rect r="r" b="b" t="t" l="l"/>
                <a:pathLst>
                  <a:path h="117065" w="993684">
                    <a:moveTo>
                      <a:pt x="52305" y="0"/>
                    </a:moveTo>
                    <a:lnTo>
                      <a:pt x="941379" y="0"/>
                    </a:lnTo>
                    <a:cubicBezTo>
                      <a:pt x="955251" y="0"/>
                      <a:pt x="968555" y="5511"/>
                      <a:pt x="978364" y="15320"/>
                    </a:cubicBezTo>
                    <a:cubicBezTo>
                      <a:pt x="988173" y="25129"/>
                      <a:pt x="993684" y="38433"/>
                      <a:pt x="993684" y="52305"/>
                    </a:cubicBezTo>
                    <a:lnTo>
                      <a:pt x="993684" y="64760"/>
                    </a:lnTo>
                    <a:cubicBezTo>
                      <a:pt x="993684" y="78632"/>
                      <a:pt x="988173" y="91936"/>
                      <a:pt x="978364" y="101745"/>
                    </a:cubicBezTo>
                    <a:cubicBezTo>
                      <a:pt x="968555" y="111554"/>
                      <a:pt x="955251" y="117065"/>
                      <a:pt x="941379" y="117065"/>
                    </a:cubicBezTo>
                    <a:lnTo>
                      <a:pt x="52305" y="117065"/>
                    </a:lnTo>
                    <a:cubicBezTo>
                      <a:pt x="23418" y="117065"/>
                      <a:pt x="0" y="93647"/>
                      <a:pt x="0" y="64760"/>
                    </a:cubicBezTo>
                    <a:lnTo>
                      <a:pt x="0" y="52305"/>
                    </a:lnTo>
                    <a:cubicBezTo>
                      <a:pt x="0" y="23418"/>
                      <a:pt x="23418" y="0"/>
                      <a:pt x="52305"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a:ln w="85725" cap="rnd">
                <a:solidFill>
                  <a:srgbClr val="6E3125"/>
                </a:solidFill>
                <a:prstDash val="solid"/>
                <a:round/>
              </a:ln>
            </p:spPr>
          </p:sp>
          <p:sp>
            <p:nvSpPr>
              <p:cNvPr name="TextBox 35" id="35"/>
              <p:cNvSpPr txBox="true"/>
              <p:nvPr/>
            </p:nvSpPr>
            <p:spPr>
              <a:xfrm>
                <a:off x="0" y="28575"/>
                <a:ext cx="993684" cy="88490"/>
              </a:xfrm>
              <a:prstGeom prst="rect">
                <a:avLst/>
              </a:prstGeom>
            </p:spPr>
            <p:txBody>
              <a:bodyPr anchor="ctr" rtlCol="false" tIns="50800" lIns="50800" bIns="50800" rIns="50800"/>
              <a:lstStyle/>
              <a:p>
                <a:pPr algn="ctr">
                  <a:lnSpc>
                    <a:spcPts val="1920"/>
                  </a:lnSpc>
                </a:pPr>
              </a:p>
            </p:txBody>
          </p:sp>
        </p:grpSp>
        <p:sp>
          <p:nvSpPr>
            <p:cNvPr name="TextBox 36" id="36"/>
            <p:cNvSpPr txBox="true"/>
            <p:nvPr/>
          </p:nvSpPr>
          <p:spPr>
            <a:xfrm rot="0">
              <a:off x="803358" y="195396"/>
              <a:ext cx="8261178" cy="696770"/>
            </a:xfrm>
            <a:prstGeom prst="rect">
              <a:avLst/>
            </a:prstGeom>
          </p:spPr>
          <p:txBody>
            <a:bodyPr anchor="t" rtlCol="false" tIns="0" lIns="0" bIns="0" rIns="0">
              <a:spAutoFit/>
            </a:bodyPr>
            <a:lstStyle/>
            <a:p>
              <a:pPr algn="l">
                <a:lnSpc>
                  <a:spcPts val="3490"/>
                </a:lnSpc>
              </a:pPr>
              <a:r>
                <a:rPr lang="en-US" sz="3674" b="true">
                  <a:solidFill>
                    <a:srgbClr val="6E3125"/>
                  </a:solidFill>
                  <a:latin typeface="Poppins Heavy"/>
                  <a:ea typeface="Poppins Heavy"/>
                  <a:cs typeface="Poppins Heavy"/>
                  <a:sym typeface="Poppins Heavy"/>
                </a:rPr>
                <a:t>For us – The Facilitators</a:t>
              </a:r>
            </a:p>
          </p:txBody>
        </p:sp>
        <p:sp>
          <p:nvSpPr>
            <p:cNvPr name="TextBox 37" id="37"/>
            <p:cNvSpPr txBox="true"/>
            <p:nvPr/>
          </p:nvSpPr>
          <p:spPr>
            <a:xfrm rot="0">
              <a:off x="650705" y="1108760"/>
              <a:ext cx="9153510" cy="2633690"/>
            </a:xfrm>
            <a:prstGeom prst="rect">
              <a:avLst/>
            </a:prstGeom>
          </p:spPr>
          <p:txBody>
            <a:bodyPr anchor="t" rtlCol="false" tIns="0" lIns="0" bIns="0" rIns="0">
              <a:spAutoFit/>
            </a:bodyPr>
            <a:lstStyle/>
            <a:p>
              <a:pPr algn="l">
                <a:lnSpc>
                  <a:spcPts val="2557"/>
                </a:lnSpc>
              </a:pPr>
            </a:p>
            <a:p>
              <a:pPr algn="l" marL="516019" indent="-258010" lvl="1">
                <a:lnSpc>
                  <a:spcPts val="2557"/>
                </a:lnSpc>
                <a:buFont typeface="Arial"/>
                <a:buChar char="•"/>
              </a:pPr>
              <a:r>
                <a:rPr lang="en-US" b="true" sz="2390" u="sng">
                  <a:solidFill>
                    <a:srgbClr val="FFFFFF"/>
                  </a:solidFill>
                  <a:latin typeface="Poppins Semi-Bold"/>
                  <a:ea typeface="Poppins Semi-Bold"/>
                  <a:cs typeface="Poppins Semi-Bold"/>
                  <a:sym typeface="Poppins Semi-Bold"/>
                </a:rPr>
                <a:t>Guide:</a:t>
              </a:r>
              <a:r>
                <a:rPr lang="en-US" b="true" sz="2390">
                  <a:solidFill>
                    <a:srgbClr val="FFFFFF"/>
                  </a:solidFill>
                  <a:latin typeface="Poppins Semi-Bold"/>
                  <a:ea typeface="Poppins Semi-Bold"/>
                  <a:cs typeface="Poppins Semi-Bold"/>
                  <a:sym typeface="Poppins Semi-Bold"/>
                </a:rPr>
                <a:t> </a:t>
              </a:r>
              <a:r>
                <a:rPr lang="en-US" sz="2390">
                  <a:solidFill>
                    <a:srgbClr val="FFFFFF"/>
                  </a:solidFill>
                  <a:latin typeface="Poppins"/>
                  <a:ea typeface="Poppins"/>
                  <a:cs typeface="Poppins"/>
                  <a:sym typeface="Poppins"/>
                </a:rPr>
                <a:t>Apply our experience to help you</a:t>
              </a:r>
            </a:p>
            <a:p>
              <a:pPr algn="l">
                <a:lnSpc>
                  <a:spcPts val="2557"/>
                </a:lnSpc>
              </a:pPr>
            </a:p>
            <a:p>
              <a:pPr algn="l" marL="516019" indent="-258010" lvl="1">
                <a:lnSpc>
                  <a:spcPts val="2557"/>
                </a:lnSpc>
                <a:buFont typeface="Arial"/>
                <a:buChar char="•"/>
              </a:pPr>
              <a:r>
                <a:rPr lang="en-US" b="true" sz="2390" u="sng">
                  <a:solidFill>
                    <a:srgbClr val="FFFFFF"/>
                  </a:solidFill>
                  <a:latin typeface="Poppins Semi-Bold"/>
                  <a:ea typeface="Poppins Semi-Bold"/>
                  <a:cs typeface="Poppins Semi-Bold"/>
                  <a:sym typeface="Poppins Semi-Bold"/>
                </a:rPr>
                <a:t>Facilitate:</a:t>
              </a:r>
              <a:r>
                <a:rPr lang="en-US" b="true" sz="2390">
                  <a:solidFill>
                    <a:srgbClr val="FFFFFF"/>
                  </a:solidFill>
                  <a:latin typeface="Poppins Semi-Bold"/>
                  <a:ea typeface="Poppins Semi-Bold"/>
                  <a:cs typeface="Poppins Semi-Bold"/>
                  <a:sym typeface="Poppins Semi-Bold"/>
                </a:rPr>
                <a:t> </a:t>
              </a:r>
              <a:r>
                <a:rPr lang="en-US" sz="2390">
                  <a:solidFill>
                    <a:srgbClr val="FFFFFF"/>
                  </a:solidFill>
                  <a:latin typeface="Poppins"/>
                  <a:ea typeface="Poppins"/>
                  <a:cs typeface="Poppins"/>
                  <a:sym typeface="Poppins"/>
                </a:rPr>
                <a:t>Lead constructive discussions</a:t>
              </a:r>
            </a:p>
            <a:p>
              <a:pPr algn="l">
                <a:lnSpc>
                  <a:spcPts val="2557"/>
                </a:lnSpc>
              </a:pPr>
            </a:p>
            <a:p>
              <a:pPr algn="l" marL="516019" indent="-258010" lvl="1">
                <a:lnSpc>
                  <a:spcPts val="2557"/>
                </a:lnSpc>
                <a:buFont typeface="Arial"/>
                <a:buChar char="•"/>
              </a:pPr>
              <a:r>
                <a:rPr lang="en-US" b="true" sz="2390" u="sng">
                  <a:solidFill>
                    <a:srgbClr val="FFFFFF"/>
                  </a:solidFill>
                  <a:latin typeface="Poppins Semi-Bold"/>
                  <a:ea typeface="Poppins Semi-Bold"/>
                  <a:cs typeface="Poppins Semi-Bold"/>
                  <a:sym typeface="Poppins Semi-Bold"/>
                </a:rPr>
                <a:t>Improve:</a:t>
              </a:r>
              <a:r>
                <a:rPr lang="en-US" b="true" sz="2390">
                  <a:solidFill>
                    <a:srgbClr val="FFFFFF"/>
                  </a:solidFill>
                  <a:latin typeface="Poppins Semi-Bold"/>
                  <a:ea typeface="Poppins Semi-Bold"/>
                  <a:cs typeface="Poppins Semi-Bold"/>
                  <a:sym typeface="Poppins Semi-Bold"/>
                </a:rPr>
                <a:t> </a:t>
              </a:r>
              <a:r>
                <a:rPr lang="en-US" sz="2390">
                  <a:solidFill>
                    <a:srgbClr val="FFFFFF"/>
                  </a:solidFill>
                  <a:latin typeface="Poppins"/>
                  <a:ea typeface="Poppins"/>
                  <a:cs typeface="Poppins"/>
                  <a:sym typeface="Poppins"/>
                </a:rPr>
                <a:t>Use feedback to refine our skills</a:t>
              </a:r>
            </a:p>
          </p:txBody>
        </p:sp>
      </p:grpSp>
      <p:grpSp>
        <p:nvGrpSpPr>
          <p:cNvPr name="Group 38" id="38"/>
          <p:cNvGrpSpPr/>
          <p:nvPr/>
        </p:nvGrpSpPr>
        <p:grpSpPr>
          <a:xfrm rot="0">
            <a:off x="9191840" y="5131133"/>
            <a:ext cx="7880385" cy="3350146"/>
            <a:chOff x="0" y="0"/>
            <a:chExt cx="10507180" cy="4466861"/>
          </a:xfrm>
        </p:grpSpPr>
        <p:grpSp>
          <p:nvGrpSpPr>
            <p:cNvPr name="Group 39" id="39"/>
            <p:cNvGrpSpPr/>
            <p:nvPr/>
          </p:nvGrpSpPr>
          <p:grpSpPr>
            <a:xfrm rot="0">
              <a:off x="0" y="519968"/>
              <a:ext cx="10507180" cy="3946893"/>
              <a:chOff x="0" y="0"/>
              <a:chExt cx="1000436" cy="375801"/>
            </a:xfrm>
          </p:grpSpPr>
          <p:sp>
            <p:nvSpPr>
              <p:cNvPr name="Freeform 40" id="40"/>
              <p:cNvSpPr/>
              <p:nvPr/>
            </p:nvSpPr>
            <p:spPr>
              <a:xfrm flipH="false" flipV="false" rot="0">
                <a:off x="0" y="0"/>
                <a:ext cx="1000436" cy="375801"/>
              </a:xfrm>
              <a:custGeom>
                <a:avLst/>
                <a:gdLst/>
                <a:ahLst/>
                <a:cxnLst/>
                <a:rect r="r" b="b" t="t" l="l"/>
                <a:pathLst>
                  <a:path h="375801" w="1000436">
                    <a:moveTo>
                      <a:pt x="43943" y="0"/>
                    </a:moveTo>
                    <a:lnTo>
                      <a:pt x="956493" y="0"/>
                    </a:lnTo>
                    <a:cubicBezTo>
                      <a:pt x="980762" y="0"/>
                      <a:pt x="1000436" y="19674"/>
                      <a:pt x="1000436" y="43943"/>
                    </a:cubicBezTo>
                    <a:lnTo>
                      <a:pt x="1000436" y="331859"/>
                    </a:lnTo>
                    <a:cubicBezTo>
                      <a:pt x="1000436" y="356128"/>
                      <a:pt x="980762" y="375801"/>
                      <a:pt x="956493" y="375801"/>
                    </a:cubicBezTo>
                    <a:lnTo>
                      <a:pt x="43943" y="375801"/>
                    </a:lnTo>
                    <a:cubicBezTo>
                      <a:pt x="19674" y="375801"/>
                      <a:pt x="0" y="356128"/>
                      <a:pt x="0" y="331859"/>
                    </a:cubicBezTo>
                    <a:lnTo>
                      <a:pt x="0" y="43943"/>
                    </a:lnTo>
                    <a:cubicBezTo>
                      <a:pt x="0" y="19674"/>
                      <a:pt x="19674" y="0"/>
                      <a:pt x="43943" y="0"/>
                    </a:cubicBezTo>
                    <a:close/>
                  </a:path>
                </a:pathLst>
              </a:custGeom>
              <a:gradFill rotWithShape="true">
                <a:gsLst>
                  <a:gs pos="0">
                    <a:srgbClr val="841F0B">
                      <a:alpha val="100000"/>
                    </a:srgbClr>
                  </a:gs>
                  <a:gs pos="100000">
                    <a:srgbClr val="DA4610">
                      <a:alpha val="100000"/>
                    </a:srgbClr>
                  </a:gs>
                </a:gsLst>
                <a:lin ang="0"/>
              </a:gradFill>
              <a:ln w="85725" cap="rnd">
                <a:solidFill>
                  <a:srgbClr val="6E3125"/>
                </a:solidFill>
                <a:prstDash val="solid"/>
                <a:round/>
              </a:ln>
            </p:spPr>
          </p:sp>
          <p:sp>
            <p:nvSpPr>
              <p:cNvPr name="TextBox 41" id="41"/>
              <p:cNvSpPr txBox="true"/>
              <p:nvPr/>
            </p:nvSpPr>
            <p:spPr>
              <a:xfrm>
                <a:off x="0" y="28575"/>
                <a:ext cx="1000436" cy="347226"/>
              </a:xfrm>
              <a:prstGeom prst="rect">
                <a:avLst/>
              </a:prstGeom>
            </p:spPr>
            <p:txBody>
              <a:bodyPr anchor="ctr" rtlCol="false" tIns="50800" lIns="50800" bIns="50800" rIns="50800"/>
              <a:lstStyle/>
              <a:p>
                <a:pPr algn="ctr">
                  <a:lnSpc>
                    <a:spcPts val="1920"/>
                  </a:lnSpc>
                </a:pPr>
              </a:p>
            </p:txBody>
          </p:sp>
        </p:grpSp>
        <p:grpSp>
          <p:nvGrpSpPr>
            <p:cNvPr name="Group 42" id="42"/>
            <p:cNvGrpSpPr/>
            <p:nvPr/>
          </p:nvGrpSpPr>
          <p:grpSpPr>
            <a:xfrm rot="0">
              <a:off x="514093" y="0"/>
              <a:ext cx="8827304" cy="1039937"/>
              <a:chOff x="0" y="0"/>
              <a:chExt cx="993684" cy="117065"/>
            </a:xfrm>
          </p:grpSpPr>
          <p:sp>
            <p:nvSpPr>
              <p:cNvPr name="Freeform 43" id="43"/>
              <p:cNvSpPr/>
              <p:nvPr/>
            </p:nvSpPr>
            <p:spPr>
              <a:xfrm flipH="false" flipV="false" rot="0">
                <a:off x="0" y="0"/>
                <a:ext cx="993684" cy="117065"/>
              </a:xfrm>
              <a:custGeom>
                <a:avLst/>
                <a:gdLst/>
                <a:ahLst/>
                <a:cxnLst/>
                <a:rect r="r" b="b" t="t" l="l"/>
                <a:pathLst>
                  <a:path h="117065" w="993684">
                    <a:moveTo>
                      <a:pt x="52305" y="0"/>
                    </a:moveTo>
                    <a:lnTo>
                      <a:pt x="941379" y="0"/>
                    </a:lnTo>
                    <a:cubicBezTo>
                      <a:pt x="955251" y="0"/>
                      <a:pt x="968555" y="5511"/>
                      <a:pt x="978364" y="15320"/>
                    </a:cubicBezTo>
                    <a:cubicBezTo>
                      <a:pt x="988173" y="25129"/>
                      <a:pt x="993684" y="38433"/>
                      <a:pt x="993684" y="52305"/>
                    </a:cubicBezTo>
                    <a:lnTo>
                      <a:pt x="993684" y="64760"/>
                    </a:lnTo>
                    <a:cubicBezTo>
                      <a:pt x="993684" y="78632"/>
                      <a:pt x="988173" y="91936"/>
                      <a:pt x="978364" y="101745"/>
                    </a:cubicBezTo>
                    <a:cubicBezTo>
                      <a:pt x="968555" y="111554"/>
                      <a:pt x="955251" y="117065"/>
                      <a:pt x="941379" y="117065"/>
                    </a:cubicBezTo>
                    <a:lnTo>
                      <a:pt x="52305" y="117065"/>
                    </a:lnTo>
                    <a:cubicBezTo>
                      <a:pt x="23418" y="117065"/>
                      <a:pt x="0" y="93647"/>
                      <a:pt x="0" y="64760"/>
                    </a:cubicBezTo>
                    <a:lnTo>
                      <a:pt x="0" y="52305"/>
                    </a:lnTo>
                    <a:cubicBezTo>
                      <a:pt x="0" y="23418"/>
                      <a:pt x="23418" y="0"/>
                      <a:pt x="52305"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a:ln w="85725" cap="rnd">
                <a:solidFill>
                  <a:srgbClr val="6E3125"/>
                </a:solidFill>
                <a:prstDash val="solid"/>
                <a:round/>
              </a:ln>
            </p:spPr>
          </p:sp>
          <p:sp>
            <p:nvSpPr>
              <p:cNvPr name="TextBox 44" id="44"/>
              <p:cNvSpPr txBox="true"/>
              <p:nvPr/>
            </p:nvSpPr>
            <p:spPr>
              <a:xfrm>
                <a:off x="0" y="28575"/>
                <a:ext cx="993684" cy="88490"/>
              </a:xfrm>
              <a:prstGeom prst="rect">
                <a:avLst/>
              </a:prstGeom>
            </p:spPr>
            <p:txBody>
              <a:bodyPr anchor="ctr" rtlCol="false" tIns="50800" lIns="50800" bIns="50800" rIns="50800"/>
              <a:lstStyle/>
              <a:p>
                <a:pPr algn="ctr">
                  <a:lnSpc>
                    <a:spcPts val="1920"/>
                  </a:lnSpc>
                </a:pPr>
              </a:p>
            </p:txBody>
          </p:sp>
        </p:grpSp>
        <p:sp>
          <p:nvSpPr>
            <p:cNvPr name="TextBox 45" id="45"/>
            <p:cNvSpPr txBox="true"/>
            <p:nvPr/>
          </p:nvSpPr>
          <p:spPr>
            <a:xfrm rot="0">
              <a:off x="803358" y="195396"/>
              <a:ext cx="8261178" cy="612775"/>
            </a:xfrm>
            <a:prstGeom prst="rect">
              <a:avLst/>
            </a:prstGeom>
          </p:spPr>
          <p:txBody>
            <a:bodyPr anchor="t" rtlCol="false" tIns="0" lIns="0" bIns="0" rIns="0">
              <a:spAutoFit/>
            </a:bodyPr>
            <a:lstStyle/>
            <a:p>
              <a:pPr algn="l">
                <a:lnSpc>
                  <a:spcPts val="3134"/>
                </a:lnSpc>
              </a:pPr>
              <a:r>
                <a:rPr lang="en-US" sz="3299" b="true">
                  <a:solidFill>
                    <a:srgbClr val="6E3125"/>
                  </a:solidFill>
                  <a:latin typeface="Poppins Heavy"/>
                  <a:ea typeface="Poppins Heavy"/>
                  <a:cs typeface="Poppins Heavy"/>
                  <a:sym typeface="Poppins Heavy"/>
                </a:rPr>
                <a:t>For you –Our dear audience </a:t>
              </a:r>
            </a:p>
          </p:txBody>
        </p:sp>
        <p:sp>
          <p:nvSpPr>
            <p:cNvPr name="TextBox 46" id="46"/>
            <p:cNvSpPr txBox="true"/>
            <p:nvPr/>
          </p:nvSpPr>
          <p:spPr>
            <a:xfrm rot="0">
              <a:off x="650705" y="1108760"/>
              <a:ext cx="9153510" cy="2633690"/>
            </a:xfrm>
            <a:prstGeom prst="rect">
              <a:avLst/>
            </a:prstGeom>
          </p:spPr>
          <p:txBody>
            <a:bodyPr anchor="t" rtlCol="false" tIns="0" lIns="0" bIns="0" rIns="0">
              <a:spAutoFit/>
            </a:bodyPr>
            <a:lstStyle/>
            <a:p>
              <a:pPr algn="l">
                <a:lnSpc>
                  <a:spcPts val="2557"/>
                </a:lnSpc>
              </a:pPr>
            </a:p>
            <a:p>
              <a:pPr algn="l" marL="516019" indent="-258010" lvl="1">
                <a:lnSpc>
                  <a:spcPts val="2557"/>
                </a:lnSpc>
                <a:buFont typeface="Arial"/>
                <a:buChar char="•"/>
              </a:pPr>
              <a:r>
                <a:rPr lang="en-US" b="true" sz="2390" u="sng">
                  <a:solidFill>
                    <a:srgbClr val="FFFFFF"/>
                  </a:solidFill>
                  <a:latin typeface="Poppins Semi-Bold"/>
                  <a:ea typeface="Poppins Semi-Bold"/>
                  <a:cs typeface="Poppins Semi-Bold"/>
                  <a:sym typeface="Poppins Semi-Bold"/>
                </a:rPr>
                <a:t>Recognise:</a:t>
              </a:r>
              <a:r>
                <a:rPr lang="en-US" sz="2390">
                  <a:solidFill>
                    <a:srgbClr val="FFFFFF"/>
                  </a:solidFill>
                  <a:latin typeface="Poppins"/>
                  <a:ea typeface="Poppins"/>
                  <a:cs typeface="Poppins"/>
                  <a:sym typeface="Poppins"/>
                </a:rPr>
                <a:t> behaviors that impact teamwork</a:t>
              </a:r>
            </a:p>
            <a:p>
              <a:pPr algn="l" marL="516019" indent="-258010" lvl="1">
                <a:lnSpc>
                  <a:spcPts val="2557"/>
                </a:lnSpc>
                <a:buFont typeface="Arial"/>
                <a:buChar char="•"/>
              </a:pPr>
              <a:r>
                <a:rPr lang="en-US" b="true" sz="2390" u="sng">
                  <a:solidFill>
                    <a:srgbClr val="FFFFFF"/>
                  </a:solidFill>
                  <a:latin typeface="Poppins Semi-Bold"/>
                  <a:ea typeface="Poppins Semi-Bold"/>
                  <a:cs typeface="Poppins Semi-Bold"/>
                  <a:sym typeface="Poppins Semi-Bold"/>
                </a:rPr>
                <a:t>Give Feedback:</a:t>
              </a:r>
              <a:r>
                <a:rPr lang="en-US" b="true" sz="2390">
                  <a:solidFill>
                    <a:srgbClr val="FFFFFF"/>
                  </a:solidFill>
                  <a:latin typeface="Poppins Semi-Bold"/>
                  <a:ea typeface="Poppins Semi-Bold"/>
                  <a:cs typeface="Poppins Semi-Bold"/>
                  <a:sym typeface="Poppins Semi-Bold"/>
                </a:rPr>
                <a:t> </a:t>
              </a:r>
              <a:r>
                <a:rPr lang="en-US" sz="2390">
                  <a:solidFill>
                    <a:srgbClr val="FFFFFF"/>
                  </a:solidFill>
                  <a:latin typeface="Poppins"/>
                  <a:ea typeface="Poppins"/>
                  <a:cs typeface="Poppins"/>
                  <a:sym typeface="Poppins"/>
                </a:rPr>
                <a:t>specific, timely, and actionable</a:t>
              </a:r>
            </a:p>
            <a:p>
              <a:pPr algn="l" marL="516019" indent="-258010" lvl="1">
                <a:lnSpc>
                  <a:spcPts val="2557"/>
                </a:lnSpc>
                <a:buFont typeface="Arial"/>
                <a:buChar char="•"/>
              </a:pPr>
              <a:r>
                <a:rPr lang="en-US" b="true" sz="2390" u="sng">
                  <a:solidFill>
                    <a:srgbClr val="FFFFFF"/>
                  </a:solidFill>
                  <a:latin typeface="Poppins Semi-Bold"/>
                  <a:ea typeface="Poppins Semi-Bold"/>
                  <a:cs typeface="Poppins Semi-Bold"/>
                  <a:sym typeface="Poppins Semi-Bold"/>
                </a:rPr>
                <a:t>Apply:</a:t>
              </a:r>
              <a:r>
                <a:rPr lang="en-US" b="true" sz="2390">
                  <a:solidFill>
                    <a:srgbClr val="FFFFFF"/>
                  </a:solidFill>
                  <a:latin typeface="Poppins Semi-Bold"/>
                  <a:ea typeface="Poppins Semi-Bold"/>
                  <a:cs typeface="Poppins Semi-Bold"/>
                  <a:sym typeface="Poppins Semi-Bold"/>
                </a:rPr>
                <a:t> </a:t>
              </a:r>
              <a:r>
                <a:rPr lang="en-US" sz="2390">
                  <a:solidFill>
                    <a:srgbClr val="FFFFFF"/>
                  </a:solidFill>
                  <a:latin typeface="Poppins"/>
                  <a:ea typeface="Poppins"/>
                  <a:cs typeface="Poppins"/>
                  <a:sym typeface="Poppins"/>
                </a:rPr>
                <a:t>a personal/team improvement.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95752" y="-2126883"/>
            <a:ext cx="14206744" cy="14206744"/>
          </a:xfrm>
          <a:custGeom>
            <a:avLst/>
            <a:gdLst/>
            <a:ahLst/>
            <a:cxnLst/>
            <a:rect r="r" b="b" t="t" l="l"/>
            <a:pathLst>
              <a:path h="14206744" w="14206744">
                <a:moveTo>
                  <a:pt x="0" y="0"/>
                </a:moveTo>
                <a:lnTo>
                  <a:pt x="14206744" y="0"/>
                </a:lnTo>
                <a:lnTo>
                  <a:pt x="14206744" y="14206744"/>
                </a:lnTo>
                <a:lnTo>
                  <a:pt x="0" y="14206744"/>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sp>
        <p:nvSpPr>
          <p:cNvPr name="TextBox 15" id="15"/>
          <p:cNvSpPr txBox="true"/>
          <p:nvPr/>
        </p:nvSpPr>
        <p:spPr>
          <a:xfrm rot="0">
            <a:off x="2285300" y="3116256"/>
            <a:ext cx="13388019" cy="889076"/>
          </a:xfrm>
          <a:prstGeom prst="rect">
            <a:avLst/>
          </a:prstGeom>
        </p:spPr>
        <p:txBody>
          <a:bodyPr anchor="t" rtlCol="false" tIns="0" lIns="0" bIns="0" rIns="0">
            <a:spAutoFit/>
          </a:bodyPr>
          <a:lstStyle/>
          <a:p>
            <a:pPr algn="ctr">
              <a:lnSpc>
                <a:spcPts val="3227"/>
              </a:lnSpc>
            </a:pPr>
            <a:r>
              <a:rPr lang="en-US" sz="3397" b="true">
                <a:solidFill>
                  <a:srgbClr val="FFFFFF"/>
                </a:solidFill>
                <a:latin typeface="Poppins Semi-Bold"/>
                <a:ea typeface="Poppins Semi-Bold"/>
                <a:cs typeface="Poppins Semi-Bold"/>
                <a:sym typeface="Poppins Semi-Bold"/>
              </a:rPr>
              <a:t>6 scenarios. They get harder as you go. Move to the corner that matches your call, then be ready to say </a:t>
            </a:r>
            <a:r>
              <a:rPr lang="en-US" sz="3397" b="true">
                <a:solidFill>
                  <a:srgbClr val="FFFFFF"/>
                </a:solidFill>
                <a:latin typeface="Poppins Ultra-Bold"/>
                <a:ea typeface="Poppins Ultra-Bold"/>
                <a:cs typeface="Poppins Ultra-Bold"/>
                <a:sym typeface="Poppins Ultra-Bold"/>
              </a:rPr>
              <a:t>why.</a:t>
            </a:r>
          </a:p>
        </p:txBody>
      </p:sp>
      <p:grpSp>
        <p:nvGrpSpPr>
          <p:cNvPr name="Group 16" id="16"/>
          <p:cNvGrpSpPr/>
          <p:nvPr/>
        </p:nvGrpSpPr>
        <p:grpSpPr>
          <a:xfrm rot="0">
            <a:off x="2560397" y="1028700"/>
            <a:ext cx="14158550" cy="2197917"/>
            <a:chOff x="0" y="0"/>
            <a:chExt cx="18878067" cy="2930556"/>
          </a:xfrm>
        </p:grpSpPr>
        <p:sp>
          <p:nvSpPr>
            <p:cNvPr name="TextBox 17" id="17"/>
            <p:cNvSpPr txBox="true"/>
            <p:nvPr/>
          </p:nvSpPr>
          <p:spPr>
            <a:xfrm rot="0">
              <a:off x="0" y="171450"/>
              <a:ext cx="8270804" cy="2269058"/>
            </a:xfrm>
            <a:prstGeom prst="rect">
              <a:avLst/>
            </a:prstGeom>
          </p:spPr>
          <p:txBody>
            <a:bodyPr anchor="t" rtlCol="false" tIns="0" lIns="0" bIns="0" rIns="0">
              <a:spAutoFit/>
            </a:bodyPr>
            <a:lstStyle/>
            <a:p>
              <a:pPr algn="l">
                <a:lnSpc>
                  <a:spcPts val="11447"/>
                </a:lnSpc>
              </a:pPr>
              <a:r>
                <a:rPr lang="en-US" sz="12049" b="true">
                  <a:solidFill>
                    <a:srgbClr val="FFFFFF"/>
                  </a:solidFill>
                  <a:latin typeface="Poppins Heavy"/>
                  <a:ea typeface="Poppins Heavy"/>
                  <a:cs typeface="Poppins Heavy"/>
                  <a:sym typeface="Poppins Heavy"/>
                </a:rPr>
                <a:t>HOW IT</a:t>
              </a:r>
            </a:p>
          </p:txBody>
        </p:sp>
        <p:grpSp>
          <p:nvGrpSpPr>
            <p:cNvPr name="Group 18" id="18"/>
            <p:cNvGrpSpPr/>
            <p:nvPr/>
          </p:nvGrpSpPr>
          <p:grpSpPr>
            <a:xfrm rot="158860">
              <a:off x="7907035" y="420106"/>
              <a:ext cx="9448226" cy="2036940"/>
              <a:chOff x="0" y="0"/>
              <a:chExt cx="1284328" cy="276888"/>
            </a:xfrm>
          </p:grpSpPr>
          <p:sp>
            <p:nvSpPr>
              <p:cNvPr name="Freeform 19" id="19"/>
              <p:cNvSpPr/>
              <p:nvPr/>
            </p:nvSpPr>
            <p:spPr>
              <a:xfrm flipH="false" flipV="false" rot="0">
                <a:off x="0" y="0"/>
                <a:ext cx="1284328" cy="276888"/>
              </a:xfrm>
              <a:custGeom>
                <a:avLst/>
                <a:gdLst/>
                <a:ahLst/>
                <a:cxnLst/>
                <a:rect r="r" b="b" t="t" l="l"/>
                <a:pathLst>
                  <a:path h="276888" w="1284328">
                    <a:moveTo>
                      <a:pt x="16217" y="0"/>
                    </a:moveTo>
                    <a:lnTo>
                      <a:pt x="1268110" y="0"/>
                    </a:lnTo>
                    <a:cubicBezTo>
                      <a:pt x="1272412" y="0"/>
                      <a:pt x="1276537" y="1709"/>
                      <a:pt x="1279578" y="4750"/>
                    </a:cubicBezTo>
                    <a:cubicBezTo>
                      <a:pt x="1282619" y="7791"/>
                      <a:pt x="1284328" y="11916"/>
                      <a:pt x="1284328" y="16217"/>
                    </a:cubicBezTo>
                    <a:lnTo>
                      <a:pt x="1284328" y="260670"/>
                    </a:lnTo>
                    <a:cubicBezTo>
                      <a:pt x="1284328" y="269627"/>
                      <a:pt x="1277067" y="276888"/>
                      <a:pt x="1268110" y="276888"/>
                    </a:cubicBezTo>
                    <a:lnTo>
                      <a:pt x="16217" y="276888"/>
                    </a:lnTo>
                    <a:cubicBezTo>
                      <a:pt x="7261" y="276888"/>
                      <a:pt x="0" y="269627"/>
                      <a:pt x="0" y="260670"/>
                    </a:cubicBezTo>
                    <a:lnTo>
                      <a:pt x="0" y="16217"/>
                    </a:lnTo>
                    <a:cubicBezTo>
                      <a:pt x="0" y="11916"/>
                      <a:pt x="1709" y="7791"/>
                      <a:pt x="4750" y="4750"/>
                    </a:cubicBezTo>
                    <a:cubicBezTo>
                      <a:pt x="7791" y="1709"/>
                      <a:pt x="11916" y="0"/>
                      <a:pt x="16217" y="0"/>
                    </a:cubicBezTo>
                    <a:close/>
                  </a:path>
                </a:pathLst>
              </a:custGeom>
              <a:gradFill rotWithShape="true">
                <a:gsLst>
                  <a:gs pos="0">
                    <a:srgbClr val="841F0B">
                      <a:alpha val="100000"/>
                    </a:srgbClr>
                  </a:gs>
                  <a:gs pos="100000">
                    <a:srgbClr val="DA4610">
                      <a:alpha val="100000"/>
                    </a:srgbClr>
                  </a:gs>
                </a:gsLst>
                <a:lin ang="0"/>
              </a:gradFill>
            </p:spPr>
          </p:sp>
          <p:sp>
            <p:nvSpPr>
              <p:cNvPr name="TextBox 20" id="20"/>
              <p:cNvSpPr txBox="true"/>
              <p:nvPr/>
            </p:nvSpPr>
            <p:spPr>
              <a:xfrm>
                <a:off x="0" y="28575"/>
                <a:ext cx="1284328" cy="248313"/>
              </a:xfrm>
              <a:prstGeom prst="rect">
                <a:avLst/>
              </a:prstGeom>
            </p:spPr>
            <p:txBody>
              <a:bodyPr anchor="ctr" rtlCol="false" tIns="50800" lIns="50800" bIns="50800" rIns="50800"/>
              <a:lstStyle/>
              <a:p>
                <a:pPr algn="ctr">
                  <a:lnSpc>
                    <a:spcPts val="1919"/>
                  </a:lnSpc>
                </a:pPr>
              </a:p>
            </p:txBody>
          </p:sp>
        </p:grpSp>
        <p:sp>
          <p:nvSpPr>
            <p:cNvPr name="TextBox 21" id="21"/>
            <p:cNvSpPr txBox="true"/>
            <p:nvPr/>
          </p:nvSpPr>
          <p:spPr>
            <a:xfrm rot="158385">
              <a:off x="8127156" y="416383"/>
              <a:ext cx="10696438" cy="2269058"/>
            </a:xfrm>
            <a:prstGeom prst="rect">
              <a:avLst/>
            </a:prstGeom>
          </p:spPr>
          <p:txBody>
            <a:bodyPr anchor="t" rtlCol="false" tIns="0" lIns="0" bIns="0" rIns="0">
              <a:spAutoFit/>
            </a:bodyPr>
            <a:lstStyle/>
            <a:p>
              <a:pPr algn="l">
                <a:lnSpc>
                  <a:spcPts val="11447"/>
                </a:lnSpc>
              </a:pPr>
              <a:r>
                <a:rPr lang="en-US" sz="12049" b="true">
                  <a:solidFill>
                    <a:srgbClr val="FFFFFF"/>
                  </a:solidFill>
                  <a:latin typeface="Poppins Heavy"/>
                  <a:ea typeface="Poppins Heavy"/>
                  <a:cs typeface="Poppins Heavy"/>
                  <a:sym typeface="Poppins Heavy"/>
                </a:rPr>
                <a:t>WORKS?</a:t>
              </a:r>
            </a:p>
          </p:txBody>
        </p:sp>
      </p:grpSp>
      <p:sp>
        <p:nvSpPr>
          <p:cNvPr name="AutoShape 22" id="22"/>
          <p:cNvSpPr/>
          <p:nvPr/>
        </p:nvSpPr>
        <p:spPr>
          <a:xfrm>
            <a:off x="2598760" y="2786166"/>
            <a:ext cx="5504384" cy="0"/>
          </a:xfrm>
          <a:prstGeom prst="line">
            <a:avLst/>
          </a:prstGeom>
          <a:ln cap="flat" w="66675">
            <a:solidFill>
              <a:srgbClr val="FFFFFF"/>
            </a:solidFill>
            <a:prstDash val="solid"/>
            <a:headEnd type="none" len="sm" w="sm"/>
            <a:tailEnd type="none" len="sm" w="sm"/>
          </a:ln>
        </p:spPr>
      </p:sp>
      <p:grpSp>
        <p:nvGrpSpPr>
          <p:cNvPr name="Group 23" id="23"/>
          <p:cNvGrpSpPr/>
          <p:nvPr/>
        </p:nvGrpSpPr>
        <p:grpSpPr>
          <a:xfrm rot="0">
            <a:off x="686305" y="4319509"/>
            <a:ext cx="10920785" cy="4311423"/>
            <a:chOff x="0" y="0"/>
            <a:chExt cx="14561047" cy="5748564"/>
          </a:xfrm>
        </p:grpSpPr>
        <p:grpSp>
          <p:nvGrpSpPr>
            <p:cNvPr name="Group 24" id="24"/>
            <p:cNvGrpSpPr/>
            <p:nvPr/>
          </p:nvGrpSpPr>
          <p:grpSpPr>
            <a:xfrm rot="0">
              <a:off x="898827" y="249011"/>
              <a:ext cx="13662219" cy="1348916"/>
              <a:chOff x="0" y="0"/>
              <a:chExt cx="526852" cy="52018"/>
            </a:xfrm>
          </p:grpSpPr>
          <p:sp>
            <p:nvSpPr>
              <p:cNvPr name="Freeform 25" id="25"/>
              <p:cNvSpPr/>
              <p:nvPr/>
            </p:nvSpPr>
            <p:spPr>
              <a:xfrm flipH="false" flipV="false" rot="0">
                <a:off x="0" y="0"/>
                <a:ext cx="526852" cy="52018"/>
              </a:xfrm>
              <a:custGeom>
                <a:avLst/>
                <a:gdLst/>
                <a:ahLst/>
                <a:cxnLst/>
                <a:rect r="r" b="b" t="t" l="l"/>
                <a:pathLst>
                  <a:path h="52018" w="526852">
                    <a:moveTo>
                      <a:pt x="26009" y="0"/>
                    </a:moveTo>
                    <a:lnTo>
                      <a:pt x="500843" y="0"/>
                    </a:lnTo>
                    <a:cubicBezTo>
                      <a:pt x="507741" y="0"/>
                      <a:pt x="514356" y="2740"/>
                      <a:pt x="519234" y="7618"/>
                    </a:cubicBezTo>
                    <a:cubicBezTo>
                      <a:pt x="524112" y="12495"/>
                      <a:pt x="526852" y="19111"/>
                      <a:pt x="526852" y="26009"/>
                    </a:cubicBezTo>
                    <a:lnTo>
                      <a:pt x="526852" y="26009"/>
                    </a:lnTo>
                    <a:cubicBezTo>
                      <a:pt x="526852" y="40373"/>
                      <a:pt x="515207" y="52018"/>
                      <a:pt x="500843" y="52018"/>
                    </a:cubicBezTo>
                    <a:lnTo>
                      <a:pt x="26009" y="52018"/>
                    </a:lnTo>
                    <a:cubicBezTo>
                      <a:pt x="19111" y="52018"/>
                      <a:pt x="12495" y="49278"/>
                      <a:pt x="7618" y="44400"/>
                    </a:cubicBezTo>
                    <a:cubicBezTo>
                      <a:pt x="2740" y="39522"/>
                      <a:pt x="0" y="32907"/>
                      <a:pt x="0" y="26009"/>
                    </a:cubicBezTo>
                    <a:lnTo>
                      <a:pt x="0" y="26009"/>
                    </a:lnTo>
                    <a:cubicBezTo>
                      <a:pt x="0" y="19111"/>
                      <a:pt x="2740" y="12495"/>
                      <a:pt x="7618" y="7618"/>
                    </a:cubicBezTo>
                    <a:cubicBezTo>
                      <a:pt x="12495" y="2740"/>
                      <a:pt x="19111" y="0"/>
                      <a:pt x="26009" y="0"/>
                    </a:cubicBezTo>
                    <a:close/>
                  </a:path>
                </a:pathLst>
              </a:custGeom>
              <a:solidFill>
                <a:srgbClr val="FFFFFF"/>
              </a:solidFill>
            </p:spPr>
          </p:sp>
          <p:sp>
            <p:nvSpPr>
              <p:cNvPr name="TextBox 26" id="26"/>
              <p:cNvSpPr txBox="true"/>
              <p:nvPr/>
            </p:nvSpPr>
            <p:spPr>
              <a:xfrm>
                <a:off x="0" y="28575"/>
                <a:ext cx="526852" cy="23443"/>
              </a:xfrm>
              <a:prstGeom prst="rect">
                <a:avLst/>
              </a:prstGeom>
            </p:spPr>
            <p:txBody>
              <a:bodyPr anchor="ctr" rtlCol="false" tIns="50800" lIns="50800" bIns="50800" rIns="50800"/>
              <a:lstStyle/>
              <a:p>
                <a:pPr algn="ctr">
                  <a:lnSpc>
                    <a:spcPts val="1919"/>
                  </a:lnSpc>
                </a:pPr>
              </a:p>
            </p:txBody>
          </p:sp>
        </p:grpSp>
        <p:grpSp>
          <p:nvGrpSpPr>
            <p:cNvPr name="Group 27" id="27"/>
            <p:cNvGrpSpPr/>
            <p:nvPr/>
          </p:nvGrpSpPr>
          <p:grpSpPr>
            <a:xfrm rot="0">
              <a:off x="0" y="0"/>
              <a:ext cx="1797655" cy="179765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9" id="29"/>
              <p:cNvSpPr txBox="true"/>
              <p:nvPr/>
            </p:nvSpPr>
            <p:spPr>
              <a:xfrm>
                <a:off x="76200" y="104775"/>
                <a:ext cx="660400" cy="631825"/>
              </a:xfrm>
              <a:prstGeom prst="rect">
                <a:avLst/>
              </a:prstGeom>
            </p:spPr>
            <p:txBody>
              <a:bodyPr anchor="ctr" rtlCol="false" tIns="50800" lIns="50800" bIns="50800" rIns="50800"/>
              <a:lstStyle/>
              <a:p>
                <a:pPr algn="ctr">
                  <a:lnSpc>
                    <a:spcPts val="1919"/>
                  </a:lnSpc>
                </a:pPr>
              </a:p>
            </p:txBody>
          </p:sp>
        </p:grpSp>
        <p:sp>
          <p:nvSpPr>
            <p:cNvPr name="TextBox 30" id="30"/>
            <p:cNvSpPr txBox="true"/>
            <p:nvPr/>
          </p:nvSpPr>
          <p:spPr>
            <a:xfrm rot="0">
              <a:off x="2158504" y="467133"/>
              <a:ext cx="12102640" cy="855133"/>
            </a:xfrm>
            <a:prstGeom prst="rect">
              <a:avLst/>
            </a:prstGeom>
          </p:spPr>
          <p:txBody>
            <a:bodyPr anchor="t" rtlCol="false" tIns="0" lIns="0" bIns="0" rIns="0">
              <a:spAutoFit/>
            </a:bodyPr>
            <a:lstStyle/>
            <a:p>
              <a:pPr algn="l">
                <a:lnSpc>
                  <a:spcPts val="2374"/>
                </a:lnSpc>
              </a:pPr>
              <a:r>
                <a:rPr lang="en-US" sz="2499" b="true">
                  <a:gradFill>
                    <a:gsLst>
                      <a:gs pos="0">
                        <a:srgbClr val="841F0B">
                          <a:alpha val="100000"/>
                        </a:srgbClr>
                      </a:gs>
                      <a:gs pos="100000">
                        <a:srgbClr val="DA4610">
                          <a:alpha val="100000"/>
                        </a:srgbClr>
                      </a:gs>
                    </a:gsLst>
                    <a:lin ang="0"/>
                  </a:gradFill>
                  <a:latin typeface="Poppins Heavy"/>
                  <a:ea typeface="Poppins Heavy"/>
                  <a:cs typeface="Poppins Heavy"/>
                  <a:sym typeface="Poppins Heavy"/>
                </a:rPr>
                <a:t>Read the scenario:</a:t>
              </a:r>
              <a:r>
                <a:rPr lang="en-US" sz="2499" b="true">
                  <a:gradFill>
                    <a:gsLst>
                      <a:gs pos="0">
                        <a:srgbClr val="841F0B">
                          <a:alpha val="100000"/>
                        </a:srgbClr>
                      </a:gs>
                      <a:gs pos="100000">
                        <a:srgbClr val="DA4610">
                          <a:alpha val="100000"/>
                        </a:srgbClr>
                      </a:gs>
                    </a:gsLst>
                    <a:lin ang="0"/>
                  </a:gradFill>
                  <a:latin typeface="Poppins Semi-Bold"/>
                  <a:ea typeface="Poppins Semi-Bold"/>
                  <a:cs typeface="Poppins Semi-Bold"/>
                  <a:sym typeface="Poppins Semi-Bold"/>
                </a:rPr>
                <a:t> You get one behaviour from a group assignment. That is all the information you have.</a:t>
              </a:r>
            </a:p>
          </p:txBody>
        </p:sp>
        <p:grpSp>
          <p:nvGrpSpPr>
            <p:cNvPr name="Group 31" id="31"/>
            <p:cNvGrpSpPr/>
            <p:nvPr/>
          </p:nvGrpSpPr>
          <p:grpSpPr>
            <a:xfrm rot="0">
              <a:off x="898827" y="2224465"/>
              <a:ext cx="13662219" cy="1348916"/>
              <a:chOff x="0" y="0"/>
              <a:chExt cx="526852" cy="52018"/>
            </a:xfrm>
          </p:grpSpPr>
          <p:sp>
            <p:nvSpPr>
              <p:cNvPr name="Freeform 32" id="32"/>
              <p:cNvSpPr/>
              <p:nvPr/>
            </p:nvSpPr>
            <p:spPr>
              <a:xfrm flipH="false" flipV="false" rot="0">
                <a:off x="0" y="0"/>
                <a:ext cx="526852" cy="52018"/>
              </a:xfrm>
              <a:custGeom>
                <a:avLst/>
                <a:gdLst/>
                <a:ahLst/>
                <a:cxnLst/>
                <a:rect r="r" b="b" t="t" l="l"/>
                <a:pathLst>
                  <a:path h="52018" w="526852">
                    <a:moveTo>
                      <a:pt x="26009" y="0"/>
                    </a:moveTo>
                    <a:lnTo>
                      <a:pt x="500843" y="0"/>
                    </a:lnTo>
                    <a:cubicBezTo>
                      <a:pt x="507741" y="0"/>
                      <a:pt x="514356" y="2740"/>
                      <a:pt x="519234" y="7618"/>
                    </a:cubicBezTo>
                    <a:cubicBezTo>
                      <a:pt x="524112" y="12495"/>
                      <a:pt x="526852" y="19111"/>
                      <a:pt x="526852" y="26009"/>
                    </a:cubicBezTo>
                    <a:lnTo>
                      <a:pt x="526852" y="26009"/>
                    </a:lnTo>
                    <a:cubicBezTo>
                      <a:pt x="526852" y="40373"/>
                      <a:pt x="515207" y="52018"/>
                      <a:pt x="500843" y="52018"/>
                    </a:cubicBezTo>
                    <a:lnTo>
                      <a:pt x="26009" y="52018"/>
                    </a:lnTo>
                    <a:cubicBezTo>
                      <a:pt x="19111" y="52018"/>
                      <a:pt x="12495" y="49278"/>
                      <a:pt x="7618" y="44400"/>
                    </a:cubicBezTo>
                    <a:cubicBezTo>
                      <a:pt x="2740" y="39522"/>
                      <a:pt x="0" y="32907"/>
                      <a:pt x="0" y="26009"/>
                    </a:cubicBezTo>
                    <a:lnTo>
                      <a:pt x="0" y="26009"/>
                    </a:lnTo>
                    <a:cubicBezTo>
                      <a:pt x="0" y="19111"/>
                      <a:pt x="2740" y="12495"/>
                      <a:pt x="7618" y="7618"/>
                    </a:cubicBezTo>
                    <a:cubicBezTo>
                      <a:pt x="12495" y="2740"/>
                      <a:pt x="19111" y="0"/>
                      <a:pt x="26009" y="0"/>
                    </a:cubicBezTo>
                    <a:close/>
                  </a:path>
                </a:pathLst>
              </a:custGeom>
              <a:solidFill>
                <a:srgbClr val="FFFFFF"/>
              </a:solidFill>
            </p:spPr>
          </p:sp>
          <p:sp>
            <p:nvSpPr>
              <p:cNvPr name="TextBox 33" id="33"/>
              <p:cNvSpPr txBox="true"/>
              <p:nvPr/>
            </p:nvSpPr>
            <p:spPr>
              <a:xfrm>
                <a:off x="0" y="28575"/>
                <a:ext cx="526852" cy="23443"/>
              </a:xfrm>
              <a:prstGeom prst="rect">
                <a:avLst/>
              </a:prstGeom>
            </p:spPr>
            <p:txBody>
              <a:bodyPr anchor="ctr" rtlCol="false" tIns="50800" lIns="50800" bIns="50800" rIns="50800"/>
              <a:lstStyle/>
              <a:p>
                <a:pPr algn="ctr">
                  <a:lnSpc>
                    <a:spcPts val="1919"/>
                  </a:lnSpc>
                </a:pPr>
              </a:p>
            </p:txBody>
          </p:sp>
        </p:grpSp>
        <p:grpSp>
          <p:nvGrpSpPr>
            <p:cNvPr name="Group 34" id="34"/>
            <p:cNvGrpSpPr/>
            <p:nvPr/>
          </p:nvGrpSpPr>
          <p:grpSpPr>
            <a:xfrm rot="0">
              <a:off x="0" y="1975455"/>
              <a:ext cx="1797655" cy="179765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6" id="36"/>
              <p:cNvSpPr txBox="true"/>
              <p:nvPr/>
            </p:nvSpPr>
            <p:spPr>
              <a:xfrm>
                <a:off x="76200" y="104775"/>
                <a:ext cx="660400" cy="631825"/>
              </a:xfrm>
              <a:prstGeom prst="rect">
                <a:avLst/>
              </a:prstGeom>
            </p:spPr>
            <p:txBody>
              <a:bodyPr anchor="ctr" rtlCol="false" tIns="50800" lIns="50800" bIns="50800" rIns="50800"/>
              <a:lstStyle/>
              <a:p>
                <a:pPr algn="ctr">
                  <a:lnSpc>
                    <a:spcPts val="1919"/>
                  </a:lnSpc>
                </a:pPr>
              </a:p>
            </p:txBody>
          </p:sp>
        </p:grpSp>
        <p:sp>
          <p:nvSpPr>
            <p:cNvPr name="TextBox 37" id="37"/>
            <p:cNvSpPr txBox="true"/>
            <p:nvPr/>
          </p:nvSpPr>
          <p:spPr>
            <a:xfrm rot="0">
              <a:off x="2158504" y="2442587"/>
              <a:ext cx="12102640" cy="855133"/>
            </a:xfrm>
            <a:prstGeom prst="rect">
              <a:avLst/>
            </a:prstGeom>
          </p:spPr>
          <p:txBody>
            <a:bodyPr anchor="t" rtlCol="false" tIns="0" lIns="0" bIns="0" rIns="0">
              <a:spAutoFit/>
            </a:bodyPr>
            <a:lstStyle/>
            <a:p>
              <a:pPr algn="l">
                <a:lnSpc>
                  <a:spcPts val="2374"/>
                </a:lnSpc>
              </a:pPr>
              <a:r>
                <a:rPr lang="en-US" sz="2499" b="true">
                  <a:gradFill>
                    <a:gsLst>
                      <a:gs pos="0">
                        <a:srgbClr val="841F0B">
                          <a:alpha val="100000"/>
                        </a:srgbClr>
                      </a:gs>
                      <a:gs pos="100000">
                        <a:srgbClr val="DA4610">
                          <a:alpha val="100000"/>
                        </a:srgbClr>
                      </a:gs>
                    </a:gsLst>
                    <a:lin ang="0"/>
                  </a:gradFill>
                  <a:latin typeface="Poppins Heavy"/>
                  <a:ea typeface="Poppins Heavy"/>
                  <a:cs typeface="Poppins Heavy"/>
                  <a:sym typeface="Poppins Heavy"/>
                </a:rPr>
                <a:t>Move: </a:t>
              </a:r>
              <a:r>
                <a:rPr lang="en-US" sz="2499" b="true">
                  <a:gradFill>
                    <a:gsLst>
                      <a:gs pos="0">
                        <a:srgbClr val="841F0B">
                          <a:alpha val="100000"/>
                        </a:srgbClr>
                      </a:gs>
                      <a:gs pos="100000">
                        <a:srgbClr val="DA4610">
                          <a:alpha val="100000"/>
                        </a:srgbClr>
                      </a:gs>
                    </a:gsLst>
                    <a:lin ang="0"/>
                  </a:gradFill>
                  <a:latin typeface="Poppins Semi-Bold"/>
                  <a:ea typeface="Poppins Semi-Bold"/>
                  <a:cs typeface="Poppins Semi-Bold"/>
                  <a:sym typeface="Poppins Semi-Bold"/>
                </a:rPr>
                <a:t>Go to RED, GREEN, or the DEPENDS zone in the middle. No standing between zones. </a:t>
              </a:r>
            </a:p>
          </p:txBody>
        </p:sp>
        <p:sp>
          <p:nvSpPr>
            <p:cNvPr name="Freeform 38" id="38"/>
            <p:cNvSpPr/>
            <p:nvPr/>
          </p:nvSpPr>
          <p:spPr>
            <a:xfrm flipH="false" flipV="false" rot="0">
              <a:off x="240617" y="2561803"/>
              <a:ext cx="1343993" cy="624957"/>
            </a:xfrm>
            <a:custGeom>
              <a:avLst/>
              <a:gdLst/>
              <a:ahLst/>
              <a:cxnLst/>
              <a:rect r="r" b="b" t="t" l="l"/>
              <a:pathLst>
                <a:path h="624957" w="1343993">
                  <a:moveTo>
                    <a:pt x="0" y="0"/>
                  </a:moveTo>
                  <a:lnTo>
                    <a:pt x="1343993" y="0"/>
                  </a:lnTo>
                  <a:lnTo>
                    <a:pt x="1343993" y="624957"/>
                  </a:lnTo>
                  <a:lnTo>
                    <a:pt x="0" y="6249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9" id="39"/>
            <p:cNvGrpSpPr/>
            <p:nvPr/>
          </p:nvGrpSpPr>
          <p:grpSpPr>
            <a:xfrm rot="0">
              <a:off x="898827" y="4199920"/>
              <a:ext cx="13662219" cy="1348916"/>
              <a:chOff x="0" y="0"/>
              <a:chExt cx="526852" cy="52018"/>
            </a:xfrm>
          </p:grpSpPr>
          <p:sp>
            <p:nvSpPr>
              <p:cNvPr name="Freeform 40" id="40"/>
              <p:cNvSpPr/>
              <p:nvPr/>
            </p:nvSpPr>
            <p:spPr>
              <a:xfrm flipH="false" flipV="false" rot="0">
                <a:off x="0" y="0"/>
                <a:ext cx="526852" cy="52018"/>
              </a:xfrm>
              <a:custGeom>
                <a:avLst/>
                <a:gdLst/>
                <a:ahLst/>
                <a:cxnLst/>
                <a:rect r="r" b="b" t="t" l="l"/>
                <a:pathLst>
                  <a:path h="52018" w="526852">
                    <a:moveTo>
                      <a:pt x="26009" y="0"/>
                    </a:moveTo>
                    <a:lnTo>
                      <a:pt x="500843" y="0"/>
                    </a:lnTo>
                    <a:cubicBezTo>
                      <a:pt x="507741" y="0"/>
                      <a:pt x="514356" y="2740"/>
                      <a:pt x="519234" y="7618"/>
                    </a:cubicBezTo>
                    <a:cubicBezTo>
                      <a:pt x="524112" y="12495"/>
                      <a:pt x="526852" y="19111"/>
                      <a:pt x="526852" y="26009"/>
                    </a:cubicBezTo>
                    <a:lnTo>
                      <a:pt x="526852" y="26009"/>
                    </a:lnTo>
                    <a:cubicBezTo>
                      <a:pt x="526852" y="40373"/>
                      <a:pt x="515207" y="52018"/>
                      <a:pt x="500843" y="52018"/>
                    </a:cubicBezTo>
                    <a:lnTo>
                      <a:pt x="26009" y="52018"/>
                    </a:lnTo>
                    <a:cubicBezTo>
                      <a:pt x="19111" y="52018"/>
                      <a:pt x="12495" y="49278"/>
                      <a:pt x="7618" y="44400"/>
                    </a:cubicBezTo>
                    <a:cubicBezTo>
                      <a:pt x="2740" y="39522"/>
                      <a:pt x="0" y="32907"/>
                      <a:pt x="0" y="26009"/>
                    </a:cubicBezTo>
                    <a:lnTo>
                      <a:pt x="0" y="26009"/>
                    </a:lnTo>
                    <a:cubicBezTo>
                      <a:pt x="0" y="19111"/>
                      <a:pt x="2740" y="12495"/>
                      <a:pt x="7618" y="7618"/>
                    </a:cubicBezTo>
                    <a:cubicBezTo>
                      <a:pt x="12495" y="2740"/>
                      <a:pt x="19111" y="0"/>
                      <a:pt x="26009" y="0"/>
                    </a:cubicBezTo>
                    <a:close/>
                  </a:path>
                </a:pathLst>
              </a:custGeom>
              <a:solidFill>
                <a:srgbClr val="FFFFFF"/>
              </a:solidFill>
            </p:spPr>
          </p:sp>
          <p:sp>
            <p:nvSpPr>
              <p:cNvPr name="TextBox 41" id="41"/>
              <p:cNvSpPr txBox="true"/>
              <p:nvPr/>
            </p:nvSpPr>
            <p:spPr>
              <a:xfrm>
                <a:off x="0" y="28575"/>
                <a:ext cx="526852" cy="23443"/>
              </a:xfrm>
              <a:prstGeom prst="rect">
                <a:avLst/>
              </a:prstGeom>
            </p:spPr>
            <p:txBody>
              <a:bodyPr anchor="ctr" rtlCol="false" tIns="50800" lIns="50800" bIns="50800" rIns="50800"/>
              <a:lstStyle/>
              <a:p>
                <a:pPr algn="ctr">
                  <a:lnSpc>
                    <a:spcPts val="1919"/>
                  </a:lnSpc>
                </a:pPr>
              </a:p>
            </p:txBody>
          </p:sp>
        </p:grpSp>
        <p:grpSp>
          <p:nvGrpSpPr>
            <p:cNvPr name="Group 42" id="42"/>
            <p:cNvGrpSpPr/>
            <p:nvPr/>
          </p:nvGrpSpPr>
          <p:grpSpPr>
            <a:xfrm rot="0">
              <a:off x="0" y="3950909"/>
              <a:ext cx="1797655" cy="1797655"/>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4" id="44"/>
              <p:cNvSpPr txBox="true"/>
              <p:nvPr/>
            </p:nvSpPr>
            <p:spPr>
              <a:xfrm>
                <a:off x="76200" y="104775"/>
                <a:ext cx="660400" cy="631825"/>
              </a:xfrm>
              <a:prstGeom prst="rect">
                <a:avLst/>
              </a:prstGeom>
            </p:spPr>
            <p:txBody>
              <a:bodyPr anchor="ctr" rtlCol="false" tIns="50800" lIns="50800" bIns="50800" rIns="50800"/>
              <a:lstStyle/>
              <a:p>
                <a:pPr algn="ctr">
                  <a:lnSpc>
                    <a:spcPts val="1919"/>
                  </a:lnSpc>
                </a:pPr>
              </a:p>
            </p:txBody>
          </p:sp>
        </p:grpSp>
        <p:sp>
          <p:nvSpPr>
            <p:cNvPr name="TextBox 45" id="45"/>
            <p:cNvSpPr txBox="true"/>
            <p:nvPr/>
          </p:nvSpPr>
          <p:spPr>
            <a:xfrm rot="0">
              <a:off x="2158504" y="4418042"/>
              <a:ext cx="12102640" cy="855133"/>
            </a:xfrm>
            <a:prstGeom prst="rect">
              <a:avLst/>
            </a:prstGeom>
          </p:spPr>
          <p:txBody>
            <a:bodyPr anchor="t" rtlCol="false" tIns="0" lIns="0" bIns="0" rIns="0">
              <a:spAutoFit/>
            </a:bodyPr>
            <a:lstStyle/>
            <a:p>
              <a:pPr algn="l">
                <a:lnSpc>
                  <a:spcPts val="2374"/>
                </a:lnSpc>
              </a:pPr>
              <a:r>
                <a:rPr lang="en-US" sz="2499" b="true">
                  <a:gradFill>
                    <a:gsLst>
                      <a:gs pos="0">
                        <a:srgbClr val="841F0B">
                          <a:alpha val="100000"/>
                        </a:srgbClr>
                      </a:gs>
                      <a:gs pos="100000">
                        <a:srgbClr val="DA4610">
                          <a:alpha val="100000"/>
                        </a:srgbClr>
                      </a:gs>
                    </a:gsLst>
                    <a:lin ang="0"/>
                  </a:gradFill>
                  <a:latin typeface="Poppins Heavy"/>
                  <a:ea typeface="Poppins Heavy"/>
                  <a:cs typeface="Poppins Heavy"/>
                  <a:sym typeface="Poppins Heavy"/>
                </a:rPr>
                <a:t>Defend it: </a:t>
              </a:r>
              <a:r>
                <a:rPr lang="en-US" sz="2499" b="true">
                  <a:gradFill>
                    <a:gsLst>
                      <a:gs pos="0">
                        <a:srgbClr val="841F0B">
                          <a:alpha val="100000"/>
                        </a:srgbClr>
                      </a:gs>
                      <a:gs pos="100000">
                        <a:srgbClr val="DA4610">
                          <a:alpha val="100000"/>
                        </a:srgbClr>
                      </a:gs>
                    </a:gsLst>
                    <a:lin ang="0"/>
                  </a:gradFill>
                  <a:latin typeface="Poppins Semi-Bold"/>
                  <a:ea typeface="Poppins Semi-Bold"/>
                  <a:cs typeface="Poppins Semi-Bold"/>
                  <a:sym typeface="Poppins Semi-Bold"/>
                </a:rPr>
                <a:t>A few people say why. Smallest group goes first.</a:t>
              </a:r>
            </a:p>
          </p:txBody>
        </p:sp>
        <p:sp>
          <p:nvSpPr>
            <p:cNvPr name="Freeform 46" id="46"/>
            <p:cNvSpPr/>
            <p:nvPr/>
          </p:nvSpPr>
          <p:spPr>
            <a:xfrm flipH="false" flipV="false" rot="0">
              <a:off x="284131" y="4281475"/>
              <a:ext cx="1248928" cy="1136524"/>
            </a:xfrm>
            <a:custGeom>
              <a:avLst/>
              <a:gdLst/>
              <a:ahLst/>
              <a:cxnLst/>
              <a:rect r="r" b="b" t="t" l="l"/>
              <a:pathLst>
                <a:path h="1136524" w="1248928">
                  <a:moveTo>
                    <a:pt x="0" y="0"/>
                  </a:moveTo>
                  <a:lnTo>
                    <a:pt x="1248928" y="0"/>
                  </a:lnTo>
                  <a:lnTo>
                    <a:pt x="1248928" y="1136524"/>
                  </a:lnTo>
                  <a:lnTo>
                    <a:pt x="0" y="11365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7" id="47"/>
            <p:cNvSpPr/>
            <p:nvPr/>
          </p:nvSpPr>
          <p:spPr>
            <a:xfrm flipH="false" flipV="false" rot="0">
              <a:off x="367357" y="276818"/>
              <a:ext cx="1075327" cy="1156265"/>
            </a:xfrm>
            <a:custGeom>
              <a:avLst/>
              <a:gdLst/>
              <a:ahLst/>
              <a:cxnLst/>
              <a:rect r="r" b="b" t="t" l="l"/>
              <a:pathLst>
                <a:path h="1156265" w="1075327">
                  <a:moveTo>
                    <a:pt x="0" y="0"/>
                  </a:moveTo>
                  <a:lnTo>
                    <a:pt x="1075327" y="0"/>
                  </a:lnTo>
                  <a:lnTo>
                    <a:pt x="1075327" y="1156265"/>
                  </a:lnTo>
                  <a:lnTo>
                    <a:pt x="0" y="11562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48" id="48"/>
          <p:cNvGrpSpPr/>
          <p:nvPr/>
        </p:nvGrpSpPr>
        <p:grpSpPr>
          <a:xfrm rot="0">
            <a:off x="12046113" y="4414759"/>
            <a:ext cx="5213187" cy="4182329"/>
            <a:chOff x="0" y="0"/>
            <a:chExt cx="460944" cy="369797"/>
          </a:xfrm>
        </p:grpSpPr>
        <p:sp>
          <p:nvSpPr>
            <p:cNvPr name="Freeform 49" id="49"/>
            <p:cNvSpPr/>
            <p:nvPr/>
          </p:nvSpPr>
          <p:spPr>
            <a:xfrm flipH="false" flipV="false" rot="0">
              <a:off x="0" y="0"/>
              <a:ext cx="460944" cy="369797"/>
            </a:xfrm>
            <a:custGeom>
              <a:avLst/>
              <a:gdLst/>
              <a:ahLst/>
              <a:cxnLst/>
              <a:rect r="r" b="b" t="t" l="l"/>
              <a:pathLst>
                <a:path h="369797" w="460944">
                  <a:moveTo>
                    <a:pt x="52209" y="0"/>
                  </a:moveTo>
                  <a:lnTo>
                    <a:pt x="408735" y="0"/>
                  </a:lnTo>
                  <a:cubicBezTo>
                    <a:pt x="437569" y="0"/>
                    <a:pt x="460944" y="23375"/>
                    <a:pt x="460944" y="52209"/>
                  </a:cubicBezTo>
                  <a:lnTo>
                    <a:pt x="460944" y="317588"/>
                  </a:lnTo>
                  <a:cubicBezTo>
                    <a:pt x="460944" y="331434"/>
                    <a:pt x="455444" y="344714"/>
                    <a:pt x="445653" y="354505"/>
                  </a:cubicBezTo>
                  <a:cubicBezTo>
                    <a:pt x="435861" y="364296"/>
                    <a:pt x="422582" y="369797"/>
                    <a:pt x="408735" y="369797"/>
                  </a:cubicBezTo>
                  <a:lnTo>
                    <a:pt x="52209" y="369797"/>
                  </a:lnTo>
                  <a:cubicBezTo>
                    <a:pt x="38363" y="369797"/>
                    <a:pt x="25083" y="364296"/>
                    <a:pt x="15292" y="354505"/>
                  </a:cubicBezTo>
                  <a:cubicBezTo>
                    <a:pt x="5501" y="344714"/>
                    <a:pt x="0" y="331434"/>
                    <a:pt x="0" y="317588"/>
                  </a:cubicBezTo>
                  <a:lnTo>
                    <a:pt x="0" y="52209"/>
                  </a:lnTo>
                  <a:cubicBezTo>
                    <a:pt x="0" y="38363"/>
                    <a:pt x="5501" y="25083"/>
                    <a:pt x="15292" y="15292"/>
                  </a:cubicBezTo>
                  <a:cubicBezTo>
                    <a:pt x="25083" y="5501"/>
                    <a:pt x="38363" y="0"/>
                    <a:pt x="52209" y="0"/>
                  </a:cubicBezTo>
                  <a:close/>
                </a:path>
              </a:pathLst>
            </a:custGeom>
            <a:gradFill rotWithShape="true">
              <a:gsLst>
                <a:gs pos="0">
                  <a:srgbClr val="85200C">
                    <a:alpha val="100000"/>
                  </a:srgbClr>
                </a:gs>
                <a:gs pos="100000">
                  <a:srgbClr val="DC4B0F">
                    <a:alpha val="100000"/>
                  </a:srgbClr>
                </a:gs>
              </a:gsLst>
              <a:lin ang="0"/>
            </a:gradFill>
          </p:spPr>
        </p:sp>
        <p:sp>
          <p:nvSpPr>
            <p:cNvPr name="TextBox 50" id="50"/>
            <p:cNvSpPr txBox="true"/>
            <p:nvPr/>
          </p:nvSpPr>
          <p:spPr>
            <a:xfrm>
              <a:off x="0" y="-38100"/>
              <a:ext cx="460944" cy="407897"/>
            </a:xfrm>
            <a:prstGeom prst="rect">
              <a:avLst/>
            </a:prstGeom>
          </p:spPr>
          <p:txBody>
            <a:bodyPr anchor="ctr" rtlCol="false" tIns="50800" lIns="50800" bIns="50800" rIns="50800"/>
            <a:lstStyle/>
            <a:p>
              <a:pPr algn="ctr">
                <a:lnSpc>
                  <a:spcPts val="2659"/>
                </a:lnSpc>
                <a:spcBef>
                  <a:spcPct val="0"/>
                </a:spcBef>
              </a:pPr>
            </a:p>
          </p:txBody>
        </p:sp>
      </p:grpSp>
      <p:grpSp>
        <p:nvGrpSpPr>
          <p:cNvPr name="Group 51" id="51"/>
          <p:cNvGrpSpPr/>
          <p:nvPr/>
        </p:nvGrpSpPr>
        <p:grpSpPr>
          <a:xfrm rot="0">
            <a:off x="12231849" y="4586209"/>
            <a:ext cx="4841714" cy="814195"/>
            <a:chOff x="0" y="0"/>
            <a:chExt cx="428099" cy="71990"/>
          </a:xfrm>
        </p:grpSpPr>
        <p:sp>
          <p:nvSpPr>
            <p:cNvPr name="Freeform 52" id="52"/>
            <p:cNvSpPr/>
            <p:nvPr/>
          </p:nvSpPr>
          <p:spPr>
            <a:xfrm flipH="false" flipV="false" rot="0">
              <a:off x="0" y="0"/>
              <a:ext cx="428099" cy="71990"/>
            </a:xfrm>
            <a:custGeom>
              <a:avLst/>
              <a:gdLst/>
              <a:ahLst/>
              <a:cxnLst/>
              <a:rect r="r" b="b" t="t" l="l"/>
              <a:pathLst>
                <a:path h="71990" w="428099">
                  <a:moveTo>
                    <a:pt x="35995" y="0"/>
                  </a:moveTo>
                  <a:lnTo>
                    <a:pt x="392104" y="0"/>
                  </a:lnTo>
                  <a:cubicBezTo>
                    <a:pt x="411984" y="0"/>
                    <a:pt x="428099" y="16116"/>
                    <a:pt x="428099" y="35995"/>
                  </a:cubicBezTo>
                  <a:lnTo>
                    <a:pt x="428099" y="35995"/>
                  </a:lnTo>
                  <a:cubicBezTo>
                    <a:pt x="428099" y="45542"/>
                    <a:pt x="424307" y="54697"/>
                    <a:pt x="417556" y="61448"/>
                  </a:cubicBezTo>
                  <a:cubicBezTo>
                    <a:pt x="410806" y="68198"/>
                    <a:pt x="401651" y="71990"/>
                    <a:pt x="392104" y="71990"/>
                  </a:cubicBezTo>
                  <a:lnTo>
                    <a:pt x="35995" y="71990"/>
                  </a:lnTo>
                  <a:cubicBezTo>
                    <a:pt x="26449" y="71990"/>
                    <a:pt x="17293" y="68198"/>
                    <a:pt x="10543" y="61448"/>
                  </a:cubicBezTo>
                  <a:cubicBezTo>
                    <a:pt x="3792" y="54697"/>
                    <a:pt x="0" y="45542"/>
                    <a:pt x="0" y="35995"/>
                  </a:cubicBezTo>
                  <a:lnTo>
                    <a:pt x="0" y="35995"/>
                  </a:lnTo>
                  <a:cubicBezTo>
                    <a:pt x="0" y="26449"/>
                    <a:pt x="3792" y="17293"/>
                    <a:pt x="10543" y="10543"/>
                  </a:cubicBezTo>
                  <a:cubicBezTo>
                    <a:pt x="17293" y="3792"/>
                    <a:pt x="26449" y="0"/>
                    <a:pt x="35995"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53" id="53"/>
            <p:cNvSpPr txBox="true"/>
            <p:nvPr/>
          </p:nvSpPr>
          <p:spPr>
            <a:xfrm>
              <a:off x="0" y="-76200"/>
              <a:ext cx="428099" cy="148190"/>
            </a:xfrm>
            <a:prstGeom prst="rect">
              <a:avLst/>
            </a:prstGeom>
          </p:spPr>
          <p:txBody>
            <a:bodyPr anchor="ctr" rtlCol="false" tIns="50800" lIns="50800" bIns="50800" rIns="50800"/>
            <a:lstStyle/>
            <a:p>
              <a:pPr algn="ctr">
                <a:lnSpc>
                  <a:spcPts val="4199"/>
                </a:lnSpc>
                <a:spcBef>
                  <a:spcPct val="0"/>
                </a:spcBef>
              </a:pPr>
              <a:r>
                <a:rPr lang="en-US" b="true" sz="2999">
                  <a:solidFill>
                    <a:srgbClr val="FFFFFF"/>
                  </a:solidFill>
                  <a:latin typeface="Poppins Bold"/>
                  <a:ea typeface="Poppins Bold"/>
                  <a:cs typeface="Poppins Bold"/>
                  <a:sym typeface="Poppins Bold"/>
                </a:rPr>
                <a:t>NOTE:</a:t>
              </a:r>
            </a:p>
          </p:txBody>
        </p:sp>
      </p:grpSp>
      <p:sp>
        <p:nvSpPr>
          <p:cNvPr name="Freeform 54" id="54"/>
          <p:cNvSpPr/>
          <p:nvPr/>
        </p:nvSpPr>
        <p:spPr>
          <a:xfrm flipH="false" flipV="false" rot="2700000">
            <a:off x="11474811" y="403012"/>
            <a:ext cx="10432906" cy="6242810"/>
          </a:xfrm>
          <a:custGeom>
            <a:avLst/>
            <a:gdLst/>
            <a:ahLst/>
            <a:cxnLst/>
            <a:rect r="r" b="b" t="t" l="l"/>
            <a:pathLst>
              <a:path h="6242810" w="10432906">
                <a:moveTo>
                  <a:pt x="0" y="0"/>
                </a:moveTo>
                <a:lnTo>
                  <a:pt x="10432906" y="0"/>
                </a:lnTo>
                <a:lnTo>
                  <a:pt x="10432906" y="6242810"/>
                </a:lnTo>
                <a:lnTo>
                  <a:pt x="0" y="6242810"/>
                </a:lnTo>
                <a:lnTo>
                  <a:pt x="0" y="0"/>
                </a:lnTo>
                <a:close/>
              </a:path>
            </a:pathLst>
          </a:custGeom>
          <a:blipFill>
            <a:blip r:embed="rId13"/>
            <a:stretch>
              <a:fillRect l="0" t="0" r="0" b="-65447"/>
            </a:stretch>
          </a:blipFill>
        </p:spPr>
      </p:sp>
      <p:sp>
        <p:nvSpPr>
          <p:cNvPr name="TextBox 55" id="55"/>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03</a:t>
            </a:r>
          </a:p>
        </p:txBody>
      </p:sp>
      <p:sp>
        <p:nvSpPr>
          <p:cNvPr name="TextBox 56" id="56"/>
          <p:cNvSpPr txBox="true"/>
          <p:nvPr/>
        </p:nvSpPr>
        <p:spPr>
          <a:xfrm rot="0">
            <a:off x="12406222" y="5585012"/>
            <a:ext cx="4492969" cy="2527228"/>
          </a:xfrm>
          <a:prstGeom prst="rect">
            <a:avLst/>
          </a:prstGeom>
        </p:spPr>
        <p:txBody>
          <a:bodyPr anchor="t" rtlCol="false" tIns="0" lIns="0" bIns="0" rIns="0">
            <a:spAutoFit/>
          </a:bodyPr>
          <a:lstStyle/>
          <a:p>
            <a:pPr algn="ctr">
              <a:lnSpc>
                <a:spcPts val="3227"/>
              </a:lnSpc>
            </a:pPr>
            <a:r>
              <a:rPr lang="en-US" sz="3397" b="true">
                <a:solidFill>
                  <a:srgbClr val="FFFFFF"/>
                </a:solidFill>
                <a:latin typeface="Poppins Semi-Bold"/>
                <a:ea typeface="Poppins Semi-Bold"/>
                <a:cs typeface="Poppins Semi-Bold"/>
                <a:sym typeface="Poppins Semi-Bold"/>
              </a:rPr>
              <a:t>The later scenarios do not have a clean answer. When the room splits, that is the lesson, not a mistake.</a:t>
            </a:r>
          </a:p>
        </p:txBody>
      </p:sp>
      <p:sp>
        <p:nvSpPr>
          <p:cNvPr name="TextBox 57" id="57"/>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sp>
        <p:nvSpPr>
          <p:cNvPr name="TextBox 15" id="15"/>
          <p:cNvSpPr txBox="true"/>
          <p:nvPr/>
        </p:nvSpPr>
        <p:spPr>
          <a:xfrm rot="0">
            <a:off x="4025686" y="2079665"/>
            <a:ext cx="13185636" cy="2878934"/>
          </a:xfrm>
          <a:prstGeom prst="rect">
            <a:avLst/>
          </a:prstGeom>
        </p:spPr>
        <p:txBody>
          <a:bodyPr anchor="t" rtlCol="false" tIns="0" lIns="0" bIns="0" rIns="0">
            <a:spAutoFit/>
          </a:bodyPr>
          <a:lstStyle/>
          <a:p>
            <a:pPr algn="l">
              <a:lnSpc>
                <a:spcPts val="20221"/>
              </a:lnSpc>
            </a:pPr>
            <a:r>
              <a:rPr lang="en-US" sz="21285" b="true">
                <a:solidFill>
                  <a:srgbClr val="000000">
                    <a:alpha val="29804"/>
                  </a:srgbClr>
                </a:solidFill>
                <a:latin typeface="Poppins Heavy"/>
                <a:ea typeface="Poppins Heavy"/>
                <a:cs typeface="Poppins Heavy"/>
                <a:sym typeface="Poppins Heavy"/>
              </a:rPr>
              <a:t>LEVEL 1</a:t>
            </a:r>
          </a:p>
        </p:txBody>
      </p:sp>
      <p:sp>
        <p:nvSpPr>
          <p:cNvPr name="TextBox 16" id="16"/>
          <p:cNvSpPr txBox="true"/>
          <p:nvPr/>
        </p:nvSpPr>
        <p:spPr>
          <a:xfrm rot="0">
            <a:off x="3886841" y="1919459"/>
            <a:ext cx="10683202" cy="2878934"/>
          </a:xfrm>
          <a:prstGeom prst="rect">
            <a:avLst/>
          </a:prstGeom>
        </p:spPr>
        <p:txBody>
          <a:bodyPr anchor="t" rtlCol="false" tIns="0" lIns="0" bIns="0" rIns="0">
            <a:spAutoFit/>
          </a:bodyPr>
          <a:lstStyle/>
          <a:p>
            <a:pPr algn="l">
              <a:lnSpc>
                <a:spcPts val="20221"/>
              </a:lnSpc>
            </a:pPr>
            <a:r>
              <a:rPr lang="en-US" sz="21285" b="true">
                <a:gradFill>
                  <a:gsLst>
                    <a:gs pos="0">
                      <a:srgbClr val="85200C">
                        <a:alpha val="100000"/>
                      </a:srgbClr>
                    </a:gs>
                    <a:gs pos="100000">
                      <a:srgbClr val="DC4B0F">
                        <a:alpha val="100000"/>
                      </a:srgbClr>
                    </a:gs>
                  </a:gsLst>
                  <a:lin ang="0"/>
                </a:gradFill>
                <a:latin typeface="Poppins Heavy"/>
                <a:ea typeface="Poppins Heavy"/>
                <a:cs typeface="Poppins Heavy"/>
                <a:sym typeface="Poppins Heavy"/>
              </a:rPr>
              <a:t>LEVEL 1</a:t>
            </a:r>
          </a:p>
        </p:txBody>
      </p:sp>
      <p:sp>
        <p:nvSpPr>
          <p:cNvPr name="TextBox 17" id="17"/>
          <p:cNvSpPr txBox="true"/>
          <p:nvPr/>
        </p:nvSpPr>
        <p:spPr>
          <a:xfrm rot="0">
            <a:off x="1208016" y="3885468"/>
            <a:ext cx="15345143" cy="2559682"/>
          </a:xfrm>
          <a:prstGeom prst="rect">
            <a:avLst/>
          </a:prstGeom>
        </p:spPr>
        <p:txBody>
          <a:bodyPr anchor="t" rtlCol="false" tIns="0" lIns="0" bIns="0" rIns="0">
            <a:spAutoFit/>
          </a:bodyPr>
          <a:lstStyle/>
          <a:p>
            <a:pPr algn="ctr">
              <a:lnSpc>
                <a:spcPts val="18819"/>
              </a:lnSpc>
            </a:pPr>
            <a:r>
              <a:rPr lang="en-US" sz="19809">
                <a:solidFill>
                  <a:srgbClr val="000000">
                    <a:alpha val="20784"/>
                  </a:srgbClr>
                </a:solidFill>
                <a:latin typeface="Milestone Script"/>
                <a:ea typeface="Milestone Script"/>
                <a:cs typeface="Milestone Script"/>
                <a:sym typeface="Milestone Script"/>
              </a:rPr>
              <a:t>Genuinely split</a:t>
            </a:r>
          </a:p>
        </p:txBody>
      </p:sp>
      <p:sp>
        <p:nvSpPr>
          <p:cNvPr name="Freeform 18" id="18"/>
          <p:cNvSpPr/>
          <p:nvPr/>
        </p:nvSpPr>
        <p:spPr>
          <a:xfrm flipH="false" flipV="false" rot="1661690">
            <a:off x="10784507" y="747428"/>
            <a:ext cx="8687573" cy="3950107"/>
          </a:xfrm>
          <a:custGeom>
            <a:avLst/>
            <a:gdLst/>
            <a:ahLst/>
            <a:cxnLst/>
            <a:rect r="r" b="b" t="t" l="l"/>
            <a:pathLst>
              <a:path h="3950107" w="8687573">
                <a:moveTo>
                  <a:pt x="0" y="0"/>
                </a:moveTo>
                <a:lnTo>
                  <a:pt x="8687572" y="0"/>
                </a:lnTo>
                <a:lnTo>
                  <a:pt x="8687572" y="3950107"/>
                </a:lnTo>
                <a:lnTo>
                  <a:pt x="0" y="3950107"/>
                </a:lnTo>
                <a:lnTo>
                  <a:pt x="0" y="0"/>
                </a:lnTo>
                <a:close/>
              </a:path>
            </a:pathLst>
          </a:custGeom>
          <a:blipFill>
            <a:blip r:embed="rId7"/>
            <a:stretch>
              <a:fillRect l="0" t="0" r="0" b="-117870"/>
            </a:stretch>
          </a:blipFill>
        </p:spPr>
      </p:sp>
      <p:sp>
        <p:nvSpPr>
          <p:cNvPr name="TextBox 19" id="19"/>
          <p:cNvSpPr txBox="true"/>
          <p:nvPr/>
        </p:nvSpPr>
        <p:spPr>
          <a:xfrm rot="0">
            <a:off x="1076678" y="3732884"/>
            <a:ext cx="15345143" cy="2559682"/>
          </a:xfrm>
          <a:prstGeom prst="rect">
            <a:avLst/>
          </a:prstGeom>
        </p:spPr>
        <p:txBody>
          <a:bodyPr anchor="t" rtlCol="false" tIns="0" lIns="0" bIns="0" rIns="0">
            <a:spAutoFit/>
          </a:bodyPr>
          <a:lstStyle/>
          <a:p>
            <a:pPr algn="ctr">
              <a:lnSpc>
                <a:spcPts val="18819"/>
              </a:lnSpc>
            </a:pPr>
            <a:r>
              <a:rPr lang="en-US" sz="19809">
                <a:solidFill>
                  <a:srgbClr val="FFFFFF"/>
                </a:solidFill>
                <a:latin typeface="Milestone Script"/>
                <a:ea typeface="Milestone Script"/>
                <a:cs typeface="Milestone Script"/>
                <a:sym typeface="Milestone Script"/>
              </a:rPr>
              <a:t>Genuinely split</a:t>
            </a:r>
          </a:p>
        </p:txBody>
      </p:sp>
      <p:grpSp>
        <p:nvGrpSpPr>
          <p:cNvPr name="Group 20" id="20"/>
          <p:cNvGrpSpPr/>
          <p:nvPr/>
        </p:nvGrpSpPr>
        <p:grpSpPr>
          <a:xfrm rot="163210">
            <a:off x="3678770" y="6342381"/>
            <a:ext cx="10896728" cy="1424269"/>
            <a:chOff x="0" y="0"/>
            <a:chExt cx="1876478" cy="245267"/>
          </a:xfrm>
        </p:grpSpPr>
        <p:sp>
          <p:nvSpPr>
            <p:cNvPr name="Freeform 21" id="21"/>
            <p:cNvSpPr/>
            <p:nvPr/>
          </p:nvSpPr>
          <p:spPr>
            <a:xfrm flipH="false" flipV="false" rot="0">
              <a:off x="0" y="0"/>
              <a:ext cx="1876478" cy="245267"/>
            </a:xfrm>
            <a:custGeom>
              <a:avLst/>
              <a:gdLst/>
              <a:ahLst/>
              <a:cxnLst/>
              <a:rect r="r" b="b" t="t" l="l"/>
              <a:pathLst>
                <a:path h="245267" w="1876478">
                  <a:moveTo>
                    <a:pt x="21647" y="0"/>
                  </a:moveTo>
                  <a:lnTo>
                    <a:pt x="1854831" y="0"/>
                  </a:lnTo>
                  <a:cubicBezTo>
                    <a:pt x="1860572" y="0"/>
                    <a:pt x="1866078" y="2281"/>
                    <a:pt x="1870138" y="6340"/>
                  </a:cubicBezTo>
                  <a:cubicBezTo>
                    <a:pt x="1874198" y="10400"/>
                    <a:pt x="1876478" y="15906"/>
                    <a:pt x="1876478" y="21647"/>
                  </a:cubicBezTo>
                  <a:lnTo>
                    <a:pt x="1876478" y="223620"/>
                  </a:lnTo>
                  <a:cubicBezTo>
                    <a:pt x="1876478" y="235575"/>
                    <a:pt x="1866786" y="245267"/>
                    <a:pt x="1854831" y="245267"/>
                  </a:cubicBezTo>
                  <a:lnTo>
                    <a:pt x="21647" y="245267"/>
                  </a:lnTo>
                  <a:cubicBezTo>
                    <a:pt x="9692" y="245267"/>
                    <a:pt x="0" y="235575"/>
                    <a:pt x="0" y="223620"/>
                  </a:cubicBezTo>
                  <a:lnTo>
                    <a:pt x="0" y="21647"/>
                  </a:lnTo>
                  <a:cubicBezTo>
                    <a:pt x="0" y="9692"/>
                    <a:pt x="9692" y="0"/>
                    <a:pt x="21647" y="0"/>
                  </a:cubicBezTo>
                  <a:close/>
                </a:path>
              </a:pathLst>
            </a:custGeom>
            <a:gradFill rotWithShape="true">
              <a:gsLst>
                <a:gs pos="0">
                  <a:srgbClr val="85200C">
                    <a:alpha val="100000"/>
                  </a:srgbClr>
                </a:gs>
                <a:gs pos="100000">
                  <a:srgbClr val="DC4B0F">
                    <a:alpha val="100000"/>
                  </a:srgbClr>
                </a:gs>
              </a:gsLst>
              <a:lin ang="0"/>
            </a:gradFill>
          </p:spPr>
        </p:sp>
        <p:sp>
          <p:nvSpPr>
            <p:cNvPr name="TextBox 22" id="22"/>
            <p:cNvSpPr txBox="true"/>
            <p:nvPr/>
          </p:nvSpPr>
          <p:spPr>
            <a:xfrm>
              <a:off x="0" y="28575"/>
              <a:ext cx="1876478" cy="216692"/>
            </a:xfrm>
            <a:prstGeom prst="rect">
              <a:avLst/>
            </a:prstGeom>
          </p:spPr>
          <p:txBody>
            <a:bodyPr anchor="ctr" rtlCol="false" tIns="60699" lIns="60699" bIns="60699" rIns="60699"/>
            <a:lstStyle/>
            <a:p>
              <a:pPr algn="ctr">
                <a:lnSpc>
                  <a:spcPts val="1919"/>
                </a:lnSpc>
              </a:pPr>
            </a:p>
          </p:txBody>
        </p:sp>
      </p:grpSp>
      <p:sp>
        <p:nvSpPr>
          <p:cNvPr name="TextBox 23" id="23"/>
          <p:cNvSpPr txBox="true"/>
          <p:nvPr/>
        </p:nvSpPr>
        <p:spPr>
          <a:xfrm rot="163210">
            <a:off x="4009812" y="6561047"/>
            <a:ext cx="10368595" cy="1050516"/>
          </a:xfrm>
          <a:prstGeom prst="rect">
            <a:avLst/>
          </a:prstGeom>
        </p:spPr>
        <p:txBody>
          <a:bodyPr anchor="t" rtlCol="false" tIns="0" lIns="0" bIns="0" rIns="0">
            <a:spAutoFit/>
          </a:bodyPr>
          <a:lstStyle/>
          <a:p>
            <a:pPr algn="ctr">
              <a:lnSpc>
                <a:spcPts val="3856"/>
              </a:lnSpc>
            </a:pPr>
            <a:r>
              <a:rPr lang="en-US" sz="4059" b="true">
                <a:solidFill>
                  <a:srgbClr val="FFFFFF"/>
                </a:solidFill>
                <a:latin typeface="Poppins Semi-Bold"/>
                <a:ea typeface="Poppins Semi-Bold"/>
                <a:cs typeface="Poppins Semi-Bold"/>
                <a:sym typeface="Poppins Semi-Bold"/>
              </a:rPr>
              <a:t>No consensus expected. Name what your answer depends on</a:t>
            </a:r>
          </a:p>
        </p:txBody>
      </p:sp>
      <p:sp>
        <p:nvSpPr>
          <p:cNvPr name="TextBox 24" id="24"/>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04</a:t>
            </a:r>
          </a:p>
        </p:txBody>
      </p:sp>
      <p:sp>
        <p:nvSpPr>
          <p:cNvPr name="TextBox 25" id="25"/>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Freeform 26" id="26"/>
          <p:cNvSpPr/>
          <p:nvPr/>
        </p:nvSpPr>
        <p:spPr>
          <a:xfrm flipH="true" flipV="false" rot="-3959088">
            <a:off x="-2904367" y="4571394"/>
            <a:ext cx="8687573" cy="3950107"/>
          </a:xfrm>
          <a:custGeom>
            <a:avLst/>
            <a:gdLst/>
            <a:ahLst/>
            <a:cxnLst/>
            <a:rect r="r" b="b" t="t" l="l"/>
            <a:pathLst>
              <a:path h="3950107" w="8687573">
                <a:moveTo>
                  <a:pt x="8687573" y="0"/>
                </a:moveTo>
                <a:lnTo>
                  <a:pt x="0" y="0"/>
                </a:lnTo>
                <a:lnTo>
                  <a:pt x="0" y="3950107"/>
                </a:lnTo>
                <a:lnTo>
                  <a:pt x="8687573" y="3950107"/>
                </a:lnTo>
                <a:lnTo>
                  <a:pt x="8687573" y="0"/>
                </a:lnTo>
                <a:close/>
              </a:path>
            </a:pathLst>
          </a:custGeom>
          <a:blipFill>
            <a:blip r:embed="rId7"/>
            <a:stretch>
              <a:fillRect l="0" t="0" r="0" b="-117870"/>
            </a:stretch>
          </a:blipFill>
        </p:spPr>
      </p:sp>
      <p:sp>
        <p:nvSpPr>
          <p:cNvPr name="Freeform 27" id="27"/>
          <p:cNvSpPr/>
          <p:nvPr/>
        </p:nvSpPr>
        <p:spPr>
          <a:xfrm flipH="false" flipV="false" rot="0">
            <a:off x="-1076095" y="-5283385"/>
            <a:ext cx="20440189" cy="20440189"/>
          </a:xfrm>
          <a:custGeom>
            <a:avLst/>
            <a:gdLst/>
            <a:ahLst/>
            <a:cxnLst/>
            <a:rect r="r" b="b" t="t" l="l"/>
            <a:pathLst>
              <a:path h="20440189" w="20440189">
                <a:moveTo>
                  <a:pt x="0" y="0"/>
                </a:moveTo>
                <a:lnTo>
                  <a:pt x="20440190" y="0"/>
                </a:lnTo>
                <a:lnTo>
                  <a:pt x="20440190" y="20440189"/>
                </a:lnTo>
                <a:lnTo>
                  <a:pt x="0" y="20440189"/>
                </a:lnTo>
                <a:lnTo>
                  <a:pt x="0" y="0"/>
                </a:lnTo>
                <a:close/>
              </a:path>
            </a:pathLst>
          </a:custGeom>
          <a:blipFill>
            <a:blip r:embed="rId8">
              <a:alphaModFix amt="50000"/>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40495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1271343" y="1105777"/>
            <a:ext cx="7487927" cy="1140886"/>
            <a:chOff x="0" y="0"/>
            <a:chExt cx="605413" cy="92243"/>
          </a:xfrm>
        </p:grpSpPr>
        <p:sp>
          <p:nvSpPr>
            <p:cNvPr name="Freeform 16" id="16"/>
            <p:cNvSpPr/>
            <p:nvPr/>
          </p:nvSpPr>
          <p:spPr>
            <a:xfrm flipH="false" flipV="false" rot="0">
              <a:off x="0" y="0"/>
              <a:ext cx="605413" cy="92243"/>
            </a:xfrm>
            <a:custGeom>
              <a:avLst/>
              <a:gdLst/>
              <a:ahLst/>
              <a:cxnLst/>
              <a:rect r="r" b="b" t="t" l="l"/>
              <a:pathLst>
                <a:path h="92243" w="605413">
                  <a:moveTo>
                    <a:pt x="46121" y="0"/>
                  </a:moveTo>
                  <a:lnTo>
                    <a:pt x="559292" y="0"/>
                  </a:lnTo>
                  <a:cubicBezTo>
                    <a:pt x="571524" y="0"/>
                    <a:pt x="583255" y="4859"/>
                    <a:pt x="591905" y="13509"/>
                  </a:cubicBezTo>
                  <a:cubicBezTo>
                    <a:pt x="600554" y="22158"/>
                    <a:pt x="605413" y="33889"/>
                    <a:pt x="605413" y="46121"/>
                  </a:cubicBezTo>
                  <a:lnTo>
                    <a:pt x="605413" y="46121"/>
                  </a:lnTo>
                  <a:cubicBezTo>
                    <a:pt x="605413" y="58354"/>
                    <a:pt x="600554" y="70085"/>
                    <a:pt x="591905" y="78734"/>
                  </a:cubicBezTo>
                  <a:cubicBezTo>
                    <a:pt x="583255" y="87384"/>
                    <a:pt x="571524" y="92243"/>
                    <a:pt x="559292" y="92243"/>
                  </a:cubicBezTo>
                  <a:lnTo>
                    <a:pt x="46121" y="92243"/>
                  </a:lnTo>
                  <a:cubicBezTo>
                    <a:pt x="33889" y="92243"/>
                    <a:pt x="22158" y="87384"/>
                    <a:pt x="13509" y="78734"/>
                  </a:cubicBezTo>
                  <a:cubicBezTo>
                    <a:pt x="4859" y="70085"/>
                    <a:pt x="0" y="58354"/>
                    <a:pt x="0" y="46121"/>
                  </a:cubicBezTo>
                  <a:lnTo>
                    <a:pt x="0" y="46121"/>
                  </a:lnTo>
                  <a:cubicBezTo>
                    <a:pt x="0" y="33889"/>
                    <a:pt x="4859" y="22158"/>
                    <a:pt x="13509" y="13509"/>
                  </a:cubicBezTo>
                  <a:cubicBezTo>
                    <a:pt x="22158" y="4859"/>
                    <a:pt x="33889" y="0"/>
                    <a:pt x="46121" y="0"/>
                  </a:cubicBezTo>
                  <a:close/>
                </a:path>
              </a:pathLst>
            </a:custGeom>
            <a:gradFill rotWithShape="true">
              <a:gsLst>
                <a:gs pos="0">
                  <a:srgbClr val="85200C">
                    <a:alpha val="100000"/>
                  </a:srgbClr>
                </a:gs>
                <a:gs pos="100000">
                  <a:srgbClr val="DC4B0F">
                    <a:alpha val="100000"/>
                  </a:srgbClr>
                </a:gs>
              </a:gsLst>
              <a:lin ang="0"/>
            </a:gradFill>
          </p:spPr>
        </p:sp>
        <p:sp>
          <p:nvSpPr>
            <p:cNvPr name="TextBox 17" id="17"/>
            <p:cNvSpPr txBox="true"/>
            <p:nvPr/>
          </p:nvSpPr>
          <p:spPr>
            <a:xfrm>
              <a:off x="0" y="28575"/>
              <a:ext cx="605413" cy="63668"/>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1195282" y="2502874"/>
            <a:ext cx="15897436" cy="3231138"/>
            <a:chOff x="0" y="0"/>
            <a:chExt cx="21196582" cy="4308185"/>
          </a:xfrm>
        </p:grpSpPr>
        <p:grpSp>
          <p:nvGrpSpPr>
            <p:cNvPr name="Group 19" id="19"/>
            <p:cNvGrpSpPr/>
            <p:nvPr/>
          </p:nvGrpSpPr>
          <p:grpSpPr>
            <a:xfrm rot="0">
              <a:off x="0" y="0"/>
              <a:ext cx="21196582" cy="4308185"/>
              <a:chOff x="0" y="0"/>
              <a:chExt cx="1285338" cy="261244"/>
            </a:xfrm>
          </p:grpSpPr>
          <p:sp>
            <p:nvSpPr>
              <p:cNvPr name="Freeform 20" id="20"/>
              <p:cNvSpPr/>
              <p:nvPr/>
            </p:nvSpPr>
            <p:spPr>
              <a:xfrm flipH="false" flipV="false" rot="0">
                <a:off x="0" y="0"/>
                <a:ext cx="1285338" cy="261244"/>
              </a:xfrm>
              <a:custGeom>
                <a:avLst/>
                <a:gdLst/>
                <a:ahLst/>
                <a:cxnLst/>
                <a:rect r="r" b="b" t="t" l="l"/>
                <a:pathLst>
                  <a:path h="261244" w="1285338">
                    <a:moveTo>
                      <a:pt x="37666" y="0"/>
                    </a:moveTo>
                    <a:lnTo>
                      <a:pt x="1247672" y="0"/>
                    </a:lnTo>
                    <a:cubicBezTo>
                      <a:pt x="1268475" y="0"/>
                      <a:pt x="1285338" y="16864"/>
                      <a:pt x="1285338" y="37666"/>
                    </a:cubicBezTo>
                    <a:lnTo>
                      <a:pt x="1285338" y="223578"/>
                    </a:lnTo>
                    <a:cubicBezTo>
                      <a:pt x="1285338" y="233568"/>
                      <a:pt x="1281370" y="243148"/>
                      <a:pt x="1274306" y="250212"/>
                    </a:cubicBezTo>
                    <a:cubicBezTo>
                      <a:pt x="1267242" y="257275"/>
                      <a:pt x="1257662" y="261244"/>
                      <a:pt x="1247672" y="261244"/>
                    </a:cubicBezTo>
                    <a:lnTo>
                      <a:pt x="37666" y="261244"/>
                    </a:lnTo>
                    <a:cubicBezTo>
                      <a:pt x="27676" y="261244"/>
                      <a:pt x="18096" y="257275"/>
                      <a:pt x="11032" y="250212"/>
                    </a:cubicBezTo>
                    <a:cubicBezTo>
                      <a:pt x="3968" y="243148"/>
                      <a:pt x="0" y="233568"/>
                      <a:pt x="0" y="223578"/>
                    </a:cubicBezTo>
                    <a:lnTo>
                      <a:pt x="0" y="37666"/>
                    </a:lnTo>
                    <a:cubicBezTo>
                      <a:pt x="0" y="27676"/>
                      <a:pt x="3968" y="18096"/>
                      <a:pt x="11032" y="11032"/>
                    </a:cubicBezTo>
                    <a:cubicBezTo>
                      <a:pt x="18096" y="3968"/>
                      <a:pt x="27676" y="0"/>
                      <a:pt x="37666" y="0"/>
                    </a:cubicBezTo>
                    <a:close/>
                  </a:path>
                </a:pathLst>
              </a:custGeom>
              <a:gradFill rotWithShape="true">
                <a:gsLst>
                  <a:gs pos="0">
                    <a:srgbClr val="85200C">
                      <a:alpha val="30000"/>
                    </a:srgbClr>
                  </a:gs>
                  <a:gs pos="100000">
                    <a:srgbClr val="DC4B0F">
                      <a:alpha val="100000"/>
                    </a:srgbClr>
                  </a:gs>
                </a:gsLst>
                <a:lin ang="0"/>
              </a:gradFill>
            </p:spPr>
          </p:sp>
          <p:sp>
            <p:nvSpPr>
              <p:cNvPr name="TextBox 21" id="21"/>
              <p:cNvSpPr txBox="true"/>
              <p:nvPr/>
            </p:nvSpPr>
            <p:spPr>
              <a:xfrm>
                <a:off x="0" y="28575"/>
                <a:ext cx="1285338" cy="232669"/>
              </a:xfrm>
              <a:prstGeom prst="rect">
                <a:avLst/>
              </a:prstGeom>
            </p:spPr>
            <p:txBody>
              <a:bodyPr anchor="ctr" rtlCol="false" tIns="50800" lIns="50800" bIns="50800" rIns="50800"/>
              <a:lstStyle/>
              <a:p>
                <a:pPr algn="ctr">
                  <a:lnSpc>
                    <a:spcPts val="1919"/>
                  </a:lnSpc>
                </a:pPr>
              </a:p>
            </p:txBody>
          </p:sp>
        </p:grpSp>
        <p:sp>
          <p:nvSpPr>
            <p:cNvPr name="TextBox 22" id="22"/>
            <p:cNvSpPr txBox="true"/>
            <p:nvPr/>
          </p:nvSpPr>
          <p:spPr>
            <a:xfrm rot="0">
              <a:off x="631770" y="531568"/>
              <a:ext cx="20076243" cy="3216473"/>
            </a:xfrm>
            <a:prstGeom prst="rect">
              <a:avLst/>
            </a:prstGeom>
          </p:spPr>
          <p:txBody>
            <a:bodyPr anchor="t" rtlCol="false" tIns="0" lIns="0" bIns="0" rIns="0">
              <a:spAutoFit/>
            </a:bodyPr>
            <a:lstStyle/>
            <a:p>
              <a:pPr algn="ctr">
                <a:lnSpc>
                  <a:spcPts val="3135"/>
                </a:lnSpc>
              </a:pPr>
              <a:r>
                <a:rPr lang="en-US" sz="3300" b="true">
                  <a:solidFill>
                    <a:srgbClr val="FFFFFF"/>
                  </a:solidFill>
                  <a:latin typeface="Poppins Semi-Bold"/>
                  <a:ea typeface="Poppins Semi-Bold"/>
                  <a:cs typeface="Poppins Semi-Bold"/>
                  <a:sym typeface="Poppins Semi-Bold"/>
                </a:rPr>
                <a:t>Dilan’s groupmate used Chatty(gpt) for their entire part of the report.</a:t>
              </a:r>
            </a:p>
            <a:p>
              <a:pPr algn="ctr">
                <a:lnSpc>
                  <a:spcPts val="3135"/>
                </a:lnSpc>
              </a:pPr>
            </a:p>
            <a:p>
              <a:pPr algn="ctr">
                <a:lnSpc>
                  <a:spcPts val="3135"/>
                </a:lnSpc>
              </a:pPr>
              <a:r>
                <a:rPr lang="en-US" sz="3300" b="true">
                  <a:solidFill>
                    <a:srgbClr val="FFFFFF"/>
                  </a:solidFill>
                  <a:latin typeface="Poppins Semi-Bold"/>
                  <a:ea typeface="Poppins Semi-Bold"/>
                  <a:cs typeface="Poppins Semi-Bold"/>
                  <a:sym typeface="Poppins Semi-Bold"/>
                </a:rPr>
                <a:t>Dilan noticed this, but didn’t raise it with them as it wasn’t his responsibility. The group submitted the report and got a Credit. </a:t>
              </a:r>
            </a:p>
            <a:p>
              <a:pPr algn="ctr">
                <a:lnSpc>
                  <a:spcPts val="3135"/>
                </a:lnSpc>
              </a:pPr>
            </a:p>
            <a:p>
              <a:pPr algn="ctr">
                <a:lnSpc>
                  <a:spcPts val="3135"/>
                </a:lnSpc>
              </a:pPr>
              <a:r>
                <a:rPr lang="en-US" sz="3300" b="true">
                  <a:solidFill>
                    <a:srgbClr val="FFFFFF"/>
                  </a:solidFill>
                  <a:latin typeface="Poppins Semi-Bold"/>
                  <a:ea typeface="Poppins Semi-Bold"/>
                  <a:cs typeface="Poppins Semi-Bold"/>
                  <a:sym typeface="Poppins Semi-Bold"/>
                </a:rPr>
                <a:t>Then in the peer review form Dilan gave that member a mark of 60%. </a:t>
              </a:r>
            </a:p>
          </p:txBody>
        </p:sp>
      </p:grpSp>
      <p:grpSp>
        <p:nvGrpSpPr>
          <p:cNvPr name="Group 23" id="23"/>
          <p:cNvGrpSpPr/>
          <p:nvPr/>
        </p:nvGrpSpPr>
        <p:grpSpPr>
          <a:xfrm rot="0">
            <a:off x="2086942" y="5914987"/>
            <a:ext cx="6705133" cy="2864363"/>
            <a:chOff x="0" y="0"/>
            <a:chExt cx="542123" cy="231589"/>
          </a:xfrm>
        </p:grpSpPr>
        <p:sp>
          <p:nvSpPr>
            <p:cNvPr name="Freeform 24" id="24"/>
            <p:cNvSpPr/>
            <p:nvPr/>
          </p:nvSpPr>
          <p:spPr>
            <a:xfrm flipH="false" flipV="false" rot="0">
              <a:off x="0" y="0"/>
              <a:ext cx="542123" cy="231589"/>
            </a:xfrm>
            <a:custGeom>
              <a:avLst/>
              <a:gdLst/>
              <a:ahLst/>
              <a:cxnLst/>
              <a:rect r="r" b="b" t="t" l="l"/>
              <a:pathLst>
                <a:path h="231589" w="542123">
                  <a:moveTo>
                    <a:pt x="68556" y="0"/>
                  </a:moveTo>
                  <a:lnTo>
                    <a:pt x="473567" y="0"/>
                  </a:lnTo>
                  <a:cubicBezTo>
                    <a:pt x="511429" y="0"/>
                    <a:pt x="542123" y="30694"/>
                    <a:pt x="542123" y="68556"/>
                  </a:cubicBezTo>
                  <a:lnTo>
                    <a:pt x="542123" y="163033"/>
                  </a:lnTo>
                  <a:cubicBezTo>
                    <a:pt x="542123" y="181215"/>
                    <a:pt x="534900" y="198653"/>
                    <a:pt x="522043" y="211510"/>
                  </a:cubicBezTo>
                  <a:cubicBezTo>
                    <a:pt x="509187" y="224366"/>
                    <a:pt x="491749" y="231589"/>
                    <a:pt x="473567" y="231589"/>
                  </a:cubicBezTo>
                  <a:lnTo>
                    <a:pt x="68556" y="231589"/>
                  </a:lnTo>
                  <a:cubicBezTo>
                    <a:pt x="50374" y="231589"/>
                    <a:pt x="32936" y="224366"/>
                    <a:pt x="20080" y="211510"/>
                  </a:cubicBezTo>
                  <a:cubicBezTo>
                    <a:pt x="7223" y="198653"/>
                    <a:pt x="0" y="181215"/>
                    <a:pt x="0" y="163033"/>
                  </a:cubicBezTo>
                  <a:lnTo>
                    <a:pt x="0" y="68556"/>
                  </a:lnTo>
                  <a:cubicBezTo>
                    <a:pt x="0" y="50374"/>
                    <a:pt x="7223" y="32936"/>
                    <a:pt x="20080" y="20080"/>
                  </a:cubicBezTo>
                  <a:cubicBezTo>
                    <a:pt x="32936" y="7223"/>
                    <a:pt x="50374" y="0"/>
                    <a:pt x="68556" y="0"/>
                  </a:cubicBezTo>
                  <a:close/>
                </a:path>
              </a:pathLst>
            </a:custGeom>
            <a:gradFill rotWithShape="true">
              <a:gsLst>
                <a:gs pos="0">
                  <a:srgbClr val="85200C">
                    <a:alpha val="30000"/>
                  </a:srgbClr>
                </a:gs>
                <a:gs pos="100000">
                  <a:srgbClr val="940000">
                    <a:alpha val="100000"/>
                  </a:srgbClr>
                </a:gs>
              </a:gsLst>
              <a:lin ang="0"/>
            </a:gradFill>
          </p:spPr>
        </p:sp>
        <p:sp>
          <p:nvSpPr>
            <p:cNvPr name="TextBox 25" id="25"/>
            <p:cNvSpPr txBox="true"/>
            <p:nvPr/>
          </p:nvSpPr>
          <p:spPr>
            <a:xfrm>
              <a:off x="0" y="28575"/>
              <a:ext cx="542123" cy="203014"/>
            </a:xfrm>
            <a:prstGeom prst="rect">
              <a:avLst/>
            </a:prstGeom>
          </p:spPr>
          <p:txBody>
            <a:bodyPr anchor="ctr" rtlCol="false" tIns="50800" lIns="50800" bIns="50800" rIns="50800"/>
            <a:lstStyle/>
            <a:p>
              <a:pPr algn="ctr">
                <a:lnSpc>
                  <a:spcPts val="1919"/>
                </a:lnSpc>
              </a:pPr>
            </a:p>
          </p:txBody>
        </p:sp>
      </p:grpSp>
      <p:grpSp>
        <p:nvGrpSpPr>
          <p:cNvPr name="Group 26" id="26"/>
          <p:cNvGrpSpPr/>
          <p:nvPr/>
        </p:nvGrpSpPr>
        <p:grpSpPr>
          <a:xfrm rot="0">
            <a:off x="9036459" y="5945477"/>
            <a:ext cx="6857760" cy="2864363"/>
            <a:chOff x="0" y="0"/>
            <a:chExt cx="9143680" cy="3819150"/>
          </a:xfrm>
        </p:grpSpPr>
        <p:grpSp>
          <p:nvGrpSpPr>
            <p:cNvPr name="Group 27" id="27"/>
            <p:cNvGrpSpPr/>
            <p:nvPr/>
          </p:nvGrpSpPr>
          <p:grpSpPr>
            <a:xfrm rot="0">
              <a:off x="50565" y="0"/>
              <a:ext cx="8869518" cy="3819150"/>
              <a:chOff x="0" y="0"/>
              <a:chExt cx="537838" cy="231589"/>
            </a:xfrm>
          </p:grpSpPr>
          <p:sp>
            <p:nvSpPr>
              <p:cNvPr name="Freeform 28" id="28"/>
              <p:cNvSpPr/>
              <p:nvPr/>
            </p:nvSpPr>
            <p:spPr>
              <a:xfrm flipH="false" flipV="false" rot="0">
                <a:off x="0" y="0"/>
                <a:ext cx="537838" cy="231589"/>
              </a:xfrm>
              <a:custGeom>
                <a:avLst/>
                <a:gdLst/>
                <a:ahLst/>
                <a:cxnLst/>
                <a:rect r="r" b="b" t="t" l="l"/>
                <a:pathLst>
                  <a:path h="231589" w="537838">
                    <a:moveTo>
                      <a:pt x="35130" y="0"/>
                    </a:moveTo>
                    <a:lnTo>
                      <a:pt x="502708" y="0"/>
                    </a:lnTo>
                    <a:cubicBezTo>
                      <a:pt x="512025" y="0"/>
                      <a:pt x="520961" y="3701"/>
                      <a:pt x="527549" y="10289"/>
                    </a:cubicBezTo>
                    <a:cubicBezTo>
                      <a:pt x="534137" y="16878"/>
                      <a:pt x="537838" y="25813"/>
                      <a:pt x="537838" y="35130"/>
                    </a:cubicBezTo>
                    <a:lnTo>
                      <a:pt x="537838" y="196459"/>
                    </a:lnTo>
                    <a:cubicBezTo>
                      <a:pt x="537838" y="205776"/>
                      <a:pt x="534137" y="214712"/>
                      <a:pt x="527549" y="221300"/>
                    </a:cubicBezTo>
                    <a:cubicBezTo>
                      <a:pt x="520961" y="227888"/>
                      <a:pt x="512025" y="231589"/>
                      <a:pt x="502708" y="231589"/>
                    </a:cubicBezTo>
                    <a:lnTo>
                      <a:pt x="35130" y="231589"/>
                    </a:lnTo>
                    <a:cubicBezTo>
                      <a:pt x="25813" y="231589"/>
                      <a:pt x="16878" y="227888"/>
                      <a:pt x="10289" y="221300"/>
                    </a:cubicBezTo>
                    <a:cubicBezTo>
                      <a:pt x="3701" y="214712"/>
                      <a:pt x="0" y="205776"/>
                      <a:pt x="0" y="196459"/>
                    </a:cubicBezTo>
                    <a:lnTo>
                      <a:pt x="0" y="35130"/>
                    </a:lnTo>
                    <a:cubicBezTo>
                      <a:pt x="0" y="25813"/>
                      <a:pt x="3701" y="16878"/>
                      <a:pt x="10289" y="10289"/>
                    </a:cubicBezTo>
                    <a:cubicBezTo>
                      <a:pt x="16878" y="3701"/>
                      <a:pt x="25813" y="0"/>
                      <a:pt x="35130" y="0"/>
                    </a:cubicBezTo>
                    <a:close/>
                  </a:path>
                </a:pathLst>
              </a:custGeom>
              <a:gradFill rotWithShape="true">
                <a:gsLst>
                  <a:gs pos="0">
                    <a:srgbClr val="85200C">
                      <a:alpha val="30000"/>
                    </a:srgbClr>
                  </a:gs>
                  <a:gs pos="100000">
                    <a:srgbClr val="008601">
                      <a:alpha val="100000"/>
                    </a:srgbClr>
                  </a:gs>
                </a:gsLst>
                <a:lin ang="0"/>
              </a:gradFill>
            </p:spPr>
          </p:sp>
          <p:sp>
            <p:nvSpPr>
              <p:cNvPr name="TextBox 29" id="29"/>
              <p:cNvSpPr txBox="true"/>
              <p:nvPr/>
            </p:nvSpPr>
            <p:spPr>
              <a:xfrm>
                <a:off x="0" y="28575"/>
                <a:ext cx="537838" cy="203014"/>
              </a:xfrm>
              <a:prstGeom prst="rect">
                <a:avLst/>
              </a:prstGeom>
            </p:spPr>
            <p:txBody>
              <a:bodyPr anchor="ctr" rtlCol="false" tIns="99925" lIns="99925" bIns="99925" rIns="99925"/>
              <a:lstStyle/>
              <a:p>
                <a:pPr algn="ctr">
                  <a:lnSpc>
                    <a:spcPts val="1919"/>
                  </a:lnSpc>
                </a:pPr>
              </a:p>
            </p:txBody>
          </p:sp>
        </p:grpSp>
        <p:sp>
          <p:nvSpPr>
            <p:cNvPr name="TextBox 30" id="30"/>
            <p:cNvSpPr txBox="true"/>
            <p:nvPr/>
          </p:nvSpPr>
          <p:spPr>
            <a:xfrm rot="0">
              <a:off x="0" y="656138"/>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GreenFlag</a:t>
              </a:r>
            </a:p>
          </p:txBody>
        </p:sp>
        <p:sp>
          <p:nvSpPr>
            <p:cNvPr name="TextBox 31" id="31"/>
            <p:cNvSpPr txBox="true"/>
            <p:nvPr/>
          </p:nvSpPr>
          <p:spPr>
            <a:xfrm rot="0">
              <a:off x="415950" y="506572"/>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Green Flag</a:t>
              </a:r>
            </a:p>
          </p:txBody>
        </p:sp>
      </p:grpSp>
      <p:sp>
        <p:nvSpPr>
          <p:cNvPr name="TextBox 32" id="32"/>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05</a:t>
            </a:r>
          </a:p>
        </p:txBody>
      </p:sp>
      <p:sp>
        <p:nvSpPr>
          <p:cNvPr name="TextBox 33" id="33"/>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34" id="34"/>
          <p:cNvSpPr txBox="true"/>
          <p:nvPr/>
        </p:nvSpPr>
        <p:spPr>
          <a:xfrm rot="0">
            <a:off x="415994" y="1418607"/>
            <a:ext cx="5981225" cy="549300"/>
          </a:xfrm>
          <a:prstGeom prst="rect">
            <a:avLst/>
          </a:prstGeom>
        </p:spPr>
        <p:txBody>
          <a:bodyPr anchor="t" rtlCol="false" tIns="0" lIns="0" bIns="0" rIns="0">
            <a:spAutoFit/>
          </a:bodyPr>
          <a:lstStyle/>
          <a:p>
            <a:pPr algn="l">
              <a:lnSpc>
                <a:spcPts val="3895"/>
              </a:lnSpc>
            </a:pPr>
            <a:r>
              <a:rPr lang="en-US" sz="4100" b="true">
                <a:solidFill>
                  <a:srgbClr val="FFFFFF"/>
                </a:solidFill>
                <a:latin typeface="Poppins Heavy"/>
                <a:ea typeface="Poppins Heavy"/>
                <a:cs typeface="Poppins Heavy"/>
                <a:sym typeface="Poppins Heavy"/>
              </a:rPr>
              <a:t>SCENARIO 1: Dilan </a:t>
            </a:r>
          </a:p>
        </p:txBody>
      </p:sp>
      <p:grpSp>
        <p:nvGrpSpPr>
          <p:cNvPr name="Group 35" id="35"/>
          <p:cNvGrpSpPr/>
          <p:nvPr/>
        </p:nvGrpSpPr>
        <p:grpSpPr>
          <a:xfrm rot="0">
            <a:off x="2001030" y="6496856"/>
            <a:ext cx="6857760" cy="1869997"/>
            <a:chOff x="0" y="0"/>
            <a:chExt cx="9143680" cy="2493329"/>
          </a:xfrm>
        </p:grpSpPr>
        <p:sp>
          <p:nvSpPr>
            <p:cNvPr name="TextBox 36" id="36"/>
            <p:cNvSpPr txBox="true"/>
            <p:nvPr/>
          </p:nvSpPr>
          <p:spPr>
            <a:xfrm rot="0">
              <a:off x="0" y="-79033"/>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Red Flag</a:t>
              </a:r>
            </a:p>
          </p:txBody>
        </p:sp>
        <p:sp>
          <p:nvSpPr>
            <p:cNvPr name="TextBox 37" id="37"/>
            <p:cNvSpPr txBox="true"/>
            <p:nvPr/>
          </p:nvSpPr>
          <p:spPr>
            <a:xfrm rot="0">
              <a:off x="415950" y="-228600"/>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Red Flag</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5962276" y="2395197"/>
            <a:ext cx="12094686" cy="3160543"/>
            <a:chOff x="0" y="0"/>
            <a:chExt cx="1012649" cy="264622"/>
          </a:xfrm>
        </p:grpSpPr>
        <p:sp>
          <p:nvSpPr>
            <p:cNvPr name="Freeform 16" id="16"/>
            <p:cNvSpPr/>
            <p:nvPr/>
          </p:nvSpPr>
          <p:spPr>
            <a:xfrm flipH="false" flipV="false" rot="0">
              <a:off x="0" y="0"/>
              <a:ext cx="1012649" cy="264622"/>
            </a:xfrm>
            <a:custGeom>
              <a:avLst/>
              <a:gdLst/>
              <a:ahLst/>
              <a:cxnLst/>
              <a:rect r="r" b="b" t="t" l="l"/>
              <a:pathLst>
                <a:path h="264622" w="1012649">
                  <a:moveTo>
                    <a:pt x="49508" y="0"/>
                  </a:moveTo>
                  <a:lnTo>
                    <a:pt x="963140" y="0"/>
                  </a:lnTo>
                  <a:cubicBezTo>
                    <a:pt x="990483" y="0"/>
                    <a:pt x="1012649" y="22166"/>
                    <a:pt x="1012649" y="49508"/>
                  </a:cubicBezTo>
                  <a:lnTo>
                    <a:pt x="1012649" y="215113"/>
                  </a:lnTo>
                  <a:cubicBezTo>
                    <a:pt x="1012649" y="228244"/>
                    <a:pt x="1007432" y="240837"/>
                    <a:pt x="998148" y="250121"/>
                  </a:cubicBezTo>
                  <a:cubicBezTo>
                    <a:pt x="988863" y="259406"/>
                    <a:pt x="976271" y="264622"/>
                    <a:pt x="963140" y="264622"/>
                  </a:cubicBezTo>
                  <a:lnTo>
                    <a:pt x="49508" y="264622"/>
                  </a:lnTo>
                  <a:cubicBezTo>
                    <a:pt x="22166" y="264622"/>
                    <a:pt x="0" y="242456"/>
                    <a:pt x="0" y="215113"/>
                  </a:cubicBezTo>
                  <a:lnTo>
                    <a:pt x="0" y="49508"/>
                  </a:lnTo>
                  <a:cubicBezTo>
                    <a:pt x="0" y="22166"/>
                    <a:pt x="22166" y="0"/>
                    <a:pt x="49508" y="0"/>
                  </a:cubicBezTo>
                  <a:close/>
                </a:path>
              </a:pathLst>
            </a:custGeom>
            <a:gradFill rotWithShape="true">
              <a:gsLst>
                <a:gs pos="0">
                  <a:srgbClr val="85200C">
                    <a:alpha val="30000"/>
                  </a:srgbClr>
                </a:gs>
                <a:gs pos="100000">
                  <a:srgbClr val="DC4B0F">
                    <a:alpha val="100000"/>
                  </a:srgbClr>
                </a:gs>
              </a:gsLst>
              <a:lin ang="0"/>
            </a:gradFill>
          </p:spPr>
        </p:sp>
        <p:sp>
          <p:nvSpPr>
            <p:cNvPr name="TextBox 17" id="17"/>
            <p:cNvSpPr txBox="true"/>
            <p:nvPr/>
          </p:nvSpPr>
          <p:spPr>
            <a:xfrm>
              <a:off x="0" y="28575"/>
              <a:ext cx="1012649" cy="236047"/>
            </a:xfrm>
            <a:prstGeom prst="rect">
              <a:avLst/>
            </a:prstGeom>
          </p:spPr>
          <p:txBody>
            <a:bodyPr anchor="ctr" rtlCol="false" tIns="42145" lIns="42145" bIns="42145" rIns="42145"/>
            <a:lstStyle/>
            <a:p>
              <a:pPr algn="ctr">
                <a:lnSpc>
                  <a:spcPts val="1919"/>
                </a:lnSpc>
              </a:pPr>
            </a:p>
          </p:txBody>
        </p:sp>
      </p:grpSp>
      <p:sp>
        <p:nvSpPr>
          <p:cNvPr name="TextBox 18" id="18"/>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06</a:t>
            </a:r>
          </a:p>
        </p:txBody>
      </p:sp>
      <p:sp>
        <p:nvSpPr>
          <p:cNvPr name="TextBox 19" id="19"/>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0" id="20"/>
          <p:cNvSpPr txBox="true"/>
          <p:nvPr/>
        </p:nvSpPr>
        <p:spPr>
          <a:xfrm rot="0">
            <a:off x="11159027" y="2999174"/>
            <a:ext cx="6218510" cy="1945595"/>
          </a:xfrm>
          <a:prstGeom prst="rect">
            <a:avLst/>
          </a:prstGeom>
        </p:spPr>
        <p:txBody>
          <a:bodyPr anchor="t" rtlCol="false" tIns="0" lIns="0" bIns="0" rIns="0">
            <a:spAutoFit/>
          </a:bodyPr>
          <a:lstStyle/>
          <a:p>
            <a:pPr algn="l">
              <a:lnSpc>
                <a:spcPts val="3039"/>
              </a:lnSpc>
            </a:pPr>
            <a:r>
              <a:rPr lang="en-US" sz="3198" b="true">
                <a:solidFill>
                  <a:srgbClr val="FFFFFF"/>
                </a:solidFill>
                <a:latin typeface="Poppins Semi-Bold"/>
                <a:ea typeface="Poppins Semi-Bold"/>
                <a:cs typeface="Poppins Semi-Bold"/>
                <a:sym typeface="Poppins Semi-Bold"/>
              </a:rPr>
              <a:t>If Dilan wasn’t happy with his team mates contribution he should have addressed it with them AND done so before handing in the assignement</a:t>
            </a:r>
          </a:p>
        </p:txBody>
      </p:sp>
      <p:grpSp>
        <p:nvGrpSpPr>
          <p:cNvPr name="Group 21" id="21"/>
          <p:cNvGrpSpPr/>
          <p:nvPr/>
        </p:nvGrpSpPr>
        <p:grpSpPr>
          <a:xfrm rot="0">
            <a:off x="5825972" y="2874467"/>
            <a:ext cx="5442800" cy="2443024"/>
            <a:chOff x="0" y="0"/>
            <a:chExt cx="7257067" cy="3257365"/>
          </a:xfrm>
        </p:grpSpPr>
        <p:sp>
          <p:nvSpPr>
            <p:cNvPr name="TextBox 22" id="22"/>
            <p:cNvSpPr txBox="true"/>
            <p:nvPr/>
          </p:nvSpPr>
          <p:spPr>
            <a:xfrm rot="0">
              <a:off x="420495" y="-99876"/>
              <a:ext cx="6836571" cy="3357241"/>
            </a:xfrm>
            <a:prstGeom prst="rect">
              <a:avLst/>
            </a:prstGeom>
          </p:spPr>
          <p:txBody>
            <a:bodyPr anchor="t" rtlCol="false" tIns="0" lIns="0" bIns="0" rIns="0">
              <a:spAutoFit/>
            </a:bodyPr>
            <a:lstStyle/>
            <a:p>
              <a:pPr algn="ctr">
                <a:lnSpc>
                  <a:spcPts val="21163"/>
                </a:lnSpc>
              </a:pPr>
              <a:r>
                <a:rPr lang="en-US" sz="15116" spc="45">
                  <a:solidFill>
                    <a:srgbClr val="000000">
                      <a:alpha val="30980"/>
                    </a:srgbClr>
                  </a:solidFill>
                  <a:latin typeface="Milestone Script"/>
                  <a:ea typeface="Milestone Script"/>
                  <a:cs typeface="Milestone Script"/>
                  <a:sym typeface="Milestone Script"/>
                </a:rPr>
                <a:t>Why?</a:t>
              </a:r>
            </a:p>
          </p:txBody>
        </p:sp>
        <p:sp>
          <p:nvSpPr>
            <p:cNvPr name="TextBox 23" id="23"/>
            <p:cNvSpPr txBox="true"/>
            <p:nvPr/>
          </p:nvSpPr>
          <p:spPr>
            <a:xfrm rot="0">
              <a:off x="0" y="-295275"/>
              <a:ext cx="7108296" cy="3357241"/>
            </a:xfrm>
            <a:prstGeom prst="rect">
              <a:avLst/>
            </a:prstGeom>
          </p:spPr>
          <p:txBody>
            <a:bodyPr anchor="t" rtlCol="false" tIns="0" lIns="0" bIns="0" rIns="0">
              <a:spAutoFit/>
            </a:bodyPr>
            <a:lstStyle/>
            <a:p>
              <a:pPr algn="ctr">
                <a:lnSpc>
                  <a:spcPts val="21163"/>
                </a:lnSpc>
              </a:pPr>
              <a:r>
                <a:rPr lang="en-US" sz="15116" spc="45">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Why?</a:t>
              </a:r>
            </a:p>
          </p:txBody>
        </p:sp>
      </p:grpSp>
      <p:grpSp>
        <p:nvGrpSpPr>
          <p:cNvPr name="Group 24" id="24"/>
          <p:cNvGrpSpPr/>
          <p:nvPr/>
        </p:nvGrpSpPr>
        <p:grpSpPr>
          <a:xfrm rot="0">
            <a:off x="3857803" y="6105247"/>
            <a:ext cx="10756617" cy="2036826"/>
            <a:chOff x="0" y="0"/>
            <a:chExt cx="14342157" cy="2715768"/>
          </a:xfrm>
        </p:grpSpPr>
        <p:grpSp>
          <p:nvGrpSpPr>
            <p:cNvPr name="Group 25" id="25"/>
            <p:cNvGrpSpPr/>
            <p:nvPr/>
          </p:nvGrpSpPr>
          <p:grpSpPr>
            <a:xfrm rot="0">
              <a:off x="168625" y="12700"/>
              <a:ext cx="14173532" cy="2665787"/>
              <a:chOff x="0" y="0"/>
              <a:chExt cx="1280731" cy="240883"/>
            </a:xfrm>
          </p:grpSpPr>
          <p:sp>
            <p:nvSpPr>
              <p:cNvPr name="Freeform 26" id="26"/>
              <p:cNvSpPr/>
              <p:nvPr/>
            </p:nvSpPr>
            <p:spPr>
              <a:xfrm flipH="false" flipV="false" rot="0">
                <a:off x="0" y="0"/>
                <a:ext cx="1280731" cy="240883"/>
              </a:xfrm>
              <a:custGeom>
                <a:avLst/>
                <a:gdLst/>
                <a:ahLst/>
                <a:cxnLst/>
                <a:rect r="r" b="b" t="t" l="l"/>
                <a:pathLst>
                  <a:path h="240883" w="1280731">
                    <a:moveTo>
                      <a:pt x="6828" y="0"/>
                    </a:moveTo>
                    <a:lnTo>
                      <a:pt x="1273903" y="0"/>
                    </a:lnTo>
                    <a:cubicBezTo>
                      <a:pt x="1275714" y="0"/>
                      <a:pt x="1277451" y="719"/>
                      <a:pt x="1278731" y="2000"/>
                    </a:cubicBezTo>
                    <a:cubicBezTo>
                      <a:pt x="1280012" y="3280"/>
                      <a:pt x="1280731" y="5017"/>
                      <a:pt x="1280731" y="6828"/>
                    </a:cubicBezTo>
                    <a:lnTo>
                      <a:pt x="1280731" y="234055"/>
                    </a:lnTo>
                    <a:cubicBezTo>
                      <a:pt x="1280731" y="235866"/>
                      <a:pt x="1280012" y="237602"/>
                      <a:pt x="1278731" y="238883"/>
                    </a:cubicBezTo>
                    <a:cubicBezTo>
                      <a:pt x="1277451" y="240163"/>
                      <a:pt x="1275714" y="240883"/>
                      <a:pt x="1273903" y="240883"/>
                    </a:cubicBezTo>
                    <a:lnTo>
                      <a:pt x="6828" y="240883"/>
                    </a:lnTo>
                    <a:cubicBezTo>
                      <a:pt x="5017" y="240883"/>
                      <a:pt x="3280" y="240163"/>
                      <a:pt x="2000" y="238883"/>
                    </a:cubicBezTo>
                    <a:cubicBezTo>
                      <a:pt x="719" y="237602"/>
                      <a:pt x="0" y="235866"/>
                      <a:pt x="0" y="234055"/>
                    </a:cubicBezTo>
                    <a:lnTo>
                      <a:pt x="0" y="6828"/>
                    </a:lnTo>
                    <a:cubicBezTo>
                      <a:pt x="0" y="5017"/>
                      <a:pt x="719" y="3280"/>
                      <a:pt x="2000" y="2000"/>
                    </a:cubicBezTo>
                    <a:cubicBezTo>
                      <a:pt x="3280" y="719"/>
                      <a:pt x="5017" y="0"/>
                      <a:pt x="6828" y="0"/>
                    </a:cubicBezTo>
                    <a:close/>
                  </a:path>
                </a:pathLst>
              </a:custGeom>
              <a:gradFill rotWithShape="true">
                <a:gsLst>
                  <a:gs pos="0">
                    <a:srgbClr val="FFFFFF">
                      <a:alpha val="100000"/>
                    </a:srgbClr>
                  </a:gs>
                  <a:gs pos="100000">
                    <a:srgbClr val="FFFFFF">
                      <a:alpha val="0"/>
                    </a:srgbClr>
                  </a:gs>
                </a:gsLst>
                <a:lin ang="0"/>
              </a:gradFill>
            </p:spPr>
          </p:sp>
          <p:sp>
            <p:nvSpPr>
              <p:cNvPr name="TextBox 27" id="27"/>
              <p:cNvSpPr txBox="true"/>
              <p:nvPr/>
            </p:nvSpPr>
            <p:spPr>
              <a:xfrm>
                <a:off x="0" y="28575"/>
                <a:ext cx="1280731" cy="212308"/>
              </a:xfrm>
              <a:prstGeom prst="rect">
                <a:avLst/>
              </a:prstGeom>
            </p:spPr>
            <p:txBody>
              <a:bodyPr anchor="ctr" rtlCol="false" tIns="42145" lIns="42145" bIns="42145" rIns="42145"/>
              <a:lstStyle/>
              <a:p>
                <a:pPr algn="ctr">
                  <a:lnSpc>
                    <a:spcPts val="1919"/>
                  </a:lnSpc>
                </a:pPr>
              </a:p>
            </p:txBody>
          </p:sp>
        </p:grpSp>
        <p:grpSp>
          <p:nvGrpSpPr>
            <p:cNvPr name="Group 28" id="28"/>
            <p:cNvGrpSpPr/>
            <p:nvPr/>
          </p:nvGrpSpPr>
          <p:grpSpPr>
            <a:xfrm rot="0">
              <a:off x="0" y="0"/>
              <a:ext cx="299496" cy="2715768"/>
              <a:chOff x="0" y="0"/>
              <a:chExt cx="46219" cy="419100"/>
            </a:xfrm>
          </p:grpSpPr>
          <p:sp>
            <p:nvSpPr>
              <p:cNvPr name="Freeform 29" id="29"/>
              <p:cNvSpPr/>
              <p:nvPr/>
            </p:nvSpPr>
            <p:spPr>
              <a:xfrm flipH="false" flipV="false" rot="0">
                <a:off x="0" y="0"/>
                <a:ext cx="46219" cy="419100"/>
              </a:xfrm>
              <a:custGeom>
                <a:avLst/>
                <a:gdLst/>
                <a:ahLst/>
                <a:cxnLst/>
                <a:rect r="r" b="b" t="t" l="l"/>
                <a:pathLst>
                  <a:path h="419100" w="46219">
                    <a:moveTo>
                      <a:pt x="23109" y="0"/>
                    </a:moveTo>
                    <a:lnTo>
                      <a:pt x="23109" y="0"/>
                    </a:lnTo>
                    <a:cubicBezTo>
                      <a:pt x="29238" y="0"/>
                      <a:pt x="35116" y="2435"/>
                      <a:pt x="39450" y="6769"/>
                    </a:cubicBezTo>
                    <a:cubicBezTo>
                      <a:pt x="43784" y="11102"/>
                      <a:pt x="46219" y="16980"/>
                      <a:pt x="46219" y="23109"/>
                    </a:cubicBezTo>
                    <a:lnTo>
                      <a:pt x="46219" y="395991"/>
                    </a:lnTo>
                    <a:cubicBezTo>
                      <a:pt x="46219" y="402120"/>
                      <a:pt x="43784" y="407998"/>
                      <a:pt x="39450" y="412331"/>
                    </a:cubicBezTo>
                    <a:cubicBezTo>
                      <a:pt x="35116" y="416665"/>
                      <a:pt x="29238" y="419100"/>
                      <a:pt x="23109" y="419100"/>
                    </a:cubicBezTo>
                    <a:lnTo>
                      <a:pt x="23109" y="419100"/>
                    </a:lnTo>
                    <a:cubicBezTo>
                      <a:pt x="16980" y="419100"/>
                      <a:pt x="11102" y="416665"/>
                      <a:pt x="6769" y="412331"/>
                    </a:cubicBezTo>
                    <a:cubicBezTo>
                      <a:pt x="2435" y="407998"/>
                      <a:pt x="0" y="402120"/>
                      <a:pt x="0" y="395991"/>
                    </a:cubicBezTo>
                    <a:lnTo>
                      <a:pt x="0" y="23109"/>
                    </a:lnTo>
                    <a:cubicBezTo>
                      <a:pt x="0" y="16980"/>
                      <a:pt x="2435" y="11102"/>
                      <a:pt x="6769" y="6769"/>
                    </a:cubicBezTo>
                    <a:cubicBezTo>
                      <a:pt x="11102" y="2435"/>
                      <a:pt x="16980" y="0"/>
                      <a:pt x="23109" y="0"/>
                    </a:cubicBezTo>
                    <a:close/>
                  </a:path>
                </a:pathLst>
              </a:custGeom>
              <a:solidFill>
                <a:srgbClr val="6E3125"/>
              </a:solidFill>
            </p:spPr>
          </p:sp>
          <p:sp>
            <p:nvSpPr>
              <p:cNvPr name="TextBox 30" id="30"/>
              <p:cNvSpPr txBox="true"/>
              <p:nvPr/>
            </p:nvSpPr>
            <p:spPr>
              <a:xfrm>
                <a:off x="0" y="28575"/>
                <a:ext cx="46219" cy="390525"/>
              </a:xfrm>
              <a:prstGeom prst="rect">
                <a:avLst/>
              </a:prstGeom>
            </p:spPr>
            <p:txBody>
              <a:bodyPr anchor="ctr" rtlCol="false" tIns="50800" lIns="50800" bIns="50800" rIns="50800"/>
              <a:lstStyle/>
              <a:p>
                <a:pPr algn="ctr">
                  <a:lnSpc>
                    <a:spcPts val="1919"/>
                  </a:lnSpc>
                </a:pPr>
              </a:p>
            </p:txBody>
          </p:sp>
        </p:grpSp>
        <p:sp>
          <p:nvSpPr>
            <p:cNvPr name="TextBox 31" id="31"/>
            <p:cNvSpPr txBox="true"/>
            <p:nvPr/>
          </p:nvSpPr>
          <p:spPr>
            <a:xfrm rot="0">
              <a:off x="603275" y="539433"/>
              <a:ext cx="12932236" cy="1544272"/>
            </a:xfrm>
            <a:prstGeom prst="rect">
              <a:avLst/>
            </a:prstGeom>
          </p:spPr>
          <p:txBody>
            <a:bodyPr anchor="t" rtlCol="false" tIns="0" lIns="0" bIns="0" rIns="0">
              <a:spAutoFit/>
            </a:bodyPr>
            <a:lstStyle/>
            <a:p>
              <a:pPr algn="l">
                <a:lnSpc>
                  <a:spcPts val="4387"/>
                </a:lnSpc>
              </a:pPr>
              <a:r>
                <a:rPr lang="en-US" sz="4100" b="true">
                  <a:solidFill>
                    <a:srgbClr val="6E3125"/>
                  </a:solidFill>
                  <a:latin typeface="Poppins Heavy"/>
                  <a:ea typeface="Poppins Heavy"/>
                  <a:cs typeface="Poppins Heavy"/>
                  <a:sym typeface="Poppins Heavy"/>
                </a:rPr>
                <a:t>Who should Dilan have talked to about this?</a:t>
              </a:r>
            </a:p>
          </p:txBody>
        </p:sp>
      </p:grpSp>
      <p:grpSp>
        <p:nvGrpSpPr>
          <p:cNvPr name="Group 32" id="32"/>
          <p:cNvGrpSpPr/>
          <p:nvPr/>
        </p:nvGrpSpPr>
        <p:grpSpPr>
          <a:xfrm rot="0">
            <a:off x="231038" y="2395197"/>
            <a:ext cx="5594934" cy="3160543"/>
            <a:chOff x="0" y="0"/>
            <a:chExt cx="409970" cy="231589"/>
          </a:xfrm>
        </p:grpSpPr>
        <p:sp>
          <p:nvSpPr>
            <p:cNvPr name="Freeform 33" id="33"/>
            <p:cNvSpPr/>
            <p:nvPr/>
          </p:nvSpPr>
          <p:spPr>
            <a:xfrm flipH="false" flipV="false" rot="0">
              <a:off x="0" y="0"/>
              <a:ext cx="409970" cy="231589"/>
            </a:xfrm>
            <a:custGeom>
              <a:avLst/>
              <a:gdLst/>
              <a:ahLst/>
              <a:cxnLst/>
              <a:rect r="r" b="b" t="t" l="l"/>
              <a:pathLst>
                <a:path h="231589" w="409970">
                  <a:moveTo>
                    <a:pt x="82159" y="0"/>
                  </a:moveTo>
                  <a:lnTo>
                    <a:pt x="327810" y="0"/>
                  </a:lnTo>
                  <a:cubicBezTo>
                    <a:pt x="373186" y="0"/>
                    <a:pt x="409970" y="36784"/>
                    <a:pt x="409970" y="82159"/>
                  </a:cubicBezTo>
                  <a:lnTo>
                    <a:pt x="409970" y="149430"/>
                  </a:lnTo>
                  <a:cubicBezTo>
                    <a:pt x="409970" y="194805"/>
                    <a:pt x="373186" y="231589"/>
                    <a:pt x="327810" y="231589"/>
                  </a:cubicBezTo>
                  <a:lnTo>
                    <a:pt x="82159" y="231589"/>
                  </a:lnTo>
                  <a:cubicBezTo>
                    <a:pt x="36784" y="231589"/>
                    <a:pt x="0" y="194805"/>
                    <a:pt x="0" y="149430"/>
                  </a:cubicBezTo>
                  <a:lnTo>
                    <a:pt x="0" y="82159"/>
                  </a:lnTo>
                  <a:cubicBezTo>
                    <a:pt x="0" y="36784"/>
                    <a:pt x="36784" y="0"/>
                    <a:pt x="82159" y="0"/>
                  </a:cubicBezTo>
                  <a:close/>
                </a:path>
              </a:pathLst>
            </a:custGeom>
            <a:gradFill rotWithShape="true">
              <a:gsLst>
                <a:gs pos="0">
                  <a:srgbClr val="85200C">
                    <a:alpha val="30000"/>
                  </a:srgbClr>
                </a:gs>
                <a:gs pos="100000">
                  <a:srgbClr val="940000">
                    <a:alpha val="100000"/>
                  </a:srgbClr>
                </a:gs>
              </a:gsLst>
              <a:lin ang="0"/>
            </a:gradFill>
          </p:spPr>
        </p:sp>
        <p:sp>
          <p:nvSpPr>
            <p:cNvPr name="TextBox 34" id="34"/>
            <p:cNvSpPr txBox="true"/>
            <p:nvPr/>
          </p:nvSpPr>
          <p:spPr>
            <a:xfrm>
              <a:off x="0" y="28575"/>
              <a:ext cx="409970" cy="203014"/>
            </a:xfrm>
            <a:prstGeom prst="rect">
              <a:avLst/>
            </a:prstGeom>
          </p:spPr>
          <p:txBody>
            <a:bodyPr anchor="ctr" rtlCol="false" tIns="50800" lIns="50800" bIns="50800" rIns="50800"/>
            <a:lstStyle/>
            <a:p>
              <a:pPr algn="ctr">
                <a:lnSpc>
                  <a:spcPts val="1919"/>
                </a:lnSpc>
              </a:pPr>
            </a:p>
          </p:txBody>
        </p:sp>
      </p:grpSp>
      <p:sp>
        <p:nvSpPr>
          <p:cNvPr name="TextBox 35" id="35"/>
          <p:cNvSpPr txBox="true"/>
          <p:nvPr/>
        </p:nvSpPr>
        <p:spPr>
          <a:xfrm rot="0">
            <a:off x="1114014" y="3031528"/>
            <a:ext cx="3988444" cy="1923104"/>
          </a:xfrm>
          <a:prstGeom prst="rect">
            <a:avLst/>
          </a:prstGeom>
        </p:spPr>
        <p:txBody>
          <a:bodyPr anchor="t" rtlCol="false" tIns="0" lIns="0" bIns="0" rIns="0">
            <a:spAutoFit/>
          </a:bodyPr>
          <a:lstStyle/>
          <a:p>
            <a:pPr algn="ctr">
              <a:lnSpc>
                <a:spcPts val="7096"/>
              </a:lnSpc>
            </a:pPr>
            <a:r>
              <a:rPr lang="en-US" sz="7469" b="true">
                <a:solidFill>
                  <a:srgbClr val="FFFFFF"/>
                </a:solidFill>
                <a:latin typeface="Poppins Heavy"/>
                <a:ea typeface="Poppins Heavy"/>
                <a:cs typeface="Poppins Heavy"/>
                <a:sym typeface="Poppins Heavy"/>
              </a:rPr>
              <a:t>RED FLAG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788645"/>
            <a:ext cx="22249068" cy="5784758"/>
          </a:xfrm>
          <a:custGeom>
            <a:avLst/>
            <a:gdLst/>
            <a:ahLst/>
            <a:cxnLst/>
            <a:rect r="r" b="b" t="t" l="l"/>
            <a:pathLst>
              <a:path h="5784758" w="22249068">
                <a:moveTo>
                  <a:pt x="0" y="0"/>
                </a:moveTo>
                <a:lnTo>
                  <a:pt x="22249069" y="0"/>
                </a:lnTo>
                <a:lnTo>
                  <a:pt x="22249069" y="5784757"/>
                </a:lnTo>
                <a:lnTo>
                  <a:pt x="0" y="57847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1271343" y="1105777"/>
            <a:ext cx="7487927" cy="1140886"/>
            <a:chOff x="0" y="0"/>
            <a:chExt cx="605413" cy="92243"/>
          </a:xfrm>
        </p:grpSpPr>
        <p:sp>
          <p:nvSpPr>
            <p:cNvPr name="Freeform 16" id="16"/>
            <p:cNvSpPr/>
            <p:nvPr/>
          </p:nvSpPr>
          <p:spPr>
            <a:xfrm flipH="false" flipV="false" rot="0">
              <a:off x="0" y="0"/>
              <a:ext cx="605413" cy="92243"/>
            </a:xfrm>
            <a:custGeom>
              <a:avLst/>
              <a:gdLst/>
              <a:ahLst/>
              <a:cxnLst/>
              <a:rect r="r" b="b" t="t" l="l"/>
              <a:pathLst>
                <a:path h="92243" w="605413">
                  <a:moveTo>
                    <a:pt x="46121" y="0"/>
                  </a:moveTo>
                  <a:lnTo>
                    <a:pt x="559292" y="0"/>
                  </a:lnTo>
                  <a:cubicBezTo>
                    <a:pt x="571524" y="0"/>
                    <a:pt x="583255" y="4859"/>
                    <a:pt x="591905" y="13509"/>
                  </a:cubicBezTo>
                  <a:cubicBezTo>
                    <a:pt x="600554" y="22158"/>
                    <a:pt x="605413" y="33889"/>
                    <a:pt x="605413" y="46121"/>
                  </a:cubicBezTo>
                  <a:lnTo>
                    <a:pt x="605413" y="46121"/>
                  </a:lnTo>
                  <a:cubicBezTo>
                    <a:pt x="605413" y="58354"/>
                    <a:pt x="600554" y="70085"/>
                    <a:pt x="591905" y="78734"/>
                  </a:cubicBezTo>
                  <a:cubicBezTo>
                    <a:pt x="583255" y="87384"/>
                    <a:pt x="571524" y="92243"/>
                    <a:pt x="559292" y="92243"/>
                  </a:cubicBezTo>
                  <a:lnTo>
                    <a:pt x="46121" y="92243"/>
                  </a:lnTo>
                  <a:cubicBezTo>
                    <a:pt x="33889" y="92243"/>
                    <a:pt x="22158" y="87384"/>
                    <a:pt x="13509" y="78734"/>
                  </a:cubicBezTo>
                  <a:cubicBezTo>
                    <a:pt x="4859" y="70085"/>
                    <a:pt x="0" y="58354"/>
                    <a:pt x="0" y="46121"/>
                  </a:cubicBezTo>
                  <a:lnTo>
                    <a:pt x="0" y="46121"/>
                  </a:lnTo>
                  <a:cubicBezTo>
                    <a:pt x="0" y="33889"/>
                    <a:pt x="4859" y="22158"/>
                    <a:pt x="13509" y="13509"/>
                  </a:cubicBezTo>
                  <a:cubicBezTo>
                    <a:pt x="22158" y="4859"/>
                    <a:pt x="33889" y="0"/>
                    <a:pt x="46121" y="0"/>
                  </a:cubicBezTo>
                  <a:close/>
                </a:path>
              </a:pathLst>
            </a:custGeom>
            <a:gradFill rotWithShape="true">
              <a:gsLst>
                <a:gs pos="0">
                  <a:srgbClr val="85200C">
                    <a:alpha val="100000"/>
                  </a:srgbClr>
                </a:gs>
                <a:gs pos="100000">
                  <a:srgbClr val="DC4B0F">
                    <a:alpha val="100000"/>
                  </a:srgbClr>
                </a:gs>
              </a:gsLst>
              <a:lin ang="0"/>
            </a:gradFill>
          </p:spPr>
        </p:sp>
        <p:sp>
          <p:nvSpPr>
            <p:cNvPr name="TextBox 17" id="17"/>
            <p:cNvSpPr txBox="true"/>
            <p:nvPr/>
          </p:nvSpPr>
          <p:spPr>
            <a:xfrm>
              <a:off x="0" y="28575"/>
              <a:ext cx="605413" cy="63668"/>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774419" y="2381522"/>
            <a:ext cx="16739161" cy="3850477"/>
            <a:chOff x="0" y="0"/>
            <a:chExt cx="22318882" cy="5133970"/>
          </a:xfrm>
        </p:grpSpPr>
        <p:grpSp>
          <p:nvGrpSpPr>
            <p:cNvPr name="Group 19" id="19"/>
            <p:cNvGrpSpPr/>
            <p:nvPr/>
          </p:nvGrpSpPr>
          <p:grpSpPr>
            <a:xfrm rot="0">
              <a:off x="0" y="0"/>
              <a:ext cx="22318882" cy="5133970"/>
              <a:chOff x="0" y="0"/>
              <a:chExt cx="1135704" cy="261244"/>
            </a:xfrm>
          </p:grpSpPr>
          <p:sp>
            <p:nvSpPr>
              <p:cNvPr name="Freeform 20" id="20"/>
              <p:cNvSpPr/>
              <p:nvPr/>
            </p:nvSpPr>
            <p:spPr>
              <a:xfrm flipH="false" flipV="false" rot="0">
                <a:off x="0" y="0"/>
                <a:ext cx="1135704" cy="261244"/>
              </a:xfrm>
              <a:custGeom>
                <a:avLst/>
                <a:gdLst/>
                <a:ahLst/>
                <a:cxnLst/>
                <a:rect r="r" b="b" t="t" l="l"/>
                <a:pathLst>
                  <a:path h="261244" w="1135704">
                    <a:moveTo>
                      <a:pt x="42628" y="0"/>
                    </a:moveTo>
                    <a:lnTo>
                      <a:pt x="1093075" y="0"/>
                    </a:lnTo>
                    <a:cubicBezTo>
                      <a:pt x="1104381" y="0"/>
                      <a:pt x="1115224" y="4491"/>
                      <a:pt x="1123218" y="12486"/>
                    </a:cubicBezTo>
                    <a:cubicBezTo>
                      <a:pt x="1131212" y="20480"/>
                      <a:pt x="1135704" y="31323"/>
                      <a:pt x="1135704" y="42628"/>
                    </a:cubicBezTo>
                    <a:lnTo>
                      <a:pt x="1135704" y="218615"/>
                    </a:lnTo>
                    <a:cubicBezTo>
                      <a:pt x="1135704" y="229921"/>
                      <a:pt x="1131212" y="240764"/>
                      <a:pt x="1123218" y="248758"/>
                    </a:cubicBezTo>
                    <a:cubicBezTo>
                      <a:pt x="1115224" y="256753"/>
                      <a:pt x="1104381" y="261244"/>
                      <a:pt x="1093075" y="261244"/>
                    </a:cubicBezTo>
                    <a:lnTo>
                      <a:pt x="42628" y="261244"/>
                    </a:lnTo>
                    <a:cubicBezTo>
                      <a:pt x="31323" y="261244"/>
                      <a:pt x="20480" y="256753"/>
                      <a:pt x="12486" y="248758"/>
                    </a:cubicBezTo>
                    <a:cubicBezTo>
                      <a:pt x="4491" y="240764"/>
                      <a:pt x="0" y="229921"/>
                      <a:pt x="0" y="218615"/>
                    </a:cubicBezTo>
                    <a:lnTo>
                      <a:pt x="0" y="42628"/>
                    </a:lnTo>
                    <a:cubicBezTo>
                      <a:pt x="0" y="31323"/>
                      <a:pt x="4491" y="20480"/>
                      <a:pt x="12486" y="12486"/>
                    </a:cubicBezTo>
                    <a:cubicBezTo>
                      <a:pt x="20480" y="4491"/>
                      <a:pt x="31323" y="0"/>
                      <a:pt x="42628" y="0"/>
                    </a:cubicBezTo>
                    <a:close/>
                  </a:path>
                </a:pathLst>
              </a:custGeom>
              <a:gradFill rotWithShape="true">
                <a:gsLst>
                  <a:gs pos="0">
                    <a:srgbClr val="85200C">
                      <a:alpha val="30000"/>
                    </a:srgbClr>
                  </a:gs>
                  <a:gs pos="100000">
                    <a:srgbClr val="DC4B0F">
                      <a:alpha val="100000"/>
                    </a:srgbClr>
                  </a:gs>
                </a:gsLst>
                <a:lin ang="0"/>
              </a:gradFill>
            </p:spPr>
          </p:sp>
          <p:sp>
            <p:nvSpPr>
              <p:cNvPr name="TextBox 21" id="21"/>
              <p:cNvSpPr txBox="true"/>
              <p:nvPr/>
            </p:nvSpPr>
            <p:spPr>
              <a:xfrm>
                <a:off x="0" y="28575"/>
                <a:ext cx="1135704" cy="232669"/>
              </a:xfrm>
              <a:prstGeom prst="rect">
                <a:avLst/>
              </a:prstGeom>
            </p:spPr>
            <p:txBody>
              <a:bodyPr anchor="ctr" rtlCol="false" tIns="50800" lIns="50800" bIns="50800" rIns="50800"/>
              <a:lstStyle/>
              <a:p>
                <a:pPr algn="ctr">
                  <a:lnSpc>
                    <a:spcPts val="1919"/>
                  </a:lnSpc>
                </a:pPr>
              </a:p>
            </p:txBody>
          </p:sp>
        </p:grpSp>
        <p:sp>
          <p:nvSpPr>
            <p:cNvPr name="TextBox 22" id="22"/>
            <p:cNvSpPr txBox="true"/>
            <p:nvPr/>
          </p:nvSpPr>
          <p:spPr>
            <a:xfrm rot="0">
              <a:off x="665220" y="633854"/>
              <a:ext cx="21139224" cy="3832605"/>
            </a:xfrm>
            <a:prstGeom prst="rect">
              <a:avLst/>
            </a:prstGeom>
          </p:spPr>
          <p:txBody>
            <a:bodyPr anchor="t" rtlCol="false" tIns="0" lIns="0" bIns="0" rIns="0">
              <a:spAutoFit/>
            </a:bodyPr>
            <a:lstStyle/>
            <a:p>
              <a:pPr algn="ctr">
                <a:lnSpc>
                  <a:spcPts val="3735"/>
                </a:lnSpc>
              </a:pPr>
              <a:r>
                <a:rPr lang="en-US" sz="3932" b="true">
                  <a:solidFill>
                    <a:srgbClr val="FFFFFF"/>
                  </a:solidFill>
                  <a:latin typeface="Poppins Semi-Bold"/>
                  <a:ea typeface="Poppins Semi-Bold"/>
                  <a:cs typeface="Poppins Semi-Bold"/>
                  <a:sym typeface="Poppins Semi-Bold"/>
                </a:rPr>
                <a:t>Marcus talks for most of every meeting. His ideas are good and the group’s argument is stronger for them. </a:t>
              </a:r>
            </a:p>
            <a:p>
              <a:pPr algn="ctr">
                <a:lnSpc>
                  <a:spcPts val="3735"/>
                </a:lnSpc>
              </a:pPr>
            </a:p>
            <a:p>
              <a:pPr algn="ctr">
                <a:lnSpc>
                  <a:spcPts val="3735"/>
                </a:lnSpc>
              </a:pPr>
              <a:r>
                <a:rPr lang="en-US" sz="3932" b="true">
                  <a:solidFill>
                    <a:srgbClr val="FFFFFF"/>
                  </a:solidFill>
                  <a:latin typeface="Poppins Semi-Bold"/>
                  <a:ea typeface="Poppins Semi-Bold"/>
                  <a:cs typeface="Poppins Semi-Bold"/>
                  <a:sym typeface="Poppins Semi-Bold"/>
                </a:rPr>
                <a:t>Two members have gone from contributing regularly to just agreeing. When he asks “any objections?” there never are any.</a:t>
              </a:r>
            </a:p>
          </p:txBody>
        </p:sp>
      </p:grpSp>
      <p:grpSp>
        <p:nvGrpSpPr>
          <p:cNvPr name="Group 23" id="23"/>
          <p:cNvGrpSpPr/>
          <p:nvPr/>
        </p:nvGrpSpPr>
        <p:grpSpPr>
          <a:xfrm rot="0">
            <a:off x="2086942" y="6298674"/>
            <a:ext cx="6705133" cy="2864363"/>
            <a:chOff x="0" y="0"/>
            <a:chExt cx="542123" cy="231589"/>
          </a:xfrm>
        </p:grpSpPr>
        <p:sp>
          <p:nvSpPr>
            <p:cNvPr name="Freeform 24" id="24"/>
            <p:cNvSpPr/>
            <p:nvPr/>
          </p:nvSpPr>
          <p:spPr>
            <a:xfrm flipH="false" flipV="false" rot="0">
              <a:off x="0" y="0"/>
              <a:ext cx="542123" cy="231589"/>
            </a:xfrm>
            <a:custGeom>
              <a:avLst/>
              <a:gdLst/>
              <a:ahLst/>
              <a:cxnLst/>
              <a:rect r="r" b="b" t="t" l="l"/>
              <a:pathLst>
                <a:path h="231589" w="542123">
                  <a:moveTo>
                    <a:pt x="68556" y="0"/>
                  </a:moveTo>
                  <a:lnTo>
                    <a:pt x="473567" y="0"/>
                  </a:lnTo>
                  <a:cubicBezTo>
                    <a:pt x="511429" y="0"/>
                    <a:pt x="542123" y="30694"/>
                    <a:pt x="542123" y="68556"/>
                  </a:cubicBezTo>
                  <a:lnTo>
                    <a:pt x="542123" y="163033"/>
                  </a:lnTo>
                  <a:cubicBezTo>
                    <a:pt x="542123" y="181215"/>
                    <a:pt x="534900" y="198653"/>
                    <a:pt x="522043" y="211510"/>
                  </a:cubicBezTo>
                  <a:cubicBezTo>
                    <a:pt x="509187" y="224366"/>
                    <a:pt x="491749" y="231589"/>
                    <a:pt x="473567" y="231589"/>
                  </a:cubicBezTo>
                  <a:lnTo>
                    <a:pt x="68556" y="231589"/>
                  </a:lnTo>
                  <a:cubicBezTo>
                    <a:pt x="50374" y="231589"/>
                    <a:pt x="32936" y="224366"/>
                    <a:pt x="20080" y="211510"/>
                  </a:cubicBezTo>
                  <a:cubicBezTo>
                    <a:pt x="7223" y="198653"/>
                    <a:pt x="0" y="181215"/>
                    <a:pt x="0" y="163033"/>
                  </a:cubicBezTo>
                  <a:lnTo>
                    <a:pt x="0" y="68556"/>
                  </a:lnTo>
                  <a:cubicBezTo>
                    <a:pt x="0" y="50374"/>
                    <a:pt x="7223" y="32936"/>
                    <a:pt x="20080" y="20080"/>
                  </a:cubicBezTo>
                  <a:cubicBezTo>
                    <a:pt x="32936" y="7223"/>
                    <a:pt x="50374" y="0"/>
                    <a:pt x="68556" y="0"/>
                  </a:cubicBezTo>
                  <a:close/>
                </a:path>
              </a:pathLst>
            </a:custGeom>
            <a:gradFill rotWithShape="true">
              <a:gsLst>
                <a:gs pos="0">
                  <a:srgbClr val="85200C">
                    <a:alpha val="30000"/>
                  </a:srgbClr>
                </a:gs>
                <a:gs pos="100000">
                  <a:srgbClr val="940000">
                    <a:alpha val="100000"/>
                  </a:srgbClr>
                </a:gs>
              </a:gsLst>
              <a:lin ang="0"/>
            </a:gradFill>
          </p:spPr>
        </p:sp>
        <p:sp>
          <p:nvSpPr>
            <p:cNvPr name="TextBox 25" id="25"/>
            <p:cNvSpPr txBox="true"/>
            <p:nvPr/>
          </p:nvSpPr>
          <p:spPr>
            <a:xfrm>
              <a:off x="0" y="28575"/>
              <a:ext cx="542123" cy="203014"/>
            </a:xfrm>
            <a:prstGeom prst="rect">
              <a:avLst/>
            </a:prstGeom>
          </p:spPr>
          <p:txBody>
            <a:bodyPr anchor="ctr" rtlCol="false" tIns="50800" lIns="50800" bIns="50800" rIns="50800"/>
            <a:lstStyle/>
            <a:p>
              <a:pPr algn="ctr">
                <a:lnSpc>
                  <a:spcPts val="1919"/>
                </a:lnSpc>
              </a:pPr>
            </a:p>
          </p:txBody>
        </p:sp>
      </p:grpSp>
      <p:grpSp>
        <p:nvGrpSpPr>
          <p:cNvPr name="Group 26" id="26"/>
          <p:cNvGrpSpPr/>
          <p:nvPr/>
        </p:nvGrpSpPr>
        <p:grpSpPr>
          <a:xfrm rot="0">
            <a:off x="9036459" y="6329164"/>
            <a:ext cx="6857760" cy="2864363"/>
            <a:chOff x="0" y="0"/>
            <a:chExt cx="9143680" cy="3819150"/>
          </a:xfrm>
        </p:grpSpPr>
        <p:grpSp>
          <p:nvGrpSpPr>
            <p:cNvPr name="Group 27" id="27"/>
            <p:cNvGrpSpPr/>
            <p:nvPr/>
          </p:nvGrpSpPr>
          <p:grpSpPr>
            <a:xfrm rot="0">
              <a:off x="50565" y="0"/>
              <a:ext cx="8869518" cy="3819150"/>
              <a:chOff x="0" y="0"/>
              <a:chExt cx="537838" cy="231589"/>
            </a:xfrm>
          </p:grpSpPr>
          <p:sp>
            <p:nvSpPr>
              <p:cNvPr name="Freeform 28" id="28"/>
              <p:cNvSpPr/>
              <p:nvPr/>
            </p:nvSpPr>
            <p:spPr>
              <a:xfrm flipH="false" flipV="false" rot="0">
                <a:off x="0" y="0"/>
                <a:ext cx="537838" cy="231589"/>
              </a:xfrm>
              <a:custGeom>
                <a:avLst/>
                <a:gdLst/>
                <a:ahLst/>
                <a:cxnLst/>
                <a:rect r="r" b="b" t="t" l="l"/>
                <a:pathLst>
                  <a:path h="231589" w="537838">
                    <a:moveTo>
                      <a:pt x="35130" y="0"/>
                    </a:moveTo>
                    <a:lnTo>
                      <a:pt x="502708" y="0"/>
                    </a:lnTo>
                    <a:cubicBezTo>
                      <a:pt x="512025" y="0"/>
                      <a:pt x="520961" y="3701"/>
                      <a:pt x="527549" y="10289"/>
                    </a:cubicBezTo>
                    <a:cubicBezTo>
                      <a:pt x="534137" y="16878"/>
                      <a:pt x="537838" y="25813"/>
                      <a:pt x="537838" y="35130"/>
                    </a:cubicBezTo>
                    <a:lnTo>
                      <a:pt x="537838" y="196459"/>
                    </a:lnTo>
                    <a:cubicBezTo>
                      <a:pt x="537838" y="205776"/>
                      <a:pt x="534137" y="214712"/>
                      <a:pt x="527549" y="221300"/>
                    </a:cubicBezTo>
                    <a:cubicBezTo>
                      <a:pt x="520961" y="227888"/>
                      <a:pt x="512025" y="231589"/>
                      <a:pt x="502708" y="231589"/>
                    </a:cubicBezTo>
                    <a:lnTo>
                      <a:pt x="35130" y="231589"/>
                    </a:lnTo>
                    <a:cubicBezTo>
                      <a:pt x="25813" y="231589"/>
                      <a:pt x="16878" y="227888"/>
                      <a:pt x="10289" y="221300"/>
                    </a:cubicBezTo>
                    <a:cubicBezTo>
                      <a:pt x="3701" y="214712"/>
                      <a:pt x="0" y="205776"/>
                      <a:pt x="0" y="196459"/>
                    </a:cubicBezTo>
                    <a:lnTo>
                      <a:pt x="0" y="35130"/>
                    </a:lnTo>
                    <a:cubicBezTo>
                      <a:pt x="0" y="25813"/>
                      <a:pt x="3701" y="16878"/>
                      <a:pt x="10289" y="10289"/>
                    </a:cubicBezTo>
                    <a:cubicBezTo>
                      <a:pt x="16878" y="3701"/>
                      <a:pt x="25813" y="0"/>
                      <a:pt x="35130" y="0"/>
                    </a:cubicBezTo>
                    <a:close/>
                  </a:path>
                </a:pathLst>
              </a:custGeom>
              <a:gradFill rotWithShape="true">
                <a:gsLst>
                  <a:gs pos="0">
                    <a:srgbClr val="85200C">
                      <a:alpha val="30000"/>
                    </a:srgbClr>
                  </a:gs>
                  <a:gs pos="100000">
                    <a:srgbClr val="008601">
                      <a:alpha val="100000"/>
                    </a:srgbClr>
                  </a:gs>
                </a:gsLst>
                <a:lin ang="0"/>
              </a:gradFill>
            </p:spPr>
          </p:sp>
          <p:sp>
            <p:nvSpPr>
              <p:cNvPr name="TextBox 29" id="29"/>
              <p:cNvSpPr txBox="true"/>
              <p:nvPr/>
            </p:nvSpPr>
            <p:spPr>
              <a:xfrm>
                <a:off x="0" y="28575"/>
                <a:ext cx="537838" cy="203014"/>
              </a:xfrm>
              <a:prstGeom prst="rect">
                <a:avLst/>
              </a:prstGeom>
            </p:spPr>
            <p:txBody>
              <a:bodyPr anchor="ctr" rtlCol="false" tIns="99925" lIns="99925" bIns="99925" rIns="99925"/>
              <a:lstStyle/>
              <a:p>
                <a:pPr algn="ctr">
                  <a:lnSpc>
                    <a:spcPts val="1919"/>
                  </a:lnSpc>
                </a:pPr>
              </a:p>
            </p:txBody>
          </p:sp>
        </p:grpSp>
        <p:sp>
          <p:nvSpPr>
            <p:cNvPr name="TextBox 30" id="30"/>
            <p:cNvSpPr txBox="true"/>
            <p:nvPr/>
          </p:nvSpPr>
          <p:spPr>
            <a:xfrm rot="0">
              <a:off x="0" y="656138"/>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GreenFlag</a:t>
              </a:r>
            </a:p>
          </p:txBody>
        </p:sp>
        <p:sp>
          <p:nvSpPr>
            <p:cNvPr name="TextBox 31" id="31"/>
            <p:cNvSpPr txBox="true"/>
            <p:nvPr/>
          </p:nvSpPr>
          <p:spPr>
            <a:xfrm rot="0">
              <a:off x="415950" y="506572"/>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Green Flag</a:t>
              </a:r>
            </a:p>
          </p:txBody>
        </p:sp>
      </p:grpSp>
      <p:sp>
        <p:nvSpPr>
          <p:cNvPr name="TextBox 32" id="32"/>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07</a:t>
            </a:r>
          </a:p>
        </p:txBody>
      </p:sp>
      <p:sp>
        <p:nvSpPr>
          <p:cNvPr name="TextBox 33" id="33"/>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34" id="34"/>
          <p:cNvSpPr txBox="true"/>
          <p:nvPr/>
        </p:nvSpPr>
        <p:spPr>
          <a:xfrm rot="0">
            <a:off x="415994" y="1418607"/>
            <a:ext cx="5981225" cy="549275"/>
          </a:xfrm>
          <a:prstGeom prst="rect">
            <a:avLst/>
          </a:prstGeom>
        </p:spPr>
        <p:txBody>
          <a:bodyPr anchor="t" rtlCol="false" tIns="0" lIns="0" bIns="0" rIns="0">
            <a:spAutoFit/>
          </a:bodyPr>
          <a:lstStyle/>
          <a:p>
            <a:pPr algn="l">
              <a:lnSpc>
                <a:spcPts val="3895"/>
              </a:lnSpc>
            </a:pPr>
            <a:r>
              <a:rPr lang="en-US" sz="4100" b="true">
                <a:solidFill>
                  <a:srgbClr val="FFFFFF"/>
                </a:solidFill>
                <a:latin typeface="Poppins Heavy"/>
                <a:ea typeface="Poppins Heavy"/>
                <a:cs typeface="Poppins Heavy"/>
                <a:sym typeface="Poppins Heavy"/>
              </a:rPr>
              <a:t>SCENARIO 1: Marcus </a:t>
            </a:r>
          </a:p>
        </p:txBody>
      </p:sp>
      <p:grpSp>
        <p:nvGrpSpPr>
          <p:cNvPr name="Group 35" id="35"/>
          <p:cNvGrpSpPr/>
          <p:nvPr/>
        </p:nvGrpSpPr>
        <p:grpSpPr>
          <a:xfrm rot="0">
            <a:off x="2001030" y="6880543"/>
            <a:ext cx="6857760" cy="1869997"/>
            <a:chOff x="0" y="0"/>
            <a:chExt cx="9143680" cy="2493329"/>
          </a:xfrm>
        </p:grpSpPr>
        <p:sp>
          <p:nvSpPr>
            <p:cNvPr name="TextBox 36" id="36"/>
            <p:cNvSpPr txBox="true"/>
            <p:nvPr/>
          </p:nvSpPr>
          <p:spPr>
            <a:xfrm rot="0">
              <a:off x="0" y="-79033"/>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Red Flag</a:t>
              </a:r>
            </a:p>
          </p:txBody>
        </p:sp>
        <p:sp>
          <p:nvSpPr>
            <p:cNvPr name="TextBox 37" id="37"/>
            <p:cNvSpPr txBox="true"/>
            <p:nvPr/>
          </p:nvSpPr>
          <p:spPr>
            <a:xfrm rot="0">
              <a:off x="415950" y="-228600"/>
              <a:ext cx="8121423" cy="2572407"/>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Red Flag</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59760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307889" y="2280783"/>
            <a:ext cx="5852123" cy="3305827"/>
            <a:chOff x="0" y="0"/>
            <a:chExt cx="409970" cy="231589"/>
          </a:xfrm>
        </p:grpSpPr>
        <p:sp>
          <p:nvSpPr>
            <p:cNvPr name="Freeform 16" id="16"/>
            <p:cNvSpPr/>
            <p:nvPr/>
          </p:nvSpPr>
          <p:spPr>
            <a:xfrm flipH="false" flipV="false" rot="0">
              <a:off x="0" y="0"/>
              <a:ext cx="409970" cy="231589"/>
            </a:xfrm>
            <a:custGeom>
              <a:avLst/>
              <a:gdLst/>
              <a:ahLst/>
              <a:cxnLst/>
              <a:rect r="r" b="b" t="t" l="l"/>
              <a:pathLst>
                <a:path h="231589" w="409970">
                  <a:moveTo>
                    <a:pt x="78549" y="0"/>
                  </a:moveTo>
                  <a:lnTo>
                    <a:pt x="331421" y="0"/>
                  </a:lnTo>
                  <a:cubicBezTo>
                    <a:pt x="352253" y="0"/>
                    <a:pt x="372232" y="8276"/>
                    <a:pt x="386963" y="23006"/>
                  </a:cubicBezTo>
                  <a:cubicBezTo>
                    <a:pt x="401694" y="37737"/>
                    <a:pt x="409970" y="57716"/>
                    <a:pt x="409970" y="78549"/>
                  </a:cubicBezTo>
                  <a:lnTo>
                    <a:pt x="409970" y="153041"/>
                  </a:lnTo>
                  <a:cubicBezTo>
                    <a:pt x="409970" y="173873"/>
                    <a:pt x="401694" y="193852"/>
                    <a:pt x="386963" y="208583"/>
                  </a:cubicBezTo>
                  <a:cubicBezTo>
                    <a:pt x="372232" y="223314"/>
                    <a:pt x="352253" y="231589"/>
                    <a:pt x="331421" y="231589"/>
                  </a:cubicBezTo>
                  <a:lnTo>
                    <a:pt x="78549" y="231589"/>
                  </a:lnTo>
                  <a:cubicBezTo>
                    <a:pt x="57716" y="231589"/>
                    <a:pt x="37737" y="223314"/>
                    <a:pt x="23006" y="208583"/>
                  </a:cubicBezTo>
                  <a:cubicBezTo>
                    <a:pt x="8276" y="193852"/>
                    <a:pt x="0" y="173873"/>
                    <a:pt x="0" y="153041"/>
                  </a:cubicBezTo>
                  <a:lnTo>
                    <a:pt x="0" y="78549"/>
                  </a:lnTo>
                  <a:cubicBezTo>
                    <a:pt x="0" y="57716"/>
                    <a:pt x="8276" y="37737"/>
                    <a:pt x="23006" y="23006"/>
                  </a:cubicBezTo>
                  <a:cubicBezTo>
                    <a:pt x="37737" y="8276"/>
                    <a:pt x="57716" y="0"/>
                    <a:pt x="78549" y="0"/>
                  </a:cubicBezTo>
                  <a:close/>
                </a:path>
              </a:pathLst>
            </a:custGeom>
            <a:gradFill rotWithShape="true">
              <a:gsLst>
                <a:gs pos="0">
                  <a:srgbClr val="85200C">
                    <a:alpha val="30000"/>
                  </a:srgbClr>
                </a:gs>
                <a:gs pos="100000">
                  <a:srgbClr val="FFB30B">
                    <a:alpha val="100000"/>
                  </a:srgbClr>
                </a:gs>
              </a:gsLst>
              <a:lin ang="0"/>
            </a:gradFill>
          </p:spPr>
        </p:sp>
        <p:sp>
          <p:nvSpPr>
            <p:cNvPr name="TextBox 17" id="17"/>
            <p:cNvSpPr txBox="true"/>
            <p:nvPr/>
          </p:nvSpPr>
          <p:spPr>
            <a:xfrm>
              <a:off x="0" y="28575"/>
              <a:ext cx="409970" cy="203014"/>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6505220" y="2318524"/>
            <a:ext cx="11335656" cy="3133797"/>
            <a:chOff x="0" y="0"/>
            <a:chExt cx="957198" cy="264622"/>
          </a:xfrm>
        </p:grpSpPr>
        <p:sp>
          <p:nvSpPr>
            <p:cNvPr name="Freeform 19" id="19"/>
            <p:cNvSpPr/>
            <p:nvPr/>
          </p:nvSpPr>
          <p:spPr>
            <a:xfrm flipH="false" flipV="false" rot="0">
              <a:off x="0" y="0"/>
              <a:ext cx="957198" cy="264622"/>
            </a:xfrm>
            <a:custGeom>
              <a:avLst/>
              <a:gdLst/>
              <a:ahLst/>
              <a:cxnLst/>
              <a:rect r="r" b="b" t="t" l="l"/>
              <a:pathLst>
                <a:path h="264622" w="957198">
                  <a:moveTo>
                    <a:pt x="52824" y="0"/>
                  </a:moveTo>
                  <a:lnTo>
                    <a:pt x="904374" y="0"/>
                  </a:lnTo>
                  <a:cubicBezTo>
                    <a:pt x="918384" y="0"/>
                    <a:pt x="931820" y="5565"/>
                    <a:pt x="941726" y="15472"/>
                  </a:cubicBezTo>
                  <a:cubicBezTo>
                    <a:pt x="951632" y="25378"/>
                    <a:pt x="957198" y="38814"/>
                    <a:pt x="957198" y="52824"/>
                  </a:cubicBezTo>
                  <a:lnTo>
                    <a:pt x="957198" y="211798"/>
                  </a:lnTo>
                  <a:cubicBezTo>
                    <a:pt x="957198" y="240972"/>
                    <a:pt x="933548" y="264622"/>
                    <a:pt x="904374" y="264622"/>
                  </a:cubicBezTo>
                  <a:lnTo>
                    <a:pt x="52824" y="264622"/>
                  </a:lnTo>
                  <a:cubicBezTo>
                    <a:pt x="23650" y="264622"/>
                    <a:pt x="0" y="240972"/>
                    <a:pt x="0" y="211798"/>
                  </a:cubicBezTo>
                  <a:lnTo>
                    <a:pt x="0" y="52824"/>
                  </a:lnTo>
                  <a:cubicBezTo>
                    <a:pt x="0" y="23650"/>
                    <a:pt x="23650" y="0"/>
                    <a:pt x="52824" y="0"/>
                  </a:cubicBezTo>
                  <a:close/>
                </a:path>
              </a:pathLst>
            </a:custGeom>
            <a:gradFill rotWithShape="true">
              <a:gsLst>
                <a:gs pos="0">
                  <a:srgbClr val="85200C">
                    <a:alpha val="30000"/>
                  </a:srgbClr>
                </a:gs>
                <a:gs pos="100000">
                  <a:srgbClr val="DC4B0F">
                    <a:alpha val="100000"/>
                  </a:srgbClr>
                </a:gs>
              </a:gsLst>
              <a:lin ang="0"/>
            </a:gradFill>
          </p:spPr>
        </p:sp>
        <p:sp>
          <p:nvSpPr>
            <p:cNvPr name="TextBox 20" id="20"/>
            <p:cNvSpPr txBox="true"/>
            <p:nvPr/>
          </p:nvSpPr>
          <p:spPr>
            <a:xfrm>
              <a:off x="0" y="28575"/>
              <a:ext cx="957198" cy="236047"/>
            </a:xfrm>
            <a:prstGeom prst="rect">
              <a:avLst/>
            </a:prstGeom>
          </p:spPr>
          <p:txBody>
            <a:bodyPr anchor="ctr" rtlCol="false" tIns="42145" lIns="42145" bIns="42145" rIns="42145"/>
            <a:lstStyle/>
            <a:p>
              <a:pPr algn="ctr">
                <a:lnSpc>
                  <a:spcPts val="1919"/>
                </a:lnSpc>
              </a:pPr>
            </a:p>
          </p:txBody>
        </p:sp>
      </p:grpSp>
      <p:sp>
        <p:nvSpPr>
          <p:cNvPr name="TextBox 21" id="21"/>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08</a:t>
            </a:r>
          </a:p>
        </p:txBody>
      </p:sp>
      <p:sp>
        <p:nvSpPr>
          <p:cNvPr name="TextBox 22" id="22"/>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3" id="23"/>
          <p:cNvSpPr txBox="true"/>
          <p:nvPr/>
        </p:nvSpPr>
        <p:spPr>
          <a:xfrm rot="0">
            <a:off x="11790227" y="2717609"/>
            <a:ext cx="6027763" cy="2248759"/>
          </a:xfrm>
          <a:prstGeom prst="rect">
            <a:avLst/>
          </a:prstGeom>
        </p:spPr>
        <p:txBody>
          <a:bodyPr anchor="t" rtlCol="false" tIns="0" lIns="0" bIns="0" rIns="0">
            <a:spAutoFit/>
          </a:bodyPr>
          <a:lstStyle/>
          <a:p>
            <a:pPr algn="l">
              <a:lnSpc>
                <a:spcPts val="2933"/>
              </a:lnSpc>
            </a:pPr>
            <a:r>
              <a:rPr lang="en-US" sz="3088" u="sng" b="true">
                <a:solidFill>
                  <a:srgbClr val="FFFFFF"/>
                </a:solidFill>
                <a:latin typeface="Poppins Semi-Bold"/>
                <a:ea typeface="Poppins Semi-Bold"/>
                <a:cs typeface="Poppins Semi-Bold"/>
                <a:sym typeface="Poppins Semi-Bold"/>
              </a:rPr>
              <a:t>Pros:</a:t>
            </a:r>
            <a:r>
              <a:rPr lang="en-US" sz="3088" b="true">
                <a:solidFill>
                  <a:srgbClr val="FFFFFF"/>
                </a:solidFill>
                <a:latin typeface="Poppins Semi-Bold"/>
                <a:ea typeface="Poppins Semi-Bold"/>
                <a:cs typeface="Poppins Semi-Bold"/>
                <a:sym typeface="Poppins Semi-Bold"/>
              </a:rPr>
              <a:t> He is contributing and</a:t>
            </a:r>
            <a:r>
              <a:rPr lang="en-US" sz="3088" b="true">
                <a:solidFill>
                  <a:srgbClr val="FFFFFF"/>
                </a:solidFill>
                <a:latin typeface="Poppins Semi-Bold"/>
                <a:ea typeface="Poppins Semi-Bold"/>
                <a:cs typeface="Poppins Semi-Bold"/>
                <a:sym typeface="Poppins Semi-Bold"/>
              </a:rPr>
              <a:t> </a:t>
            </a:r>
            <a:r>
              <a:rPr lang="en-US" sz="3088" b="true">
                <a:solidFill>
                  <a:srgbClr val="FFFFFF"/>
                </a:solidFill>
                <a:latin typeface="Poppins Semi-Bold"/>
                <a:ea typeface="Poppins Semi-Bold"/>
                <a:cs typeface="Poppins Semi-Bold"/>
                <a:sym typeface="Poppins Semi-Bold"/>
              </a:rPr>
              <a:t>the team is better for him.</a:t>
            </a:r>
          </a:p>
          <a:p>
            <a:pPr algn="l">
              <a:lnSpc>
                <a:spcPts val="2933"/>
              </a:lnSpc>
            </a:pPr>
          </a:p>
          <a:p>
            <a:pPr algn="l">
              <a:lnSpc>
                <a:spcPts val="2933"/>
              </a:lnSpc>
            </a:pPr>
            <a:r>
              <a:rPr lang="en-US" sz="3088" u="sng" b="true">
                <a:solidFill>
                  <a:srgbClr val="FFFFFF"/>
                </a:solidFill>
                <a:latin typeface="Poppins Semi-Bold"/>
                <a:ea typeface="Poppins Semi-Bold"/>
                <a:cs typeface="Poppins Semi-Bold"/>
                <a:sym typeface="Poppins Semi-Bold"/>
              </a:rPr>
              <a:t>Cons:</a:t>
            </a:r>
            <a:r>
              <a:rPr lang="en-US" sz="3088" b="true">
                <a:solidFill>
                  <a:srgbClr val="FFFFFF"/>
                </a:solidFill>
                <a:latin typeface="Poppins Semi-Bold"/>
                <a:ea typeface="Poppins Semi-Bold"/>
                <a:cs typeface="Poppins Semi-Bold"/>
                <a:sym typeface="Poppins Semi-Bold"/>
              </a:rPr>
              <a:t> He is without meaning to, shrinking the group to one person. </a:t>
            </a:r>
          </a:p>
        </p:txBody>
      </p:sp>
      <p:grpSp>
        <p:nvGrpSpPr>
          <p:cNvPr name="Group 24" id="24"/>
          <p:cNvGrpSpPr/>
          <p:nvPr/>
        </p:nvGrpSpPr>
        <p:grpSpPr>
          <a:xfrm rot="0">
            <a:off x="6366601" y="2805933"/>
            <a:ext cx="5535235" cy="2484513"/>
            <a:chOff x="0" y="0"/>
            <a:chExt cx="7380313" cy="3312685"/>
          </a:xfrm>
        </p:grpSpPr>
        <p:sp>
          <p:nvSpPr>
            <p:cNvPr name="TextBox 25" id="25"/>
            <p:cNvSpPr txBox="true"/>
            <p:nvPr/>
          </p:nvSpPr>
          <p:spPr>
            <a:xfrm rot="0">
              <a:off x="427637" y="-106083"/>
              <a:ext cx="6952676" cy="3418767"/>
            </a:xfrm>
            <a:prstGeom prst="rect">
              <a:avLst/>
            </a:prstGeom>
          </p:spPr>
          <p:txBody>
            <a:bodyPr anchor="t" rtlCol="false" tIns="0" lIns="0" bIns="0" rIns="0">
              <a:spAutoFit/>
            </a:bodyPr>
            <a:lstStyle/>
            <a:p>
              <a:pPr algn="ctr">
                <a:lnSpc>
                  <a:spcPts val="21522"/>
                </a:lnSpc>
              </a:pPr>
              <a:r>
                <a:rPr lang="en-US" sz="15373" spc="46">
                  <a:solidFill>
                    <a:srgbClr val="000000">
                      <a:alpha val="30980"/>
                    </a:srgbClr>
                  </a:solidFill>
                  <a:latin typeface="Milestone Script"/>
                  <a:ea typeface="Milestone Script"/>
                  <a:cs typeface="Milestone Script"/>
                  <a:sym typeface="Milestone Script"/>
                </a:rPr>
                <a:t>Why?</a:t>
              </a:r>
            </a:p>
          </p:txBody>
        </p:sp>
        <p:sp>
          <p:nvSpPr>
            <p:cNvPr name="TextBox 26" id="26"/>
            <p:cNvSpPr txBox="true"/>
            <p:nvPr/>
          </p:nvSpPr>
          <p:spPr>
            <a:xfrm rot="0">
              <a:off x="0" y="-304800"/>
              <a:ext cx="7229015" cy="3418767"/>
            </a:xfrm>
            <a:prstGeom prst="rect">
              <a:avLst/>
            </a:prstGeom>
          </p:spPr>
          <p:txBody>
            <a:bodyPr anchor="t" rtlCol="false" tIns="0" lIns="0" bIns="0" rIns="0">
              <a:spAutoFit/>
            </a:bodyPr>
            <a:lstStyle/>
            <a:p>
              <a:pPr algn="ctr">
                <a:lnSpc>
                  <a:spcPts val="21522"/>
                </a:lnSpc>
              </a:pPr>
              <a:r>
                <a:rPr lang="en-US" sz="15373" spc="46">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Why?</a:t>
              </a:r>
            </a:p>
          </p:txBody>
        </p:sp>
      </p:grpSp>
      <p:sp>
        <p:nvSpPr>
          <p:cNvPr name="TextBox 27" id="27"/>
          <p:cNvSpPr txBox="true"/>
          <p:nvPr/>
        </p:nvSpPr>
        <p:spPr>
          <a:xfrm rot="0">
            <a:off x="1205861" y="2992944"/>
            <a:ext cx="4056180" cy="1747914"/>
          </a:xfrm>
          <a:prstGeom prst="rect">
            <a:avLst/>
          </a:prstGeom>
        </p:spPr>
        <p:txBody>
          <a:bodyPr anchor="t" rtlCol="false" tIns="0" lIns="0" bIns="0" rIns="0">
            <a:spAutoFit/>
          </a:bodyPr>
          <a:lstStyle/>
          <a:p>
            <a:pPr algn="ctr">
              <a:lnSpc>
                <a:spcPts val="6468"/>
              </a:lnSpc>
            </a:pPr>
            <a:r>
              <a:rPr lang="en-US" sz="6809" b="true">
                <a:solidFill>
                  <a:srgbClr val="FFFFFF"/>
                </a:solidFill>
                <a:latin typeface="Poppins Heavy"/>
                <a:ea typeface="Poppins Heavy"/>
                <a:cs typeface="Poppins Heavy"/>
                <a:sym typeface="Poppins Heavy"/>
              </a:rPr>
              <a:t>IT DEPENDS</a:t>
            </a:r>
          </a:p>
        </p:txBody>
      </p:sp>
      <p:grpSp>
        <p:nvGrpSpPr>
          <p:cNvPr name="Group 28" id="28"/>
          <p:cNvGrpSpPr/>
          <p:nvPr/>
        </p:nvGrpSpPr>
        <p:grpSpPr>
          <a:xfrm rot="0">
            <a:off x="3855631" y="5976018"/>
            <a:ext cx="10756617" cy="2036826"/>
            <a:chOff x="0" y="0"/>
            <a:chExt cx="14342157" cy="2715768"/>
          </a:xfrm>
        </p:grpSpPr>
        <p:grpSp>
          <p:nvGrpSpPr>
            <p:cNvPr name="Group 29" id="29"/>
            <p:cNvGrpSpPr/>
            <p:nvPr/>
          </p:nvGrpSpPr>
          <p:grpSpPr>
            <a:xfrm rot="0">
              <a:off x="168625" y="12700"/>
              <a:ext cx="14173532" cy="2665787"/>
              <a:chOff x="0" y="0"/>
              <a:chExt cx="1280731" cy="240883"/>
            </a:xfrm>
          </p:grpSpPr>
          <p:sp>
            <p:nvSpPr>
              <p:cNvPr name="Freeform 30" id="30"/>
              <p:cNvSpPr/>
              <p:nvPr/>
            </p:nvSpPr>
            <p:spPr>
              <a:xfrm flipH="false" flipV="false" rot="0">
                <a:off x="0" y="0"/>
                <a:ext cx="1280731" cy="240883"/>
              </a:xfrm>
              <a:custGeom>
                <a:avLst/>
                <a:gdLst/>
                <a:ahLst/>
                <a:cxnLst/>
                <a:rect r="r" b="b" t="t" l="l"/>
                <a:pathLst>
                  <a:path h="240883" w="1280731">
                    <a:moveTo>
                      <a:pt x="6828" y="0"/>
                    </a:moveTo>
                    <a:lnTo>
                      <a:pt x="1273903" y="0"/>
                    </a:lnTo>
                    <a:cubicBezTo>
                      <a:pt x="1275714" y="0"/>
                      <a:pt x="1277451" y="719"/>
                      <a:pt x="1278731" y="2000"/>
                    </a:cubicBezTo>
                    <a:cubicBezTo>
                      <a:pt x="1280012" y="3280"/>
                      <a:pt x="1280731" y="5017"/>
                      <a:pt x="1280731" y="6828"/>
                    </a:cubicBezTo>
                    <a:lnTo>
                      <a:pt x="1280731" y="234055"/>
                    </a:lnTo>
                    <a:cubicBezTo>
                      <a:pt x="1280731" y="235866"/>
                      <a:pt x="1280012" y="237602"/>
                      <a:pt x="1278731" y="238883"/>
                    </a:cubicBezTo>
                    <a:cubicBezTo>
                      <a:pt x="1277451" y="240163"/>
                      <a:pt x="1275714" y="240883"/>
                      <a:pt x="1273903" y="240883"/>
                    </a:cubicBezTo>
                    <a:lnTo>
                      <a:pt x="6828" y="240883"/>
                    </a:lnTo>
                    <a:cubicBezTo>
                      <a:pt x="5017" y="240883"/>
                      <a:pt x="3280" y="240163"/>
                      <a:pt x="2000" y="238883"/>
                    </a:cubicBezTo>
                    <a:cubicBezTo>
                      <a:pt x="719" y="237602"/>
                      <a:pt x="0" y="235866"/>
                      <a:pt x="0" y="234055"/>
                    </a:cubicBezTo>
                    <a:lnTo>
                      <a:pt x="0" y="6828"/>
                    </a:lnTo>
                    <a:cubicBezTo>
                      <a:pt x="0" y="5017"/>
                      <a:pt x="719" y="3280"/>
                      <a:pt x="2000" y="2000"/>
                    </a:cubicBezTo>
                    <a:cubicBezTo>
                      <a:pt x="3280" y="719"/>
                      <a:pt x="5017" y="0"/>
                      <a:pt x="6828" y="0"/>
                    </a:cubicBezTo>
                    <a:close/>
                  </a:path>
                </a:pathLst>
              </a:custGeom>
              <a:gradFill rotWithShape="true">
                <a:gsLst>
                  <a:gs pos="0">
                    <a:srgbClr val="FFFFFF">
                      <a:alpha val="100000"/>
                    </a:srgbClr>
                  </a:gs>
                  <a:gs pos="100000">
                    <a:srgbClr val="FFFFFF">
                      <a:alpha val="0"/>
                    </a:srgbClr>
                  </a:gs>
                </a:gsLst>
                <a:lin ang="0"/>
              </a:gradFill>
            </p:spPr>
          </p:sp>
          <p:sp>
            <p:nvSpPr>
              <p:cNvPr name="TextBox 31" id="31"/>
              <p:cNvSpPr txBox="true"/>
              <p:nvPr/>
            </p:nvSpPr>
            <p:spPr>
              <a:xfrm>
                <a:off x="0" y="28575"/>
                <a:ext cx="1280731" cy="212308"/>
              </a:xfrm>
              <a:prstGeom prst="rect">
                <a:avLst/>
              </a:prstGeom>
            </p:spPr>
            <p:txBody>
              <a:bodyPr anchor="ctr" rtlCol="false" tIns="42145" lIns="42145" bIns="42145" rIns="42145"/>
              <a:lstStyle/>
              <a:p>
                <a:pPr algn="ctr">
                  <a:lnSpc>
                    <a:spcPts val="1919"/>
                  </a:lnSpc>
                </a:pPr>
              </a:p>
            </p:txBody>
          </p:sp>
        </p:grpSp>
        <p:grpSp>
          <p:nvGrpSpPr>
            <p:cNvPr name="Group 32" id="32"/>
            <p:cNvGrpSpPr/>
            <p:nvPr/>
          </p:nvGrpSpPr>
          <p:grpSpPr>
            <a:xfrm rot="0">
              <a:off x="0" y="0"/>
              <a:ext cx="299496" cy="2715768"/>
              <a:chOff x="0" y="0"/>
              <a:chExt cx="46219" cy="419100"/>
            </a:xfrm>
          </p:grpSpPr>
          <p:sp>
            <p:nvSpPr>
              <p:cNvPr name="Freeform 33" id="33"/>
              <p:cNvSpPr/>
              <p:nvPr/>
            </p:nvSpPr>
            <p:spPr>
              <a:xfrm flipH="false" flipV="false" rot="0">
                <a:off x="0" y="0"/>
                <a:ext cx="46219" cy="419100"/>
              </a:xfrm>
              <a:custGeom>
                <a:avLst/>
                <a:gdLst/>
                <a:ahLst/>
                <a:cxnLst/>
                <a:rect r="r" b="b" t="t" l="l"/>
                <a:pathLst>
                  <a:path h="419100" w="46219">
                    <a:moveTo>
                      <a:pt x="23109" y="0"/>
                    </a:moveTo>
                    <a:lnTo>
                      <a:pt x="23109" y="0"/>
                    </a:lnTo>
                    <a:cubicBezTo>
                      <a:pt x="29238" y="0"/>
                      <a:pt x="35116" y="2435"/>
                      <a:pt x="39450" y="6769"/>
                    </a:cubicBezTo>
                    <a:cubicBezTo>
                      <a:pt x="43784" y="11102"/>
                      <a:pt x="46219" y="16980"/>
                      <a:pt x="46219" y="23109"/>
                    </a:cubicBezTo>
                    <a:lnTo>
                      <a:pt x="46219" y="395991"/>
                    </a:lnTo>
                    <a:cubicBezTo>
                      <a:pt x="46219" y="402120"/>
                      <a:pt x="43784" y="407998"/>
                      <a:pt x="39450" y="412331"/>
                    </a:cubicBezTo>
                    <a:cubicBezTo>
                      <a:pt x="35116" y="416665"/>
                      <a:pt x="29238" y="419100"/>
                      <a:pt x="23109" y="419100"/>
                    </a:cubicBezTo>
                    <a:lnTo>
                      <a:pt x="23109" y="419100"/>
                    </a:lnTo>
                    <a:cubicBezTo>
                      <a:pt x="16980" y="419100"/>
                      <a:pt x="11102" y="416665"/>
                      <a:pt x="6769" y="412331"/>
                    </a:cubicBezTo>
                    <a:cubicBezTo>
                      <a:pt x="2435" y="407998"/>
                      <a:pt x="0" y="402120"/>
                      <a:pt x="0" y="395991"/>
                    </a:cubicBezTo>
                    <a:lnTo>
                      <a:pt x="0" y="23109"/>
                    </a:lnTo>
                    <a:cubicBezTo>
                      <a:pt x="0" y="16980"/>
                      <a:pt x="2435" y="11102"/>
                      <a:pt x="6769" y="6769"/>
                    </a:cubicBezTo>
                    <a:cubicBezTo>
                      <a:pt x="11102" y="2435"/>
                      <a:pt x="16980" y="0"/>
                      <a:pt x="23109" y="0"/>
                    </a:cubicBezTo>
                    <a:close/>
                  </a:path>
                </a:pathLst>
              </a:custGeom>
              <a:solidFill>
                <a:srgbClr val="6E3125"/>
              </a:solidFill>
            </p:spPr>
          </p:sp>
          <p:sp>
            <p:nvSpPr>
              <p:cNvPr name="TextBox 34" id="34"/>
              <p:cNvSpPr txBox="true"/>
              <p:nvPr/>
            </p:nvSpPr>
            <p:spPr>
              <a:xfrm>
                <a:off x="0" y="28575"/>
                <a:ext cx="46219" cy="390525"/>
              </a:xfrm>
              <a:prstGeom prst="rect">
                <a:avLst/>
              </a:prstGeom>
            </p:spPr>
            <p:txBody>
              <a:bodyPr anchor="ctr" rtlCol="false" tIns="50800" lIns="50800" bIns="50800" rIns="50800"/>
              <a:lstStyle/>
              <a:p>
                <a:pPr algn="ctr">
                  <a:lnSpc>
                    <a:spcPts val="1919"/>
                  </a:lnSpc>
                </a:pPr>
              </a:p>
            </p:txBody>
          </p:sp>
        </p:grpSp>
        <p:sp>
          <p:nvSpPr>
            <p:cNvPr name="TextBox 35" id="35"/>
            <p:cNvSpPr txBox="true"/>
            <p:nvPr/>
          </p:nvSpPr>
          <p:spPr>
            <a:xfrm rot="0">
              <a:off x="789272" y="519289"/>
              <a:ext cx="12932236" cy="1662266"/>
            </a:xfrm>
            <a:prstGeom prst="rect">
              <a:avLst/>
            </a:prstGeom>
          </p:spPr>
          <p:txBody>
            <a:bodyPr anchor="t" rtlCol="false" tIns="0" lIns="0" bIns="0" rIns="0">
              <a:spAutoFit/>
            </a:bodyPr>
            <a:lstStyle/>
            <a:p>
              <a:pPr algn="l">
                <a:lnSpc>
                  <a:spcPts val="4708"/>
                </a:lnSpc>
              </a:pPr>
              <a:r>
                <a:rPr lang="en-US" sz="4400" b="true">
                  <a:solidFill>
                    <a:srgbClr val="6E3125"/>
                  </a:solidFill>
                  <a:latin typeface="Poppins Heavy"/>
                  <a:ea typeface="Poppins Heavy"/>
                  <a:cs typeface="Poppins Heavy"/>
                  <a:sym typeface="Poppins Heavy"/>
                </a:rPr>
                <a:t>Anyone can take over a group, only some can actually LEAD </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733474"/>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1271343" y="1105777"/>
            <a:ext cx="7487927" cy="1140886"/>
            <a:chOff x="0" y="0"/>
            <a:chExt cx="605413" cy="92243"/>
          </a:xfrm>
        </p:grpSpPr>
        <p:sp>
          <p:nvSpPr>
            <p:cNvPr name="Freeform 16" id="16"/>
            <p:cNvSpPr/>
            <p:nvPr/>
          </p:nvSpPr>
          <p:spPr>
            <a:xfrm flipH="false" flipV="false" rot="0">
              <a:off x="0" y="0"/>
              <a:ext cx="605413" cy="92243"/>
            </a:xfrm>
            <a:custGeom>
              <a:avLst/>
              <a:gdLst/>
              <a:ahLst/>
              <a:cxnLst/>
              <a:rect r="r" b="b" t="t" l="l"/>
              <a:pathLst>
                <a:path h="92243" w="605413">
                  <a:moveTo>
                    <a:pt x="46121" y="0"/>
                  </a:moveTo>
                  <a:lnTo>
                    <a:pt x="559292" y="0"/>
                  </a:lnTo>
                  <a:cubicBezTo>
                    <a:pt x="571524" y="0"/>
                    <a:pt x="583255" y="4859"/>
                    <a:pt x="591905" y="13509"/>
                  </a:cubicBezTo>
                  <a:cubicBezTo>
                    <a:pt x="600554" y="22158"/>
                    <a:pt x="605413" y="33889"/>
                    <a:pt x="605413" y="46121"/>
                  </a:cubicBezTo>
                  <a:lnTo>
                    <a:pt x="605413" y="46121"/>
                  </a:lnTo>
                  <a:cubicBezTo>
                    <a:pt x="605413" y="58354"/>
                    <a:pt x="600554" y="70085"/>
                    <a:pt x="591905" y="78734"/>
                  </a:cubicBezTo>
                  <a:cubicBezTo>
                    <a:pt x="583255" y="87384"/>
                    <a:pt x="571524" y="92243"/>
                    <a:pt x="559292" y="92243"/>
                  </a:cubicBezTo>
                  <a:lnTo>
                    <a:pt x="46121" y="92243"/>
                  </a:lnTo>
                  <a:cubicBezTo>
                    <a:pt x="33889" y="92243"/>
                    <a:pt x="22158" y="87384"/>
                    <a:pt x="13509" y="78734"/>
                  </a:cubicBezTo>
                  <a:cubicBezTo>
                    <a:pt x="4859" y="70085"/>
                    <a:pt x="0" y="58354"/>
                    <a:pt x="0" y="46121"/>
                  </a:cubicBezTo>
                  <a:lnTo>
                    <a:pt x="0" y="46121"/>
                  </a:lnTo>
                  <a:cubicBezTo>
                    <a:pt x="0" y="33889"/>
                    <a:pt x="4859" y="22158"/>
                    <a:pt x="13509" y="13509"/>
                  </a:cubicBezTo>
                  <a:cubicBezTo>
                    <a:pt x="22158" y="4859"/>
                    <a:pt x="33889" y="0"/>
                    <a:pt x="46121" y="0"/>
                  </a:cubicBezTo>
                  <a:close/>
                </a:path>
              </a:pathLst>
            </a:custGeom>
            <a:gradFill rotWithShape="true">
              <a:gsLst>
                <a:gs pos="0">
                  <a:srgbClr val="85200C">
                    <a:alpha val="100000"/>
                  </a:srgbClr>
                </a:gs>
                <a:gs pos="100000">
                  <a:srgbClr val="DC4B0F">
                    <a:alpha val="100000"/>
                  </a:srgbClr>
                </a:gs>
              </a:gsLst>
              <a:lin ang="0"/>
            </a:gradFill>
          </p:spPr>
        </p:sp>
        <p:sp>
          <p:nvSpPr>
            <p:cNvPr name="TextBox 17" id="17"/>
            <p:cNvSpPr txBox="true"/>
            <p:nvPr/>
          </p:nvSpPr>
          <p:spPr>
            <a:xfrm>
              <a:off x="0" y="28575"/>
              <a:ext cx="605413" cy="63668"/>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812913" y="3076054"/>
            <a:ext cx="16662174" cy="2449791"/>
            <a:chOff x="0" y="0"/>
            <a:chExt cx="22216232" cy="3266388"/>
          </a:xfrm>
        </p:grpSpPr>
        <p:grpSp>
          <p:nvGrpSpPr>
            <p:cNvPr name="Group 19" id="19"/>
            <p:cNvGrpSpPr/>
            <p:nvPr/>
          </p:nvGrpSpPr>
          <p:grpSpPr>
            <a:xfrm rot="0">
              <a:off x="0" y="0"/>
              <a:ext cx="22216232" cy="3266388"/>
              <a:chOff x="0" y="0"/>
              <a:chExt cx="1347169" cy="198070"/>
            </a:xfrm>
          </p:grpSpPr>
          <p:sp>
            <p:nvSpPr>
              <p:cNvPr name="Freeform 20" id="20"/>
              <p:cNvSpPr/>
              <p:nvPr/>
            </p:nvSpPr>
            <p:spPr>
              <a:xfrm flipH="false" flipV="false" rot="0">
                <a:off x="0" y="0"/>
                <a:ext cx="1347169" cy="198070"/>
              </a:xfrm>
              <a:custGeom>
                <a:avLst/>
                <a:gdLst/>
                <a:ahLst/>
                <a:cxnLst/>
                <a:rect r="r" b="b" t="t" l="l"/>
                <a:pathLst>
                  <a:path h="198070" w="1347169">
                    <a:moveTo>
                      <a:pt x="35937" y="0"/>
                    </a:moveTo>
                    <a:lnTo>
                      <a:pt x="1311232" y="0"/>
                    </a:lnTo>
                    <a:cubicBezTo>
                      <a:pt x="1320763" y="0"/>
                      <a:pt x="1329904" y="3786"/>
                      <a:pt x="1336643" y="10526"/>
                    </a:cubicBezTo>
                    <a:cubicBezTo>
                      <a:pt x="1343383" y="17265"/>
                      <a:pt x="1347169" y="26406"/>
                      <a:pt x="1347169" y="35937"/>
                    </a:cubicBezTo>
                    <a:lnTo>
                      <a:pt x="1347169" y="162133"/>
                    </a:lnTo>
                    <a:cubicBezTo>
                      <a:pt x="1347169" y="171664"/>
                      <a:pt x="1343383" y="180805"/>
                      <a:pt x="1336643" y="187545"/>
                    </a:cubicBezTo>
                    <a:cubicBezTo>
                      <a:pt x="1329904" y="194284"/>
                      <a:pt x="1320763" y="198070"/>
                      <a:pt x="1311232" y="198070"/>
                    </a:cubicBezTo>
                    <a:lnTo>
                      <a:pt x="35937" y="198070"/>
                    </a:lnTo>
                    <a:cubicBezTo>
                      <a:pt x="26406" y="198070"/>
                      <a:pt x="17265" y="194284"/>
                      <a:pt x="10526" y="187545"/>
                    </a:cubicBezTo>
                    <a:cubicBezTo>
                      <a:pt x="3786" y="180805"/>
                      <a:pt x="0" y="171664"/>
                      <a:pt x="0" y="162133"/>
                    </a:cubicBezTo>
                    <a:lnTo>
                      <a:pt x="0" y="35937"/>
                    </a:lnTo>
                    <a:cubicBezTo>
                      <a:pt x="0" y="26406"/>
                      <a:pt x="3786" y="17265"/>
                      <a:pt x="10526" y="10526"/>
                    </a:cubicBezTo>
                    <a:cubicBezTo>
                      <a:pt x="17265" y="3786"/>
                      <a:pt x="26406" y="0"/>
                      <a:pt x="35937" y="0"/>
                    </a:cubicBezTo>
                    <a:close/>
                  </a:path>
                </a:pathLst>
              </a:custGeom>
              <a:gradFill rotWithShape="true">
                <a:gsLst>
                  <a:gs pos="0">
                    <a:srgbClr val="85200C">
                      <a:alpha val="30000"/>
                    </a:srgbClr>
                  </a:gs>
                  <a:gs pos="100000">
                    <a:srgbClr val="DC4B0F">
                      <a:alpha val="100000"/>
                    </a:srgbClr>
                  </a:gs>
                </a:gsLst>
                <a:lin ang="0"/>
              </a:gradFill>
            </p:spPr>
          </p:sp>
          <p:sp>
            <p:nvSpPr>
              <p:cNvPr name="TextBox 21" id="21"/>
              <p:cNvSpPr txBox="true"/>
              <p:nvPr/>
            </p:nvSpPr>
            <p:spPr>
              <a:xfrm>
                <a:off x="0" y="28575"/>
                <a:ext cx="1347169" cy="169495"/>
              </a:xfrm>
              <a:prstGeom prst="rect">
                <a:avLst/>
              </a:prstGeom>
            </p:spPr>
            <p:txBody>
              <a:bodyPr anchor="ctr" rtlCol="false" tIns="50800" lIns="50800" bIns="50800" rIns="50800"/>
              <a:lstStyle/>
              <a:p>
                <a:pPr algn="ctr">
                  <a:lnSpc>
                    <a:spcPts val="1919"/>
                  </a:lnSpc>
                </a:pPr>
              </a:p>
            </p:txBody>
          </p:sp>
        </p:grpSp>
        <p:sp>
          <p:nvSpPr>
            <p:cNvPr name="TextBox 22" id="22"/>
            <p:cNvSpPr txBox="true"/>
            <p:nvPr/>
          </p:nvSpPr>
          <p:spPr>
            <a:xfrm rot="0">
              <a:off x="662161" y="531568"/>
              <a:ext cx="21042000" cy="2174677"/>
            </a:xfrm>
            <a:prstGeom prst="rect">
              <a:avLst/>
            </a:prstGeom>
          </p:spPr>
          <p:txBody>
            <a:bodyPr anchor="t" rtlCol="false" tIns="0" lIns="0" bIns="0" rIns="0">
              <a:spAutoFit/>
            </a:bodyPr>
            <a:lstStyle/>
            <a:p>
              <a:pPr algn="ctr">
                <a:lnSpc>
                  <a:spcPts val="3135"/>
                </a:lnSpc>
              </a:pPr>
              <a:r>
                <a:rPr lang="en-US" sz="3300" b="true">
                  <a:solidFill>
                    <a:srgbClr val="FFFFFF"/>
                  </a:solidFill>
                  <a:latin typeface="Poppins Semi-Bold"/>
                  <a:ea typeface="Poppins Semi-Bold"/>
                  <a:cs typeface="Poppins Semi-Bold"/>
                  <a:sym typeface="Poppins Semi-Bold"/>
                </a:rPr>
                <a:t>In week 7 the group asked Ella to take a second section. She said no, that she had already done more than her fair share and had another assignment due soon. Instead, she offered to do the reference list and formatting.</a:t>
              </a:r>
            </a:p>
          </p:txBody>
        </p:sp>
      </p:grpSp>
      <p:grpSp>
        <p:nvGrpSpPr>
          <p:cNvPr name="Group 23" id="23"/>
          <p:cNvGrpSpPr/>
          <p:nvPr/>
        </p:nvGrpSpPr>
        <p:grpSpPr>
          <a:xfrm rot="0">
            <a:off x="2086942" y="6243503"/>
            <a:ext cx="6705133" cy="2864363"/>
            <a:chOff x="0" y="0"/>
            <a:chExt cx="542123" cy="231589"/>
          </a:xfrm>
        </p:grpSpPr>
        <p:sp>
          <p:nvSpPr>
            <p:cNvPr name="Freeform 24" id="24"/>
            <p:cNvSpPr/>
            <p:nvPr/>
          </p:nvSpPr>
          <p:spPr>
            <a:xfrm flipH="false" flipV="false" rot="0">
              <a:off x="0" y="0"/>
              <a:ext cx="542123" cy="231589"/>
            </a:xfrm>
            <a:custGeom>
              <a:avLst/>
              <a:gdLst/>
              <a:ahLst/>
              <a:cxnLst/>
              <a:rect r="r" b="b" t="t" l="l"/>
              <a:pathLst>
                <a:path h="231589" w="542123">
                  <a:moveTo>
                    <a:pt x="68556" y="0"/>
                  </a:moveTo>
                  <a:lnTo>
                    <a:pt x="473567" y="0"/>
                  </a:lnTo>
                  <a:cubicBezTo>
                    <a:pt x="511429" y="0"/>
                    <a:pt x="542123" y="30694"/>
                    <a:pt x="542123" y="68556"/>
                  </a:cubicBezTo>
                  <a:lnTo>
                    <a:pt x="542123" y="163033"/>
                  </a:lnTo>
                  <a:cubicBezTo>
                    <a:pt x="542123" y="181215"/>
                    <a:pt x="534900" y="198653"/>
                    <a:pt x="522043" y="211510"/>
                  </a:cubicBezTo>
                  <a:cubicBezTo>
                    <a:pt x="509187" y="224366"/>
                    <a:pt x="491749" y="231589"/>
                    <a:pt x="473567" y="231589"/>
                  </a:cubicBezTo>
                  <a:lnTo>
                    <a:pt x="68556" y="231589"/>
                  </a:lnTo>
                  <a:cubicBezTo>
                    <a:pt x="50374" y="231589"/>
                    <a:pt x="32936" y="224366"/>
                    <a:pt x="20080" y="211510"/>
                  </a:cubicBezTo>
                  <a:cubicBezTo>
                    <a:pt x="7223" y="198653"/>
                    <a:pt x="0" y="181215"/>
                    <a:pt x="0" y="163033"/>
                  </a:cubicBezTo>
                  <a:lnTo>
                    <a:pt x="0" y="68556"/>
                  </a:lnTo>
                  <a:cubicBezTo>
                    <a:pt x="0" y="50374"/>
                    <a:pt x="7223" y="32936"/>
                    <a:pt x="20080" y="20080"/>
                  </a:cubicBezTo>
                  <a:cubicBezTo>
                    <a:pt x="32936" y="7223"/>
                    <a:pt x="50374" y="0"/>
                    <a:pt x="68556" y="0"/>
                  </a:cubicBezTo>
                  <a:close/>
                </a:path>
              </a:pathLst>
            </a:custGeom>
            <a:gradFill rotWithShape="true">
              <a:gsLst>
                <a:gs pos="0">
                  <a:srgbClr val="85200C">
                    <a:alpha val="30000"/>
                  </a:srgbClr>
                </a:gs>
                <a:gs pos="100000">
                  <a:srgbClr val="940000">
                    <a:alpha val="100000"/>
                  </a:srgbClr>
                </a:gs>
              </a:gsLst>
              <a:lin ang="0"/>
            </a:gradFill>
          </p:spPr>
        </p:sp>
        <p:sp>
          <p:nvSpPr>
            <p:cNvPr name="TextBox 25" id="25"/>
            <p:cNvSpPr txBox="true"/>
            <p:nvPr/>
          </p:nvSpPr>
          <p:spPr>
            <a:xfrm>
              <a:off x="0" y="28575"/>
              <a:ext cx="542123" cy="203014"/>
            </a:xfrm>
            <a:prstGeom prst="rect">
              <a:avLst/>
            </a:prstGeom>
          </p:spPr>
          <p:txBody>
            <a:bodyPr anchor="ctr" rtlCol="false" tIns="50800" lIns="50800" bIns="50800" rIns="50800"/>
            <a:lstStyle/>
            <a:p>
              <a:pPr algn="ctr">
                <a:lnSpc>
                  <a:spcPts val="1919"/>
                </a:lnSpc>
              </a:pPr>
            </a:p>
          </p:txBody>
        </p:sp>
      </p:grpSp>
      <p:grpSp>
        <p:nvGrpSpPr>
          <p:cNvPr name="Group 26" id="26"/>
          <p:cNvGrpSpPr/>
          <p:nvPr/>
        </p:nvGrpSpPr>
        <p:grpSpPr>
          <a:xfrm rot="0">
            <a:off x="9036459" y="6273994"/>
            <a:ext cx="6857760" cy="2864363"/>
            <a:chOff x="0" y="0"/>
            <a:chExt cx="9143680" cy="3819150"/>
          </a:xfrm>
        </p:grpSpPr>
        <p:grpSp>
          <p:nvGrpSpPr>
            <p:cNvPr name="Group 27" id="27"/>
            <p:cNvGrpSpPr/>
            <p:nvPr/>
          </p:nvGrpSpPr>
          <p:grpSpPr>
            <a:xfrm rot="0">
              <a:off x="50565" y="0"/>
              <a:ext cx="8869518" cy="3819150"/>
              <a:chOff x="0" y="0"/>
              <a:chExt cx="537838" cy="231589"/>
            </a:xfrm>
          </p:grpSpPr>
          <p:sp>
            <p:nvSpPr>
              <p:cNvPr name="Freeform 28" id="28"/>
              <p:cNvSpPr/>
              <p:nvPr/>
            </p:nvSpPr>
            <p:spPr>
              <a:xfrm flipH="false" flipV="false" rot="0">
                <a:off x="0" y="0"/>
                <a:ext cx="537838" cy="231589"/>
              </a:xfrm>
              <a:custGeom>
                <a:avLst/>
                <a:gdLst/>
                <a:ahLst/>
                <a:cxnLst/>
                <a:rect r="r" b="b" t="t" l="l"/>
                <a:pathLst>
                  <a:path h="231589" w="537838">
                    <a:moveTo>
                      <a:pt x="35130" y="0"/>
                    </a:moveTo>
                    <a:lnTo>
                      <a:pt x="502708" y="0"/>
                    </a:lnTo>
                    <a:cubicBezTo>
                      <a:pt x="512025" y="0"/>
                      <a:pt x="520961" y="3701"/>
                      <a:pt x="527549" y="10289"/>
                    </a:cubicBezTo>
                    <a:cubicBezTo>
                      <a:pt x="534137" y="16878"/>
                      <a:pt x="537838" y="25813"/>
                      <a:pt x="537838" y="35130"/>
                    </a:cubicBezTo>
                    <a:lnTo>
                      <a:pt x="537838" y="196459"/>
                    </a:lnTo>
                    <a:cubicBezTo>
                      <a:pt x="537838" y="205776"/>
                      <a:pt x="534137" y="214712"/>
                      <a:pt x="527549" y="221300"/>
                    </a:cubicBezTo>
                    <a:cubicBezTo>
                      <a:pt x="520961" y="227888"/>
                      <a:pt x="512025" y="231589"/>
                      <a:pt x="502708" y="231589"/>
                    </a:cubicBezTo>
                    <a:lnTo>
                      <a:pt x="35130" y="231589"/>
                    </a:lnTo>
                    <a:cubicBezTo>
                      <a:pt x="25813" y="231589"/>
                      <a:pt x="16878" y="227888"/>
                      <a:pt x="10289" y="221300"/>
                    </a:cubicBezTo>
                    <a:cubicBezTo>
                      <a:pt x="3701" y="214712"/>
                      <a:pt x="0" y="205776"/>
                      <a:pt x="0" y="196459"/>
                    </a:cubicBezTo>
                    <a:lnTo>
                      <a:pt x="0" y="35130"/>
                    </a:lnTo>
                    <a:cubicBezTo>
                      <a:pt x="0" y="25813"/>
                      <a:pt x="3701" y="16878"/>
                      <a:pt x="10289" y="10289"/>
                    </a:cubicBezTo>
                    <a:cubicBezTo>
                      <a:pt x="16878" y="3701"/>
                      <a:pt x="25813" y="0"/>
                      <a:pt x="35130" y="0"/>
                    </a:cubicBezTo>
                    <a:close/>
                  </a:path>
                </a:pathLst>
              </a:custGeom>
              <a:gradFill rotWithShape="true">
                <a:gsLst>
                  <a:gs pos="0">
                    <a:srgbClr val="85200C">
                      <a:alpha val="30000"/>
                    </a:srgbClr>
                  </a:gs>
                  <a:gs pos="100000">
                    <a:srgbClr val="008601">
                      <a:alpha val="100000"/>
                    </a:srgbClr>
                  </a:gs>
                </a:gsLst>
                <a:lin ang="0"/>
              </a:gradFill>
            </p:spPr>
          </p:sp>
          <p:sp>
            <p:nvSpPr>
              <p:cNvPr name="TextBox 29" id="29"/>
              <p:cNvSpPr txBox="true"/>
              <p:nvPr/>
            </p:nvSpPr>
            <p:spPr>
              <a:xfrm>
                <a:off x="0" y="28575"/>
                <a:ext cx="537838" cy="203014"/>
              </a:xfrm>
              <a:prstGeom prst="rect">
                <a:avLst/>
              </a:prstGeom>
            </p:spPr>
            <p:txBody>
              <a:bodyPr anchor="ctr" rtlCol="false" tIns="99925" lIns="99925" bIns="99925" rIns="99925"/>
              <a:lstStyle/>
              <a:p>
                <a:pPr algn="ctr">
                  <a:lnSpc>
                    <a:spcPts val="1919"/>
                  </a:lnSpc>
                </a:pPr>
              </a:p>
            </p:txBody>
          </p:sp>
        </p:grpSp>
        <p:sp>
          <p:nvSpPr>
            <p:cNvPr name="TextBox 30" id="30"/>
            <p:cNvSpPr txBox="true"/>
            <p:nvPr/>
          </p:nvSpPr>
          <p:spPr>
            <a:xfrm rot="0">
              <a:off x="0" y="656138"/>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GreenFlag</a:t>
              </a:r>
            </a:p>
          </p:txBody>
        </p:sp>
        <p:sp>
          <p:nvSpPr>
            <p:cNvPr name="TextBox 31" id="31"/>
            <p:cNvSpPr txBox="true"/>
            <p:nvPr/>
          </p:nvSpPr>
          <p:spPr>
            <a:xfrm rot="0">
              <a:off x="415950" y="506572"/>
              <a:ext cx="8121423" cy="2572407"/>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Green Flag</a:t>
              </a:r>
            </a:p>
          </p:txBody>
        </p:sp>
      </p:grpSp>
      <p:sp>
        <p:nvSpPr>
          <p:cNvPr name="TextBox 32" id="32"/>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09</a:t>
            </a:r>
          </a:p>
        </p:txBody>
      </p:sp>
      <p:sp>
        <p:nvSpPr>
          <p:cNvPr name="TextBox 33" id="33"/>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34" id="34"/>
          <p:cNvSpPr txBox="true"/>
          <p:nvPr/>
        </p:nvSpPr>
        <p:spPr>
          <a:xfrm rot="0">
            <a:off x="415994" y="1418607"/>
            <a:ext cx="5981225" cy="549238"/>
          </a:xfrm>
          <a:prstGeom prst="rect">
            <a:avLst/>
          </a:prstGeom>
        </p:spPr>
        <p:txBody>
          <a:bodyPr anchor="t" rtlCol="false" tIns="0" lIns="0" bIns="0" rIns="0">
            <a:spAutoFit/>
          </a:bodyPr>
          <a:lstStyle/>
          <a:p>
            <a:pPr algn="l">
              <a:lnSpc>
                <a:spcPts val="3895"/>
              </a:lnSpc>
            </a:pPr>
            <a:r>
              <a:rPr lang="en-US" sz="4100" b="true">
                <a:solidFill>
                  <a:srgbClr val="FFFFFF"/>
                </a:solidFill>
                <a:latin typeface="Poppins Heavy"/>
                <a:ea typeface="Poppins Heavy"/>
                <a:cs typeface="Poppins Heavy"/>
                <a:sym typeface="Poppins Heavy"/>
              </a:rPr>
              <a:t>SCENARIO 3: ELLA</a:t>
            </a:r>
          </a:p>
        </p:txBody>
      </p:sp>
      <p:grpSp>
        <p:nvGrpSpPr>
          <p:cNvPr name="Group 35" id="35"/>
          <p:cNvGrpSpPr/>
          <p:nvPr/>
        </p:nvGrpSpPr>
        <p:grpSpPr>
          <a:xfrm rot="0">
            <a:off x="2001030" y="6825372"/>
            <a:ext cx="6857760" cy="1869997"/>
            <a:chOff x="0" y="0"/>
            <a:chExt cx="9143680" cy="2493329"/>
          </a:xfrm>
        </p:grpSpPr>
        <p:sp>
          <p:nvSpPr>
            <p:cNvPr name="TextBox 36" id="36"/>
            <p:cNvSpPr txBox="true"/>
            <p:nvPr/>
          </p:nvSpPr>
          <p:spPr>
            <a:xfrm rot="0">
              <a:off x="0" y="-79033"/>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Red Flag</a:t>
              </a:r>
            </a:p>
          </p:txBody>
        </p:sp>
        <p:sp>
          <p:nvSpPr>
            <p:cNvPr name="TextBox 37" id="37"/>
            <p:cNvSpPr txBox="true"/>
            <p:nvPr/>
          </p:nvSpPr>
          <p:spPr>
            <a:xfrm rot="0">
              <a:off x="415950" y="-228600"/>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Red Flag</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5489227"/>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6405272" y="2097419"/>
            <a:ext cx="11534357" cy="3139364"/>
            <a:chOff x="0" y="0"/>
            <a:chExt cx="972249" cy="264622"/>
          </a:xfrm>
        </p:grpSpPr>
        <p:sp>
          <p:nvSpPr>
            <p:cNvPr name="Freeform 16" id="16"/>
            <p:cNvSpPr/>
            <p:nvPr/>
          </p:nvSpPr>
          <p:spPr>
            <a:xfrm flipH="false" flipV="false" rot="0">
              <a:off x="0" y="0"/>
              <a:ext cx="972249" cy="264622"/>
            </a:xfrm>
            <a:custGeom>
              <a:avLst/>
              <a:gdLst/>
              <a:ahLst/>
              <a:cxnLst/>
              <a:rect r="r" b="b" t="t" l="l"/>
              <a:pathLst>
                <a:path h="264622" w="972249">
                  <a:moveTo>
                    <a:pt x="51914" y="0"/>
                  </a:moveTo>
                  <a:lnTo>
                    <a:pt x="920336" y="0"/>
                  </a:lnTo>
                  <a:cubicBezTo>
                    <a:pt x="949007" y="0"/>
                    <a:pt x="972249" y="23242"/>
                    <a:pt x="972249" y="51914"/>
                  </a:cubicBezTo>
                  <a:lnTo>
                    <a:pt x="972249" y="212708"/>
                  </a:lnTo>
                  <a:cubicBezTo>
                    <a:pt x="972249" y="226477"/>
                    <a:pt x="966780" y="239681"/>
                    <a:pt x="957044" y="249417"/>
                  </a:cubicBezTo>
                  <a:cubicBezTo>
                    <a:pt x="947308" y="259152"/>
                    <a:pt x="934104" y="264622"/>
                    <a:pt x="920336" y="264622"/>
                  </a:cubicBezTo>
                  <a:lnTo>
                    <a:pt x="51914" y="264622"/>
                  </a:lnTo>
                  <a:cubicBezTo>
                    <a:pt x="23242" y="264622"/>
                    <a:pt x="0" y="241379"/>
                    <a:pt x="0" y="212708"/>
                  </a:cubicBezTo>
                  <a:lnTo>
                    <a:pt x="0" y="51914"/>
                  </a:lnTo>
                  <a:cubicBezTo>
                    <a:pt x="0" y="23242"/>
                    <a:pt x="23242" y="0"/>
                    <a:pt x="51914" y="0"/>
                  </a:cubicBezTo>
                  <a:close/>
                </a:path>
              </a:pathLst>
            </a:custGeom>
            <a:gradFill rotWithShape="true">
              <a:gsLst>
                <a:gs pos="0">
                  <a:srgbClr val="85200C">
                    <a:alpha val="30000"/>
                  </a:srgbClr>
                </a:gs>
                <a:gs pos="100000">
                  <a:srgbClr val="DC4B0F">
                    <a:alpha val="100000"/>
                  </a:srgbClr>
                </a:gs>
              </a:gsLst>
              <a:lin ang="0"/>
            </a:gradFill>
          </p:spPr>
        </p:sp>
        <p:sp>
          <p:nvSpPr>
            <p:cNvPr name="TextBox 17" id="17"/>
            <p:cNvSpPr txBox="true"/>
            <p:nvPr/>
          </p:nvSpPr>
          <p:spPr>
            <a:xfrm>
              <a:off x="0" y="28575"/>
              <a:ext cx="972249" cy="236047"/>
            </a:xfrm>
            <a:prstGeom prst="rect">
              <a:avLst/>
            </a:prstGeom>
          </p:spPr>
          <p:txBody>
            <a:bodyPr anchor="ctr" rtlCol="false" tIns="42145" lIns="42145" bIns="42145" rIns="42145"/>
            <a:lstStyle/>
            <a:p>
              <a:pPr algn="ctr">
                <a:lnSpc>
                  <a:spcPts val="1919"/>
                </a:lnSpc>
              </a:pPr>
            </a:p>
          </p:txBody>
        </p:sp>
      </p:grpSp>
      <p:sp>
        <p:nvSpPr>
          <p:cNvPr name="TextBox 18" id="18"/>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10</a:t>
            </a:r>
          </a:p>
        </p:txBody>
      </p:sp>
      <p:sp>
        <p:nvSpPr>
          <p:cNvPr name="TextBox 19" id="19"/>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0" id="20"/>
          <p:cNvSpPr txBox="true"/>
          <p:nvPr/>
        </p:nvSpPr>
        <p:spPr>
          <a:xfrm rot="0">
            <a:off x="11683122" y="2439396"/>
            <a:ext cx="6256507" cy="2704104"/>
          </a:xfrm>
          <a:prstGeom prst="rect">
            <a:avLst/>
          </a:prstGeom>
        </p:spPr>
        <p:txBody>
          <a:bodyPr anchor="t" rtlCol="false" tIns="0" lIns="0" bIns="0" rIns="0">
            <a:spAutoFit/>
          </a:bodyPr>
          <a:lstStyle/>
          <a:p>
            <a:pPr algn="l">
              <a:lnSpc>
                <a:spcPts val="3045"/>
              </a:lnSpc>
            </a:pPr>
            <a:r>
              <a:rPr lang="en-US" sz="3205" b="true">
                <a:solidFill>
                  <a:srgbClr val="FFFFFF"/>
                </a:solidFill>
                <a:latin typeface="Poppins Semi-Bold"/>
                <a:ea typeface="Poppins Semi-Bold"/>
                <a:cs typeface="Poppins Semi-Bold"/>
                <a:sym typeface="Poppins Semi-Bold"/>
              </a:rPr>
              <a:t>She gave a reason, said it at the point they could still reallocate, and put an alternative on the table. </a:t>
            </a:r>
          </a:p>
          <a:p>
            <a:pPr algn="l">
              <a:lnSpc>
                <a:spcPts val="3045"/>
              </a:lnSpc>
            </a:pPr>
          </a:p>
          <a:p>
            <a:pPr algn="l">
              <a:lnSpc>
                <a:spcPts val="3045"/>
              </a:lnSpc>
            </a:pPr>
            <a:r>
              <a:rPr lang="en-US" sz="3205" b="true">
                <a:solidFill>
                  <a:srgbClr val="FFFFFF"/>
                </a:solidFill>
                <a:latin typeface="Poppins Semi-Bold"/>
                <a:ea typeface="Poppins Semi-Bold"/>
                <a:cs typeface="Poppins Semi-Bold"/>
                <a:sym typeface="Poppins Semi-Bold"/>
              </a:rPr>
              <a:t>The group knew exactly what she would deliver.</a:t>
            </a:r>
          </a:p>
        </p:txBody>
      </p:sp>
      <p:grpSp>
        <p:nvGrpSpPr>
          <p:cNvPr name="Group 21" id="21"/>
          <p:cNvGrpSpPr/>
          <p:nvPr/>
        </p:nvGrpSpPr>
        <p:grpSpPr>
          <a:xfrm rot="0">
            <a:off x="6266407" y="2585694"/>
            <a:ext cx="5545067" cy="2488927"/>
            <a:chOff x="0" y="0"/>
            <a:chExt cx="7393422" cy="3318569"/>
          </a:xfrm>
        </p:grpSpPr>
        <p:sp>
          <p:nvSpPr>
            <p:cNvPr name="TextBox 22" id="22"/>
            <p:cNvSpPr txBox="true"/>
            <p:nvPr/>
          </p:nvSpPr>
          <p:spPr>
            <a:xfrm rot="0">
              <a:off x="428396" y="-105730"/>
              <a:ext cx="6965026" cy="3424299"/>
            </a:xfrm>
            <a:prstGeom prst="rect">
              <a:avLst/>
            </a:prstGeom>
          </p:spPr>
          <p:txBody>
            <a:bodyPr anchor="t" rtlCol="false" tIns="0" lIns="0" bIns="0" rIns="0">
              <a:spAutoFit/>
            </a:bodyPr>
            <a:lstStyle/>
            <a:p>
              <a:pPr algn="ctr">
                <a:lnSpc>
                  <a:spcPts val="21561"/>
                </a:lnSpc>
              </a:pPr>
              <a:r>
                <a:rPr lang="en-US" sz="15400" spc="46">
                  <a:solidFill>
                    <a:srgbClr val="000000">
                      <a:alpha val="30980"/>
                    </a:srgbClr>
                  </a:solidFill>
                  <a:latin typeface="Milestone Script"/>
                  <a:ea typeface="Milestone Script"/>
                  <a:cs typeface="Milestone Script"/>
                  <a:sym typeface="Milestone Script"/>
                </a:rPr>
                <a:t>Why?</a:t>
              </a:r>
            </a:p>
          </p:txBody>
        </p:sp>
        <p:sp>
          <p:nvSpPr>
            <p:cNvPr name="TextBox 23" id="23"/>
            <p:cNvSpPr txBox="true"/>
            <p:nvPr/>
          </p:nvSpPr>
          <p:spPr>
            <a:xfrm rot="0">
              <a:off x="0" y="-304800"/>
              <a:ext cx="7241856" cy="3424299"/>
            </a:xfrm>
            <a:prstGeom prst="rect">
              <a:avLst/>
            </a:prstGeom>
          </p:spPr>
          <p:txBody>
            <a:bodyPr anchor="t" rtlCol="false" tIns="0" lIns="0" bIns="0" rIns="0">
              <a:spAutoFit/>
            </a:bodyPr>
            <a:lstStyle/>
            <a:p>
              <a:pPr algn="ctr">
                <a:lnSpc>
                  <a:spcPts val="21561"/>
                </a:lnSpc>
              </a:pPr>
              <a:r>
                <a:rPr lang="en-US" sz="15400" spc="46">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Why?</a:t>
              </a:r>
            </a:p>
          </p:txBody>
        </p:sp>
      </p:grpSp>
      <p:grpSp>
        <p:nvGrpSpPr>
          <p:cNvPr name="Group 24" id="24"/>
          <p:cNvGrpSpPr/>
          <p:nvPr/>
        </p:nvGrpSpPr>
        <p:grpSpPr>
          <a:xfrm rot="0">
            <a:off x="3857803" y="6034594"/>
            <a:ext cx="10756617" cy="2036826"/>
            <a:chOff x="0" y="0"/>
            <a:chExt cx="14342157" cy="2715768"/>
          </a:xfrm>
        </p:grpSpPr>
        <p:grpSp>
          <p:nvGrpSpPr>
            <p:cNvPr name="Group 25" id="25"/>
            <p:cNvGrpSpPr/>
            <p:nvPr/>
          </p:nvGrpSpPr>
          <p:grpSpPr>
            <a:xfrm rot="0">
              <a:off x="168625" y="12700"/>
              <a:ext cx="14173532" cy="2665787"/>
              <a:chOff x="0" y="0"/>
              <a:chExt cx="1280731" cy="240883"/>
            </a:xfrm>
          </p:grpSpPr>
          <p:sp>
            <p:nvSpPr>
              <p:cNvPr name="Freeform 26" id="26"/>
              <p:cNvSpPr/>
              <p:nvPr/>
            </p:nvSpPr>
            <p:spPr>
              <a:xfrm flipH="false" flipV="false" rot="0">
                <a:off x="0" y="0"/>
                <a:ext cx="1280731" cy="240883"/>
              </a:xfrm>
              <a:custGeom>
                <a:avLst/>
                <a:gdLst/>
                <a:ahLst/>
                <a:cxnLst/>
                <a:rect r="r" b="b" t="t" l="l"/>
                <a:pathLst>
                  <a:path h="240883" w="1280731">
                    <a:moveTo>
                      <a:pt x="6828" y="0"/>
                    </a:moveTo>
                    <a:lnTo>
                      <a:pt x="1273903" y="0"/>
                    </a:lnTo>
                    <a:cubicBezTo>
                      <a:pt x="1275714" y="0"/>
                      <a:pt x="1277451" y="719"/>
                      <a:pt x="1278731" y="2000"/>
                    </a:cubicBezTo>
                    <a:cubicBezTo>
                      <a:pt x="1280012" y="3280"/>
                      <a:pt x="1280731" y="5017"/>
                      <a:pt x="1280731" y="6828"/>
                    </a:cubicBezTo>
                    <a:lnTo>
                      <a:pt x="1280731" y="234055"/>
                    </a:lnTo>
                    <a:cubicBezTo>
                      <a:pt x="1280731" y="235866"/>
                      <a:pt x="1280012" y="237602"/>
                      <a:pt x="1278731" y="238883"/>
                    </a:cubicBezTo>
                    <a:cubicBezTo>
                      <a:pt x="1277451" y="240163"/>
                      <a:pt x="1275714" y="240883"/>
                      <a:pt x="1273903" y="240883"/>
                    </a:cubicBezTo>
                    <a:lnTo>
                      <a:pt x="6828" y="240883"/>
                    </a:lnTo>
                    <a:cubicBezTo>
                      <a:pt x="5017" y="240883"/>
                      <a:pt x="3280" y="240163"/>
                      <a:pt x="2000" y="238883"/>
                    </a:cubicBezTo>
                    <a:cubicBezTo>
                      <a:pt x="719" y="237602"/>
                      <a:pt x="0" y="235866"/>
                      <a:pt x="0" y="234055"/>
                    </a:cubicBezTo>
                    <a:lnTo>
                      <a:pt x="0" y="6828"/>
                    </a:lnTo>
                    <a:cubicBezTo>
                      <a:pt x="0" y="5017"/>
                      <a:pt x="719" y="3280"/>
                      <a:pt x="2000" y="2000"/>
                    </a:cubicBezTo>
                    <a:cubicBezTo>
                      <a:pt x="3280" y="719"/>
                      <a:pt x="5017" y="0"/>
                      <a:pt x="6828" y="0"/>
                    </a:cubicBezTo>
                    <a:close/>
                  </a:path>
                </a:pathLst>
              </a:custGeom>
              <a:gradFill rotWithShape="true">
                <a:gsLst>
                  <a:gs pos="0">
                    <a:srgbClr val="FFFFFF">
                      <a:alpha val="100000"/>
                    </a:srgbClr>
                  </a:gs>
                  <a:gs pos="100000">
                    <a:srgbClr val="FFFFFF">
                      <a:alpha val="0"/>
                    </a:srgbClr>
                  </a:gs>
                </a:gsLst>
                <a:lin ang="0"/>
              </a:gradFill>
            </p:spPr>
          </p:sp>
          <p:sp>
            <p:nvSpPr>
              <p:cNvPr name="TextBox 27" id="27"/>
              <p:cNvSpPr txBox="true"/>
              <p:nvPr/>
            </p:nvSpPr>
            <p:spPr>
              <a:xfrm>
                <a:off x="0" y="28575"/>
                <a:ext cx="1280731" cy="212308"/>
              </a:xfrm>
              <a:prstGeom prst="rect">
                <a:avLst/>
              </a:prstGeom>
            </p:spPr>
            <p:txBody>
              <a:bodyPr anchor="ctr" rtlCol="false" tIns="42145" lIns="42145" bIns="42145" rIns="42145"/>
              <a:lstStyle/>
              <a:p>
                <a:pPr algn="ctr">
                  <a:lnSpc>
                    <a:spcPts val="1919"/>
                  </a:lnSpc>
                </a:pPr>
              </a:p>
            </p:txBody>
          </p:sp>
        </p:grpSp>
        <p:grpSp>
          <p:nvGrpSpPr>
            <p:cNvPr name="Group 28" id="28"/>
            <p:cNvGrpSpPr/>
            <p:nvPr/>
          </p:nvGrpSpPr>
          <p:grpSpPr>
            <a:xfrm rot="0">
              <a:off x="0" y="0"/>
              <a:ext cx="299496" cy="2715768"/>
              <a:chOff x="0" y="0"/>
              <a:chExt cx="46219" cy="419100"/>
            </a:xfrm>
          </p:grpSpPr>
          <p:sp>
            <p:nvSpPr>
              <p:cNvPr name="Freeform 29" id="29"/>
              <p:cNvSpPr/>
              <p:nvPr/>
            </p:nvSpPr>
            <p:spPr>
              <a:xfrm flipH="false" flipV="false" rot="0">
                <a:off x="0" y="0"/>
                <a:ext cx="46219" cy="419100"/>
              </a:xfrm>
              <a:custGeom>
                <a:avLst/>
                <a:gdLst/>
                <a:ahLst/>
                <a:cxnLst/>
                <a:rect r="r" b="b" t="t" l="l"/>
                <a:pathLst>
                  <a:path h="419100" w="46219">
                    <a:moveTo>
                      <a:pt x="23109" y="0"/>
                    </a:moveTo>
                    <a:lnTo>
                      <a:pt x="23109" y="0"/>
                    </a:lnTo>
                    <a:cubicBezTo>
                      <a:pt x="29238" y="0"/>
                      <a:pt x="35116" y="2435"/>
                      <a:pt x="39450" y="6769"/>
                    </a:cubicBezTo>
                    <a:cubicBezTo>
                      <a:pt x="43784" y="11102"/>
                      <a:pt x="46219" y="16980"/>
                      <a:pt x="46219" y="23109"/>
                    </a:cubicBezTo>
                    <a:lnTo>
                      <a:pt x="46219" y="395991"/>
                    </a:lnTo>
                    <a:cubicBezTo>
                      <a:pt x="46219" y="402120"/>
                      <a:pt x="43784" y="407998"/>
                      <a:pt x="39450" y="412331"/>
                    </a:cubicBezTo>
                    <a:cubicBezTo>
                      <a:pt x="35116" y="416665"/>
                      <a:pt x="29238" y="419100"/>
                      <a:pt x="23109" y="419100"/>
                    </a:cubicBezTo>
                    <a:lnTo>
                      <a:pt x="23109" y="419100"/>
                    </a:lnTo>
                    <a:cubicBezTo>
                      <a:pt x="16980" y="419100"/>
                      <a:pt x="11102" y="416665"/>
                      <a:pt x="6769" y="412331"/>
                    </a:cubicBezTo>
                    <a:cubicBezTo>
                      <a:pt x="2435" y="407998"/>
                      <a:pt x="0" y="402120"/>
                      <a:pt x="0" y="395991"/>
                    </a:cubicBezTo>
                    <a:lnTo>
                      <a:pt x="0" y="23109"/>
                    </a:lnTo>
                    <a:cubicBezTo>
                      <a:pt x="0" y="16980"/>
                      <a:pt x="2435" y="11102"/>
                      <a:pt x="6769" y="6769"/>
                    </a:cubicBezTo>
                    <a:cubicBezTo>
                      <a:pt x="11102" y="2435"/>
                      <a:pt x="16980" y="0"/>
                      <a:pt x="23109" y="0"/>
                    </a:cubicBezTo>
                    <a:close/>
                  </a:path>
                </a:pathLst>
              </a:custGeom>
              <a:solidFill>
                <a:srgbClr val="6E3125"/>
              </a:solidFill>
            </p:spPr>
          </p:sp>
          <p:sp>
            <p:nvSpPr>
              <p:cNvPr name="TextBox 30" id="30"/>
              <p:cNvSpPr txBox="true"/>
              <p:nvPr/>
            </p:nvSpPr>
            <p:spPr>
              <a:xfrm>
                <a:off x="0" y="28575"/>
                <a:ext cx="46219" cy="390525"/>
              </a:xfrm>
              <a:prstGeom prst="rect">
                <a:avLst/>
              </a:prstGeom>
            </p:spPr>
            <p:txBody>
              <a:bodyPr anchor="ctr" rtlCol="false" tIns="50800" lIns="50800" bIns="50800" rIns="50800"/>
              <a:lstStyle/>
              <a:p>
                <a:pPr algn="ctr">
                  <a:lnSpc>
                    <a:spcPts val="1919"/>
                  </a:lnSpc>
                </a:pPr>
              </a:p>
            </p:txBody>
          </p:sp>
        </p:grpSp>
        <p:sp>
          <p:nvSpPr>
            <p:cNvPr name="TextBox 31" id="31"/>
            <p:cNvSpPr txBox="true"/>
            <p:nvPr/>
          </p:nvSpPr>
          <p:spPr>
            <a:xfrm rot="0">
              <a:off x="789272" y="788633"/>
              <a:ext cx="12932236" cy="1123117"/>
            </a:xfrm>
            <a:prstGeom prst="rect">
              <a:avLst/>
            </a:prstGeom>
          </p:spPr>
          <p:txBody>
            <a:bodyPr anchor="t" rtlCol="false" tIns="0" lIns="0" bIns="0" rIns="0">
              <a:spAutoFit/>
            </a:bodyPr>
            <a:lstStyle/>
            <a:p>
              <a:pPr algn="l">
                <a:lnSpc>
                  <a:spcPts val="3210"/>
                </a:lnSpc>
              </a:pPr>
              <a:r>
                <a:rPr lang="en-US" sz="3000" b="true">
                  <a:solidFill>
                    <a:srgbClr val="6E3125"/>
                  </a:solidFill>
                  <a:latin typeface="Poppins Heavy"/>
                  <a:ea typeface="Poppins Heavy"/>
                  <a:cs typeface="Poppins Heavy"/>
                  <a:sym typeface="Poppins Heavy"/>
                </a:rPr>
                <a:t>In a workplace, good communication is MUCH more important than pretty much anything else</a:t>
              </a:r>
            </a:p>
          </p:txBody>
        </p:sp>
      </p:grpSp>
      <p:grpSp>
        <p:nvGrpSpPr>
          <p:cNvPr name="Group 32" id="32"/>
          <p:cNvGrpSpPr/>
          <p:nvPr/>
        </p:nvGrpSpPr>
        <p:grpSpPr>
          <a:xfrm rot="0">
            <a:off x="428520" y="2132402"/>
            <a:ext cx="5467490" cy="3088550"/>
            <a:chOff x="0" y="0"/>
            <a:chExt cx="409970" cy="231589"/>
          </a:xfrm>
        </p:grpSpPr>
        <p:sp>
          <p:nvSpPr>
            <p:cNvPr name="Freeform 33" id="33"/>
            <p:cNvSpPr/>
            <p:nvPr/>
          </p:nvSpPr>
          <p:spPr>
            <a:xfrm flipH="false" flipV="false" rot="0">
              <a:off x="0" y="0"/>
              <a:ext cx="409970" cy="231589"/>
            </a:xfrm>
            <a:custGeom>
              <a:avLst/>
              <a:gdLst/>
              <a:ahLst/>
              <a:cxnLst/>
              <a:rect r="r" b="b" t="t" l="l"/>
              <a:pathLst>
                <a:path h="231589" w="409970">
                  <a:moveTo>
                    <a:pt x="84075" y="0"/>
                  </a:moveTo>
                  <a:lnTo>
                    <a:pt x="325895" y="0"/>
                  </a:lnTo>
                  <a:cubicBezTo>
                    <a:pt x="348193" y="0"/>
                    <a:pt x="369578" y="8858"/>
                    <a:pt x="385345" y="24625"/>
                  </a:cubicBezTo>
                  <a:cubicBezTo>
                    <a:pt x="401112" y="40392"/>
                    <a:pt x="409970" y="61777"/>
                    <a:pt x="409970" y="84075"/>
                  </a:cubicBezTo>
                  <a:lnTo>
                    <a:pt x="409970" y="147515"/>
                  </a:lnTo>
                  <a:cubicBezTo>
                    <a:pt x="409970" y="169813"/>
                    <a:pt x="401112" y="191197"/>
                    <a:pt x="385345" y="206964"/>
                  </a:cubicBezTo>
                  <a:cubicBezTo>
                    <a:pt x="369578" y="222731"/>
                    <a:pt x="348193" y="231589"/>
                    <a:pt x="325895" y="231589"/>
                  </a:cubicBezTo>
                  <a:lnTo>
                    <a:pt x="84075" y="231589"/>
                  </a:lnTo>
                  <a:cubicBezTo>
                    <a:pt x="61777" y="231589"/>
                    <a:pt x="40392" y="222731"/>
                    <a:pt x="24625" y="206964"/>
                  </a:cubicBezTo>
                  <a:cubicBezTo>
                    <a:pt x="8858" y="191197"/>
                    <a:pt x="0" y="169813"/>
                    <a:pt x="0" y="147515"/>
                  </a:cubicBezTo>
                  <a:lnTo>
                    <a:pt x="0" y="84075"/>
                  </a:lnTo>
                  <a:cubicBezTo>
                    <a:pt x="0" y="61777"/>
                    <a:pt x="8858" y="40392"/>
                    <a:pt x="24625" y="24625"/>
                  </a:cubicBezTo>
                  <a:cubicBezTo>
                    <a:pt x="40392" y="8858"/>
                    <a:pt x="61777" y="0"/>
                    <a:pt x="84075" y="0"/>
                  </a:cubicBezTo>
                  <a:close/>
                </a:path>
              </a:pathLst>
            </a:custGeom>
            <a:gradFill rotWithShape="true">
              <a:gsLst>
                <a:gs pos="0">
                  <a:srgbClr val="85200C">
                    <a:alpha val="30000"/>
                  </a:srgbClr>
                </a:gs>
                <a:gs pos="100000">
                  <a:srgbClr val="008601">
                    <a:alpha val="100000"/>
                  </a:srgbClr>
                </a:gs>
              </a:gsLst>
              <a:lin ang="0"/>
            </a:gradFill>
          </p:spPr>
        </p:sp>
        <p:sp>
          <p:nvSpPr>
            <p:cNvPr name="TextBox 34" id="34"/>
            <p:cNvSpPr txBox="true"/>
            <p:nvPr/>
          </p:nvSpPr>
          <p:spPr>
            <a:xfrm>
              <a:off x="0" y="28575"/>
              <a:ext cx="409970" cy="203014"/>
            </a:xfrm>
            <a:prstGeom prst="rect">
              <a:avLst/>
            </a:prstGeom>
          </p:spPr>
          <p:txBody>
            <a:bodyPr anchor="ctr" rtlCol="false" tIns="50800" lIns="50800" bIns="50800" rIns="50800"/>
            <a:lstStyle/>
            <a:p>
              <a:pPr algn="ctr">
                <a:lnSpc>
                  <a:spcPts val="1919"/>
                </a:lnSpc>
              </a:pPr>
            </a:p>
          </p:txBody>
        </p:sp>
      </p:grpSp>
      <p:sp>
        <p:nvSpPr>
          <p:cNvPr name="TextBox 35" id="35"/>
          <p:cNvSpPr txBox="true"/>
          <p:nvPr/>
        </p:nvSpPr>
        <p:spPr>
          <a:xfrm rot="0">
            <a:off x="1267472" y="2804017"/>
            <a:ext cx="3789586" cy="1840571"/>
          </a:xfrm>
          <a:prstGeom prst="rect">
            <a:avLst/>
          </a:prstGeom>
        </p:spPr>
        <p:txBody>
          <a:bodyPr anchor="t" rtlCol="false" tIns="0" lIns="0" bIns="0" rIns="0">
            <a:spAutoFit/>
          </a:bodyPr>
          <a:lstStyle/>
          <a:p>
            <a:pPr algn="ctr">
              <a:lnSpc>
                <a:spcPts val="6742"/>
              </a:lnSpc>
            </a:pPr>
            <a:r>
              <a:rPr lang="en-US" sz="7097" b="true">
                <a:solidFill>
                  <a:srgbClr val="FFFFFF"/>
                </a:solidFill>
                <a:latin typeface="Poppins Heavy"/>
                <a:ea typeface="Poppins Heavy"/>
                <a:cs typeface="Poppins Heavy"/>
                <a:sym typeface="Poppins Heavy"/>
              </a:rPr>
              <a:t>GREEN FLAG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717797">
            <a:off x="7066588" y="-2336191"/>
            <a:ext cx="14865062" cy="16892116"/>
          </a:xfrm>
          <a:custGeom>
            <a:avLst/>
            <a:gdLst/>
            <a:ahLst/>
            <a:cxnLst/>
            <a:rect r="r" b="b" t="t" l="l"/>
            <a:pathLst>
              <a:path h="16892116" w="14865062">
                <a:moveTo>
                  <a:pt x="14865063" y="0"/>
                </a:moveTo>
                <a:lnTo>
                  <a:pt x="0" y="0"/>
                </a:lnTo>
                <a:lnTo>
                  <a:pt x="0" y="16892116"/>
                </a:lnTo>
                <a:lnTo>
                  <a:pt x="14865063" y="16892116"/>
                </a:lnTo>
                <a:lnTo>
                  <a:pt x="14865063" y="0"/>
                </a:lnTo>
                <a:close/>
              </a:path>
            </a:pathLst>
          </a:custGeom>
          <a:blipFill>
            <a:blip r:embed="rId4"/>
            <a:stretch>
              <a:fillRect l="0" t="0" r="0" b="0"/>
            </a:stretch>
          </a:blipFill>
        </p:spPr>
      </p:sp>
      <p:sp>
        <p:nvSpPr>
          <p:cNvPr name="Freeform 4" id="4"/>
          <p:cNvSpPr/>
          <p:nvPr/>
        </p:nvSpPr>
        <p:spPr>
          <a:xfrm flipH="false" flipV="false" rot="620525">
            <a:off x="-5662319" y="-759436"/>
            <a:ext cx="19504097" cy="13002731"/>
          </a:xfrm>
          <a:custGeom>
            <a:avLst/>
            <a:gdLst/>
            <a:ahLst/>
            <a:cxnLst/>
            <a:rect r="r" b="b" t="t" l="l"/>
            <a:pathLst>
              <a:path h="13002731" w="19504097">
                <a:moveTo>
                  <a:pt x="0" y="0"/>
                </a:moveTo>
                <a:lnTo>
                  <a:pt x="19504097" y="0"/>
                </a:lnTo>
                <a:lnTo>
                  <a:pt x="19504097" y="13002731"/>
                </a:lnTo>
                <a:lnTo>
                  <a:pt x="0" y="13002731"/>
                </a:lnTo>
                <a:lnTo>
                  <a:pt x="0" y="0"/>
                </a:lnTo>
                <a:close/>
              </a:path>
            </a:pathLst>
          </a:custGeom>
          <a:blipFill>
            <a:blip r:embed="rId5">
              <a:alphaModFix amt="28000"/>
            </a:blip>
            <a:stretch>
              <a:fillRect l="0" t="0" r="0" b="0"/>
            </a:stretch>
          </a:blipFill>
        </p:spPr>
      </p:sp>
      <p:sp>
        <p:nvSpPr>
          <p:cNvPr name="Freeform 5" id="5"/>
          <p:cNvSpPr/>
          <p:nvPr/>
        </p:nvSpPr>
        <p:spPr>
          <a:xfrm flipH="false" flipV="false" rot="620525">
            <a:off x="-5898164" y="-759436"/>
            <a:ext cx="19504097" cy="13002731"/>
          </a:xfrm>
          <a:custGeom>
            <a:avLst/>
            <a:gdLst/>
            <a:ahLst/>
            <a:cxnLst/>
            <a:rect r="r" b="b" t="t" l="l"/>
            <a:pathLst>
              <a:path h="13002731" w="19504097">
                <a:moveTo>
                  <a:pt x="0" y="0"/>
                </a:moveTo>
                <a:lnTo>
                  <a:pt x="19504097" y="0"/>
                </a:lnTo>
                <a:lnTo>
                  <a:pt x="19504097" y="13002731"/>
                </a:lnTo>
                <a:lnTo>
                  <a:pt x="0" y="13002731"/>
                </a:lnTo>
                <a:lnTo>
                  <a:pt x="0" y="0"/>
                </a:lnTo>
                <a:close/>
              </a:path>
            </a:pathLst>
          </a:custGeom>
          <a:blipFill>
            <a:blip r:embed="rId6"/>
            <a:stretch>
              <a:fillRect l="0" t="0" r="0" b="0"/>
            </a:stretch>
          </a:blipFill>
        </p:spPr>
      </p:sp>
      <p:sp>
        <p:nvSpPr>
          <p:cNvPr name="Freeform 6" id="6"/>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415994" y="9258300"/>
            <a:ext cx="4387595" cy="2093523"/>
            <a:chOff x="0" y="0"/>
            <a:chExt cx="5850127" cy="2791364"/>
          </a:xfrm>
        </p:grpSpPr>
        <p:grpSp>
          <p:nvGrpSpPr>
            <p:cNvPr name="Group 8" id="8"/>
            <p:cNvGrpSpPr/>
            <p:nvPr/>
          </p:nvGrpSpPr>
          <p:grpSpPr>
            <a:xfrm rot="0">
              <a:off x="0" y="0"/>
              <a:ext cx="5850127" cy="2791364"/>
              <a:chOff x="0" y="0"/>
              <a:chExt cx="902797" cy="430766"/>
            </a:xfrm>
          </p:grpSpPr>
          <p:sp>
            <p:nvSpPr>
              <p:cNvPr name="Freeform 9" id="9"/>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10" id="10"/>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11" id="11"/>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9"/>
              <a:stretch>
                <a:fillRect l="0" t="-15579" r="0" b="0"/>
              </a:stretch>
            </a:blipFill>
          </p:spPr>
        </p:sp>
      </p:grpSp>
      <p:grpSp>
        <p:nvGrpSpPr>
          <p:cNvPr name="Group 12" id="12"/>
          <p:cNvGrpSpPr/>
          <p:nvPr/>
        </p:nvGrpSpPr>
        <p:grpSpPr>
          <a:xfrm rot="0">
            <a:off x="3162265" y="9258300"/>
            <a:ext cx="11963470" cy="4031369"/>
            <a:chOff x="0" y="0"/>
            <a:chExt cx="1057797" cy="356449"/>
          </a:xfrm>
        </p:grpSpPr>
        <p:sp>
          <p:nvSpPr>
            <p:cNvPr name="Freeform 13" id="13"/>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3874565" y="9023776"/>
            <a:ext cx="2263079" cy="2785329"/>
            <a:chOff x="0" y="0"/>
            <a:chExt cx="660400" cy="812800"/>
          </a:xfrm>
        </p:grpSpPr>
        <p:sp>
          <p:nvSpPr>
            <p:cNvPr name="Freeform 16" id="16"/>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7" id="17"/>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2430521" y="5236782"/>
            <a:ext cx="13433682" cy="2520911"/>
            <a:chOff x="0" y="0"/>
            <a:chExt cx="997648" cy="187215"/>
          </a:xfrm>
        </p:grpSpPr>
        <p:sp>
          <p:nvSpPr>
            <p:cNvPr name="Freeform 19" id="19"/>
            <p:cNvSpPr/>
            <p:nvPr/>
          </p:nvSpPr>
          <p:spPr>
            <a:xfrm flipH="false" flipV="false" rot="0">
              <a:off x="0" y="0"/>
              <a:ext cx="997648" cy="187215"/>
            </a:xfrm>
            <a:custGeom>
              <a:avLst/>
              <a:gdLst/>
              <a:ahLst/>
              <a:cxnLst/>
              <a:rect r="r" b="b" t="t" l="l"/>
              <a:pathLst>
                <a:path h="187215" w="997648">
                  <a:moveTo>
                    <a:pt x="45024" y="0"/>
                  </a:moveTo>
                  <a:lnTo>
                    <a:pt x="952624" y="0"/>
                  </a:lnTo>
                  <a:cubicBezTo>
                    <a:pt x="964565" y="0"/>
                    <a:pt x="976017" y="4744"/>
                    <a:pt x="984461" y="13187"/>
                  </a:cubicBezTo>
                  <a:cubicBezTo>
                    <a:pt x="992904" y="21631"/>
                    <a:pt x="997648" y="33083"/>
                    <a:pt x="997648" y="45024"/>
                  </a:cubicBezTo>
                  <a:lnTo>
                    <a:pt x="997648" y="142191"/>
                  </a:lnTo>
                  <a:cubicBezTo>
                    <a:pt x="997648" y="154132"/>
                    <a:pt x="992904" y="165584"/>
                    <a:pt x="984461" y="174027"/>
                  </a:cubicBezTo>
                  <a:cubicBezTo>
                    <a:pt x="976017" y="182471"/>
                    <a:pt x="964565" y="187215"/>
                    <a:pt x="952624" y="187215"/>
                  </a:cubicBezTo>
                  <a:lnTo>
                    <a:pt x="45024" y="187215"/>
                  </a:lnTo>
                  <a:cubicBezTo>
                    <a:pt x="33083" y="187215"/>
                    <a:pt x="21631" y="182471"/>
                    <a:pt x="13187" y="174027"/>
                  </a:cubicBezTo>
                  <a:cubicBezTo>
                    <a:pt x="4744" y="165584"/>
                    <a:pt x="0" y="154132"/>
                    <a:pt x="0" y="142191"/>
                  </a:cubicBezTo>
                  <a:lnTo>
                    <a:pt x="0" y="45024"/>
                  </a:lnTo>
                  <a:cubicBezTo>
                    <a:pt x="0" y="33083"/>
                    <a:pt x="4744" y="21631"/>
                    <a:pt x="13187" y="13187"/>
                  </a:cubicBezTo>
                  <a:cubicBezTo>
                    <a:pt x="21631" y="4744"/>
                    <a:pt x="33083" y="0"/>
                    <a:pt x="45024" y="0"/>
                  </a:cubicBezTo>
                  <a:close/>
                </a:path>
              </a:pathLst>
            </a:custGeom>
            <a:gradFill rotWithShape="true">
              <a:gsLst>
                <a:gs pos="0">
                  <a:srgbClr val="841F0B">
                    <a:alpha val="100000"/>
                  </a:srgbClr>
                </a:gs>
                <a:gs pos="100000">
                  <a:srgbClr val="DA4610">
                    <a:alpha val="100000"/>
                  </a:srgbClr>
                </a:gs>
              </a:gsLst>
              <a:lin ang="0"/>
            </a:gradFill>
          </p:spPr>
        </p:sp>
        <p:sp>
          <p:nvSpPr>
            <p:cNvPr name="TextBox 20" id="20"/>
            <p:cNvSpPr txBox="true"/>
            <p:nvPr/>
          </p:nvSpPr>
          <p:spPr>
            <a:xfrm>
              <a:off x="0" y="28575"/>
              <a:ext cx="997648" cy="158640"/>
            </a:xfrm>
            <a:prstGeom prst="rect">
              <a:avLst/>
            </a:prstGeom>
          </p:spPr>
          <p:txBody>
            <a:bodyPr anchor="ctr" rtlCol="false" tIns="50800" lIns="50800" bIns="50800" rIns="50800"/>
            <a:lstStyle/>
            <a:p>
              <a:pPr algn="ctr">
                <a:lnSpc>
                  <a:spcPts val="1919"/>
                </a:lnSpc>
              </a:pPr>
            </a:p>
          </p:txBody>
        </p:sp>
      </p:grpSp>
      <p:sp>
        <p:nvSpPr>
          <p:cNvPr name="TextBox 21" id="21"/>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11</a:t>
            </a:r>
          </a:p>
        </p:txBody>
      </p:sp>
      <p:sp>
        <p:nvSpPr>
          <p:cNvPr name="TextBox 22" id="22"/>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grpSp>
        <p:nvGrpSpPr>
          <p:cNvPr name="Group 23" id="23"/>
          <p:cNvGrpSpPr/>
          <p:nvPr/>
        </p:nvGrpSpPr>
        <p:grpSpPr>
          <a:xfrm rot="0">
            <a:off x="1609476" y="2361856"/>
            <a:ext cx="15069048" cy="3265792"/>
            <a:chOff x="0" y="0"/>
            <a:chExt cx="20092064" cy="4354390"/>
          </a:xfrm>
        </p:grpSpPr>
        <p:sp>
          <p:nvSpPr>
            <p:cNvPr name="TextBox 24" id="24"/>
            <p:cNvSpPr txBox="true"/>
            <p:nvPr/>
          </p:nvSpPr>
          <p:spPr>
            <a:xfrm rot="0">
              <a:off x="4678986" y="-187835"/>
              <a:ext cx="11226707" cy="3161087"/>
            </a:xfrm>
            <a:prstGeom prst="rect">
              <a:avLst/>
            </a:prstGeom>
          </p:spPr>
          <p:txBody>
            <a:bodyPr anchor="t" rtlCol="false" tIns="0" lIns="0" bIns="0" rIns="0">
              <a:spAutoFit/>
            </a:bodyPr>
            <a:lstStyle/>
            <a:p>
              <a:pPr algn="ctr">
                <a:lnSpc>
                  <a:spcPts val="19160"/>
                </a:lnSpc>
              </a:pPr>
              <a:r>
                <a:rPr lang="en-US" sz="13686">
                  <a:solidFill>
                    <a:srgbClr val="000000">
                      <a:alpha val="34902"/>
                    </a:srgbClr>
                  </a:solidFill>
                  <a:latin typeface="Jack in the Box"/>
                  <a:ea typeface="Jack in the Box"/>
                  <a:cs typeface="Jack in the Box"/>
                  <a:sym typeface="Jack in the Box"/>
                </a:rPr>
                <a:t>Level 2:</a:t>
              </a:r>
            </a:p>
          </p:txBody>
        </p:sp>
        <p:sp>
          <p:nvSpPr>
            <p:cNvPr name="TextBox 25" id="25"/>
            <p:cNvSpPr txBox="true"/>
            <p:nvPr/>
          </p:nvSpPr>
          <p:spPr>
            <a:xfrm rot="0">
              <a:off x="2183669" y="-381000"/>
              <a:ext cx="16014142" cy="3155996"/>
            </a:xfrm>
            <a:prstGeom prst="rect">
              <a:avLst/>
            </a:prstGeom>
          </p:spPr>
          <p:txBody>
            <a:bodyPr anchor="t" rtlCol="false" tIns="0" lIns="0" bIns="0" rIns="0">
              <a:spAutoFit/>
            </a:bodyPr>
            <a:lstStyle/>
            <a:p>
              <a:pPr algn="ctr">
                <a:lnSpc>
                  <a:spcPts val="19160"/>
                </a:lnSpc>
              </a:pPr>
              <a:r>
                <a:rPr lang="en-US" sz="13686">
                  <a:gradFill>
                    <a:gsLst>
                      <a:gs pos="0">
                        <a:srgbClr val="841F0B">
                          <a:alpha val="100000"/>
                        </a:srgbClr>
                      </a:gs>
                      <a:gs pos="100000">
                        <a:srgbClr val="DA4610">
                          <a:alpha val="100000"/>
                        </a:srgbClr>
                      </a:gs>
                    </a:gsLst>
                    <a:lin ang="0"/>
                  </a:gradFill>
                  <a:latin typeface="Jack in the Box"/>
                  <a:ea typeface="Jack in the Box"/>
                  <a:cs typeface="Jack in the Box"/>
                  <a:sym typeface="Jack in the Box"/>
                </a:rPr>
                <a:t>Level 2: </a:t>
              </a:r>
            </a:p>
          </p:txBody>
        </p:sp>
        <p:sp>
          <p:nvSpPr>
            <p:cNvPr name="TextBox 26" id="26"/>
            <p:cNvSpPr txBox="true"/>
            <p:nvPr/>
          </p:nvSpPr>
          <p:spPr>
            <a:xfrm rot="0">
              <a:off x="0" y="2998652"/>
              <a:ext cx="20092064" cy="1355738"/>
            </a:xfrm>
            <a:prstGeom prst="rect">
              <a:avLst/>
            </a:prstGeom>
          </p:spPr>
          <p:txBody>
            <a:bodyPr anchor="t" rtlCol="false" tIns="0" lIns="0" bIns="0" rIns="0">
              <a:spAutoFit/>
            </a:bodyPr>
            <a:lstStyle/>
            <a:p>
              <a:pPr algn="ctr">
                <a:lnSpc>
                  <a:spcPts val="6621"/>
                </a:lnSpc>
              </a:pPr>
              <a:r>
                <a:rPr lang="en-US" b="true" sz="7439">
                  <a:gradFill>
                    <a:gsLst>
                      <a:gs pos="0">
                        <a:srgbClr val="85200C">
                          <a:alpha val="100000"/>
                        </a:srgbClr>
                      </a:gs>
                      <a:gs pos="100000">
                        <a:srgbClr val="DC4B0F">
                          <a:alpha val="100000"/>
                        </a:srgbClr>
                      </a:gs>
                    </a:gsLst>
                    <a:lin ang="0"/>
                  </a:gradFill>
                  <a:latin typeface="Poppins Heavy"/>
                  <a:ea typeface="Poppins Heavy"/>
                  <a:cs typeface="Poppins Heavy"/>
                  <a:sym typeface="Poppins Heavy"/>
                </a:rPr>
                <a:t>Depends entirely on how</a:t>
              </a:r>
            </a:p>
          </p:txBody>
        </p:sp>
      </p:grpSp>
      <p:sp>
        <p:nvSpPr>
          <p:cNvPr name="TextBox 27" id="27"/>
          <p:cNvSpPr txBox="true"/>
          <p:nvPr/>
        </p:nvSpPr>
        <p:spPr>
          <a:xfrm rot="0">
            <a:off x="3444840" y="5899818"/>
            <a:ext cx="11259086" cy="1529148"/>
          </a:xfrm>
          <a:prstGeom prst="rect">
            <a:avLst/>
          </a:prstGeom>
        </p:spPr>
        <p:txBody>
          <a:bodyPr anchor="t" rtlCol="false" tIns="0" lIns="0" bIns="0" rIns="0">
            <a:spAutoFit/>
          </a:bodyPr>
          <a:lstStyle/>
          <a:p>
            <a:pPr algn="ctr">
              <a:lnSpc>
                <a:spcPts val="3856"/>
              </a:lnSpc>
            </a:pPr>
            <a:r>
              <a:rPr lang="en-US" sz="4059" b="true">
                <a:solidFill>
                  <a:srgbClr val="FFFFFF"/>
                </a:solidFill>
                <a:latin typeface="Poppins Semi-Bold"/>
                <a:ea typeface="Poppins Semi-Bold"/>
                <a:cs typeface="Poppins Semi-Bold"/>
                <a:sym typeface="Poppins Semi-Bold"/>
              </a:rPr>
              <a:t>These are much more debatable. </a:t>
            </a:r>
          </a:p>
          <a:p>
            <a:pPr algn="ctr">
              <a:lnSpc>
                <a:spcPts val="3856"/>
              </a:lnSpc>
            </a:pPr>
            <a:r>
              <a:rPr lang="en-US" sz="4059" b="true">
                <a:solidFill>
                  <a:srgbClr val="FFFFFF"/>
                </a:solidFill>
                <a:latin typeface="Poppins Semi-Bold"/>
                <a:ea typeface="Poppins Semi-Bold"/>
                <a:cs typeface="Poppins Semi-Bold"/>
                <a:sym typeface="Poppins Semi-Bold"/>
              </a:rPr>
              <a:t>Discuss what would make them clearly a green or red.</a:t>
            </a:r>
          </a:p>
        </p:txBody>
      </p:sp>
      <p:sp>
        <p:nvSpPr>
          <p:cNvPr name="Freeform 28" id="28"/>
          <p:cNvSpPr/>
          <p:nvPr/>
        </p:nvSpPr>
        <p:spPr>
          <a:xfrm flipH="false" flipV="false" rot="0">
            <a:off x="-1145712" y="-1451712"/>
            <a:ext cx="20440189" cy="20440189"/>
          </a:xfrm>
          <a:custGeom>
            <a:avLst/>
            <a:gdLst/>
            <a:ahLst/>
            <a:cxnLst/>
            <a:rect r="r" b="b" t="t" l="l"/>
            <a:pathLst>
              <a:path h="20440189" w="20440189">
                <a:moveTo>
                  <a:pt x="0" y="0"/>
                </a:moveTo>
                <a:lnTo>
                  <a:pt x="20440189" y="0"/>
                </a:lnTo>
                <a:lnTo>
                  <a:pt x="20440189" y="20440189"/>
                </a:lnTo>
                <a:lnTo>
                  <a:pt x="0" y="20440189"/>
                </a:lnTo>
                <a:lnTo>
                  <a:pt x="0" y="0"/>
                </a:lnTo>
                <a:close/>
              </a:path>
            </a:pathLst>
          </a:custGeom>
          <a:blipFill>
            <a:blip r:embed="rId10">
              <a:alphaModFix amt="50000"/>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362933"/>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1271343" y="1105777"/>
            <a:ext cx="7487927" cy="1140886"/>
            <a:chOff x="0" y="0"/>
            <a:chExt cx="605413" cy="92243"/>
          </a:xfrm>
        </p:grpSpPr>
        <p:sp>
          <p:nvSpPr>
            <p:cNvPr name="Freeform 16" id="16"/>
            <p:cNvSpPr/>
            <p:nvPr/>
          </p:nvSpPr>
          <p:spPr>
            <a:xfrm flipH="false" flipV="false" rot="0">
              <a:off x="0" y="0"/>
              <a:ext cx="605413" cy="92243"/>
            </a:xfrm>
            <a:custGeom>
              <a:avLst/>
              <a:gdLst/>
              <a:ahLst/>
              <a:cxnLst/>
              <a:rect r="r" b="b" t="t" l="l"/>
              <a:pathLst>
                <a:path h="92243" w="605413">
                  <a:moveTo>
                    <a:pt x="46121" y="0"/>
                  </a:moveTo>
                  <a:lnTo>
                    <a:pt x="559292" y="0"/>
                  </a:lnTo>
                  <a:cubicBezTo>
                    <a:pt x="571524" y="0"/>
                    <a:pt x="583255" y="4859"/>
                    <a:pt x="591905" y="13509"/>
                  </a:cubicBezTo>
                  <a:cubicBezTo>
                    <a:pt x="600554" y="22158"/>
                    <a:pt x="605413" y="33889"/>
                    <a:pt x="605413" y="46121"/>
                  </a:cubicBezTo>
                  <a:lnTo>
                    <a:pt x="605413" y="46121"/>
                  </a:lnTo>
                  <a:cubicBezTo>
                    <a:pt x="605413" y="58354"/>
                    <a:pt x="600554" y="70085"/>
                    <a:pt x="591905" y="78734"/>
                  </a:cubicBezTo>
                  <a:cubicBezTo>
                    <a:pt x="583255" y="87384"/>
                    <a:pt x="571524" y="92243"/>
                    <a:pt x="559292" y="92243"/>
                  </a:cubicBezTo>
                  <a:lnTo>
                    <a:pt x="46121" y="92243"/>
                  </a:lnTo>
                  <a:cubicBezTo>
                    <a:pt x="33889" y="92243"/>
                    <a:pt x="22158" y="87384"/>
                    <a:pt x="13509" y="78734"/>
                  </a:cubicBezTo>
                  <a:cubicBezTo>
                    <a:pt x="4859" y="70085"/>
                    <a:pt x="0" y="58354"/>
                    <a:pt x="0" y="46121"/>
                  </a:cubicBezTo>
                  <a:lnTo>
                    <a:pt x="0" y="46121"/>
                  </a:lnTo>
                  <a:cubicBezTo>
                    <a:pt x="0" y="33889"/>
                    <a:pt x="4859" y="22158"/>
                    <a:pt x="13509" y="13509"/>
                  </a:cubicBezTo>
                  <a:cubicBezTo>
                    <a:pt x="22158" y="4859"/>
                    <a:pt x="33889" y="0"/>
                    <a:pt x="46121" y="0"/>
                  </a:cubicBezTo>
                  <a:close/>
                </a:path>
              </a:pathLst>
            </a:custGeom>
            <a:gradFill rotWithShape="true">
              <a:gsLst>
                <a:gs pos="0">
                  <a:srgbClr val="85200C">
                    <a:alpha val="100000"/>
                  </a:srgbClr>
                </a:gs>
                <a:gs pos="100000">
                  <a:srgbClr val="DC4B0F">
                    <a:alpha val="100000"/>
                  </a:srgbClr>
                </a:gs>
              </a:gsLst>
              <a:lin ang="0"/>
            </a:gradFill>
          </p:spPr>
        </p:sp>
        <p:sp>
          <p:nvSpPr>
            <p:cNvPr name="TextBox 17" id="17"/>
            <p:cNvSpPr txBox="true"/>
            <p:nvPr/>
          </p:nvSpPr>
          <p:spPr>
            <a:xfrm>
              <a:off x="0" y="28575"/>
              <a:ext cx="605413" cy="63668"/>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806597" y="2624705"/>
            <a:ext cx="16674806" cy="2908315"/>
            <a:chOff x="0" y="0"/>
            <a:chExt cx="22233075" cy="3877754"/>
          </a:xfrm>
        </p:grpSpPr>
        <p:grpSp>
          <p:nvGrpSpPr>
            <p:cNvPr name="Group 19" id="19"/>
            <p:cNvGrpSpPr/>
            <p:nvPr/>
          </p:nvGrpSpPr>
          <p:grpSpPr>
            <a:xfrm rot="0">
              <a:off x="0" y="0"/>
              <a:ext cx="22233075" cy="3877754"/>
              <a:chOff x="0" y="0"/>
              <a:chExt cx="1135704" cy="198082"/>
            </a:xfrm>
          </p:grpSpPr>
          <p:sp>
            <p:nvSpPr>
              <p:cNvPr name="Freeform 20" id="20"/>
              <p:cNvSpPr/>
              <p:nvPr/>
            </p:nvSpPr>
            <p:spPr>
              <a:xfrm flipH="false" flipV="false" rot="0">
                <a:off x="0" y="0"/>
                <a:ext cx="1135704" cy="198082"/>
              </a:xfrm>
              <a:custGeom>
                <a:avLst/>
                <a:gdLst/>
                <a:ahLst/>
                <a:cxnLst/>
                <a:rect r="r" b="b" t="t" l="l"/>
                <a:pathLst>
                  <a:path h="198082" w="1135704">
                    <a:moveTo>
                      <a:pt x="42628" y="0"/>
                    </a:moveTo>
                    <a:lnTo>
                      <a:pt x="1093075" y="0"/>
                    </a:lnTo>
                    <a:cubicBezTo>
                      <a:pt x="1104381" y="0"/>
                      <a:pt x="1115224" y="4491"/>
                      <a:pt x="1123218" y="12486"/>
                    </a:cubicBezTo>
                    <a:cubicBezTo>
                      <a:pt x="1131212" y="20480"/>
                      <a:pt x="1135704" y="31323"/>
                      <a:pt x="1135704" y="42628"/>
                    </a:cubicBezTo>
                    <a:lnTo>
                      <a:pt x="1135704" y="155454"/>
                    </a:lnTo>
                    <a:cubicBezTo>
                      <a:pt x="1135704" y="166760"/>
                      <a:pt x="1131212" y="177602"/>
                      <a:pt x="1123218" y="185597"/>
                    </a:cubicBezTo>
                    <a:cubicBezTo>
                      <a:pt x="1115224" y="193591"/>
                      <a:pt x="1104381" y="198082"/>
                      <a:pt x="1093075" y="198082"/>
                    </a:cubicBezTo>
                    <a:lnTo>
                      <a:pt x="42628" y="198082"/>
                    </a:lnTo>
                    <a:cubicBezTo>
                      <a:pt x="31323" y="198082"/>
                      <a:pt x="20480" y="193591"/>
                      <a:pt x="12486" y="185597"/>
                    </a:cubicBezTo>
                    <a:cubicBezTo>
                      <a:pt x="4491" y="177602"/>
                      <a:pt x="0" y="166760"/>
                      <a:pt x="0" y="155454"/>
                    </a:cubicBezTo>
                    <a:lnTo>
                      <a:pt x="0" y="42628"/>
                    </a:lnTo>
                    <a:cubicBezTo>
                      <a:pt x="0" y="31323"/>
                      <a:pt x="4491" y="20480"/>
                      <a:pt x="12486" y="12486"/>
                    </a:cubicBezTo>
                    <a:cubicBezTo>
                      <a:pt x="20480" y="4491"/>
                      <a:pt x="31323" y="0"/>
                      <a:pt x="42628" y="0"/>
                    </a:cubicBezTo>
                    <a:close/>
                  </a:path>
                </a:pathLst>
              </a:custGeom>
              <a:gradFill rotWithShape="true">
                <a:gsLst>
                  <a:gs pos="0">
                    <a:srgbClr val="85200C">
                      <a:alpha val="30000"/>
                    </a:srgbClr>
                  </a:gs>
                  <a:gs pos="100000">
                    <a:srgbClr val="DC4B0F">
                      <a:alpha val="100000"/>
                    </a:srgbClr>
                  </a:gs>
                </a:gsLst>
                <a:lin ang="0"/>
              </a:gradFill>
            </p:spPr>
          </p:sp>
          <p:sp>
            <p:nvSpPr>
              <p:cNvPr name="TextBox 21" id="21"/>
              <p:cNvSpPr txBox="true"/>
              <p:nvPr/>
            </p:nvSpPr>
            <p:spPr>
              <a:xfrm>
                <a:off x="0" y="28575"/>
                <a:ext cx="1135704" cy="169507"/>
              </a:xfrm>
              <a:prstGeom prst="rect">
                <a:avLst/>
              </a:prstGeom>
            </p:spPr>
            <p:txBody>
              <a:bodyPr anchor="ctr" rtlCol="false" tIns="50800" lIns="50800" bIns="50800" rIns="50800"/>
              <a:lstStyle/>
              <a:p>
                <a:pPr algn="ctr">
                  <a:lnSpc>
                    <a:spcPts val="1919"/>
                  </a:lnSpc>
                </a:pPr>
              </a:p>
            </p:txBody>
          </p:sp>
        </p:grpSp>
        <p:sp>
          <p:nvSpPr>
            <p:cNvPr name="TextBox 22" id="22"/>
            <p:cNvSpPr txBox="true"/>
            <p:nvPr/>
          </p:nvSpPr>
          <p:spPr>
            <a:xfrm rot="0">
              <a:off x="662663" y="631637"/>
              <a:ext cx="21057952" cy="2581172"/>
            </a:xfrm>
            <a:prstGeom prst="rect">
              <a:avLst/>
            </a:prstGeom>
          </p:spPr>
          <p:txBody>
            <a:bodyPr anchor="t" rtlCol="false" tIns="0" lIns="0" bIns="0" rIns="0">
              <a:spAutoFit/>
            </a:bodyPr>
            <a:lstStyle/>
            <a:p>
              <a:pPr algn="ctr">
                <a:lnSpc>
                  <a:spcPts val="3721"/>
                </a:lnSpc>
              </a:pPr>
              <a:r>
                <a:rPr lang="en-US" sz="3917" b="true">
                  <a:solidFill>
                    <a:srgbClr val="FFFFFF"/>
                  </a:solidFill>
                  <a:latin typeface="Poppins Semi-Bold"/>
                  <a:ea typeface="Poppins Semi-Bold"/>
                  <a:cs typeface="Poppins Semi-Bold"/>
                  <a:sym typeface="Poppins Semi-Bold"/>
                </a:rPr>
                <a:t>Four days out, Mia realised two teammates’ sections were nowhere near ready. She rewrote both herself, formatted the document, and submitted. The group got a distinction. She never told them, and rated everyone 100%.</a:t>
              </a:r>
            </a:p>
          </p:txBody>
        </p:sp>
      </p:grpSp>
      <p:grpSp>
        <p:nvGrpSpPr>
          <p:cNvPr name="Group 23" id="23"/>
          <p:cNvGrpSpPr/>
          <p:nvPr/>
        </p:nvGrpSpPr>
        <p:grpSpPr>
          <a:xfrm rot="0">
            <a:off x="2086942" y="5872963"/>
            <a:ext cx="6705133" cy="2864363"/>
            <a:chOff x="0" y="0"/>
            <a:chExt cx="542123" cy="231589"/>
          </a:xfrm>
        </p:grpSpPr>
        <p:sp>
          <p:nvSpPr>
            <p:cNvPr name="Freeform 24" id="24"/>
            <p:cNvSpPr/>
            <p:nvPr/>
          </p:nvSpPr>
          <p:spPr>
            <a:xfrm flipH="false" flipV="false" rot="0">
              <a:off x="0" y="0"/>
              <a:ext cx="542123" cy="231589"/>
            </a:xfrm>
            <a:custGeom>
              <a:avLst/>
              <a:gdLst/>
              <a:ahLst/>
              <a:cxnLst/>
              <a:rect r="r" b="b" t="t" l="l"/>
              <a:pathLst>
                <a:path h="231589" w="542123">
                  <a:moveTo>
                    <a:pt x="68556" y="0"/>
                  </a:moveTo>
                  <a:lnTo>
                    <a:pt x="473567" y="0"/>
                  </a:lnTo>
                  <a:cubicBezTo>
                    <a:pt x="511429" y="0"/>
                    <a:pt x="542123" y="30694"/>
                    <a:pt x="542123" y="68556"/>
                  </a:cubicBezTo>
                  <a:lnTo>
                    <a:pt x="542123" y="163033"/>
                  </a:lnTo>
                  <a:cubicBezTo>
                    <a:pt x="542123" y="181215"/>
                    <a:pt x="534900" y="198653"/>
                    <a:pt x="522043" y="211510"/>
                  </a:cubicBezTo>
                  <a:cubicBezTo>
                    <a:pt x="509187" y="224366"/>
                    <a:pt x="491749" y="231589"/>
                    <a:pt x="473567" y="231589"/>
                  </a:cubicBezTo>
                  <a:lnTo>
                    <a:pt x="68556" y="231589"/>
                  </a:lnTo>
                  <a:cubicBezTo>
                    <a:pt x="50374" y="231589"/>
                    <a:pt x="32936" y="224366"/>
                    <a:pt x="20080" y="211510"/>
                  </a:cubicBezTo>
                  <a:cubicBezTo>
                    <a:pt x="7223" y="198653"/>
                    <a:pt x="0" y="181215"/>
                    <a:pt x="0" y="163033"/>
                  </a:cubicBezTo>
                  <a:lnTo>
                    <a:pt x="0" y="68556"/>
                  </a:lnTo>
                  <a:cubicBezTo>
                    <a:pt x="0" y="50374"/>
                    <a:pt x="7223" y="32936"/>
                    <a:pt x="20080" y="20080"/>
                  </a:cubicBezTo>
                  <a:cubicBezTo>
                    <a:pt x="32936" y="7223"/>
                    <a:pt x="50374" y="0"/>
                    <a:pt x="68556" y="0"/>
                  </a:cubicBezTo>
                  <a:close/>
                </a:path>
              </a:pathLst>
            </a:custGeom>
            <a:gradFill rotWithShape="true">
              <a:gsLst>
                <a:gs pos="0">
                  <a:srgbClr val="85200C">
                    <a:alpha val="30000"/>
                  </a:srgbClr>
                </a:gs>
                <a:gs pos="100000">
                  <a:srgbClr val="940000">
                    <a:alpha val="100000"/>
                  </a:srgbClr>
                </a:gs>
              </a:gsLst>
              <a:lin ang="0"/>
            </a:gradFill>
          </p:spPr>
        </p:sp>
        <p:sp>
          <p:nvSpPr>
            <p:cNvPr name="TextBox 25" id="25"/>
            <p:cNvSpPr txBox="true"/>
            <p:nvPr/>
          </p:nvSpPr>
          <p:spPr>
            <a:xfrm>
              <a:off x="0" y="28575"/>
              <a:ext cx="542123" cy="203014"/>
            </a:xfrm>
            <a:prstGeom prst="rect">
              <a:avLst/>
            </a:prstGeom>
          </p:spPr>
          <p:txBody>
            <a:bodyPr anchor="ctr" rtlCol="false" tIns="50800" lIns="50800" bIns="50800" rIns="50800"/>
            <a:lstStyle/>
            <a:p>
              <a:pPr algn="ctr">
                <a:lnSpc>
                  <a:spcPts val="1919"/>
                </a:lnSpc>
              </a:pPr>
            </a:p>
          </p:txBody>
        </p:sp>
      </p:grpSp>
      <p:grpSp>
        <p:nvGrpSpPr>
          <p:cNvPr name="Group 26" id="26"/>
          <p:cNvGrpSpPr/>
          <p:nvPr/>
        </p:nvGrpSpPr>
        <p:grpSpPr>
          <a:xfrm rot="0">
            <a:off x="9036459" y="5903453"/>
            <a:ext cx="6857760" cy="2864363"/>
            <a:chOff x="0" y="0"/>
            <a:chExt cx="9143680" cy="3819150"/>
          </a:xfrm>
        </p:grpSpPr>
        <p:grpSp>
          <p:nvGrpSpPr>
            <p:cNvPr name="Group 27" id="27"/>
            <p:cNvGrpSpPr/>
            <p:nvPr/>
          </p:nvGrpSpPr>
          <p:grpSpPr>
            <a:xfrm rot="0">
              <a:off x="50565" y="0"/>
              <a:ext cx="8869518" cy="3819150"/>
              <a:chOff x="0" y="0"/>
              <a:chExt cx="537838" cy="231589"/>
            </a:xfrm>
          </p:grpSpPr>
          <p:sp>
            <p:nvSpPr>
              <p:cNvPr name="Freeform 28" id="28"/>
              <p:cNvSpPr/>
              <p:nvPr/>
            </p:nvSpPr>
            <p:spPr>
              <a:xfrm flipH="false" flipV="false" rot="0">
                <a:off x="0" y="0"/>
                <a:ext cx="537838" cy="231589"/>
              </a:xfrm>
              <a:custGeom>
                <a:avLst/>
                <a:gdLst/>
                <a:ahLst/>
                <a:cxnLst/>
                <a:rect r="r" b="b" t="t" l="l"/>
                <a:pathLst>
                  <a:path h="231589" w="537838">
                    <a:moveTo>
                      <a:pt x="35130" y="0"/>
                    </a:moveTo>
                    <a:lnTo>
                      <a:pt x="502708" y="0"/>
                    </a:lnTo>
                    <a:cubicBezTo>
                      <a:pt x="512025" y="0"/>
                      <a:pt x="520961" y="3701"/>
                      <a:pt x="527549" y="10289"/>
                    </a:cubicBezTo>
                    <a:cubicBezTo>
                      <a:pt x="534137" y="16878"/>
                      <a:pt x="537838" y="25813"/>
                      <a:pt x="537838" y="35130"/>
                    </a:cubicBezTo>
                    <a:lnTo>
                      <a:pt x="537838" y="196459"/>
                    </a:lnTo>
                    <a:cubicBezTo>
                      <a:pt x="537838" y="205776"/>
                      <a:pt x="534137" y="214712"/>
                      <a:pt x="527549" y="221300"/>
                    </a:cubicBezTo>
                    <a:cubicBezTo>
                      <a:pt x="520961" y="227888"/>
                      <a:pt x="512025" y="231589"/>
                      <a:pt x="502708" y="231589"/>
                    </a:cubicBezTo>
                    <a:lnTo>
                      <a:pt x="35130" y="231589"/>
                    </a:lnTo>
                    <a:cubicBezTo>
                      <a:pt x="25813" y="231589"/>
                      <a:pt x="16878" y="227888"/>
                      <a:pt x="10289" y="221300"/>
                    </a:cubicBezTo>
                    <a:cubicBezTo>
                      <a:pt x="3701" y="214712"/>
                      <a:pt x="0" y="205776"/>
                      <a:pt x="0" y="196459"/>
                    </a:cubicBezTo>
                    <a:lnTo>
                      <a:pt x="0" y="35130"/>
                    </a:lnTo>
                    <a:cubicBezTo>
                      <a:pt x="0" y="25813"/>
                      <a:pt x="3701" y="16878"/>
                      <a:pt x="10289" y="10289"/>
                    </a:cubicBezTo>
                    <a:cubicBezTo>
                      <a:pt x="16878" y="3701"/>
                      <a:pt x="25813" y="0"/>
                      <a:pt x="35130" y="0"/>
                    </a:cubicBezTo>
                    <a:close/>
                  </a:path>
                </a:pathLst>
              </a:custGeom>
              <a:gradFill rotWithShape="true">
                <a:gsLst>
                  <a:gs pos="0">
                    <a:srgbClr val="85200C">
                      <a:alpha val="30000"/>
                    </a:srgbClr>
                  </a:gs>
                  <a:gs pos="100000">
                    <a:srgbClr val="008601">
                      <a:alpha val="100000"/>
                    </a:srgbClr>
                  </a:gs>
                </a:gsLst>
                <a:lin ang="0"/>
              </a:gradFill>
            </p:spPr>
          </p:sp>
          <p:sp>
            <p:nvSpPr>
              <p:cNvPr name="TextBox 29" id="29"/>
              <p:cNvSpPr txBox="true"/>
              <p:nvPr/>
            </p:nvSpPr>
            <p:spPr>
              <a:xfrm>
                <a:off x="0" y="28575"/>
                <a:ext cx="537838" cy="203014"/>
              </a:xfrm>
              <a:prstGeom prst="rect">
                <a:avLst/>
              </a:prstGeom>
            </p:spPr>
            <p:txBody>
              <a:bodyPr anchor="ctr" rtlCol="false" tIns="99925" lIns="99925" bIns="99925" rIns="99925"/>
              <a:lstStyle/>
              <a:p>
                <a:pPr algn="ctr">
                  <a:lnSpc>
                    <a:spcPts val="1919"/>
                  </a:lnSpc>
                </a:pPr>
              </a:p>
            </p:txBody>
          </p:sp>
        </p:grpSp>
        <p:sp>
          <p:nvSpPr>
            <p:cNvPr name="TextBox 30" id="30"/>
            <p:cNvSpPr txBox="true"/>
            <p:nvPr/>
          </p:nvSpPr>
          <p:spPr>
            <a:xfrm rot="0">
              <a:off x="0" y="656138"/>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GreenFlag</a:t>
              </a:r>
            </a:p>
          </p:txBody>
        </p:sp>
        <p:sp>
          <p:nvSpPr>
            <p:cNvPr name="TextBox 31" id="31"/>
            <p:cNvSpPr txBox="true"/>
            <p:nvPr/>
          </p:nvSpPr>
          <p:spPr>
            <a:xfrm rot="0">
              <a:off x="415950" y="506572"/>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Green Flag</a:t>
              </a:r>
            </a:p>
          </p:txBody>
        </p:sp>
      </p:grpSp>
      <p:sp>
        <p:nvSpPr>
          <p:cNvPr name="TextBox 32" id="32"/>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12</a:t>
            </a:r>
          </a:p>
        </p:txBody>
      </p:sp>
      <p:sp>
        <p:nvSpPr>
          <p:cNvPr name="TextBox 33" id="33"/>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34" id="34"/>
          <p:cNvSpPr txBox="true"/>
          <p:nvPr/>
        </p:nvSpPr>
        <p:spPr>
          <a:xfrm rot="0">
            <a:off x="415994" y="1418607"/>
            <a:ext cx="5981225" cy="549275"/>
          </a:xfrm>
          <a:prstGeom prst="rect">
            <a:avLst/>
          </a:prstGeom>
        </p:spPr>
        <p:txBody>
          <a:bodyPr anchor="t" rtlCol="false" tIns="0" lIns="0" bIns="0" rIns="0">
            <a:spAutoFit/>
          </a:bodyPr>
          <a:lstStyle/>
          <a:p>
            <a:pPr algn="l">
              <a:lnSpc>
                <a:spcPts val="3895"/>
              </a:lnSpc>
            </a:pPr>
            <a:r>
              <a:rPr lang="en-US" sz="4100" b="true">
                <a:solidFill>
                  <a:srgbClr val="FFFFFF"/>
                </a:solidFill>
                <a:latin typeface="Poppins Heavy"/>
                <a:ea typeface="Poppins Heavy"/>
                <a:cs typeface="Poppins Heavy"/>
                <a:sym typeface="Poppins Heavy"/>
              </a:rPr>
              <a:t>SCENARIO 4: MIA </a:t>
            </a:r>
          </a:p>
        </p:txBody>
      </p:sp>
      <p:grpSp>
        <p:nvGrpSpPr>
          <p:cNvPr name="Group 35" id="35"/>
          <p:cNvGrpSpPr/>
          <p:nvPr/>
        </p:nvGrpSpPr>
        <p:grpSpPr>
          <a:xfrm rot="0">
            <a:off x="2001030" y="6454832"/>
            <a:ext cx="6857760" cy="1869997"/>
            <a:chOff x="0" y="0"/>
            <a:chExt cx="9143680" cy="2493329"/>
          </a:xfrm>
        </p:grpSpPr>
        <p:sp>
          <p:nvSpPr>
            <p:cNvPr name="TextBox 36" id="36"/>
            <p:cNvSpPr txBox="true"/>
            <p:nvPr/>
          </p:nvSpPr>
          <p:spPr>
            <a:xfrm rot="0">
              <a:off x="0" y="-79033"/>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Red Flag</a:t>
              </a:r>
            </a:p>
          </p:txBody>
        </p:sp>
        <p:sp>
          <p:nvSpPr>
            <p:cNvPr name="TextBox 37" id="37"/>
            <p:cNvSpPr txBox="true"/>
            <p:nvPr/>
          </p:nvSpPr>
          <p:spPr>
            <a:xfrm rot="0">
              <a:off x="415950" y="-228600"/>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Red Flag</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6533211" y="2114888"/>
            <a:ext cx="11212154" cy="3099654"/>
            <a:chOff x="0" y="0"/>
            <a:chExt cx="957198" cy="264622"/>
          </a:xfrm>
        </p:grpSpPr>
        <p:sp>
          <p:nvSpPr>
            <p:cNvPr name="Freeform 16" id="16"/>
            <p:cNvSpPr/>
            <p:nvPr/>
          </p:nvSpPr>
          <p:spPr>
            <a:xfrm flipH="false" flipV="false" rot="0">
              <a:off x="0" y="0"/>
              <a:ext cx="957198" cy="264622"/>
            </a:xfrm>
            <a:custGeom>
              <a:avLst/>
              <a:gdLst/>
              <a:ahLst/>
              <a:cxnLst/>
              <a:rect r="r" b="b" t="t" l="l"/>
              <a:pathLst>
                <a:path h="264622" w="957198">
                  <a:moveTo>
                    <a:pt x="53405" y="0"/>
                  </a:moveTo>
                  <a:lnTo>
                    <a:pt x="903792" y="0"/>
                  </a:lnTo>
                  <a:cubicBezTo>
                    <a:pt x="917956" y="0"/>
                    <a:pt x="931540" y="5627"/>
                    <a:pt x="941556" y="15642"/>
                  </a:cubicBezTo>
                  <a:cubicBezTo>
                    <a:pt x="951571" y="25658"/>
                    <a:pt x="957198" y="39241"/>
                    <a:pt x="957198" y="53405"/>
                  </a:cubicBezTo>
                  <a:lnTo>
                    <a:pt x="957198" y="211217"/>
                  </a:lnTo>
                  <a:cubicBezTo>
                    <a:pt x="957198" y="225381"/>
                    <a:pt x="951571" y="238964"/>
                    <a:pt x="941556" y="248980"/>
                  </a:cubicBezTo>
                  <a:cubicBezTo>
                    <a:pt x="931540" y="258995"/>
                    <a:pt x="917956" y="264622"/>
                    <a:pt x="903792" y="264622"/>
                  </a:cubicBezTo>
                  <a:lnTo>
                    <a:pt x="53405" y="264622"/>
                  </a:lnTo>
                  <a:cubicBezTo>
                    <a:pt x="39241" y="264622"/>
                    <a:pt x="25658" y="258995"/>
                    <a:pt x="15642" y="248980"/>
                  </a:cubicBezTo>
                  <a:cubicBezTo>
                    <a:pt x="5627" y="238964"/>
                    <a:pt x="0" y="225381"/>
                    <a:pt x="0" y="211217"/>
                  </a:cubicBezTo>
                  <a:lnTo>
                    <a:pt x="0" y="53405"/>
                  </a:lnTo>
                  <a:cubicBezTo>
                    <a:pt x="0" y="39241"/>
                    <a:pt x="5627" y="25658"/>
                    <a:pt x="15642" y="15642"/>
                  </a:cubicBezTo>
                  <a:cubicBezTo>
                    <a:pt x="25658" y="5627"/>
                    <a:pt x="39241" y="0"/>
                    <a:pt x="53405" y="0"/>
                  </a:cubicBezTo>
                  <a:close/>
                </a:path>
              </a:pathLst>
            </a:custGeom>
            <a:gradFill rotWithShape="true">
              <a:gsLst>
                <a:gs pos="0">
                  <a:srgbClr val="85200C">
                    <a:alpha val="30000"/>
                  </a:srgbClr>
                </a:gs>
                <a:gs pos="100000">
                  <a:srgbClr val="DC4B0F">
                    <a:alpha val="100000"/>
                  </a:srgbClr>
                </a:gs>
              </a:gsLst>
              <a:lin ang="0"/>
            </a:gradFill>
          </p:spPr>
        </p:sp>
        <p:sp>
          <p:nvSpPr>
            <p:cNvPr name="TextBox 17" id="17"/>
            <p:cNvSpPr txBox="true"/>
            <p:nvPr/>
          </p:nvSpPr>
          <p:spPr>
            <a:xfrm>
              <a:off x="0" y="28575"/>
              <a:ext cx="957198" cy="236047"/>
            </a:xfrm>
            <a:prstGeom prst="rect">
              <a:avLst/>
            </a:prstGeom>
          </p:spPr>
          <p:txBody>
            <a:bodyPr anchor="ctr" rtlCol="false" tIns="42145" lIns="42145" bIns="42145" rIns="42145"/>
            <a:lstStyle/>
            <a:p>
              <a:pPr algn="ctr">
                <a:lnSpc>
                  <a:spcPts val="1919"/>
                </a:lnSpc>
              </a:pPr>
            </a:p>
          </p:txBody>
        </p:sp>
      </p:grpSp>
      <p:sp>
        <p:nvSpPr>
          <p:cNvPr name="TextBox 18" id="18"/>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13</a:t>
            </a:r>
          </a:p>
        </p:txBody>
      </p:sp>
      <p:sp>
        <p:nvSpPr>
          <p:cNvPr name="TextBox 19" id="19"/>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0" id="20"/>
          <p:cNvSpPr txBox="true"/>
          <p:nvPr/>
        </p:nvSpPr>
        <p:spPr>
          <a:xfrm rot="0">
            <a:off x="11760638" y="2500515"/>
            <a:ext cx="5570042" cy="2462509"/>
          </a:xfrm>
          <a:prstGeom prst="rect">
            <a:avLst/>
          </a:prstGeom>
        </p:spPr>
        <p:txBody>
          <a:bodyPr anchor="t" rtlCol="false" tIns="0" lIns="0" bIns="0" rIns="0">
            <a:spAutoFit/>
          </a:bodyPr>
          <a:lstStyle/>
          <a:p>
            <a:pPr algn="l">
              <a:lnSpc>
                <a:spcPts val="2711"/>
              </a:lnSpc>
            </a:pPr>
            <a:r>
              <a:rPr lang="en-US" sz="2853" u="sng" b="true">
                <a:solidFill>
                  <a:srgbClr val="FFFFFF"/>
                </a:solidFill>
                <a:latin typeface="Poppins Bold"/>
                <a:ea typeface="Poppins Bold"/>
                <a:cs typeface="Poppins Bold"/>
                <a:sym typeface="Poppins Bold"/>
              </a:rPr>
              <a:t>Pros:</a:t>
            </a:r>
            <a:r>
              <a:rPr lang="en-US" sz="2853" b="true">
                <a:solidFill>
                  <a:srgbClr val="FFFFFF"/>
                </a:solidFill>
                <a:latin typeface="Poppins Bold"/>
                <a:ea typeface="Poppins Bold"/>
                <a:cs typeface="Poppins Bold"/>
                <a:sym typeface="Poppins Bold"/>
              </a:rPr>
              <a:t> </a:t>
            </a:r>
            <a:r>
              <a:rPr lang="en-US" sz="2853" b="true">
                <a:solidFill>
                  <a:srgbClr val="FFFFFF"/>
                </a:solidFill>
                <a:latin typeface="Poppins Semi-Bold"/>
                <a:ea typeface="Poppins Semi-Bold"/>
                <a:cs typeface="Poppins Semi-Bold"/>
                <a:sym typeface="Poppins Semi-Bold"/>
              </a:rPr>
              <a:t>She saved the mark and pulled far more than her weight. </a:t>
            </a:r>
          </a:p>
          <a:p>
            <a:pPr algn="l">
              <a:lnSpc>
                <a:spcPts val="2711"/>
              </a:lnSpc>
            </a:pPr>
            <a:r>
              <a:rPr lang="en-US" sz="2853" u="sng" b="true">
                <a:solidFill>
                  <a:srgbClr val="FFFFFF"/>
                </a:solidFill>
                <a:latin typeface="Poppins Semi-Bold"/>
                <a:ea typeface="Poppins Semi-Bold"/>
                <a:cs typeface="Poppins Semi-Bold"/>
                <a:sym typeface="Poppins Semi-Bold"/>
              </a:rPr>
              <a:t>Cons:</a:t>
            </a:r>
            <a:r>
              <a:rPr lang="en-US" sz="2853" b="true">
                <a:solidFill>
                  <a:srgbClr val="FFFFFF"/>
                </a:solidFill>
                <a:latin typeface="Poppins Semi-Bold"/>
                <a:ea typeface="Poppins Semi-Bold"/>
                <a:cs typeface="Poppins Semi-Bold"/>
                <a:sym typeface="Poppins Semi-Bold"/>
              </a:rPr>
              <a:t> She also removed the only chance those two had to fix it, and then hid the evidence from the tutor.</a:t>
            </a:r>
          </a:p>
        </p:txBody>
      </p:sp>
      <p:grpSp>
        <p:nvGrpSpPr>
          <p:cNvPr name="Group 21" id="21"/>
          <p:cNvGrpSpPr/>
          <p:nvPr/>
        </p:nvGrpSpPr>
        <p:grpSpPr>
          <a:xfrm rot="0">
            <a:off x="6396102" y="2596987"/>
            <a:ext cx="5474928" cy="2457445"/>
            <a:chOff x="0" y="0"/>
            <a:chExt cx="7299904" cy="3276593"/>
          </a:xfrm>
        </p:grpSpPr>
        <p:sp>
          <p:nvSpPr>
            <p:cNvPr name="TextBox 22" id="22"/>
            <p:cNvSpPr txBox="true"/>
            <p:nvPr/>
          </p:nvSpPr>
          <p:spPr>
            <a:xfrm rot="0">
              <a:off x="422978" y="-89198"/>
              <a:ext cx="6876926" cy="3365791"/>
            </a:xfrm>
            <a:prstGeom prst="rect">
              <a:avLst/>
            </a:prstGeom>
          </p:spPr>
          <p:txBody>
            <a:bodyPr anchor="t" rtlCol="false" tIns="0" lIns="0" bIns="0" rIns="0">
              <a:spAutoFit/>
            </a:bodyPr>
            <a:lstStyle/>
            <a:p>
              <a:pPr algn="ctr">
                <a:lnSpc>
                  <a:spcPts val="21288"/>
                </a:lnSpc>
              </a:pPr>
              <a:r>
                <a:rPr lang="en-US" sz="15205" spc="45">
                  <a:solidFill>
                    <a:srgbClr val="000000">
                      <a:alpha val="30980"/>
                    </a:srgbClr>
                  </a:solidFill>
                  <a:latin typeface="Milestone Script"/>
                  <a:ea typeface="Milestone Script"/>
                  <a:cs typeface="Milestone Script"/>
                  <a:sym typeface="Milestone Script"/>
                </a:rPr>
                <a:t>Why?</a:t>
              </a:r>
            </a:p>
          </p:txBody>
        </p:sp>
        <p:sp>
          <p:nvSpPr>
            <p:cNvPr name="TextBox 23" id="23"/>
            <p:cNvSpPr txBox="true"/>
            <p:nvPr/>
          </p:nvSpPr>
          <p:spPr>
            <a:xfrm rot="0">
              <a:off x="0" y="-285750"/>
              <a:ext cx="7150254" cy="3365791"/>
            </a:xfrm>
            <a:prstGeom prst="rect">
              <a:avLst/>
            </a:prstGeom>
          </p:spPr>
          <p:txBody>
            <a:bodyPr anchor="t" rtlCol="false" tIns="0" lIns="0" bIns="0" rIns="0">
              <a:spAutoFit/>
            </a:bodyPr>
            <a:lstStyle/>
            <a:p>
              <a:pPr algn="ctr">
                <a:lnSpc>
                  <a:spcPts val="21288"/>
                </a:lnSpc>
              </a:pPr>
              <a:r>
                <a:rPr lang="en-US" sz="15205" spc="45">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Why?</a:t>
              </a:r>
            </a:p>
          </p:txBody>
        </p:sp>
      </p:grpSp>
      <p:grpSp>
        <p:nvGrpSpPr>
          <p:cNvPr name="Group 24" id="24"/>
          <p:cNvGrpSpPr/>
          <p:nvPr/>
        </p:nvGrpSpPr>
        <p:grpSpPr>
          <a:xfrm rot="0">
            <a:off x="3855631" y="6014118"/>
            <a:ext cx="10756617" cy="2036826"/>
            <a:chOff x="0" y="0"/>
            <a:chExt cx="14342157" cy="2715768"/>
          </a:xfrm>
        </p:grpSpPr>
        <p:grpSp>
          <p:nvGrpSpPr>
            <p:cNvPr name="Group 25" id="25"/>
            <p:cNvGrpSpPr/>
            <p:nvPr/>
          </p:nvGrpSpPr>
          <p:grpSpPr>
            <a:xfrm rot="0">
              <a:off x="168625" y="12700"/>
              <a:ext cx="14173532" cy="2665787"/>
              <a:chOff x="0" y="0"/>
              <a:chExt cx="1280731" cy="240883"/>
            </a:xfrm>
          </p:grpSpPr>
          <p:sp>
            <p:nvSpPr>
              <p:cNvPr name="Freeform 26" id="26"/>
              <p:cNvSpPr/>
              <p:nvPr/>
            </p:nvSpPr>
            <p:spPr>
              <a:xfrm flipH="false" flipV="false" rot="0">
                <a:off x="0" y="0"/>
                <a:ext cx="1280731" cy="240883"/>
              </a:xfrm>
              <a:custGeom>
                <a:avLst/>
                <a:gdLst/>
                <a:ahLst/>
                <a:cxnLst/>
                <a:rect r="r" b="b" t="t" l="l"/>
                <a:pathLst>
                  <a:path h="240883" w="1280731">
                    <a:moveTo>
                      <a:pt x="6828" y="0"/>
                    </a:moveTo>
                    <a:lnTo>
                      <a:pt x="1273903" y="0"/>
                    </a:lnTo>
                    <a:cubicBezTo>
                      <a:pt x="1275714" y="0"/>
                      <a:pt x="1277451" y="719"/>
                      <a:pt x="1278731" y="2000"/>
                    </a:cubicBezTo>
                    <a:cubicBezTo>
                      <a:pt x="1280012" y="3280"/>
                      <a:pt x="1280731" y="5017"/>
                      <a:pt x="1280731" y="6828"/>
                    </a:cubicBezTo>
                    <a:lnTo>
                      <a:pt x="1280731" y="234055"/>
                    </a:lnTo>
                    <a:cubicBezTo>
                      <a:pt x="1280731" y="235866"/>
                      <a:pt x="1280012" y="237602"/>
                      <a:pt x="1278731" y="238883"/>
                    </a:cubicBezTo>
                    <a:cubicBezTo>
                      <a:pt x="1277451" y="240163"/>
                      <a:pt x="1275714" y="240883"/>
                      <a:pt x="1273903" y="240883"/>
                    </a:cubicBezTo>
                    <a:lnTo>
                      <a:pt x="6828" y="240883"/>
                    </a:lnTo>
                    <a:cubicBezTo>
                      <a:pt x="5017" y="240883"/>
                      <a:pt x="3280" y="240163"/>
                      <a:pt x="2000" y="238883"/>
                    </a:cubicBezTo>
                    <a:cubicBezTo>
                      <a:pt x="719" y="237602"/>
                      <a:pt x="0" y="235866"/>
                      <a:pt x="0" y="234055"/>
                    </a:cubicBezTo>
                    <a:lnTo>
                      <a:pt x="0" y="6828"/>
                    </a:lnTo>
                    <a:cubicBezTo>
                      <a:pt x="0" y="5017"/>
                      <a:pt x="719" y="3280"/>
                      <a:pt x="2000" y="2000"/>
                    </a:cubicBezTo>
                    <a:cubicBezTo>
                      <a:pt x="3280" y="719"/>
                      <a:pt x="5017" y="0"/>
                      <a:pt x="6828" y="0"/>
                    </a:cubicBezTo>
                    <a:close/>
                  </a:path>
                </a:pathLst>
              </a:custGeom>
              <a:gradFill rotWithShape="true">
                <a:gsLst>
                  <a:gs pos="0">
                    <a:srgbClr val="FFFFFF">
                      <a:alpha val="100000"/>
                    </a:srgbClr>
                  </a:gs>
                  <a:gs pos="100000">
                    <a:srgbClr val="FFFFFF">
                      <a:alpha val="0"/>
                    </a:srgbClr>
                  </a:gs>
                </a:gsLst>
                <a:lin ang="0"/>
              </a:gradFill>
            </p:spPr>
          </p:sp>
          <p:sp>
            <p:nvSpPr>
              <p:cNvPr name="TextBox 27" id="27"/>
              <p:cNvSpPr txBox="true"/>
              <p:nvPr/>
            </p:nvSpPr>
            <p:spPr>
              <a:xfrm>
                <a:off x="0" y="28575"/>
                <a:ext cx="1280731" cy="212308"/>
              </a:xfrm>
              <a:prstGeom prst="rect">
                <a:avLst/>
              </a:prstGeom>
            </p:spPr>
            <p:txBody>
              <a:bodyPr anchor="ctr" rtlCol="false" tIns="42145" lIns="42145" bIns="42145" rIns="42145"/>
              <a:lstStyle/>
              <a:p>
                <a:pPr algn="ctr">
                  <a:lnSpc>
                    <a:spcPts val="1919"/>
                  </a:lnSpc>
                </a:pPr>
              </a:p>
            </p:txBody>
          </p:sp>
        </p:grpSp>
        <p:grpSp>
          <p:nvGrpSpPr>
            <p:cNvPr name="Group 28" id="28"/>
            <p:cNvGrpSpPr/>
            <p:nvPr/>
          </p:nvGrpSpPr>
          <p:grpSpPr>
            <a:xfrm rot="0">
              <a:off x="0" y="0"/>
              <a:ext cx="299496" cy="2715768"/>
              <a:chOff x="0" y="0"/>
              <a:chExt cx="46219" cy="419100"/>
            </a:xfrm>
          </p:grpSpPr>
          <p:sp>
            <p:nvSpPr>
              <p:cNvPr name="Freeform 29" id="29"/>
              <p:cNvSpPr/>
              <p:nvPr/>
            </p:nvSpPr>
            <p:spPr>
              <a:xfrm flipH="false" flipV="false" rot="0">
                <a:off x="0" y="0"/>
                <a:ext cx="46219" cy="419100"/>
              </a:xfrm>
              <a:custGeom>
                <a:avLst/>
                <a:gdLst/>
                <a:ahLst/>
                <a:cxnLst/>
                <a:rect r="r" b="b" t="t" l="l"/>
                <a:pathLst>
                  <a:path h="419100" w="46219">
                    <a:moveTo>
                      <a:pt x="23109" y="0"/>
                    </a:moveTo>
                    <a:lnTo>
                      <a:pt x="23109" y="0"/>
                    </a:lnTo>
                    <a:cubicBezTo>
                      <a:pt x="29238" y="0"/>
                      <a:pt x="35116" y="2435"/>
                      <a:pt x="39450" y="6769"/>
                    </a:cubicBezTo>
                    <a:cubicBezTo>
                      <a:pt x="43784" y="11102"/>
                      <a:pt x="46219" y="16980"/>
                      <a:pt x="46219" y="23109"/>
                    </a:cubicBezTo>
                    <a:lnTo>
                      <a:pt x="46219" y="395991"/>
                    </a:lnTo>
                    <a:cubicBezTo>
                      <a:pt x="46219" y="402120"/>
                      <a:pt x="43784" y="407998"/>
                      <a:pt x="39450" y="412331"/>
                    </a:cubicBezTo>
                    <a:cubicBezTo>
                      <a:pt x="35116" y="416665"/>
                      <a:pt x="29238" y="419100"/>
                      <a:pt x="23109" y="419100"/>
                    </a:cubicBezTo>
                    <a:lnTo>
                      <a:pt x="23109" y="419100"/>
                    </a:lnTo>
                    <a:cubicBezTo>
                      <a:pt x="16980" y="419100"/>
                      <a:pt x="11102" y="416665"/>
                      <a:pt x="6769" y="412331"/>
                    </a:cubicBezTo>
                    <a:cubicBezTo>
                      <a:pt x="2435" y="407998"/>
                      <a:pt x="0" y="402120"/>
                      <a:pt x="0" y="395991"/>
                    </a:cubicBezTo>
                    <a:lnTo>
                      <a:pt x="0" y="23109"/>
                    </a:lnTo>
                    <a:cubicBezTo>
                      <a:pt x="0" y="16980"/>
                      <a:pt x="2435" y="11102"/>
                      <a:pt x="6769" y="6769"/>
                    </a:cubicBezTo>
                    <a:cubicBezTo>
                      <a:pt x="11102" y="2435"/>
                      <a:pt x="16980" y="0"/>
                      <a:pt x="23109" y="0"/>
                    </a:cubicBezTo>
                    <a:close/>
                  </a:path>
                </a:pathLst>
              </a:custGeom>
              <a:solidFill>
                <a:srgbClr val="6E3125"/>
              </a:solidFill>
            </p:spPr>
          </p:sp>
          <p:sp>
            <p:nvSpPr>
              <p:cNvPr name="TextBox 30" id="30"/>
              <p:cNvSpPr txBox="true"/>
              <p:nvPr/>
            </p:nvSpPr>
            <p:spPr>
              <a:xfrm>
                <a:off x="0" y="28575"/>
                <a:ext cx="46219" cy="390525"/>
              </a:xfrm>
              <a:prstGeom prst="rect">
                <a:avLst/>
              </a:prstGeom>
            </p:spPr>
            <p:txBody>
              <a:bodyPr anchor="ctr" rtlCol="false" tIns="50800" lIns="50800" bIns="50800" rIns="50800"/>
              <a:lstStyle/>
              <a:p>
                <a:pPr algn="ctr">
                  <a:lnSpc>
                    <a:spcPts val="1919"/>
                  </a:lnSpc>
                </a:pPr>
              </a:p>
            </p:txBody>
          </p:sp>
        </p:grpSp>
        <p:sp>
          <p:nvSpPr>
            <p:cNvPr name="TextBox 31" id="31"/>
            <p:cNvSpPr txBox="true"/>
            <p:nvPr/>
          </p:nvSpPr>
          <p:spPr>
            <a:xfrm rot="0">
              <a:off x="789272" y="519289"/>
              <a:ext cx="12932236" cy="1656715"/>
            </a:xfrm>
            <a:prstGeom prst="rect">
              <a:avLst/>
            </a:prstGeom>
          </p:spPr>
          <p:txBody>
            <a:bodyPr anchor="t" rtlCol="false" tIns="0" lIns="0" bIns="0" rIns="0">
              <a:spAutoFit/>
            </a:bodyPr>
            <a:lstStyle/>
            <a:p>
              <a:pPr algn="l">
                <a:lnSpc>
                  <a:spcPts val="3210"/>
                </a:lnSpc>
              </a:pPr>
              <a:r>
                <a:rPr lang="en-US" sz="3000" b="true">
                  <a:solidFill>
                    <a:srgbClr val="6E3125"/>
                  </a:solidFill>
                  <a:latin typeface="Poppins Heavy"/>
                  <a:ea typeface="Poppins Heavy"/>
                  <a:cs typeface="Poppins Heavy"/>
                  <a:sym typeface="Poppins Heavy"/>
                </a:rPr>
                <a:t>What should the other two get? How would the tutor ever know? What did Mia’s silence cost them?</a:t>
              </a:r>
            </a:p>
          </p:txBody>
        </p:sp>
      </p:grpSp>
      <p:grpSp>
        <p:nvGrpSpPr>
          <p:cNvPr name="Group 32" id="32"/>
          <p:cNvGrpSpPr/>
          <p:nvPr/>
        </p:nvGrpSpPr>
        <p:grpSpPr>
          <a:xfrm rot="0">
            <a:off x="838660" y="2114888"/>
            <a:ext cx="5557442" cy="3139364"/>
            <a:chOff x="0" y="0"/>
            <a:chExt cx="409970" cy="231589"/>
          </a:xfrm>
        </p:grpSpPr>
        <p:sp>
          <p:nvSpPr>
            <p:cNvPr name="Freeform 33" id="33"/>
            <p:cNvSpPr/>
            <p:nvPr/>
          </p:nvSpPr>
          <p:spPr>
            <a:xfrm flipH="false" flipV="false" rot="0">
              <a:off x="0" y="0"/>
              <a:ext cx="409970" cy="231589"/>
            </a:xfrm>
            <a:custGeom>
              <a:avLst/>
              <a:gdLst/>
              <a:ahLst/>
              <a:cxnLst/>
              <a:rect r="r" b="b" t="t" l="l"/>
              <a:pathLst>
                <a:path h="231589" w="409970">
                  <a:moveTo>
                    <a:pt x="82714" y="0"/>
                  </a:moveTo>
                  <a:lnTo>
                    <a:pt x="327256" y="0"/>
                  </a:lnTo>
                  <a:cubicBezTo>
                    <a:pt x="372937" y="0"/>
                    <a:pt x="409970" y="37032"/>
                    <a:pt x="409970" y="82714"/>
                  </a:cubicBezTo>
                  <a:lnTo>
                    <a:pt x="409970" y="148876"/>
                  </a:lnTo>
                  <a:cubicBezTo>
                    <a:pt x="409970" y="194557"/>
                    <a:pt x="372937" y="231589"/>
                    <a:pt x="327256" y="231589"/>
                  </a:cubicBezTo>
                  <a:lnTo>
                    <a:pt x="82714" y="231589"/>
                  </a:lnTo>
                  <a:cubicBezTo>
                    <a:pt x="37032" y="231589"/>
                    <a:pt x="0" y="194557"/>
                    <a:pt x="0" y="148876"/>
                  </a:cubicBezTo>
                  <a:lnTo>
                    <a:pt x="0" y="82714"/>
                  </a:lnTo>
                  <a:cubicBezTo>
                    <a:pt x="0" y="37032"/>
                    <a:pt x="37032" y="0"/>
                    <a:pt x="82714" y="0"/>
                  </a:cubicBezTo>
                  <a:close/>
                </a:path>
              </a:pathLst>
            </a:custGeom>
            <a:gradFill rotWithShape="true">
              <a:gsLst>
                <a:gs pos="0">
                  <a:srgbClr val="85200C">
                    <a:alpha val="30000"/>
                  </a:srgbClr>
                </a:gs>
                <a:gs pos="100000">
                  <a:srgbClr val="940000">
                    <a:alpha val="100000"/>
                  </a:srgbClr>
                </a:gs>
              </a:gsLst>
              <a:lin ang="0"/>
            </a:gradFill>
          </p:spPr>
        </p:sp>
        <p:sp>
          <p:nvSpPr>
            <p:cNvPr name="TextBox 34" id="34"/>
            <p:cNvSpPr txBox="true"/>
            <p:nvPr/>
          </p:nvSpPr>
          <p:spPr>
            <a:xfrm>
              <a:off x="0" y="28575"/>
              <a:ext cx="409970" cy="203014"/>
            </a:xfrm>
            <a:prstGeom prst="rect">
              <a:avLst/>
            </a:prstGeom>
          </p:spPr>
          <p:txBody>
            <a:bodyPr anchor="ctr" rtlCol="false" tIns="50800" lIns="50800" bIns="50800" rIns="50800"/>
            <a:lstStyle/>
            <a:p>
              <a:pPr algn="ctr">
                <a:lnSpc>
                  <a:spcPts val="1919"/>
                </a:lnSpc>
              </a:pPr>
            </a:p>
          </p:txBody>
        </p:sp>
      </p:grpSp>
      <p:sp>
        <p:nvSpPr>
          <p:cNvPr name="TextBox 35" id="35"/>
          <p:cNvSpPr txBox="true"/>
          <p:nvPr/>
        </p:nvSpPr>
        <p:spPr>
          <a:xfrm rot="0">
            <a:off x="1691415" y="2805510"/>
            <a:ext cx="3851933" cy="1862999"/>
          </a:xfrm>
          <a:prstGeom prst="rect">
            <a:avLst/>
          </a:prstGeom>
        </p:spPr>
        <p:txBody>
          <a:bodyPr anchor="t" rtlCol="false" tIns="0" lIns="0" bIns="0" rIns="0">
            <a:spAutoFit/>
          </a:bodyPr>
          <a:lstStyle/>
          <a:p>
            <a:pPr algn="ctr">
              <a:lnSpc>
                <a:spcPts val="6853"/>
              </a:lnSpc>
            </a:pPr>
            <a:r>
              <a:rPr lang="en-US" sz="7213" b="true">
                <a:solidFill>
                  <a:srgbClr val="FFFFFF"/>
                </a:solidFill>
                <a:latin typeface="Poppins Heavy"/>
                <a:ea typeface="Poppins Heavy"/>
                <a:cs typeface="Poppins Heavy"/>
                <a:sym typeface="Poppins Heavy"/>
              </a:rPr>
              <a:t>RED FLAG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48115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1271343" y="1105777"/>
            <a:ext cx="7487927" cy="1140886"/>
            <a:chOff x="0" y="0"/>
            <a:chExt cx="605413" cy="92243"/>
          </a:xfrm>
        </p:grpSpPr>
        <p:sp>
          <p:nvSpPr>
            <p:cNvPr name="Freeform 16" id="16"/>
            <p:cNvSpPr/>
            <p:nvPr/>
          </p:nvSpPr>
          <p:spPr>
            <a:xfrm flipH="false" flipV="false" rot="0">
              <a:off x="0" y="0"/>
              <a:ext cx="605413" cy="92243"/>
            </a:xfrm>
            <a:custGeom>
              <a:avLst/>
              <a:gdLst/>
              <a:ahLst/>
              <a:cxnLst/>
              <a:rect r="r" b="b" t="t" l="l"/>
              <a:pathLst>
                <a:path h="92243" w="605413">
                  <a:moveTo>
                    <a:pt x="46121" y="0"/>
                  </a:moveTo>
                  <a:lnTo>
                    <a:pt x="559292" y="0"/>
                  </a:lnTo>
                  <a:cubicBezTo>
                    <a:pt x="571524" y="0"/>
                    <a:pt x="583255" y="4859"/>
                    <a:pt x="591905" y="13509"/>
                  </a:cubicBezTo>
                  <a:cubicBezTo>
                    <a:pt x="600554" y="22158"/>
                    <a:pt x="605413" y="33889"/>
                    <a:pt x="605413" y="46121"/>
                  </a:cubicBezTo>
                  <a:lnTo>
                    <a:pt x="605413" y="46121"/>
                  </a:lnTo>
                  <a:cubicBezTo>
                    <a:pt x="605413" y="58354"/>
                    <a:pt x="600554" y="70085"/>
                    <a:pt x="591905" y="78734"/>
                  </a:cubicBezTo>
                  <a:cubicBezTo>
                    <a:pt x="583255" y="87384"/>
                    <a:pt x="571524" y="92243"/>
                    <a:pt x="559292" y="92243"/>
                  </a:cubicBezTo>
                  <a:lnTo>
                    <a:pt x="46121" y="92243"/>
                  </a:lnTo>
                  <a:cubicBezTo>
                    <a:pt x="33889" y="92243"/>
                    <a:pt x="22158" y="87384"/>
                    <a:pt x="13509" y="78734"/>
                  </a:cubicBezTo>
                  <a:cubicBezTo>
                    <a:pt x="4859" y="70085"/>
                    <a:pt x="0" y="58354"/>
                    <a:pt x="0" y="46121"/>
                  </a:cubicBezTo>
                  <a:lnTo>
                    <a:pt x="0" y="46121"/>
                  </a:lnTo>
                  <a:cubicBezTo>
                    <a:pt x="0" y="33889"/>
                    <a:pt x="4859" y="22158"/>
                    <a:pt x="13509" y="13509"/>
                  </a:cubicBezTo>
                  <a:cubicBezTo>
                    <a:pt x="22158" y="4859"/>
                    <a:pt x="33889" y="0"/>
                    <a:pt x="46121" y="0"/>
                  </a:cubicBezTo>
                  <a:close/>
                </a:path>
              </a:pathLst>
            </a:custGeom>
            <a:gradFill rotWithShape="true">
              <a:gsLst>
                <a:gs pos="0">
                  <a:srgbClr val="85200C">
                    <a:alpha val="100000"/>
                  </a:srgbClr>
                </a:gs>
                <a:gs pos="100000">
                  <a:srgbClr val="DC4B0F">
                    <a:alpha val="100000"/>
                  </a:srgbClr>
                </a:gs>
              </a:gsLst>
              <a:lin ang="0"/>
            </a:gradFill>
          </p:spPr>
        </p:sp>
        <p:sp>
          <p:nvSpPr>
            <p:cNvPr name="TextBox 17" id="17"/>
            <p:cNvSpPr txBox="true"/>
            <p:nvPr/>
          </p:nvSpPr>
          <p:spPr>
            <a:xfrm>
              <a:off x="0" y="28575"/>
              <a:ext cx="605413" cy="63668"/>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1335310" y="2551282"/>
            <a:ext cx="15617380" cy="3158216"/>
            <a:chOff x="0" y="0"/>
            <a:chExt cx="20823173" cy="4210955"/>
          </a:xfrm>
        </p:grpSpPr>
        <p:grpSp>
          <p:nvGrpSpPr>
            <p:cNvPr name="Group 19" id="19"/>
            <p:cNvGrpSpPr/>
            <p:nvPr/>
          </p:nvGrpSpPr>
          <p:grpSpPr>
            <a:xfrm rot="0">
              <a:off x="0" y="0"/>
              <a:ext cx="20823173" cy="4210955"/>
              <a:chOff x="0" y="0"/>
              <a:chExt cx="1135704" cy="229667"/>
            </a:xfrm>
          </p:grpSpPr>
          <p:sp>
            <p:nvSpPr>
              <p:cNvPr name="Freeform 20" id="20"/>
              <p:cNvSpPr/>
              <p:nvPr/>
            </p:nvSpPr>
            <p:spPr>
              <a:xfrm flipH="false" flipV="false" rot="0">
                <a:off x="0" y="0"/>
                <a:ext cx="1135704" cy="229667"/>
              </a:xfrm>
              <a:custGeom>
                <a:avLst/>
                <a:gdLst/>
                <a:ahLst/>
                <a:cxnLst/>
                <a:rect r="r" b="b" t="t" l="l"/>
                <a:pathLst>
                  <a:path h="229667" w="1135704">
                    <a:moveTo>
                      <a:pt x="42628" y="0"/>
                    </a:moveTo>
                    <a:lnTo>
                      <a:pt x="1093075" y="0"/>
                    </a:lnTo>
                    <a:cubicBezTo>
                      <a:pt x="1104381" y="0"/>
                      <a:pt x="1115224" y="4491"/>
                      <a:pt x="1123218" y="12486"/>
                    </a:cubicBezTo>
                    <a:cubicBezTo>
                      <a:pt x="1131212" y="20480"/>
                      <a:pt x="1135704" y="31323"/>
                      <a:pt x="1135704" y="42628"/>
                    </a:cubicBezTo>
                    <a:lnTo>
                      <a:pt x="1135704" y="187039"/>
                    </a:lnTo>
                    <a:cubicBezTo>
                      <a:pt x="1135704" y="198344"/>
                      <a:pt x="1131212" y="209187"/>
                      <a:pt x="1123218" y="217181"/>
                    </a:cubicBezTo>
                    <a:cubicBezTo>
                      <a:pt x="1115224" y="225176"/>
                      <a:pt x="1104381" y="229667"/>
                      <a:pt x="1093075" y="229667"/>
                    </a:cubicBezTo>
                    <a:lnTo>
                      <a:pt x="42628" y="229667"/>
                    </a:lnTo>
                    <a:cubicBezTo>
                      <a:pt x="31323" y="229667"/>
                      <a:pt x="20480" y="225176"/>
                      <a:pt x="12486" y="217181"/>
                    </a:cubicBezTo>
                    <a:cubicBezTo>
                      <a:pt x="4491" y="209187"/>
                      <a:pt x="0" y="198344"/>
                      <a:pt x="0" y="187039"/>
                    </a:cubicBezTo>
                    <a:lnTo>
                      <a:pt x="0" y="42628"/>
                    </a:lnTo>
                    <a:cubicBezTo>
                      <a:pt x="0" y="31323"/>
                      <a:pt x="4491" y="20480"/>
                      <a:pt x="12486" y="12486"/>
                    </a:cubicBezTo>
                    <a:cubicBezTo>
                      <a:pt x="20480" y="4491"/>
                      <a:pt x="31323" y="0"/>
                      <a:pt x="42628" y="0"/>
                    </a:cubicBezTo>
                    <a:close/>
                  </a:path>
                </a:pathLst>
              </a:custGeom>
              <a:gradFill rotWithShape="true">
                <a:gsLst>
                  <a:gs pos="0">
                    <a:srgbClr val="85200C">
                      <a:alpha val="30000"/>
                    </a:srgbClr>
                  </a:gs>
                  <a:gs pos="100000">
                    <a:srgbClr val="DC4B0F">
                      <a:alpha val="100000"/>
                    </a:srgbClr>
                  </a:gs>
                </a:gsLst>
                <a:lin ang="0"/>
              </a:gradFill>
            </p:spPr>
          </p:sp>
          <p:sp>
            <p:nvSpPr>
              <p:cNvPr name="TextBox 21" id="21"/>
              <p:cNvSpPr txBox="true"/>
              <p:nvPr/>
            </p:nvSpPr>
            <p:spPr>
              <a:xfrm>
                <a:off x="0" y="28575"/>
                <a:ext cx="1135704" cy="201092"/>
              </a:xfrm>
              <a:prstGeom prst="rect">
                <a:avLst/>
              </a:prstGeom>
            </p:spPr>
            <p:txBody>
              <a:bodyPr anchor="ctr" rtlCol="false" tIns="50800" lIns="50800" bIns="50800" rIns="50800"/>
              <a:lstStyle/>
              <a:p>
                <a:pPr algn="ctr">
                  <a:lnSpc>
                    <a:spcPts val="1920"/>
                  </a:lnSpc>
                </a:pPr>
              </a:p>
            </p:txBody>
          </p:sp>
        </p:grpSp>
        <p:sp>
          <p:nvSpPr>
            <p:cNvPr name="TextBox 22" id="22"/>
            <p:cNvSpPr txBox="true"/>
            <p:nvPr/>
          </p:nvSpPr>
          <p:spPr>
            <a:xfrm rot="0">
              <a:off x="620640" y="585681"/>
              <a:ext cx="19722570" cy="3002496"/>
            </a:xfrm>
            <a:prstGeom prst="rect">
              <a:avLst/>
            </a:prstGeom>
          </p:spPr>
          <p:txBody>
            <a:bodyPr anchor="t" rtlCol="false" tIns="0" lIns="0" bIns="0" rIns="0">
              <a:spAutoFit/>
            </a:bodyPr>
            <a:lstStyle/>
            <a:p>
              <a:pPr algn="ctr">
                <a:lnSpc>
                  <a:spcPts val="3485"/>
                </a:lnSpc>
              </a:pPr>
              <a:r>
                <a:rPr lang="en-US" sz="3668" b="true">
                  <a:solidFill>
                    <a:srgbClr val="FFFFFF"/>
                  </a:solidFill>
                  <a:latin typeface="Poppins Semi-Bold"/>
                  <a:ea typeface="Poppins Semi-Bold"/>
                  <a:cs typeface="Poppins Semi-Bold"/>
                  <a:sym typeface="Poppins Semi-Bold"/>
                </a:rPr>
                <a:t>Amir posted in the group chat that Grace’s section doesn’t meet the criteria, is a bit sloppy, and needs redoing. </a:t>
              </a:r>
            </a:p>
            <a:p>
              <a:pPr algn="ctr">
                <a:lnSpc>
                  <a:spcPts val="3485"/>
                </a:lnSpc>
              </a:pPr>
            </a:p>
            <a:p>
              <a:pPr algn="ctr">
                <a:lnSpc>
                  <a:spcPts val="3485"/>
                </a:lnSpc>
              </a:pPr>
              <a:r>
                <a:rPr lang="en-US" sz="3668" b="true">
                  <a:solidFill>
                    <a:srgbClr val="FFFFFF"/>
                  </a:solidFill>
                  <a:latin typeface="Poppins Semi-Bold"/>
                  <a:ea typeface="Poppins Semi-Bold"/>
                  <a:cs typeface="Poppins Semi-Bold"/>
                  <a:sym typeface="Poppins Semi-Bold"/>
                </a:rPr>
                <a:t>He’s right, and he’s given two weeks’ warning. Grace hasn’t posted since.</a:t>
              </a:r>
            </a:p>
          </p:txBody>
        </p:sp>
      </p:grpSp>
      <p:grpSp>
        <p:nvGrpSpPr>
          <p:cNvPr name="Group 23" id="23"/>
          <p:cNvGrpSpPr/>
          <p:nvPr/>
        </p:nvGrpSpPr>
        <p:grpSpPr>
          <a:xfrm rot="0">
            <a:off x="2086942" y="5991187"/>
            <a:ext cx="6705133" cy="2864363"/>
            <a:chOff x="0" y="0"/>
            <a:chExt cx="542123" cy="231589"/>
          </a:xfrm>
        </p:grpSpPr>
        <p:sp>
          <p:nvSpPr>
            <p:cNvPr name="Freeform 24" id="24"/>
            <p:cNvSpPr/>
            <p:nvPr/>
          </p:nvSpPr>
          <p:spPr>
            <a:xfrm flipH="false" flipV="false" rot="0">
              <a:off x="0" y="0"/>
              <a:ext cx="542123" cy="231589"/>
            </a:xfrm>
            <a:custGeom>
              <a:avLst/>
              <a:gdLst/>
              <a:ahLst/>
              <a:cxnLst/>
              <a:rect r="r" b="b" t="t" l="l"/>
              <a:pathLst>
                <a:path h="231589" w="542123">
                  <a:moveTo>
                    <a:pt x="68556" y="0"/>
                  </a:moveTo>
                  <a:lnTo>
                    <a:pt x="473567" y="0"/>
                  </a:lnTo>
                  <a:cubicBezTo>
                    <a:pt x="511429" y="0"/>
                    <a:pt x="542123" y="30694"/>
                    <a:pt x="542123" y="68556"/>
                  </a:cubicBezTo>
                  <a:lnTo>
                    <a:pt x="542123" y="163033"/>
                  </a:lnTo>
                  <a:cubicBezTo>
                    <a:pt x="542123" y="181215"/>
                    <a:pt x="534900" y="198653"/>
                    <a:pt x="522043" y="211510"/>
                  </a:cubicBezTo>
                  <a:cubicBezTo>
                    <a:pt x="509187" y="224366"/>
                    <a:pt x="491749" y="231589"/>
                    <a:pt x="473567" y="231589"/>
                  </a:cubicBezTo>
                  <a:lnTo>
                    <a:pt x="68556" y="231589"/>
                  </a:lnTo>
                  <a:cubicBezTo>
                    <a:pt x="50374" y="231589"/>
                    <a:pt x="32936" y="224366"/>
                    <a:pt x="20080" y="211510"/>
                  </a:cubicBezTo>
                  <a:cubicBezTo>
                    <a:pt x="7223" y="198653"/>
                    <a:pt x="0" y="181215"/>
                    <a:pt x="0" y="163033"/>
                  </a:cubicBezTo>
                  <a:lnTo>
                    <a:pt x="0" y="68556"/>
                  </a:lnTo>
                  <a:cubicBezTo>
                    <a:pt x="0" y="50374"/>
                    <a:pt x="7223" y="32936"/>
                    <a:pt x="20080" y="20080"/>
                  </a:cubicBezTo>
                  <a:cubicBezTo>
                    <a:pt x="32936" y="7223"/>
                    <a:pt x="50374" y="0"/>
                    <a:pt x="68556" y="0"/>
                  </a:cubicBezTo>
                  <a:close/>
                </a:path>
              </a:pathLst>
            </a:custGeom>
            <a:gradFill rotWithShape="true">
              <a:gsLst>
                <a:gs pos="0">
                  <a:srgbClr val="85200C">
                    <a:alpha val="30000"/>
                  </a:srgbClr>
                </a:gs>
                <a:gs pos="100000">
                  <a:srgbClr val="940000">
                    <a:alpha val="100000"/>
                  </a:srgbClr>
                </a:gs>
              </a:gsLst>
              <a:lin ang="0"/>
            </a:gradFill>
          </p:spPr>
        </p:sp>
        <p:sp>
          <p:nvSpPr>
            <p:cNvPr name="TextBox 25" id="25"/>
            <p:cNvSpPr txBox="true"/>
            <p:nvPr/>
          </p:nvSpPr>
          <p:spPr>
            <a:xfrm>
              <a:off x="0" y="28575"/>
              <a:ext cx="542123" cy="203014"/>
            </a:xfrm>
            <a:prstGeom prst="rect">
              <a:avLst/>
            </a:prstGeom>
          </p:spPr>
          <p:txBody>
            <a:bodyPr anchor="ctr" rtlCol="false" tIns="50800" lIns="50800" bIns="50800" rIns="50800"/>
            <a:lstStyle/>
            <a:p>
              <a:pPr algn="ctr">
                <a:lnSpc>
                  <a:spcPts val="1919"/>
                </a:lnSpc>
              </a:pPr>
            </a:p>
          </p:txBody>
        </p:sp>
      </p:grpSp>
      <p:grpSp>
        <p:nvGrpSpPr>
          <p:cNvPr name="Group 26" id="26"/>
          <p:cNvGrpSpPr/>
          <p:nvPr/>
        </p:nvGrpSpPr>
        <p:grpSpPr>
          <a:xfrm rot="0">
            <a:off x="9036459" y="6021677"/>
            <a:ext cx="6857760" cy="2864363"/>
            <a:chOff x="0" y="0"/>
            <a:chExt cx="9143680" cy="3819150"/>
          </a:xfrm>
        </p:grpSpPr>
        <p:grpSp>
          <p:nvGrpSpPr>
            <p:cNvPr name="Group 27" id="27"/>
            <p:cNvGrpSpPr/>
            <p:nvPr/>
          </p:nvGrpSpPr>
          <p:grpSpPr>
            <a:xfrm rot="0">
              <a:off x="50565" y="0"/>
              <a:ext cx="8869518" cy="3819150"/>
              <a:chOff x="0" y="0"/>
              <a:chExt cx="537838" cy="231589"/>
            </a:xfrm>
          </p:grpSpPr>
          <p:sp>
            <p:nvSpPr>
              <p:cNvPr name="Freeform 28" id="28"/>
              <p:cNvSpPr/>
              <p:nvPr/>
            </p:nvSpPr>
            <p:spPr>
              <a:xfrm flipH="false" flipV="false" rot="0">
                <a:off x="0" y="0"/>
                <a:ext cx="537838" cy="231589"/>
              </a:xfrm>
              <a:custGeom>
                <a:avLst/>
                <a:gdLst/>
                <a:ahLst/>
                <a:cxnLst/>
                <a:rect r="r" b="b" t="t" l="l"/>
                <a:pathLst>
                  <a:path h="231589" w="537838">
                    <a:moveTo>
                      <a:pt x="35130" y="0"/>
                    </a:moveTo>
                    <a:lnTo>
                      <a:pt x="502708" y="0"/>
                    </a:lnTo>
                    <a:cubicBezTo>
                      <a:pt x="512025" y="0"/>
                      <a:pt x="520961" y="3701"/>
                      <a:pt x="527549" y="10289"/>
                    </a:cubicBezTo>
                    <a:cubicBezTo>
                      <a:pt x="534137" y="16878"/>
                      <a:pt x="537838" y="25813"/>
                      <a:pt x="537838" y="35130"/>
                    </a:cubicBezTo>
                    <a:lnTo>
                      <a:pt x="537838" y="196459"/>
                    </a:lnTo>
                    <a:cubicBezTo>
                      <a:pt x="537838" y="205776"/>
                      <a:pt x="534137" y="214712"/>
                      <a:pt x="527549" y="221300"/>
                    </a:cubicBezTo>
                    <a:cubicBezTo>
                      <a:pt x="520961" y="227888"/>
                      <a:pt x="512025" y="231589"/>
                      <a:pt x="502708" y="231589"/>
                    </a:cubicBezTo>
                    <a:lnTo>
                      <a:pt x="35130" y="231589"/>
                    </a:lnTo>
                    <a:cubicBezTo>
                      <a:pt x="25813" y="231589"/>
                      <a:pt x="16878" y="227888"/>
                      <a:pt x="10289" y="221300"/>
                    </a:cubicBezTo>
                    <a:cubicBezTo>
                      <a:pt x="3701" y="214712"/>
                      <a:pt x="0" y="205776"/>
                      <a:pt x="0" y="196459"/>
                    </a:cubicBezTo>
                    <a:lnTo>
                      <a:pt x="0" y="35130"/>
                    </a:lnTo>
                    <a:cubicBezTo>
                      <a:pt x="0" y="25813"/>
                      <a:pt x="3701" y="16878"/>
                      <a:pt x="10289" y="10289"/>
                    </a:cubicBezTo>
                    <a:cubicBezTo>
                      <a:pt x="16878" y="3701"/>
                      <a:pt x="25813" y="0"/>
                      <a:pt x="35130" y="0"/>
                    </a:cubicBezTo>
                    <a:close/>
                  </a:path>
                </a:pathLst>
              </a:custGeom>
              <a:gradFill rotWithShape="true">
                <a:gsLst>
                  <a:gs pos="0">
                    <a:srgbClr val="85200C">
                      <a:alpha val="30000"/>
                    </a:srgbClr>
                  </a:gs>
                  <a:gs pos="100000">
                    <a:srgbClr val="008601">
                      <a:alpha val="100000"/>
                    </a:srgbClr>
                  </a:gs>
                </a:gsLst>
                <a:lin ang="0"/>
              </a:gradFill>
            </p:spPr>
          </p:sp>
          <p:sp>
            <p:nvSpPr>
              <p:cNvPr name="TextBox 29" id="29"/>
              <p:cNvSpPr txBox="true"/>
              <p:nvPr/>
            </p:nvSpPr>
            <p:spPr>
              <a:xfrm>
                <a:off x="0" y="28575"/>
                <a:ext cx="537838" cy="203014"/>
              </a:xfrm>
              <a:prstGeom prst="rect">
                <a:avLst/>
              </a:prstGeom>
            </p:spPr>
            <p:txBody>
              <a:bodyPr anchor="ctr" rtlCol="false" tIns="99925" lIns="99925" bIns="99925" rIns="99925"/>
              <a:lstStyle/>
              <a:p>
                <a:pPr algn="ctr">
                  <a:lnSpc>
                    <a:spcPts val="1919"/>
                  </a:lnSpc>
                </a:pPr>
              </a:p>
            </p:txBody>
          </p:sp>
        </p:grpSp>
        <p:sp>
          <p:nvSpPr>
            <p:cNvPr name="TextBox 30" id="30"/>
            <p:cNvSpPr txBox="true"/>
            <p:nvPr/>
          </p:nvSpPr>
          <p:spPr>
            <a:xfrm rot="0">
              <a:off x="0" y="656138"/>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GreenFlag</a:t>
              </a:r>
            </a:p>
          </p:txBody>
        </p:sp>
        <p:sp>
          <p:nvSpPr>
            <p:cNvPr name="TextBox 31" id="31"/>
            <p:cNvSpPr txBox="true"/>
            <p:nvPr/>
          </p:nvSpPr>
          <p:spPr>
            <a:xfrm rot="0">
              <a:off x="415950" y="506572"/>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Green Flag</a:t>
              </a:r>
            </a:p>
          </p:txBody>
        </p:sp>
      </p:grpSp>
      <p:sp>
        <p:nvSpPr>
          <p:cNvPr name="TextBox 32" id="32"/>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14</a:t>
            </a:r>
          </a:p>
        </p:txBody>
      </p:sp>
      <p:sp>
        <p:nvSpPr>
          <p:cNvPr name="TextBox 33" id="33"/>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34" id="34"/>
          <p:cNvSpPr txBox="true"/>
          <p:nvPr/>
        </p:nvSpPr>
        <p:spPr>
          <a:xfrm rot="0">
            <a:off x="415994" y="1418607"/>
            <a:ext cx="5981225" cy="549275"/>
          </a:xfrm>
          <a:prstGeom prst="rect">
            <a:avLst/>
          </a:prstGeom>
        </p:spPr>
        <p:txBody>
          <a:bodyPr anchor="t" rtlCol="false" tIns="0" lIns="0" bIns="0" rIns="0">
            <a:spAutoFit/>
          </a:bodyPr>
          <a:lstStyle/>
          <a:p>
            <a:pPr algn="l">
              <a:lnSpc>
                <a:spcPts val="3895"/>
              </a:lnSpc>
            </a:pPr>
            <a:r>
              <a:rPr lang="en-US" sz="4100" b="true">
                <a:solidFill>
                  <a:srgbClr val="FFFFFF"/>
                </a:solidFill>
                <a:latin typeface="Poppins Heavy"/>
                <a:ea typeface="Poppins Heavy"/>
                <a:cs typeface="Poppins Heavy"/>
                <a:sym typeface="Poppins Heavy"/>
              </a:rPr>
              <a:t>SCENARIO 5: AMIR </a:t>
            </a:r>
          </a:p>
        </p:txBody>
      </p:sp>
      <p:grpSp>
        <p:nvGrpSpPr>
          <p:cNvPr name="Group 35" id="35"/>
          <p:cNvGrpSpPr/>
          <p:nvPr/>
        </p:nvGrpSpPr>
        <p:grpSpPr>
          <a:xfrm rot="0">
            <a:off x="2001030" y="6573056"/>
            <a:ext cx="6857760" cy="1869997"/>
            <a:chOff x="0" y="0"/>
            <a:chExt cx="9143680" cy="2493329"/>
          </a:xfrm>
        </p:grpSpPr>
        <p:sp>
          <p:nvSpPr>
            <p:cNvPr name="TextBox 36" id="36"/>
            <p:cNvSpPr txBox="true"/>
            <p:nvPr/>
          </p:nvSpPr>
          <p:spPr>
            <a:xfrm rot="0">
              <a:off x="0" y="-79033"/>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Red Flag</a:t>
              </a:r>
            </a:p>
          </p:txBody>
        </p:sp>
        <p:sp>
          <p:nvSpPr>
            <p:cNvPr name="TextBox 37" id="37"/>
            <p:cNvSpPr txBox="true"/>
            <p:nvPr/>
          </p:nvSpPr>
          <p:spPr>
            <a:xfrm rot="0">
              <a:off x="415950" y="-228600"/>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Red Flag</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308915" y="2253800"/>
            <a:ext cx="5897912" cy="3331693"/>
            <a:chOff x="0" y="0"/>
            <a:chExt cx="409970" cy="231589"/>
          </a:xfrm>
        </p:grpSpPr>
        <p:sp>
          <p:nvSpPr>
            <p:cNvPr name="Freeform 16" id="16"/>
            <p:cNvSpPr/>
            <p:nvPr/>
          </p:nvSpPr>
          <p:spPr>
            <a:xfrm flipH="false" flipV="false" rot="0">
              <a:off x="0" y="0"/>
              <a:ext cx="409970" cy="231589"/>
            </a:xfrm>
            <a:custGeom>
              <a:avLst/>
              <a:gdLst/>
              <a:ahLst/>
              <a:cxnLst/>
              <a:rect r="r" b="b" t="t" l="l"/>
              <a:pathLst>
                <a:path h="231589" w="409970">
                  <a:moveTo>
                    <a:pt x="77939" y="0"/>
                  </a:moveTo>
                  <a:lnTo>
                    <a:pt x="332031" y="0"/>
                  </a:lnTo>
                  <a:cubicBezTo>
                    <a:pt x="375075" y="0"/>
                    <a:pt x="409970" y="34894"/>
                    <a:pt x="409970" y="77939"/>
                  </a:cubicBezTo>
                  <a:lnTo>
                    <a:pt x="409970" y="153650"/>
                  </a:lnTo>
                  <a:cubicBezTo>
                    <a:pt x="409970" y="196695"/>
                    <a:pt x="375075" y="231589"/>
                    <a:pt x="332031" y="231589"/>
                  </a:cubicBezTo>
                  <a:lnTo>
                    <a:pt x="77939" y="231589"/>
                  </a:lnTo>
                  <a:cubicBezTo>
                    <a:pt x="34894" y="231589"/>
                    <a:pt x="0" y="196695"/>
                    <a:pt x="0" y="153650"/>
                  </a:cubicBezTo>
                  <a:lnTo>
                    <a:pt x="0" y="77939"/>
                  </a:lnTo>
                  <a:cubicBezTo>
                    <a:pt x="0" y="34894"/>
                    <a:pt x="34894" y="0"/>
                    <a:pt x="77939" y="0"/>
                  </a:cubicBezTo>
                  <a:close/>
                </a:path>
              </a:pathLst>
            </a:custGeom>
            <a:gradFill rotWithShape="true">
              <a:gsLst>
                <a:gs pos="0">
                  <a:srgbClr val="85200C">
                    <a:alpha val="30000"/>
                  </a:srgbClr>
                </a:gs>
                <a:gs pos="100000">
                  <a:srgbClr val="FFB30B">
                    <a:alpha val="100000"/>
                  </a:srgbClr>
                </a:gs>
              </a:gsLst>
              <a:lin ang="0"/>
            </a:gradFill>
          </p:spPr>
        </p:sp>
        <p:sp>
          <p:nvSpPr>
            <p:cNvPr name="TextBox 17" id="17"/>
            <p:cNvSpPr txBox="true"/>
            <p:nvPr/>
          </p:nvSpPr>
          <p:spPr>
            <a:xfrm>
              <a:off x="0" y="28575"/>
              <a:ext cx="409970" cy="203014"/>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6554735" y="2291837"/>
            <a:ext cx="11424349" cy="3158317"/>
            <a:chOff x="0" y="0"/>
            <a:chExt cx="957198" cy="264622"/>
          </a:xfrm>
        </p:grpSpPr>
        <p:sp>
          <p:nvSpPr>
            <p:cNvPr name="Freeform 19" id="19"/>
            <p:cNvSpPr/>
            <p:nvPr/>
          </p:nvSpPr>
          <p:spPr>
            <a:xfrm flipH="false" flipV="false" rot="0">
              <a:off x="0" y="0"/>
              <a:ext cx="957198" cy="264622"/>
            </a:xfrm>
            <a:custGeom>
              <a:avLst/>
              <a:gdLst/>
              <a:ahLst/>
              <a:cxnLst/>
              <a:rect r="r" b="b" t="t" l="l"/>
              <a:pathLst>
                <a:path h="264622" w="957198">
                  <a:moveTo>
                    <a:pt x="52413" y="0"/>
                  </a:moveTo>
                  <a:lnTo>
                    <a:pt x="904784" y="0"/>
                  </a:lnTo>
                  <a:cubicBezTo>
                    <a:pt x="918685" y="0"/>
                    <a:pt x="932017" y="5522"/>
                    <a:pt x="941846" y="15352"/>
                  </a:cubicBezTo>
                  <a:cubicBezTo>
                    <a:pt x="951675" y="25181"/>
                    <a:pt x="957198" y="38513"/>
                    <a:pt x="957198" y="52413"/>
                  </a:cubicBezTo>
                  <a:lnTo>
                    <a:pt x="957198" y="212209"/>
                  </a:lnTo>
                  <a:cubicBezTo>
                    <a:pt x="957198" y="226109"/>
                    <a:pt x="951675" y="239441"/>
                    <a:pt x="941846" y="249270"/>
                  </a:cubicBezTo>
                  <a:cubicBezTo>
                    <a:pt x="932017" y="259100"/>
                    <a:pt x="918685" y="264622"/>
                    <a:pt x="904784" y="264622"/>
                  </a:cubicBezTo>
                  <a:lnTo>
                    <a:pt x="52413" y="264622"/>
                  </a:lnTo>
                  <a:cubicBezTo>
                    <a:pt x="23466" y="264622"/>
                    <a:pt x="0" y="241156"/>
                    <a:pt x="0" y="212209"/>
                  </a:cubicBezTo>
                  <a:lnTo>
                    <a:pt x="0" y="52413"/>
                  </a:lnTo>
                  <a:cubicBezTo>
                    <a:pt x="0" y="38513"/>
                    <a:pt x="5522" y="25181"/>
                    <a:pt x="15352" y="15352"/>
                  </a:cubicBezTo>
                  <a:cubicBezTo>
                    <a:pt x="25181" y="5522"/>
                    <a:pt x="38513" y="0"/>
                    <a:pt x="52413" y="0"/>
                  </a:cubicBezTo>
                  <a:close/>
                </a:path>
              </a:pathLst>
            </a:custGeom>
            <a:gradFill rotWithShape="true">
              <a:gsLst>
                <a:gs pos="0">
                  <a:srgbClr val="85200C">
                    <a:alpha val="30000"/>
                  </a:srgbClr>
                </a:gs>
                <a:gs pos="100000">
                  <a:srgbClr val="DC4B0F">
                    <a:alpha val="100000"/>
                  </a:srgbClr>
                </a:gs>
              </a:gsLst>
              <a:lin ang="0"/>
            </a:gradFill>
          </p:spPr>
        </p:sp>
        <p:sp>
          <p:nvSpPr>
            <p:cNvPr name="TextBox 20" id="20"/>
            <p:cNvSpPr txBox="true"/>
            <p:nvPr/>
          </p:nvSpPr>
          <p:spPr>
            <a:xfrm>
              <a:off x="0" y="28575"/>
              <a:ext cx="957198" cy="236047"/>
            </a:xfrm>
            <a:prstGeom prst="rect">
              <a:avLst/>
            </a:prstGeom>
          </p:spPr>
          <p:txBody>
            <a:bodyPr anchor="ctr" rtlCol="false" tIns="42145" lIns="42145" bIns="42145" rIns="42145"/>
            <a:lstStyle/>
            <a:p>
              <a:pPr algn="ctr">
                <a:lnSpc>
                  <a:spcPts val="1919"/>
                </a:lnSpc>
              </a:pPr>
            </a:p>
          </p:txBody>
        </p:sp>
      </p:grpSp>
      <p:sp>
        <p:nvSpPr>
          <p:cNvPr name="TextBox 21" id="21"/>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15</a:t>
            </a:r>
          </a:p>
        </p:txBody>
      </p:sp>
      <p:sp>
        <p:nvSpPr>
          <p:cNvPr name="TextBox 22" id="22"/>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3" id="23"/>
          <p:cNvSpPr txBox="true"/>
          <p:nvPr/>
        </p:nvSpPr>
        <p:spPr>
          <a:xfrm rot="0">
            <a:off x="11881094" y="2703271"/>
            <a:ext cx="5675458" cy="2449053"/>
          </a:xfrm>
          <a:prstGeom prst="rect">
            <a:avLst/>
          </a:prstGeom>
        </p:spPr>
        <p:txBody>
          <a:bodyPr anchor="t" rtlCol="false" tIns="0" lIns="0" bIns="0" rIns="0">
            <a:spAutoFit/>
          </a:bodyPr>
          <a:lstStyle/>
          <a:p>
            <a:pPr algn="l">
              <a:lnSpc>
                <a:spcPts val="2762"/>
              </a:lnSpc>
            </a:pPr>
            <a:r>
              <a:rPr lang="en-US" sz="2907" b="true">
                <a:solidFill>
                  <a:srgbClr val="FFFFFF"/>
                </a:solidFill>
                <a:latin typeface="Poppins Semi-Bold"/>
                <a:ea typeface="Poppins Semi-Bold"/>
                <a:cs typeface="Poppins Semi-Bold"/>
                <a:sym typeface="Poppins Semi-Bold"/>
              </a:rPr>
              <a:t>Accurate, specific, and early, which is three quarters of good feedback. </a:t>
            </a:r>
          </a:p>
          <a:p>
            <a:pPr algn="l">
              <a:lnSpc>
                <a:spcPts val="2762"/>
              </a:lnSpc>
            </a:pPr>
          </a:p>
          <a:p>
            <a:pPr algn="l">
              <a:lnSpc>
                <a:spcPts val="2762"/>
              </a:lnSpc>
            </a:pPr>
            <a:r>
              <a:rPr lang="en-US" sz="2907" b="true">
                <a:solidFill>
                  <a:srgbClr val="FFFFFF"/>
                </a:solidFill>
                <a:latin typeface="Poppins Semi-Bold"/>
                <a:ea typeface="Poppins Semi-Bold"/>
                <a:cs typeface="Poppins Semi-Bold"/>
                <a:sym typeface="Poppins Semi-Bold"/>
              </a:rPr>
              <a:t>The audience is the problem. Public correction is not necessary to begin with. </a:t>
            </a:r>
          </a:p>
        </p:txBody>
      </p:sp>
      <p:grpSp>
        <p:nvGrpSpPr>
          <p:cNvPr name="Group 24" id="24"/>
          <p:cNvGrpSpPr/>
          <p:nvPr/>
        </p:nvGrpSpPr>
        <p:grpSpPr>
          <a:xfrm rot="0">
            <a:off x="6415032" y="2783060"/>
            <a:ext cx="5578544" cy="2503953"/>
            <a:chOff x="0" y="0"/>
            <a:chExt cx="7438058" cy="3338604"/>
          </a:xfrm>
        </p:grpSpPr>
        <p:sp>
          <p:nvSpPr>
            <p:cNvPr name="TextBox 25" id="25"/>
            <p:cNvSpPr txBox="true"/>
            <p:nvPr/>
          </p:nvSpPr>
          <p:spPr>
            <a:xfrm rot="0">
              <a:off x="430983" y="-95003"/>
              <a:ext cx="7007076" cy="3433607"/>
            </a:xfrm>
            <a:prstGeom prst="rect">
              <a:avLst/>
            </a:prstGeom>
          </p:spPr>
          <p:txBody>
            <a:bodyPr anchor="t" rtlCol="false" tIns="0" lIns="0" bIns="0" rIns="0">
              <a:spAutoFit/>
            </a:bodyPr>
            <a:lstStyle/>
            <a:p>
              <a:pPr algn="ctr">
                <a:lnSpc>
                  <a:spcPts val="21691"/>
                </a:lnSpc>
              </a:pPr>
              <a:r>
                <a:rPr lang="en-US" sz="15493" spc="46">
                  <a:solidFill>
                    <a:srgbClr val="000000">
                      <a:alpha val="30980"/>
                    </a:srgbClr>
                  </a:solidFill>
                  <a:latin typeface="Milestone Script"/>
                  <a:ea typeface="Milestone Script"/>
                  <a:cs typeface="Milestone Script"/>
                  <a:sym typeface="Milestone Script"/>
                </a:rPr>
                <a:t>Why?</a:t>
              </a:r>
            </a:p>
          </p:txBody>
        </p:sp>
        <p:sp>
          <p:nvSpPr>
            <p:cNvPr name="TextBox 26" id="26"/>
            <p:cNvSpPr txBox="true"/>
            <p:nvPr/>
          </p:nvSpPr>
          <p:spPr>
            <a:xfrm rot="0">
              <a:off x="0" y="-295275"/>
              <a:ext cx="7285577" cy="3433607"/>
            </a:xfrm>
            <a:prstGeom prst="rect">
              <a:avLst/>
            </a:prstGeom>
          </p:spPr>
          <p:txBody>
            <a:bodyPr anchor="t" rtlCol="false" tIns="0" lIns="0" bIns="0" rIns="0">
              <a:spAutoFit/>
            </a:bodyPr>
            <a:lstStyle/>
            <a:p>
              <a:pPr algn="ctr">
                <a:lnSpc>
                  <a:spcPts val="21691"/>
                </a:lnSpc>
              </a:pPr>
              <a:r>
                <a:rPr lang="en-US" sz="15493" spc="46">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Why?</a:t>
              </a:r>
            </a:p>
          </p:txBody>
        </p:sp>
      </p:grpSp>
      <p:sp>
        <p:nvSpPr>
          <p:cNvPr name="TextBox 27" id="27"/>
          <p:cNvSpPr txBox="true"/>
          <p:nvPr/>
        </p:nvSpPr>
        <p:spPr>
          <a:xfrm rot="0">
            <a:off x="1213913" y="2980314"/>
            <a:ext cx="4087916" cy="1752810"/>
          </a:xfrm>
          <a:prstGeom prst="rect">
            <a:avLst/>
          </a:prstGeom>
        </p:spPr>
        <p:txBody>
          <a:bodyPr anchor="t" rtlCol="false" tIns="0" lIns="0" bIns="0" rIns="0">
            <a:spAutoFit/>
          </a:bodyPr>
          <a:lstStyle/>
          <a:p>
            <a:pPr algn="ctr">
              <a:lnSpc>
                <a:spcPts val="6519"/>
              </a:lnSpc>
            </a:pPr>
            <a:r>
              <a:rPr lang="en-US" sz="6862" b="true">
                <a:solidFill>
                  <a:srgbClr val="FFFFFF"/>
                </a:solidFill>
                <a:latin typeface="Poppins Heavy"/>
                <a:ea typeface="Poppins Heavy"/>
                <a:cs typeface="Poppins Heavy"/>
                <a:sym typeface="Poppins Heavy"/>
              </a:rPr>
              <a:t>IT DEPENDS</a:t>
            </a:r>
          </a:p>
        </p:txBody>
      </p:sp>
      <p:grpSp>
        <p:nvGrpSpPr>
          <p:cNvPr name="Group 28" id="28"/>
          <p:cNvGrpSpPr/>
          <p:nvPr/>
        </p:nvGrpSpPr>
        <p:grpSpPr>
          <a:xfrm rot="0">
            <a:off x="3857803" y="6393959"/>
            <a:ext cx="10756617" cy="2036826"/>
            <a:chOff x="0" y="0"/>
            <a:chExt cx="14342157" cy="2715768"/>
          </a:xfrm>
        </p:grpSpPr>
        <p:grpSp>
          <p:nvGrpSpPr>
            <p:cNvPr name="Group 29" id="29"/>
            <p:cNvGrpSpPr/>
            <p:nvPr/>
          </p:nvGrpSpPr>
          <p:grpSpPr>
            <a:xfrm rot="0">
              <a:off x="168625" y="12700"/>
              <a:ext cx="14173532" cy="2665787"/>
              <a:chOff x="0" y="0"/>
              <a:chExt cx="1280731" cy="240883"/>
            </a:xfrm>
          </p:grpSpPr>
          <p:sp>
            <p:nvSpPr>
              <p:cNvPr name="Freeform 30" id="30"/>
              <p:cNvSpPr/>
              <p:nvPr/>
            </p:nvSpPr>
            <p:spPr>
              <a:xfrm flipH="false" flipV="false" rot="0">
                <a:off x="0" y="0"/>
                <a:ext cx="1280731" cy="240883"/>
              </a:xfrm>
              <a:custGeom>
                <a:avLst/>
                <a:gdLst/>
                <a:ahLst/>
                <a:cxnLst/>
                <a:rect r="r" b="b" t="t" l="l"/>
                <a:pathLst>
                  <a:path h="240883" w="1280731">
                    <a:moveTo>
                      <a:pt x="6828" y="0"/>
                    </a:moveTo>
                    <a:lnTo>
                      <a:pt x="1273903" y="0"/>
                    </a:lnTo>
                    <a:cubicBezTo>
                      <a:pt x="1275714" y="0"/>
                      <a:pt x="1277451" y="719"/>
                      <a:pt x="1278731" y="2000"/>
                    </a:cubicBezTo>
                    <a:cubicBezTo>
                      <a:pt x="1280012" y="3280"/>
                      <a:pt x="1280731" y="5017"/>
                      <a:pt x="1280731" y="6828"/>
                    </a:cubicBezTo>
                    <a:lnTo>
                      <a:pt x="1280731" y="234055"/>
                    </a:lnTo>
                    <a:cubicBezTo>
                      <a:pt x="1280731" y="235866"/>
                      <a:pt x="1280012" y="237602"/>
                      <a:pt x="1278731" y="238883"/>
                    </a:cubicBezTo>
                    <a:cubicBezTo>
                      <a:pt x="1277451" y="240163"/>
                      <a:pt x="1275714" y="240883"/>
                      <a:pt x="1273903" y="240883"/>
                    </a:cubicBezTo>
                    <a:lnTo>
                      <a:pt x="6828" y="240883"/>
                    </a:lnTo>
                    <a:cubicBezTo>
                      <a:pt x="5017" y="240883"/>
                      <a:pt x="3280" y="240163"/>
                      <a:pt x="2000" y="238883"/>
                    </a:cubicBezTo>
                    <a:cubicBezTo>
                      <a:pt x="719" y="237602"/>
                      <a:pt x="0" y="235866"/>
                      <a:pt x="0" y="234055"/>
                    </a:cubicBezTo>
                    <a:lnTo>
                      <a:pt x="0" y="6828"/>
                    </a:lnTo>
                    <a:cubicBezTo>
                      <a:pt x="0" y="5017"/>
                      <a:pt x="719" y="3280"/>
                      <a:pt x="2000" y="2000"/>
                    </a:cubicBezTo>
                    <a:cubicBezTo>
                      <a:pt x="3280" y="719"/>
                      <a:pt x="5017" y="0"/>
                      <a:pt x="6828" y="0"/>
                    </a:cubicBezTo>
                    <a:close/>
                  </a:path>
                </a:pathLst>
              </a:custGeom>
              <a:gradFill rotWithShape="true">
                <a:gsLst>
                  <a:gs pos="0">
                    <a:srgbClr val="FFFFFF">
                      <a:alpha val="100000"/>
                    </a:srgbClr>
                  </a:gs>
                  <a:gs pos="100000">
                    <a:srgbClr val="FFFFFF">
                      <a:alpha val="0"/>
                    </a:srgbClr>
                  </a:gs>
                </a:gsLst>
                <a:lin ang="0"/>
              </a:gradFill>
            </p:spPr>
          </p:sp>
          <p:sp>
            <p:nvSpPr>
              <p:cNvPr name="TextBox 31" id="31"/>
              <p:cNvSpPr txBox="true"/>
              <p:nvPr/>
            </p:nvSpPr>
            <p:spPr>
              <a:xfrm>
                <a:off x="0" y="28575"/>
                <a:ext cx="1280731" cy="212308"/>
              </a:xfrm>
              <a:prstGeom prst="rect">
                <a:avLst/>
              </a:prstGeom>
            </p:spPr>
            <p:txBody>
              <a:bodyPr anchor="ctr" rtlCol="false" tIns="42145" lIns="42145" bIns="42145" rIns="42145"/>
              <a:lstStyle/>
              <a:p>
                <a:pPr algn="ctr">
                  <a:lnSpc>
                    <a:spcPts val="1919"/>
                  </a:lnSpc>
                </a:pPr>
              </a:p>
            </p:txBody>
          </p:sp>
        </p:grpSp>
        <p:grpSp>
          <p:nvGrpSpPr>
            <p:cNvPr name="Group 32" id="32"/>
            <p:cNvGrpSpPr/>
            <p:nvPr/>
          </p:nvGrpSpPr>
          <p:grpSpPr>
            <a:xfrm rot="0">
              <a:off x="0" y="0"/>
              <a:ext cx="299496" cy="2715768"/>
              <a:chOff x="0" y="0"/>
              <a:chExt cx="46219" cy="419100"/>
            </a:xfrm>
          </p:grpSpPr>
          <p:sp>
            <p:nvSpPr>
              <p:cNvPr name="Freeform 33" id="33"/>
              <p:cNvSpPr/>
              <p:nvPr/>
            </p:nvSpPr>
            <p:spPr>
              <a:xfrm flipH="false" flipV="false" rot="0">
                <a:off x="0" y="0"/>
                <a:ext cx="46219" cy="419100"/>
              </a:xfrm>
              <a:custGeom>
                <a:avLst/>
                <a:gdLst/>
                <a:ahLst/>
                <a:cxnLst/>
                <a:rect r="r" b="b" t="t" l="l"/>
                <a:pathLst>
                  <a:path h="419100" w="46219">
                    <a:moveTo>
                      <a:pt x="23109" y="0"/>
                    </a:moveTo>
                    <a:lnTo>
                      <a:pt x="23109" y="0"/>
                    </a:lnTo>
                    <a:cubicBezTo>
                      <a:pt x="29238" y="0"/>
                      <a:pt x="35116" y="2435"/>
                      <a:pt x="39450" y="6769"/>
                    </a:cubicBezTo>
                    <a:cubicBezTo>
                      <a:pt x="43784" y="11102"/>
                      <a:pt x="46219" y="16980"/>
                      <a:pt x="46219" y="23109"/>
                    </a:cubicBezTo>
                    <a:lnTo>
                      <a:pt x="46219" y="395991"/>
                    </a:lnTo>
                    <a:cubicBezTo>
                      <a:pt x="46219" y="402120"/>
                      <a:pt x="43784" y="407998"/>
                      <a:pt x="39450" y="412331"/>
                    </a:cubicBezTo>
                    <a:cubicBezTo>
                      <a:pt x="35116" y="416665"/>
                      <a:pt x="29238" y="419100"/>
                      <a:pt x="23109" y="419100"/>
                    </a:cubicBezTo>
                    <a:lnTo>
                      <a:pt x="23109" y="419100"/>
                    </a:lnTo>
                    <a:cubicBezTo>
                      <a:pt x="16980" y="419100"/>
                      <a:pt x="11102" y="416665"/>
                      <a:pt x="6769" y="412331"/>
                    </a:cubicBezTo>
                    <a:cubicBezTo>
                      <a:pt x="2435" y="407998"/>
                      <a:pt x="0" y="402120"/>
                      <a:pt x="0" y="395991"/>
                    </a:cubicBezTo>
                    <a:lnTo>
                      <a:pt x="0" y="23109"/>
                    </a:lnTo>
                    <a:cubicBezTo>
                      <a:pt x="0" y="16980"/>
                      <a:pt x="2435" y="11102"/>
                      <a:pt x="6769" y="6769"/>
                    </a:cubicBezTo>
                    <a:cubicBezTo>
                      <a:pt x="11102" y="2435"/>
                      <a:pt x="16980" y="0"/>
                      <a:pt x="23109" y="0"/>
                    </a:cubicBezTo>
                    <a:close/>
                  </a:path>
                </a:pathLst>
              </a:custGeom>
              <a:solidFill>
                <a:srgbClr val="6E3125"/>
              </a:solidFill>
            </p:spPr>
          </p:sp>
          <p:sp>
            <p:nvSpPr>
              <p:cNvPr name="TextBox 34" id="34"/>
              <p:cNvSpPr txBox="true"/>
              <p:nvPr/>
            </p:nvSpPr>
            <p:spPr>
              <a:xfrm>
                <a:off x="0" y="28575"/>
                <a:ext cx="46219" cy="390525"/>
              </a:xfrm>
              <a:prstGeom prst="rect">
                <a:avLst/>
              </a:prstGeom>
            </p:spPr>
            <p:txBody>
              <a:bodyPr anchor="ctr" rtlCol="false" tIns="50800" lIns="50800" bIns="50800" rIns="50800"/>
              <a:lstStyle/>
              <a:p>
                <a:pPr algn="ctr">
                  <a:lnSpc>
                    <a:spcPts val="1919"/>
                  </a:lnSpc>
                </a:pPr>
              </a:p>
            </p:txBody>
          </p:sp>
        </p:grpSp>
        <p:sp>
          <p:nvSpPr>
            <p:cNvPr name="TextBox 35" id="35"/>
            <p:cNvSpPr txBox="true"/>
            <p:nvPr/>
          </p:nvSpPr>
          <p:spPr>
            <a:xfrm rot="0">
              <a:off x="789272" y="528814"/>
              <a:ext cx="12932236" cy="1625007"/>
            </a:xfrm>
            <a:prstGeom prst="rect">
              <a:avLst/>
            </a:prstGeom>
          </p:spPr>
          <p:txBody>
            <a:bodyPr anchor="t" rtlCol="false" tIns="0" lIns="0" bIns="0" rIns="0">
              <a:spAutoFit/>
            </a:bodyPr>
            <a:lstStyle/>
            <a:p>
              <a:pPr algn="l">
                <a:lnSpc>
                  <a:spcPts val="4600"/>
                </a:lnSpc>
              </a:pPr>
              <a:r>
                <a:rPr lang="en-US" sz="4299" b="true">
                  <a:solidFill>
                    <a:srgbClr val="6E3125"/>
                  </a:solidFill>
                  <a:latin typeface="Poppins Heavy"/>
                  <a:ea typeface="Poppins Heavy"/>
                  <a:cs typeface="Poppins Heavy"/>
                  <a:sym typeface="Poppins Heavy"/>
                </a:rPr>
                <a:t>What single detail would make this clearly green?</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56591" y="-2857481"/>
            <a:ext cx="17449253" cy="17449253"/>
          </a:xfrm>
          <a:custGeom>
            <a:avLst/>
            <a:gdLst/>
            <a:ahLst/>
            <a:cxnLst/>
            <a:rect r="r" b="b" t="t" l="l"/>
            <a:pathLst>
              <a:path h="17449253" w="17449253">
                <a:moveTo>
                  <a:pt x="0" y="0"/>
                </a:moveTo>
                <a:lnTo>
                  <a:pt x="17449253" y="0"/>
                </a:lnTo>
                <a:lnTo>
                  <a:pt x="17449253" y="17449253"/>
                </a:lnTo>
                <a:lnTo>
                  <a:pt x="0" y="17449253"/>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1271343" y="1105777"/>
            <a:ext cx="7487927" cy="1140886"/>
            <a:chOff x="0" y="0"/>
            <a:chExt cx="605413" cy="92243"/>
          </a:xfrm>
        </p:grpSpPr>
        <p:sp>
          <p:nvSpPr>
            <p:cNvPr name="Freeform 16" id="16"/>
            <p:cNvSpPr/>
            <p:nvPr/>
          </p:nvSpPr>
          <p:spPr>
            <a:xfrm flipH="false" flipV="false" rot="0">
              <a:off x="0" y="0"/>
              <a:ext cx="605413" cy="92243"/>
            </a:xfrm>
            <a:custGeom>
              <a:avLst/>
              <a:gdLst/>
              <a:ahLst/>
              <a:cxnLst/>
              <a:rect r="r" b="b" t="t" l="l"/>
              <a:pathLst>
                <a:path h="92243" w="605413">
                  <a:moveTo>
                    <a:pt x="46121" y="0"/>
                  </a:moveTo>
                  <a:lnTo>
                    <a:pt x="559292" y="0"/>
                  </a:lnTo>
                  <a:cubicBezTo>
                    <a:pt x="571524" y="0"/>
                    <a:pt x="583255" y="4859"/>
                    <a:pt x="591905" y="13509"/>
                  </a:cubicBezTo>
                  <a:cubicBezTo>
                    <a:pt x="600554" y="22158"/>
                    <a:pt x="605413" y="33889"/>
                    <a:pt x="605413" y="46121"/>
                  </a:cubicBezTo>
                  <a:lnTo>
                    <a:pt x="605413" y="46121"/>
                  </a:lnTo>
                  <a:cubicBezTo>
                    <a:pt x="605413" y="58354"/>
                    <a:pt x="600554" y="70085"/>
                    <a:pt x="591905" y="78734"/>
                  </a:cubicBezTo>
                  <a:cubicBezTo>
                    <a:pt x="583255" y="87384"/>
                    <a:pt x="571524" y="92243"/>
                    <a:pt x="559292" y="92243"/>
                  </a:cubicBezTo>
                  <a:lnTo>
                    <a:pt x="46121" y="92243"/>
                  </a:lnTo>
                  <a:cubicBezTo>
                    <a:pt x="33889" y="92243"/>
                    <a:pt x="22158" y="87384"/>
                    <a:pt x="13509" y="78734"/>
                  </a:cubicBezTo>
                  <a:cubicBezTo>
                    <a:pt x="4859" y="70085"/>
                    <a:pt x="0" y="58354"/>
                    <a:pt x="0" y="46121"/>
                  </a:cubicBezTo>
                  <a:lnTo>
                    <a:pt x="0" y="46121"/>
                  </a:lnTo>
                  <a:cubicBezTo>
                    <a:pt x="0" y="33889"/>
                    <a:pt x="4859" y="22158"/>
                    <a:pt x="13509" y="13509"/>
                  </a:cubicBezTo>
                  <a:cubicBezTo>
                    <a:pt x="22158" y="4859"/>
                    <a:pt x="33889" y="0"/>
                    <a:pt x="46121" y="0"/>
                  </a:cubicBezTo>
                  <a:close/>
                </a:path>
              </a:pathLst>
            </a:custGeom>
            <a:gradFill rotWithShape="true">
              <a:gsLst>
                <a:gs pos="0">
                  <a:srgbClr val="85200C">
                    <a:alpha val="100000"/>
                  </a:srgbClr>
                </a:gs>
                <a:gs pos="100000">
                  <a:srgbClr val="DC4B0F">
                    <a:alpha val="100000"/>
                  </a:srgbClr>
                </a:gs>
              </a:gsLst>
              <a:lin ang="0"/>
            </a:gradFill>
          </p:spPr>
        </p:sp>
        <p:sp>
          <p:nvSpPr>
            <p:cNvPr name="TextBox 17" id="17"/>
            <p:cNvSpPr txBox="true"/>
            <p:nvPr/>
          </p:nvSpPr>
          <p:spPr>
            <a:xfrm>
              <a:off x="0" y="28575"/>
              <a:ext cx="605413" cy="63668"/>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1225234" y="2560567"/>
            <a:ext cx="15837532" cy="3306578"/>
            <a:chOff x="0" y="0"/>
            <a:chExt cx="21116710" cy="4408771"/>
          </a:xfrm>
        </p:grpSpPr>
        <p:grpSp>
          <p:nvGrpSpPr>
            <p:cNvPr name="Group 19" id="19"/>
            <p:cNvGrpSpPr/>
            <p:nvPr/>
          </p:nvGrpSpPr>
          <p:grpSpPr>
            <a:xfrm rot="0">
              <a:off x="0" y="0"/>
              <a:ext cx="21116710" cy="4408771"/>
              <a:chOff x="0" y="0"/>
              <a:chExt cx="1135704" cy="237113"/>
            </a:xfrm>
          </p:grpSpPr>
          <p:sp>
            <p:nvSpPr>
              <p:cNvPr name="Freeform 20" id="20"/>
              <p:cNvSpPr/>
              <p:nvPr/>
            </p:nvSpPr>
            <p:spPr>
              <a:xfrm flipH="false" flipV="false" rot="0">
                <a:off x="0" y="0"/>
                <a:ext cx="1135704" cy="237113"/>
              </a:xfrm>
              <a:custGeom>
                <a:avLst/>
                <a:gdLst/>
                <a:ahLst/>
                <a:cxnLst/>
                <a:rect r="r" b="b" t="t" l="l"/>
                <a:pathLst>
                  <a:path h="237113" w="1135704">
                    <a:moveTo>
                      <a:pt x="42628" y="0"/>
                    </a:moveTo>
                    <a:lnTo>
                      <a:pt x="1093075" y="0"/>
                    </a:lnTo>
                    <a:cubicBezTo>
                      <a:pt x="1104381" y="0"/>
                      <a:pt x="1115224" y="4491"/>
                      <a:pt x="1123218" y="12486"/>
                    </a:cubicBezTo>
                    <a:cubicBezTo>
                      <a:pt x="1131212" y="20480"/>
                      <a:pt x="1135704" y="31323"/>
                      <a:pt x="1135704" y="42628"/>
                    </a:cubicBezTo>
                    <a:lnTo>
                      <a:pt x="1135704" y="194485"/>
                    </a:lnTo>
                    <a:cubicBezTo>
                      <a:pt x="1135704" y="205791"/>
                      <a:pt x="1131212" y="216634"/>
                      <a:pt x="1123218" y="224628"/>
                    </a:cubicBezTo>
                    <a:cubicBezTo>
                      <a:pt x="1115224" y="232622"/>
                      <a:pt x="1104381" y="237113"/>
                      <a:pt x="1093075" y="237113"/>
                    </a:cubicBezTo>
                    <a:lnTo>
                      <a:pt x="42628" y="237113"/>
                    </a:lnTo>
                    <a:cubicBezTo>
                      <a:pt x="31323" y="237113"/>
                      <a:pt x="20480" y="232622"/>
                      <a:pt x="12486" y="224628"/>
                    </a:cubicBezTo>
                    <a:cubicBezTo>
                      <a:pt x="4491" y="216634"/>
                      <a:pt x="0" y="205791"/>
                      <a:pt x="0" y="194485"/>
                    </a:cubicBezTo>
                    <a:lnTo>
                      <a:pt x="0" y="42628"/>
                    </a:lnTo>
                    <a:cubicBezTo>
                      <a:pt x="0" y="31323"/>
                      <a:pt x="4491" y="20480"/>
                      <a:pt x="12486" y="12486"/>
                    </a:cubicBezTo>
                    <a:cubicBezTo>
                      <a:pt x="20480" y="4491"/>
                      <a:pt x="31323" y="0"/>
                      <a:pt x="42628" y="0"/>
                    </a:cubicBezTo>
                    <a:close/>
                  </a:path>
                </a:pathLst>
              </a:custGeom>
              <a:gradFill rotWithShape="true">
                <a:gsLst>
                  <a:gs pos="0">
                    <a:srgbClr val="85200C">
                      <a:alpha val="30000"/>
                    </a:srgbClr>
                  </a:gs>
                  <a:gs pos="100000">
                    <a:srgbClr val="DC4B0F">
                      <a:alpha val="100000"/>
                    </a:srgbClr>
                  </a:gs>
                </a:gsLst>
                <a:lin ang="0"/>
              </a:gradFill>
            </p:spPr>
          </p:sp>
          <p:sp>
            <p:nvSpPr>
              <p:cNvPr name="TextBox 21" id="21"/>
              <p:cNvSpPr txBox="true"/>
              <p:nvPr/>
            </p:nvSpPr>
            <p:spPr>
              <a:xfrm>
                <a:off x="0" y="28575"/>
                <a:ext cx="1135704" cy="208538"/>
              </a:xfrm>
              <a:prstGeom prst="rect">
                <a:avLst/>
              </a:prstGeom>
            </p:spPr>
            <p:txBody>
              <a:bodyPr anchor="ctr" rtlCol="false" tIns="50800" lIns="50800" bIns="50800" rIns="50800"/>
              <a:lstStyle/>
              <a:p>
                <a:pPr algn="ctr">
                  <a:lnSpc>
                    <a:spcPts val="1919"/>
                  </a:lnSpc>
                </a:pPr>
              </a:p>
            </p:txBody>
          </p:sp>
        </p:grpSp>
        <p:sp>
          <p:nvSpPr>
            <p:cNvPr name="TextBox 22" id="22"/>
            <p:cNvSpPr txBox="true"/>
            <p:nvPr/>
          </p:nvSpPr>
          <p:spPr>
            <a:xfrm rot="0">
              <a:off x="629389" y="593266"/>
              <a:ext cx="20000593" cy="3183949"/>
            </a:xfrm>
            <a:prstGeom prst="rect">
              <a:avLst/>
            </a:prstGeom>
          </p:spPr>
          <p:txBody>
            <a:bodyPr anchor="t" rtlCol="false" tIns="0" lIns="0" bIns="0" rIns="0">
              <a:spAutoFit/>
            </a:bodyPr>
            <a:lstStyle/>
            <a:p>
              <a:pPr algn="ctr">
                <a:lnSpc>
                  <a:spcPts val="3106"/>
                </a:lnSpc>
              </a:pPr>
              <a:r>
                <a:rPr lang="en-US" sz="3269" b="true">
                  <a:solidFill>
                    <a:srgbClr val="FFFFFF"/>
                  </a:solidFill>
                  <a:latin typeface="Poppins Semi-Bold"/>
                  <a:ea typeface="Poppins Semi-Bold"/>
                  <a:cs typeface="Poppins Semi-Bold"/>
                  <a:sym typeface="Poppins Semi-Bold"/>
                </a:rPr>
                <a:t>Nobody organised the group in the first fortnight, so Ella started assigning tasks and chairing meetings. </a:t>
              </a:r>
            </a:p>
            <a:p>
              <a:pPr algn="ctr">
                <a:lnSpc>
                  <a:spcPts val="3106"/>
                </a:lnSpc>
              </a:pPr>
            </a:p>
            <a:p>
              <a:pPr algn="ctr">
                <a:lnSpc>
                  <a:spcPts val="3106"/>
                </a:lnSpc>
              </a:pPr>
              <a:r>
                <a:rPr lang="en-US" sz="3269" b="true">
                  <a:solidFill>
                    <a:srgbClr val="FFFFFF"/>
                  </a:solidFill>
                  <a:latin typeface="Poppins Semi-Bold"/>
                  <a:ea typeface="Poppins Semi-Bold"/>
                  <a:cs typeface="Poppins Semi-Bold"/>
                  <a:sym typeface="Poppins Semi-Bold"/>
                </a:rPr>
                <a:t>The team is ahead of schedule. She never asked if anyone else wanted a role, and when someone proposed restructuring in week 8 she said the plan was locked.</a:t>
              </a:r>
            </a:p>
          </p:txBody>
        </p:sp>
      </p:grpSp>
      <p:grpSp>
        <p:nvGrpSpPr>
          <p:cNvPr name="Group 23" id="23"/>
          <p:cNvGrpSpPr/>
          <p:nvPr/>
        </p:nvGrpSpPr>
        <p:grpSpPr>
          <a:xfrm rot="0">
            <a:off x="2086942" y="6068794"/>
            <a:ext cx="6705133" cy="2864363"/>
            <a:chOff x="0" y="0"/>
            <a:chExt cx="542123" cy="231589"/>
          </a:xfrm>
        </p:grpSpPr>
        <p:sp>
          <p:nvSpPr>
            <p:cNvPr name="Freeform 24" id="24"/>
            <p:cNvSpPr/>
            <p:nvPr/>
          </p:nvSpPr>
          <p:spPr>
            <a:xfrm flipH="false" flipV="false" rot="0">
              <a:off x="0" y="0"/>
              <a:ext cx="542123" cy="231589"/>
            </a:xfrm>
            <a:custGeom>
              <a:avLst/>
              <a:gdLst/>
              <a:ahLst/>
              <a:cxnLst/>
              <a:rect r="r" b="b" t="t" l="l"/>
              <a:pathLst>
                <a:path h="231589" w="542123">
                  <a:moveTo>
                    <a:pt x="68556" y="0"/>
                  </a:moveTo>
                  <a:lnTo>
                    <a:pt x="473567" y="0"/>
                  </a:lnTo>
                  <a:cubicBezTo>
                    <a:pt x="511429" y="0"/>
                    <a:pt x="542123" y="30694"/>
                    <a:pt x="542123" y="68556"/>
                  </a:cubicBezTo>
                  <a:lnTo>
                    <a:pt x="542123" y="163033"/>
                  </a:lnTo>
                  <a:cubicBezTo>
                    <a:pt x="542123" y="181215"/>
                    <a:pt x="534900" y="198653"/>
                    <a:pt x="522043" y="211510"/>
                  </a:cubicBezTo>
                  <a:cubicBezTo>
                    <a:pt x="509187" y="224366"/>
                    <a:pt x="491749" y="231589"/>
                    <a:pt x="473567" y="231589"/>
                  </a:cubicBezTo>
                  <a:lnTo>
                    <a:pt x="68556" y="231589"/>
                  </a:lnTo>
                  <a:cubicBezTo>
                    <a:pt x="50374" y="231589"/>
                    <a:pt x="32936" y="224366"/>
                    <a:pt x="20080" y="211510"/>
                  </a:cubicBezTo>
                  <a:cubicBezTo>
                    <a:pt x="7223" y="198653"/>
                    <a:pt x="0" y="181215"/>
                    <a:pt x="0" y="163033"/>
                  </a:cubicBezTo>
                  <a:lnTo>
                    <a:pt x="0" y="68556"/>
                  </a:lnTo>
                  <a:cubicBezTo>
                    <a:pt x="0" y="50374"/>
                    <a:pt x="7223" y="32936"/>
                    <a:pt x="20080" y="20080"/>
                  </a:cubicBezTo>
                  <a:cubicBezTo>
                    <a:pt x="32936" y="7223"/>
                    <a:pt x="50374" y="0"/>
                    <a:pt x="68556" y="0"/>
                  </a:cubicBezTo>
                  <a:close/>
                </a:path>
              </a:pathLst>
            </a:custGeom>
            <a:gradFill rotWithShape="true">
              <a:gsLst>
                <a:gs pos="0">
                  <a:srgbClr val="85200C">
                    <a:alpha val="30000"/>
                  </a:srgbClr>
                </a:gs>
                <a:gs pos="100000">
                  <a:srgbClr val="940000">
                    <a:alpha val="100000"/>
                  </a:srgbClr>
                </a:gs>
              </a:gsLst>
              <a:lin ang="0"/>
            </a:gradFill>
          </p:spPr>
        </p:sp>
        <p:sp>
          <p:nvSpPr>
            <p:cNvPr name="TextBox 25" id="25"/>
            <p:cNvSpPr txBox="true"/>
            <p:nvPr/>
          </p:nvSpPr>
          <p:spPr>
            <a:xfrm>
              <a:off x="0" y="28575"/>
              <a:ext cx="542123" cy="203014"/>
            </a:xfrm>
            <a:prstGeom prst="rect">
              <a:avLst/>
            </a:prstGeom>
          </p:spPr>
          <p:txBody>
            <a:bodyPr anchor="ctr" rtlCol="false" tIns="50800" lIns="50800" bIns="50800" rIns="50800"/>
            <a:lstStyle/>
            <a:p>
              <a:pPr algn="ctr">
                <a:lnSpc>
                  <a:spcPts val="1919"/>
                </a:lnSpc>
              </a:pPr>
            </a:p>
          </p:txBody>
        </p:sp>
      </p:grpSp>
      <p:grpSp>
        <p:nvGrpSpPr>
          <p:cNvPr name="Group 26" id="26"/>
          <p:cNvGrpSpPr/>
          <p:nvPr/>
        </p:nvGrpSpPr>
        <p:grpSpPr>
          <a:xfrm rot="0">
            <a:off x="9036459" y="6099285"/>
            <a:ext cx="6857760" cy="2864363"/>
            <a:chOff x="0" y="0"/>
            <a:chExt cx="9143680" cy="3819150"/>
          </a:xfrm>
        </p:grpSpPr>
        <p:grpSp>
          <p:nvGrpSpPr>
            <p:cNvPr name="Group 27" id="27"/>
            <p:cNvGrpSpPr/>
            <p:nvPr/>
          </p:nvGrpSpPr>
          <p:grpSpPr>
            <a:xfrm rot="0">
              <a:off x="50565" y="0"/>
              <a:ext cx="8869518" cy="3819150"/>
              <a:chOff x="0" y="0"/>
              <a:chExt cx="537838" cy="231589"/>
            </a:xfrm>
          </p:grpSpPr>
          <p:sp>
            <p:nvSpPr>
              <p:cNvPr name="Freeform 28" id="28"/>
              <p:cNvSpPr/>
              <p:nvPr/>
            </p:nvSpPr>
            <p:spPr>
              <a:xfrm flipH="false" flipV="false" rot="0">
                <a:off x="0" y="0"/>
                <a:ext cx="537838" cy="231589"/>
              </a:xfrm>
              <a:custGeom>
                <a:avLst/>
                <a:gdLst/>
                <a:ahLst/>
                <a:cxnLst/>
                <a:rect r="r" b="b" t="t" l="l"/>
                <a:pathLst>
                  <a:path h="231589" w="537838">
                    <a:moveTo>
                      <a:pt x="35130" y="0"/>
                    </a:moveTo>
                    <a:lnTo>
                      <a:pt x="502708" y="0"/>
                    </a:lnTo>
                    <a:cubicBezTo>
                      <a:pt x="512025" y="0"/>
                      <a:pt x="520961" y="3701"/>
                      <a:pt x="527549" y="10289"/>
                    </a:cubicBezTo>
                    <a:cubicBezTo>
                      <a:pt x="534137" y="16878"/>
                      <a:pt x="537838" y="25813"/>
                      <a:pt x="537838" y="35130"/>
                    </a:cubicBezTo>
                    <a:lnTo>
                      <a:pt x="537838" y="196459"/>
                    </a:lnTo>
                    <a:cubicBezTo>
                      <a:pt x="537838" y="205776"/>
                      <a:pt x="534137" y="214712"/>
                      <a:pt x="527549" y="221300"/>
                    </a:cubicBezTo>
                    <a:cubicBezTo>
                      <a:pt x="520961" y="227888"/>
                      <a:pt x="512025" y="231589"/>
                      <a:pt x="502708" y="231589"/>
                    </a:cubicBezTo>
                    <a:lnTo>
                      <a:pt x="35130" y="231589"/>
                    </a:lnTo>
                    <a:cubicBezTo>
                      <a:pt x="25813" y="231589"/>
                      <a:pt x="16878" y="227888"/>
                      <a:pt x="10289" y="221300"/>
                    </a:cubicBezTo>
                    <a:cubicBezTo>
                      <a:pt x="3701" y="214712"/>
                      <a:pt x="0" y="205776"/>
                      <a:pt x="0" y="196459"/>
                    </a:cubicBezTo>
                    <a:lnTo>
                      <a:pt x="0" y="35130"/>
                    </a:lnTo>
                    <a:cubicBezTo>
                      <a:pt x="0" y="25813"/>
                      <a:pt x="3701" y="16878"/>
                      <a:pt x="10289" y="10289"/>
                    </a:cubicBezTo>
                    <a:cubicBezTo>
                      <a:pt x="16878" y="3701"/>
                      <a:pt x="25813" y="0"/>
                      <a:pt x="35130" y="0"/>
                    </a:cubicBezTo>
                    <a:close/>
                  </a:path>
                </a:pathLst>
              </a:custGeom>
              <a:gradFill rotWithShape="true">
                <a:gsLst>
                  <a:gs pos="0">
                    <a:srgbClr val="85200C">
                      <a:alpha val="30000"/>
                    </a:srgbClr>
                  </a:gs>
                  <a:gs pos="100000">
                    <a:srgbClr val="008601">
                      <a:alpha val="100000"/>
                    </a:srgbClr>
                  </a:gs>
                </a:gsLst>
                <a:lin ang="0"/>
              </a:gradFill>
            </p:spPr>
          </p:sp>
          <p:sp>
            <p:nvSpPr>
              <p:cNvPr name="TextBox 29" id="29"/>
              <p:cNvSpPr txBox="true"/>
              <p:nvPr/>
            </p:nvSpPr>
            <p:spPr>
              <a:xfrm>
                <a:off x="0" y="28575"/>
                <a:ext cx="537838" cy="203014"/>
              </a:xfrm>
              <a:prstGeom prst="rect">
                <a:avLst/>
              </a:prstGeom>
            </p:spPr>
            <p:txBody>
              <a:bodyPr anchor="ctr" rtlCol="false" tIns="99925" lIns="99925" bIns="99925" rIns="99925"/>
              <a:lstStyle/>
              <a:p>
                <a:pPr algn="ctr">
                  <a:lnSpc>
                    <a:spcPts val="1919"/>
                  </a:lnSpc>
                </a:pPr>
              </a:p>
            </p:txBody>
          </p:sp>
        </p:grpSp>
        <p:sp>
          <p:nvSpPr>
            <p:cNvPr name="TextBox 30" id="30"/>
            <p:cNvSpPr txBox="true"/>
            <p:nvPr/>
          </p:nvSpPr>
          <p:spPr>
            <a:xfrm rot="0">
              <a:off x="0" y="656138"/>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GreenFlag</a:t>
              </a:r>
            </a:p>
          </p:txBody>
        </p:sp>
        <p:sp>
          <p:nvSpPr>
            <p:cNvPr name="TextBox 31" id="31"/>
            <p:cNvSpPr txBox="true"/>
            <p:nvPr/>
          </p:nvSpPr>
          <p:spPr>
            <a:xfrm rot="0">
              <a:off x="415950" y="506572"/>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Green Flag</a:t>
              </a:r>
            </a:p>
          </p:txBody>
        </p:sp>
      </p:grpSp>
      <p:sp>
        <p:nvSpPr>
          <p:cNvPr name="TextBox 32" id="32"/>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16</a:t>
            </a:r>
          </a:p>
        </p:txBody>
      </p:sp>
      <p:sp>
        <p:nvSpPr>
          <p:cNvPr name="TextBox 33" id="33"/>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34" id="34"/>
          <p:cNvSpPr txBox="true"/>
          <p:nvPr/>
        </p:nvSpPr>
        <p:spPr>
          <a:xfrm rot="0">
            <a:off x="415994" y="1418607"/>
            <a:ext cx="5981225" cy="549275"/>
          </a:xfrm>
          <a:prstGeom prst="rect">
            <a:avLst/>
          </a:prstGeom>
        </p:spPr>
        <p:txBody>
          <a:bodyPr anchor="t" rtlCol="false" tIns="0" lIns="0" bIns="0" rIns="0">
            <a:spAutoFit/>
          </a:bodyPr>
          <a:lstStyle/>
          <a:p>
            <a:pPr algn="l">
              <a:lnSpc>
                <a:spcPts val="3895"/>
              </a:lnSpc>
            </a:pPr>
            <a:r>
              <a:rPr lang="en-US" sz="4100" b="true">
                <a:solidFill>
                  <a:srgbClr val="FFFFFF"/>
                </a:solidFill>
                <a:latin typeface="Poppins Heavy"/>
                <a:ea typeface="Poppins Heavy"/>
                <a:cs typeface="Poppins Heavy"/>
                <a:sym typeface="Poppins Heavy"/>
              </a:rPr>
              <a:t>SCENARIO 6: ELLA</a:t>
            </a:r>
          </a:p>
        </p:txBody>
      </p:sp>
      <p:grpSp>
        <p:nvGrpSpPr>
          <p:cNvPr name="Group 35" id="35"/>
          <p:cNvGrpSpPr/>
          <p:nvPr/>
        </p:nvGrpSpPr>
        <p:grpSpPr>
          <a:xfrm rot="0">
            <a:off x="2001030" y="6650663"/>
            <a:ext cx="6857760" cy="1869997"/>
            <a:chOff x="0" y="0"/>
            <a:chExt cx="9143680" cy="2493329"/>
          </a:xfrm>
        </p:grpSpPr>
        <p:sp>
          <p:nvSpPr>
            <p:cNvPr name="TextBox 36" id="36"/>
            <p:cNvSpPr txBox="true"/>
            <p:nvPr/>
          </p:nvSpPr>
          <p:spPr>
            <a:xfrm rot="0">
              <a:off x="0" y="-79033"/>
              <a:ext cx="9143680" cy="2572362"/>
            </a:xfrm>
            <a:prstGeom prst="rect">
              <a:avLst/>
            </a:prstGeom>
          </p:spPr>
          <p:txBody>
            <a:bodyPr anchor="t" rtlCol="false" tIns="0" lIns="0" bIns="0" rIns="0">
              <a:spAutoFit/>
            </a:bodyPr>
            <a:lstStyle/>
            <a:p>
              <a:pPr algn="ctr">
                <a:lnSpc>
                  <a:spcPts val="16199"/>
                </a:lnSpc>
              </a:pPr>
              <a:r>
                <a:rPr lang="en-US" sz="11570" spc="34">
                  <a:solidFill>
                    <a:srgbClr val="000000">
                      <a:alpha val="30980"/>
                    </a:srgbClr>
                  </a:solidFill>
                  <a:latin typeface="Milestone Script"/>
                  <a:ea typeface="Milestone Script"/>
                  <a:cs typeface="Milestone Script"/>
                  <a:sym typeface="Milestone Script"/>
                </a:rPr>
                <a:t>Red Flag</a:t>
              </a:r>
            </a:p>
          </p:txBody>
        </p:sp>
        <p:sp>
          <p:nvSpPr>
            <p:cNvPr name="TextBox 37" id="37"/>
            <p:cNvSpPr txBox="true"/>
            <p:nvPr/>
          </p:nvSpPr>
          <p:spPr>
            <a:xfrm rot="0">
              <a:off x="415950" y="-228600"/>
              <a:ext cx="8121423" cy="2572362"/>
            </a:xfrm>
            <a:prstGeom prst="rect">
              <a:avLst/>
            </a:prstGeom>
          </p:spPr>
          <p:txBody>
            <a:bodyPr anchor="t" rtlCol="false" tIns="0" lIns="0" bIns="0" rIns="0">
              <a:spAutoFit/>
            </a:bodyPr>
            <a:lstStyle/>
            <a:p>
              <a:pPr algn="ctr">
                <a:lnSpc>
                  <a:spcPts val="16199"/>
                </a:lnSpc>
              </a:pPr>
              <a:r>
                <a:rPr lang="en-US" sz="11570" spc="34">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Red Flag</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285585" y="2256613"/>
            <a:ext cx="5512031" cy="3113711"/>
            <a:chOff x="0" y="0"/>
            <a:chExt cx="409970" cy="231589"/>
          </a:xfrm>
        </p:grpSpPr>
        <p:sp>
          <p:nvSpPr>
            <p:cNvPr name="Freeform 16" id="16"/>
            <p:cNvSpPr/>
            <p:nvPr/>
          </p:nvSpPr>
          <p:spPr>
            <a:xfrm flipH="false" flipV="false" rot="0">
              <a:off x="0" y="0"/>
              <a:ext cx="409970" cy="231589"/>
            </a:xfrm>
            <a:custGeom>
              <a:avLst/>
              <a:gdLst/>
              <a:ahLst/>
              <a:cxnLst/>
              <a:rect r="r" b="b" t="t" l="l"/>
              <a:pathLst>
                <a:path h="231589" w="409970">
                  <a:moveTo>
                    <a:pt x="83395" y="0"/>
                  </a:moveTo>
                  <a:lnTo>
                    <a:pt x="326574" y="0"/>
                  </a:lnTo>
                  <a:cubicBezTo>
                    <a:pt x="348692" y="0"/>
                    <a:pt x="369904" y="8786"/>
                    <a:pt x="385544" y="24426"/>
                  </a:cubicBezTo>
                  <a:cubicBezTo>
                    <a:pt x="401183" y="40065"/>
                    <a:pt x="409970" y="61277"/>
                    <a:pt x="409970" y="83395"/>
                  </a:cubicBezTo>
                  <a:lnTo>
                    <a:pt x="409970" y="148194"/>
                  </a:lnTo>
                  <a:cubicBezTo>
                    <a:pt x="409970" y="170312"/>
                    <a:pt x="401183" y="191524"/>
                    <a:pt x="385544" y="207163"/>
                  </a:cubicBezTo>
                  <a:cubicBezTo>
                    <a:pt x="369904" y="222803"/>
                    <a:pt x="348692" y="231589"/>
                    <a:pt x="326574" y="231589"/>
                  </a:cubicBezTo>
                  <a:lnTo>
                    <a:pt x="83395" y="231589"/>
                  </a:lnTo>
                  <a:cubicBezTo>
                    <a:pt x="37337" y="231589"/>
                    <a:pt x="0" y="194252"/>
                    <a:pt x="0" y="148194"/>
                  </a:cubicBezTo>
                  <a:lnTo>
                    <a:pt x="0" y="83395"/>
                  </a:lnTo>
                  <a:cubicBezTo>
                    <a:pt x="0" y="37337"/>
                    <a:pt x="37337" y="0"/>
                    <a:pt x="83395" y="0"/>
                  </a:cubicBezTo>
                  <a:close/>
                </a:path>
              </a:pathLst>
            </a:custGeom>
            <a:gradFill rotWithShape="true">
              <a:gsLst>
                <a:gs pos="0">
                  <a:srgbClr val="85200C">
                    <a:alpha val="30000"/>
                  </a:srgbClr>
                </a:gs>
                <a:gs pos="100000">
                  <a:srgbClr val="FFB30B">
                    <a:alpha val="100000"/>
                  </a:srgbClr>
                </a:gs>
              </a:gsLst>
              <a:lin ang="0"/>
            </a:gradFill>
          </p:spPr>
        </p:sp>
        <p:sp>
          <p:nvSpPr>
            <p:cNvPr name="TextBox 17" id="17"/>
            <p:cNvSpPr txBox="true"/>
            <p:nvPr/>
          </p:nvSpPr>
          <p:spPr>
            <a:xfrm>
              <a:off x="0" y="28575"/>
              <a:ext cx="409970" cy="203014"/>
            </a:xfrm>
            <a:prstGeom prst="rect">
              <a:avLst/>
            </a:prstGeom>
          </p:spPr>
          <p:txBody>
            <a:bodyPr anchor="ctr" rtlCol="false" tIns="50800" lIns="50800" bIns="50800" rIns="50800"/>
            <a:lstStyle/>
            <a:p>
              <a:pPr algn="ctr">
                <a:lnSpc>
                  <a:spcPts val="1919"/>
                </a:lnSpc>
              </a:pPr>
            </a:p>
          </p:txBody>
        </p:sp>
      </p:grpSp>
      <p:grpSp>
        <p:nvGrpSpPr>
          <p:cNvPr name="Group 18" id="18"/>
          <p:cNvGrpSpPr/>
          <p:nvPr/>
        </p:nvGrpSpPr>
        <p:grpSpPr>
          <a:xfrm rot="0">
            <a:off x="5945060" y="2292160"/>
            <a:ext cx="12057355" cy="3142638"/>
            <a:chOff x="0" y="0"/>
            <a:chExt cx="1015275" cy="264622"/>
          </a:xfrm>
        </p:grpSpPr>
        <p:sp>
          <p:nvSpPr>
            <p:cNvPr name="Freeform 19" id="19"/>
            <p:cNvSpPr/>
            <p:nvPr/>
          </p:nvSpPr>
          <p:spPr>
            <a:xfrm flipH="false" flipV="false" rot="0">
              <a:off x="0" y="0"/>
              <a:ext cx="1015275" cy="264622"/>
            </a:xfrm>
            <a:custGeom>
              <a:avLst/>
              <a:gdLst/>
              <a:ahLst/>
              <a:cxnLst/>
              <a:rect r="r" b="b" t="t" l="l"/>
              <a:pathLst>
                <a:path h="264622" w="1015275">
                  <a:moveTo>
                    <a:pt x="49662" y="0"/>
                  </a:moveTo>
                  <a:lnTo>
                    <a:pt x="965613" y="0"/>
                  </a:lnTo>
                  <a:cubicBezTo>
                    <a:pt x="978784" y="0"/>
                    <a:pt x="991416" y="5232"/>
                    <a:pt x="1000729" y="14546"/>
                  </a:cubicBezTo>
                  <a:cubicBezTo>
                    <a:pt x="1010043" y="23859"/>
                    <a:pt x="1015275" y="36491"/>
                    <a:pt x="1015275" y="49662"/>
                  </a:cubicBezTo>
                  <a:lnTo>
                    <a:pt x="1015275" y="214960"/>
                  </a:lnTo>
                  <a:cubicBezTo>
                    <a:pt x="1015275" y="228131"/>
                    <a:pt x="1010043" y="240763"/>
                    <a:pt x="1000729" y="250076"/>
                  </a:cubicBezTo>
                  <a:cubicBezTo>
                    <a:pt x="991416" y="259390"/>
                    <a:pt x="978784" y="264622"/>
                    <a:pt x="965613" y="264622"/>
                  </a:cubicBezTo>
                  <a:lnTo>
                    <a:pt x="49662" y="264622"/>
                  </a:lnTo>
                  <a:cubicBezTo>
                    <a:pt x="36491" y="264622"/>
                    <a:pt x="23859" y="259390"/>
                    <a:pt x="14546" y="250076"/>
                  </a:cubicBezTo>
                  <a:cubicBezTo>
                    <a:pt x="5232" y="240763"/>
                    <a:pt x="0" y="228131"/>
                    <a:pt x="0" y="214960"/>
                  </a:cubicBezTo>
                  <a:lnTo>
                    <a:pt x="0" y="49662"/>
                  </a:lnTo>
                  <a:cubicBezTo>
                    <a:pt x="0" y="36491"/>
                    <a:pt x="5232" y="23859"/>
                    <a:pt x="14546" y="14546"/>
                  </a:cubicBezTo>
                  <a:cubicBezTo>
                    <a:pt x="23859" y="5232"/>
                    <a:pt x="36491" y="0"/>
                    <a:pt x="49662" y="0"/>
                  </a:cubicBezTo>
                  <a:close/>
                </a:path>
              </a:pathLst>
            </a:custGeom>
            <a:gradFill rotWithShape="true">
              <a:gsLst>
                <a:gs pos="0">
                  <a:srgbClr val="85200C">
                    <a:alpha val="30000"/>
                  </a:srgbClr>
                </a:gs>
                <a:gs pos="100000">
                  <a:srgbClr val="DC4B0F">
                    <a:alpha val="100000"/>
                  </a:srgbClr>
                </a:gs>
              </a:gsLst>
              <a:lin ang="0"/>
            </a:gradFill>
          </p:spPr>
        </p:sp>
        <p:sp>
          <p:nvSpPr>
            <p:cNvPr name="TextBox 20" id="20"/>
            <p:cNvSpPr txBox="true"/>
            <p:nvPr/>
          </p:nvSpPr>
          <p:spPr>
            <a:xfrm>
              <a:off x="0" y="28575"/>
              <a:ext cx="1015275" cy="236047"/>
            </a:xfrm>
            <a:prstGeom prst="rect">
              <a:avLst/>
            </a:prstGeom>
          </p:spPr>
          <p:txBody>
            <a:bodyPr anchor="ctr" rtlCol="false" tIns="42145" lIns="42145" bIns="42145" rIns="42145"/>
            <a:lstStyle/>
            <a:p>
              <a:pPr algn="ctr">
                <a:lnSpc>
                  <a:spcPts val="1919"/>
                </a:lnSpc>
              </a:pPr>
            </a:p>
          </p:txBody>
        </p:sp>
      </p:grpSp>
      <p:sp>
        <p:nvSpPr>
          <p:cNvPr name="TextBox 21" id="21"/>
          <p:cNvSpPr txBox="true"/>
          <p:nvPr/>
        </p:nvSpPr>
        <p:spPr>
          <a:xfrm rot="0">
            <a:off x="14612249" y="9372600"/>
            <a:ext cx="1061070" cy="82979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17</a:t>
            </a:r>
          </a:p>
        </p:txBody>
      </p:sp>
      <p:sp>
        <p:nvSpPr>
          <p:cNvPr name="TextBox 22" id="22"/>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3" id="23"/>
          <p:cNvSpPr txBox="true"/>
          <p:nvPr/>
        </p:nvSpPr>
        <p:spPr>
          <a:xfrm rot="0">
            <a:off x="11566544" y="2701789"/>
            <a:ext cx="5989927" cy="2436658"/>
          </a:xfrm>
          <a:prstGeom prst="rect">
            <a:avLst/>
          </a:prstGeom>
        </p:spPr>
        <p:txBody>
          <a:bodyPr anchor="t" rtlCol="false" tIns="0" lIns="0" bIns="0" rIns="0">
            <a:spAutoFit/>
          </a:bodyPr>
          <a:lstStyle/>
          <a:p>
            <a:pPr algn="l">
              <a:lnSpc>
                <a:spcPts val="2748"/>
              </a:lnSpc>
            </a:pPr>
            <a:r>
              <a:rPr lang="en-US" sz="2893" b="true">
                <a:solidFill>
                  <a:srgbClr val="FFFFFF"/>
                </a:solidFill>
                <a:latin typeface="Poppins Semi-Bold"/>
                <a:ea typeface="Poppins Semi-Bold"/>
                <a:cs typeface="Poppins Semi-Bold"/>
                <a:sym typeface="Poppins Semi-Bold"/>
              </a:rPr>
              <a:t>Pros: She filled a vacuum nobody else would, and the group is genuinely better off.</a:t>
            </a:r>
          </a:p>
          <a:p>
            <a:pPr algn="l">
              <a:lnSpc>
                <a:spcPts val="2748"/>
              </a:lnSpc>
            </a:pPr>
          </a:p>
          <a:p>
            <a:pPr algn="l">
              <a:lnSpc>
                <a:spcPts val="2748"/>
              </a:lnSpc>
            </a:pPr>
            <a:r>
              <a:rPr lang="en-US" sz="2893" b="true">
                <a:solidFill>
                  <a:srgbClr val="FFFFFF"/>
                </a:solidFill>
                <a:latin typeface="Poppins Semi-Bold"/>
                <a:ea typeface="Poppins Semi-Bold"/>
                <a:cs typeface="Poppins Semi-Bold"/>
                <a:sym typeface="Poppins Semi-Bold"/>
              </a:rPr>
              <a:t>Cons: But a team that runs well and can’t be influenced is not a team, it’s an assistant pool.</a:t>
            </a:r>
          </a:p>
        </p:txBody>
      </p:sp>
      <p:grpSp>
        <p:nvGrpSpPr>
          <p:cNvPr name="Group 24" id="24"/>
          <p:cNvGrpSpPr/>
          <p:nvPr/>
        </p:nvGrpSpPr>
        <p:grpSpPr>
          <a:xfrm rot="0">
            <a:off x="5797616" y="2780923"/>
            <a:ext cx="5887642" cy="2491567"/>
            <a:chOff x="0" y="0"/>
            <a:chExt cx="7850190" cy="3322089"/>
          </a:xfrm>
        </p:grpSpPr>
        <p:sp>
          <p:nvSpPr>
            <p:cNvPr name="TextBox 25" id="25"/>
            <p:cNvSpPr txBox="true"/>
            <p:nvPr/>
          </p:nvSpPr>
          <p:spPr>
            <a:xfrm rot="0">
              <a:off x="454863" y="-105522"/>
              <a:ext cx="7395327" cy="3427612"/>
            </a:xfrm>
            <a:prstGeom prst="rect">
              <a:avLst/>
            </a:prstGeom>
          </p:spPr>
          <p:txBody>
            <a:bodyPr anchor="t" rtlCol="false" tIns="0" lIns="0" bIns="0" rIns="0">
              <a:spAutoFit/>
            </a:bodyPr>
            <a:lstStyle/>
            <a:p>
              <a:pPr algn="ctr">
                <a:lnSpc>
                  <a:spcPts val="21583"/>
                </a:lnSpc>
              </a:pPr>
              <a:r>
                <a:rPr lang="en-US" sz="15416" spc="46">
                  <a:solidFill>
                    <a:srgbClr val="000000">
                      <a:alpha val="30980"/>
                    </a:srgbClr>
                  </a:solidFill>
                  <a:latin typeface="Milestone Script"/>
                  <a:ea typeface="Milestone Script"/>
                  <a:cs typeface="Milestone Script"/>
                  <a:sym typeface="Milestone Script"/>
                </a:rPr>
                <a:t>Why?</a:t>
              </a:r>
            </a:p>
          </p:txBody>
        </p:sp>
        <p:sp>
          <p:nvSpPr>
            <p:cNvPr name="TextBox 26" id="26"/>
            <p:cNvSpPr txBox="true"/>
            <p:nvPr/>
          </p:nvSpPr>
          <p:spPr>
            <a:xfrm rot="0">
              <a:off x="0" y="-304800"/>
              <a:ext cx="7689259" cy="3427612"/>
            </a:xfrm>
            <a:prstGeom prst="rect">
              <a:avLst/>
            </a:prstGeom>
          </p:spPr>
          <p:txBody>
            <a:bodyPr anchor="t" rtlCol="false" tIns="0" lIns="0" bIns="0" rIns="0">
              <a:spAutoFit/>
            </a:bodyPr>
            <a:lstStyle/>
            <a:p>
              <a:pPr algn="ctr">
                <a:lnSpc>
                  <a:spcPts val="21583"/>
                </a:lnSpc>
              </a:pPr>
              <a:r>
                <a:rPr lang="en-US" sz="15416" spc="46">
                  <a:gradFill>
                    <a:gsLst>
                      <a:gs pos="0">
                        <a:srgbClr val="841F0B">
                          <a:alpha val="100000"/>
                        </a:srgbClr>
                      </a:gs>
                      <a:gs pos="100000">
                        <a:srgbClr val="DA4610">
                          <a:alpha val="100000"/>
                        </a:srgbClr>
                      </a:gs>
                    </a:gsLst>
                    <a:lin ang="0"/>
                  </a:gradFill>
                  <a:latin typeface="Milestone Script"/>
                  <a:ea typeface="Milestone Script"/>
                  <a:cs typeface="Milestone Script"/>
                  <a:sym typeface="Milestone Script"/>
                </a:rPr>
                <a:t>Why?</a:t>
              </a:r>
            </a:p>
          </p:txBody>
        </p:sp>
      </p:grpSp>
      <p:sp>
        <p:nvSpPr>
          <p:cNvPr name="TextBox 27" id="27"/>
          <p:cNvSpPr txBox="true"/>
          <p:nvPr/>
        </p:nvSpPr>
        <p:spPr>
          <a:xfrm rot="0">
            <a:off x="1131372" y="2932923"/>
            <a:ext cx="3820458" cy="1640799"/>
          </a:xfrm>
          <a:prstGeom prst="rect">
            <a:avLst/>
          </a:prstGeom>
        </p:spPr>
        <p:txBody>
          <a:bodyPr anchor="t" rtlCol="false" tIns="0" lIns="0" bIns="0" rIns="0">
            <a:spAutoFit/>
          </a:bodyPr>
          <a:lstStyle/>
          <a:p>
            <a:pPr algn="ctr">
              <a:lnSpc>
                <a:spcPts val="6092"/>
              </a:lnSpc>
            </a:pPr>
            <a:r>
              <a:rPr lang="en-US" sz="6413" b="true">
                <a:solidFill>
                  <a:srgbClr val="FFFFFF"/>
                </a:solidFill>
                <a:latin typeface="Poppins Heavy"/>
                <a:ea typeface="Poppins Heavy"/>
                <a:cs typeface="Poppins Heavy"/>
                <a:sym typeface="Poppins Heavy"/>
              </a:rPr>
              <a:t>IT DEPENDS</a:t>
            </a:r>
          </a:p>
        </p:txBody>
      </p:sp>
      <p:grpSp>
        <p:nvGrpSpPr>
          <p:cNvPr name="Group 28" id="28"/>
          <p:cNvGrpSpPr/>
          <p:nvPr/>
        </p:nvGrpSpPr>
        <p:grpSpPr>
          <a:xfrm rot="0">
            <a:off x="3855631" y="5840115"/>
            <a:ext cx="10756617" cy="2036826"/>
            <a:chOff x="0" y="0"/>
            <a:chExt cx="14342157" cy="2715768"/>
          </a:xfrm>
        </p:grpSpPr>
        <p:grpSp>
          <p:nvGrpSpPr>
            <p:cNvPr name="Group 29" id="29"/>
            <p:cNvGrpSpPr/>
            <p:nvPr/>
          </p:nvGrpSpPr>
          <p:grpSpPr>
            <a:xfrm rot="0">
              <a:off x="168625" y="12700"/>
              <a:ext cx="14173532" cy="2665787"/>
              <a:chOff x="0" y="0"/>
              <a:chExt cx="1280731" cy="240883"/>
            </a:xfrm>
          </p:grpSpPr>
          <p:sp>
            <p:nvSpPr>
              <p:cNvPr name="Freeform 30" id="30"/>
              <p:cNvSpPr/>
              <p:nvPr/>
            </p:nvSpPr>
            <p:spPr>
              <a:xfrm flipH="false" flipV="false" rot="0">
                <a:off x="0" y="0"/>
                <a:ext cx="1280731" cy="240883"/>
              </a:xfrm>
              <a:custGeom>
                <a:avLst/>
                <a:gdLst/>
                <a:ahLst/>
                <a:cxnLst/>
                <a:rect r="r" b="b" t="t" l="l"/>
                <a:pathLst>
                  <a:path h="240883" w="1280731">
                    <a:moveTo>
                      <a:pt x="6828" y="0"/>
                    </a:moveTo>
                    <a:lnTo>
                      <a:pt x="1273903" y="0"/>
                    </a:lnTo>
                    <a:cubicBezTo>
                      <a:pt x="1275714" y="0"/>
                      <a:pt x="1277451" y="719"/>
                      <a:pt x="1278731" y="2000"/>
                    </a:cubicBezTo>
                    <a:cubicBezTo>
                      <a:pt x="1280012" y="3280"/>
                      <a:pt x="1280731" y="5017"/>
                      <a:pt x="1280731" y="6828"/>
                    </a:cubicBezTo>
                    <a:lnTo>
                      <a:pt x="1280731" y="234055"/>
                    </a:lnTo>
                    <a:cubicBezTo>
                      <a:pt x="1280731" y="235866"/>
                      <a:pt x="1280012" y="237602"/>
                      <a:pt x="1278731" y="238883"/>
                    </a:cubicBezTo>
                    <a:cubicBezTo>
                      <a:pt x="1277451" y="240163"/>
                      <a:pt x="1275714" y="240883"/>
                      <a:pt x="1273903" y="240883"/>
                    </a:cubicBezTo>
                    <a:lnTo>
                      <a:pt x="6828" y="240883"/>
                    </a:lnTo>
                    <a:cubicBezTo>
                      <a:pt x="5017" y="240883"/>
                      <a:pt x="3280" y="240163"/>
                      <a:pt x="2000" y="238883"/>
                    </a:cubicBezTo>
                    <a:cubicBezTo>
                      <a:pt x="719" y="237602"/>
                      <a:pt x="0" y="235866"/>
                      <a:pt x="0" y="234055"/>
                    </a:cubicBezTo>
                    <a:lnTo>
                      <a:pt x="0" y="6828"/>
                    </a:lnTo>
                    <a:cubicBezTo>
                      <a:pt x="0" y="5017"/>
                      <a:pt x="719" y="3280"/>
                      <a:pt x="2000" y="2000"/>
                    </a:cubicBezTo>
                    <a:cubicBezTo>
                      <a:pt x="3280" y="719"/>
                      <a:pt x="5017" y="0"/>
                      <a:pt x="6828" y="0"/>
                    </a:cubicBezTo>
                    <a:close/>
                  </a:path>
                </a:pathLst>
              </a:custGeom>
              <a:gradFill rotWithShape="true">
                <a:gsLst>
                  <a:gs pos="0">
                    <a:srgbClr val="FFFFFF">
                      <a:alpha val="100000"/>
                    </a:srgbClr>
                  </a:gs>
                  <a:gs pos="100000">
                    <a:srgbClr val="FFFFFF">
                      <a:alpha val="0"/>
                    </a:srgbClr>
                  </a:gs>
                </a:gsLst>
                <a:lin ang="0"/>
              </a:gradFill>
            </p:spPr>
          </p:sp>
          <p:sp>
            <p:nvSpPr>
              <p:cNvPr name="TextBox 31" id="31"/>
              <p:cNvSpPr txBox="true"/>
              <p:nvPr/>
            </p:nvSpPr>
            <p:spPr>
              <a:xfrm>
                <a:off x="0" y="28575"/>
                <a:ext cx="1280731" cy="212308"/>
              </a:xfrm>
              <a:prstGeom prst="rect">
                <a:avLst/>
              </a:prstGeom>
            </p:spPr>
            <p:txBody>
              <a:bodyPr anchor="ctr" rtlCol="false" tIns="42145" lIns="42145" bIns="42145" rIns="42145"/>
              <a:lstStyle/>
              <a:p>
                <a:pPr algn="ctr">
                  <a:lnSpc>
                    <a:spcPts val="1919"/>
                  </a:lnSpc>
                </a:pPr>
              </a:p>
            </p:txBody>
          </p:sp>
        </p:grpSp>
        <p:grpSp>
          <p:nvGrpSpPr>
            <p:cNvPr name="Group 32" id="32"/>
            <p:cNvGrpSpPr/>
            <p:nvPr/>
          </p:nvGrpSpPr>
          <p:grpSpPr>
            <a:xfrm rot="0">
              <a:off x="0" y="0"/>
              <a:ext cx="299496" cy="2715768"/>
              <a:chOff x="0" y="0"/>
              <a:chExt cx="46219" cy="419100"/>
            </a:xfrm>
          </p:grpSpPr>
          <p:sp>
            <p:nvSpPr>
              <p:cNvPr name="Freeform 33" id="33"/>
              <p:cNvSpPr/>
              <p:nvPr/>
            </p:nvSpPr>
            <p:spPr>
              <a:xfrm flipH="false" flipV="false" rot="0">
                <a:off x="0" y="0"/>
                <a:ext cx="46219" cy="419100"/>
              </a:xfrm>
              <a:custGeom>
                <a:avLst/>
                <a:gdLst/>
                <a:ahLst/>
                <a:cxnLst/>
                <a:rect r="r" b="b" t="t" l="l"/>
                <a:pathLst>
                  <a:path h="419100" w="46219">
                    <a:moveTo>
                      <a:pt x="23109" y="0"/>
                    </a:moveTo>
                    <a:lnTo>
                      <a:pt x="23109" y="0"/>
                    </a:lnTo>
                    <a:cubicBezTo>
                      <a:pt x="29238" y="0"/>
                      <a:pt x="35116" y="2435"/>
                      <a:pt x="39450" y="6769"/>
                    </a:cubicBezTo>
                    <a:cubicBezTo>
                      <a:pt x="43784" y="11102"/>
                      <a:pt x="46219" y="16980"/>
                      <a:pt x="46219" y="23109"/>
                    </a:cubicBezTo>
                    <a:lnTo>
                      <a:pt x="46219" y="395991"/>
                    </a:lnTo>
                    <a:cubicBezTo>
                      <a:pt x="46219" y="402120"/>
                      <a:pt x="43784" y="407998"/>
                      <a:pt x="39450" y="412331"/>
                    </a:cubicBezTo>
                    <a:cubicBezTo>
                      <a:pt x="35116" y="416665"/>
                      <a:pt x="29238" y="419100"/>
                      <a:pt x="23109" y="419100"/>
                    </a:cubicBezTo>
                    <a:lnTo>
                      <a:pt x="23109" y="419100"/>
                    </a:lnTo>
                    <a:cubicBezTo>
                      <a:pt x="16980" y="419100"/>
                      <a:pt x="11102" y="416665"/>
                      <a:pt x="6769" y="412331"/>
                    </a:cubicBezTo>
                    <a:cubicBezTo>
                      <a:pt x="2435" y="407998"/>
                      <a:pt x="0" y="402120"/>
                      <a:pt x="0" y="395991"/>
                    </a:cubicBezTo>
                    <a:lnTo>
                      <a:pt x="0" y="23109"/>
                    </a:lnTo>
                    <a:cubicBezTo>
                      <a:pt x="0" y="16980"/>
                      <a:pt x="2435" y="11102"/>
                      <a:pt x="6769" y="6769"/>
                    </a:cubicBezTo>
                    <a:cubicBezTo>
                      <a:pt x="11102" y="2435"/>
                      <a:pt x="16980" y="0"/>
                      <a:pt x="23109" y="0"/>
                    </a:cubicBezTo>
                    <a:close/>
                  </a:path>
                </a:pathLst>
              </a:custGeom>
              <a:solidFill>
                <a:srgbClr val="6E3125"/>
              </a:solidFill>
            </p:spPr>
          </p:sp>
          <p:sp>
            <p:nvSpPr>
              <p:cNvPr name="TextBox 34" id="34"/>
              <p:cNvSpPr txBox="true"/>
              <p:nvPr/>
            </p:nvSpPr>
            <p:spPr>
              <a:xfrm>
                <a:off x="0" y="28575"/>
                <a:ext cx="46219" cy="390525"/>
              </a:xfrm>
              <a:prstGeom prst="rect">
                <a:avLst/>
              </a:prstGeom>
            </p:spPr>
            <p:txBody>
              <a:bodyPr anchor="ctr" rtlCol="false" tIns="50800" lIns="50800" bIns="50800" rIns="50800"/>
              <a:lstStyle/>
              <a:p>
                <a:pPr algn="ctr">
                  <a:lnSpc>
                    <a:spcPts val="1919"/>
                  </a:lnSpc>
                </a:pPr>
              </a:p>
            </p:txBody>
          </p:sp>
        </p:grpSp>
        <p:sp>
          <p:nvSpPr>
            <p:cNvPr name="TextBox 35" id="35"/>
            <p:cNvSpPr txBox="true"/>
            <p:nvPr/>
          </p:nvSpPr>
          <p:spPr>
            <a:xfrm rot="0">
              <a:off x="789272" y="528814"/>
              <a:ext cx="12932236" cy="1544405"/>
            </a:xfrm>
            <a:prstGeom prst="rect">
              <a:avLst/>
            </a:prstGeom>
          </p:spPr>
          <p:txBody>
            <a:bodyPr anchor="t" rtlCol="false" tIns="0" lIns="0" bIns="0" rIns="0">
              <a:spAutoFit/>
            </a:bodyPr>
            <a:lstStyle/>
            <a:p>
              <a:pPr algn="l">
                <a:lnSpc>
                  <a:spcPts val="4387"/>
                </a:lnSpc>
              </a:pPr>
              <a:r>
                <a:rPr lang="en-US" sz="4100" b="true">
                  <a:solidFill>
                    <a:srgbClr val="6E3125"/>
                  </a:solidFill>
                  <a:latin typeface="Poppins Heavy"/>
                  <a:ea typeface="Poppins Heavy"/>
                  <a:cs typeface="Poppins Heavy"/>
                  <a:sym typeface="Poppins Heavy"/>
                </a:rPr>
                <a:t>T</a:t>
              </a:r>
              <a:r>
                <a:rPr lang="en-US" sz="4100" b="true">
                  <a:solidFill>
                    <a:srgbClr val="6E3125"/>
                  </a:solidFill>
                  <a:latin typeface="Poppins Heavy"/>
                  <a:ea typeface="Poppins Heavy"/>
                  <a:cs typeface="Poppins Heavy"/>
                  <a:sym typeface="Poppins Heavy"/>
                </a:rPr>
                <a:t>he team is functioning well. Is that enough for teamwork and respect?</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sp>
        <p:nvSpPr>
          <p:cNvPr name="TextBox 15" id="15"/>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19</a:t>
            </a:r>
          </a:p>
        </p:txBody>
      </p:sp>
      <p:sp>
        <p:nvSpPr>
          <p:cNvPr name="TextBox 16" id="16"/>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17" id="17"/>
          <p:cNvSpPr txBox="true"/>
          <p:nvPr/>
        </p:nvSpPr>
        <p:spPr>
          <a:xfrm rot="0">
            <a:off x="415994" y="2569526"/>
            <a:ext cx="18193708" cy="2571529"/>
          </a:xfrm>
          <a:prstGeom prst="rect">
            <a:avLst/>
          </a:prstGeom>
        </p:spPr>
        <p:txBody>
          <a:bodyPr anchor="t" rtlCol="false" tIns="0" lIns="0" bIns="0" rIns="0">
            <a:spAutoFit/>
          </a:bodyPr>
          <a:lstStyle/>
          <a:p>
            <a:pPr algn="ctr">
              <a:lnSpc>
                <a:spcPts val="17708"/>
              </a:lnSpc>
            </a:pPr>
            <a:r>
              <a:rPr lang="en-US" sz="18640" b="true">
                <a:solidFill>
                  <a:srgbClr val="FFFFFF"/>
                </a:solidFill>
                <a:latin typeface="Poppins Heavy"/>
                <a:ea typeface="Poppins Heavy"/>
                <a:cs typeface="Poppins Heavy"/>
                <a:sym typeface="Poppins Heavy"/>
              </a:rPr>
              <a:t>DEBRIEF &amp;</a:t>
            </a:r>
          </a:p>
        </p:txBody>
      </p:sp>
      <p:grpSp>
        <p:nvGrpSpPr>
          <p:cNvPr name="Group 18" id="18"/>
          <p:cNvGrpSpPr/>
          <p:nvPr/>
        </p:nvGrpSpPr>
        <p:grpSpPr>
          <a:xfrm rot="158860">
            <a:off x="5647402" y="4659515"/>
            <a:ext cx="6903549" cy="2434004"/>
            <a:chOff x="0" y="0"/>
            <a:chExt cx="785335" cy="276888"/>
          </a:xfrm>
        </p:grpSpPr>
        <p:sp>
          <p:nvSpPr>
            <p:cNvPr name="Freeform 19" id="19"/>
            <p:cNvSpPr/>
            <p:nvPr/>
          </p:nvSpPr>
          <p:spPr>
            <a:xfrm flipH="false" flipV="false" rot="0">
              <a:off x="0" y="0"/>
              <a:ext cx="785335" cy="276888"/>
            </a:xfrm>
            <a:custGeom>
              <a:avLst/>
              <a:gdLst/>
              <a:ahLst/>
              <a:cxnLst/>
              <a:rect r="r" b="b" t="t" l="l"/>
              <a:pathLst>
                <a:path h="276888" w="785335">
                  <a:moveTo>
                    <a:pt x="16646" y="0"/>
                  </a:moveTo>
                  <a:lnTo>
                    <a:pt x="768688" y="0"/>
                  </a:lnTo>
                  <a:cubicBezTo>
                    <a:pt x="777882" y="0"/>
                    <a:pt x="785335" y="7453"/>
                    <a:pt x="785335" y="16646"/>
                  </a:cubicBezTo>
                  <a:lnTo>
                    <a:pt x="785335" y="260241"/>
                  </a:lnTo>
                  <a:cubicBezTo>
                    <a:pt x="785335" y="264656"/>
                    <a:pt x="783581" y="268890"/>
                    <a:pt x="780459" y="272012"/>
                  </a:cubicBezTo>
                  <a:cubicBezTo>
                    <a:pt x="777337" y="275134"/>
                    <a:pt x="773103" y="276888"/>
                    <a:pt x="768688" y="276888"/>
                  </a:cubicBezTo>
                  <a:lnTo>
                    <a:pt x="16646" y="276888"/>
                  </a:lnTo>
                  <a:cubicBezTo>
                    <a:pt x="12231" y="276888"/>
                    <a:pt x="7997" y="275134"/>
                    <a:pt x="4876" y="272012"/>
                  </a:cubicBezTo>
                  <a:cubicBezTo>
                    <a:pt x="1754" y="268890"/>
                    <a:pt x="0" y="264656"/>
                    <a:pt x="0" y="260241"/>
                  </a:cubicBezTo>
                  <a:lnTo>
                    <a:pt x="0" y="16646"/>
                  </a:lnTo>
                  <a:cubicBezTo>
                    <a:pt x="0" y="12231"/>
                    <a:pt x="1754" y="7997"/>
                    <a:pt x="4876" y="4876"/>
                  </a:cubicBezTo>
                  <a:cubicBezTo>
                    <a:pt x="7997" y="1754"/>
                    <a:pt x="12231" y="0"/>
                    <a:pt x="16646" y="0"/>
                  </a:cubicBezTo>
                  <a:close/>
                </a:path>
              </a:pathLst>
            </a:custGeom>
            <a:gradFill rotWithShape="true">
              <a:gsLst>
                <a:gs pos="0">
                  <a:srgbClr val="841F0B">
                    <a:alpha val="100000"/>
                  </a:srgbClr>
                </a:gs>
                <a:gs pos="100000">
                  <a:srgbClr val="DA4610">
                    <a:alpha val="100000"/>
                  </a:srgbClr>
                </a:gs>
              </a:gsLst>
              <a:lin ang="0"/>
            </a:gradFill>
          </p:spPr>
        </p:sp>
        <p:sp>
          <p:nvSpPr>
            <p:cNvPr name="TextBox 20" id="20"/>
            <p:cNvSpPr txBox="true"/>
            <p:nvPr/>
          </p:nvSpPr>
          <p:spPr>
            <a:xfrm>
              <a:off x="0" y="28575"/>
              <a:ext cx="785335" cy="248313"/>
            </a:xfrm>
            <a:prstGeom prst="rect">
              <a:avLst/>
            </a:prstGeom>
          </p:spPr>
          <p:txBody>
            <a:bodyPr anchor="ctr" rtlCol="false" tIns="80937" lIns="80937" bIns="80937" rIns="80937"/>
            <a:lstStyle/>
            <a:p>
              <a:pPr algn="ctr">
                <a:lnSpc>
                  <a:spcPts val="1919"/>
                </a:lnSpc>
              </a:pPr>
            </a:p>
          </p:txBody>
        </p:sp>
      </p:grpSp>
      <p:sp>
        <p:nvSpPr>
          <p:cNvPr name="TextBox 21" id="21"/>
          <p:cNvSpPr txBox="true"/>
          <p:nvPr/>
        </p:nvSpPr>
        <p:spPr>
          <a:xfrm rot="158385">
            <a:off x="6302728" y="4649005"/>
            <a:ext cx="6407955" cy="2571144"/>
          </a:xfrm>
          <a:prstGeom prst="rect">
            <a:avLst/>
          </a:prstGeom>
        </p:spPr>
        <p:txBody>
          <a:bodyPr anchor="t" rtlCol="false" tIns="0" lIns="0" bIns="0" rIns="0">
            <a:spAutoFit/>
          </a:bodyPr>
          <a:lstStyle/>
          <a:p>
            <a:pPr algn="l">
              <a:lnSpc>
                <a:spcPts val="17708"/>
              </a:lnSpc>
            </a:pPr>
            <a:r>
              <a:rPr lang="en-US" sz="18640" b="true">
                <a:solidFill>
                  <a:srgbClr val="FFFFFF"/>
                </a:solidFill>
                <a:latin typeface="Poppins Heavy"/>
                <a:ea typeface="Poppins Heavy"/>
                <a:cs typeface="Poppins Heavy"/>
                <a:sym typeface="Poppins Heavy"/>
              </a:rPr>
              <a:t>Q&amp;A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grpSp>
        <p:nvGrpSpPr>
          <p:cNvPr name="Group 15" id="15"/>
          <p:cNvGrpSpPr/>
          <p:nvPr/>
        </p:nvGrpSpPr>
        <p:grpSpPr>
          <a:xfrm rot="0">
            <a:off x="3726851" y="1745578"/>
            <a:ext cx="10418969" cy="1360507"/>
            <a:chOff x="0" y="0"/>
            <a:chExt cx="13891959" cy="1814009"/>
          </a:xfrm>
        </p:grpSpPr>
        <p:grpSp>
          <p:nvGrpSpPr>
            <p:cNvPr name="Group 16" id="16"/>
            <p:cNvGrpSpPr/>
            <p:nvPr/>
          </p:nvGrpSpPr>
          <p:grpSpPr>
            <a:xfrm rot="158860">
              <a:off x="19754" y="319325"/>
              <a:ext cx="13852452" cy="1175359"/>
              <a:chOff x="0" y="0"/>
              <a:chExt cx="1495755" cy="126912"/>
            </a:xfrm>
          </p:grpSpPr>
          <p:sp>
            <p:nvSpPr>
              <p:cNvPr name="Freeform 17" id="17"/>
              <p:cNvSpPr/>
              <p:nvPr/>
            </p:nvSpPr>
            <p:spPr>
              <a:xfrm flipH="false" flipV="false" rot="0">
                <a:off x="0" y="0"/>
                <a:ext cx="1495755" cy="126912"/>
              </a:xfrm>
              <a:custGeom>
                <a:avLst/>
                <a:gdLst/>
                <a:ahLst/>
                <a:cxnLst/>
                <a:rect r="r" b="b" t="t" l="l"/>
                <a:pathLst>
                  <a:path h="126912" w="1495755">
                    <a:moveTo>
                      <a:pt x="4022" y="0"/>
                    </a:moveTo>
                    <a:lnTo>
                      <a:pt x="1491733" y="0"/>
                    </a:lnTo>
                    <a:cubicBezTo>
                      <a:pt x="1492800" y="0"/>
                      <a:pt x="1493823" y="424"/>
                      <a:pt x="1494577" y="1178"/>
                    </a:cubicBezTo>
                    <a:cubicBezTo>
                      <a:pt x="1495331" y="1932"/>
                      <a:pt x="1495755" y="2955"/>
                      <a:pt x="1495755" y="4022"/>
                    </a:cubicBezTo>
                    <a:lnTo>
                      <a:pt x="1495755" y="122890"/>
                    </a:lnTo>
                    <a:cubicBezTo>
                      <a:pt x="1495755" y="123957"/>
                      <a:pt x="1495331" y="124980"/>
                      <a:pt x="1494577" y="125734"/>
                    </a:cubicBezTo>
                    <a:cubicBezTo>
                      <a:pt x="1493823" y="126489"/>
                      <a:pt x="1492800" y="126912"/>
                      <a:pt x="1491733" y="126912"/>
                    </a:cubicBezTo>
                    <a:lnTo>
                      <a:pt x="4022" y="126912"/>
                    </a:lnTo>
                    <a:cubicBezTo>
                      <a:pt x="1801" y="126912"/>
                      <a:pt x="0" y="125112"/>
                      <a:pt x="0" y="122890"/>
                    </a:cubicBezTo>
                    <a:lnTo>
                      <a:pt x="0" y="4022"/>
                    </a:lnTo>
                    <a:cubicBezTo>
                      <a:pt x="0" y="2955"/>
                      <a:pt x="424" y="1932"/>
                      <a:pt x="1178" y="1178"/>
                    </a:cubicBezTo>
                    <a:cubicBezTo>
                      <a:pt x="1932" y="424"/>
                      <a:pt x="2955" y="0"/>
                      <a:pt x="4022" y="0"/>
                    </a:cubicBezTo>
                    <a:close/>
                  </a:path>
                </a:pathLst>
              </a:custGeom>
              <a:gradFill rotWithShape="true">
                <a:gsLst>
                  <a:gs pos="0">
                    <a:srgbClr val="841F0B">
                      <a:alpha val="100000"/>
                    </a:srgbClr>
                  </a:gs>
                  <a:gs pos="100000">
                    <a:srgbClr val="DA4610">
                      <a:alpha val="100000"/>
                    </a:srgbClr>
                  </a:gs>
                </a:gsLst>
                <a:lin ang="0"/>
              </a:gradFill>
            </p:spPr>
          </p:sp>
          <p:sp>
            <p:nvSpPr>
              <p:cNvPr name="TextBox 18" id="18"/>
              <p:cNvSpPr txBox="true"/>
              <p:nvPr/>
            </p:nvSpPr>
            <p:spPr>
              <a:xfrm>
                <a:off x="0" y="28575"/>
                <a:ext cx="1495755" cy="98337"/>
              </a:xfrm>
              <a:prstGeom prst="rect">
                <a:avLst/>
              </a:prstGeom>
            </p:spPr>
            <p:txBody>
              <a:bodyPr anchor="ctr" rtlCol="false" tIns="80937" lIns="80937" bIns="80937" rIns="80937"/>
              <a:lstStyle/>
              <a:p>
                <a:pPr algn="ctr">
                  <a:lnSpc>
                    <a:spcPts val="1920"/>
                  </a:lnSpc>
                </a:pPr>
              </a:p>
            </p:txBody>
          </p:sp>
        </p:grpSp>
        <p:sp>
          <p:nvSpPr>
            <p:cNvPr name="TextBox 19" id="19"/>
            <p:cNvSpPr txBox="true"/>
            <p:nvPr/>
          </p:nvSpPr>
          <p:spPr>
            <a:xfrm rot="135597">
              <a:off x="125659" y="769139"/>
              <a:ext cx="13644376" cy="351872"/>
            </a:xfrm>
            <a:prstGeom prst="rect">
              <a:avLst/>
            </a:prstGeom>
          </p:spPr>
          <p:txBody>
            <a:bodyPr anchor="t" rtlCol="false" tIns="0" lIns="0" bIns="0" rIns="0">
              <a:spAutoFit/>
            </a:bodyPr>
            <a:lstStyle/>
            <a:p>
              <a:pPr algn="ctr">
                <a:lnSpc>
                  <a:spcPts val="1543"/>
                </a:lnSpc>
              </a:pPr>
              <a:r>
                <a:rPr lang="en-US" sz="2113" b="true">
                  <a:solidFill>
                    <a:srgbClr val="FFFFFF"/>
                  </a:solidFill>
                  <a:latin typeface="Poppins Heavy"/>
                  <a:ea typeface="Poppins Heavy"/>
                  <a:cs typeface="Poppins Heavy"/>
                  <a:sym typeface="Poppins Heavy"/>
                </a:rPr>
                <a:t>https://joetherockhey.github.io/Class-Allocation/feedback.html</a:t>
              </a:r>
            </a:p>
          </p:txBody>
        </p:sp>
      </p:grpSp>
      <p:sp>
        <p:nvSpPr>
          <p:cNvPr name="Freeform 20" id="20"/>
          <p:cNvSpPr/>
          <p:nvPr/>
        </p:nvSpPr>
        <p:spPr>
          <a:xfrm flipH="false" flipV="false" rot="0">
            <a:off x="6235967" y="3106085"/>
            <a:ext cx="5816067" cy="5816067"/>
          </a:xfrm>
          <a:custGeom>
            <a:avLst/>
            <a:gdLst/>
            <a:ahLst/>
            <a:cxnLst/>
            <a:rect r="r" b="b" t="t" l="l"/>
            <a:pathLst>
              <a:path h="5816067" w="5816067">
                <a:moveTo>
                  <a:pt x="0" y="0"/>
                </a:moveTo>
                <a:lnTo>
                  <a:pt x="5816066" y="0"/>
                </a:lnTo>
                <a:lnTo>
                  <a:pt x="5816066" y="5816067"/>
                </a:lnTo>
                <a:lnTo>
                  <a:pt x="0" y="5816067"/>
                </a:lnTo>
                <a:lnTo>
                  <a:pt x="0" y="0"/>
                </a:lnTo>
                <a:close/>
              </a:path>
            </a:pathLst>
          </a:custGeom>
          <a:blipFill>
            <a:blip r:embed="rId7"/>
            <a:stretch>
              <a:fillRect l="0" t="0" r="0" b="0"/>
            </a:stretch>
          </a:blipFill>
        </p:spPr>
      </p:sp>
      <p:sp>
        <p:nvSpPr>
          <p:cNvPr name="TextBox 21" id="21"/>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20</a:t>
            </a:r>
          </a:p>
        </p:txBody>
      </p:sp>
      <p:sp>
        <p:nvSpPr>
          <p:cNvPr name="TextBox 22" id="22"/>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23" id="23"/>
          <p:cNvSpPr txBox="true"/>
          <p:nvPr/>
        </p:nvSpPr>
        <p:spPr>
          <a:xfrm rot="147422">
            <a:off x="628118" y="696050"/>
            <a:ext cx="16771498" cy="2000119"/>
          </a:xfrm>
          <a:prstGeom prst="rect">
            <a:avLst/>
          </a:prstGeom>
        </p:spPr>
        <p:txBody>
          <a:bodyPr anchor="t" rtlCol="false" tIns="0" lIns="0" bIns="0" rIns="0">
            <a:spAutoFit/>
          </a:bodyPr>
          <a:lstStyle/>
          <a:p>
            <a:pPr algn="ctr">
              <a:lnSpc>
                <a:spcPts val="12544"/>
              </a:lnSpc>
            </a:pPr>
            <a:r>
              <a:rPr lang="en-US" sz="17183" b="true">
                <a:solidFill>
                  <a:srgbClr val="FFFFFF"/>
                </a:solidFill>
                <a:latin typeface="Poppins Heavy"/>
                <a:ea typeface="Poppins Heavy"/>
                <a:cs typeface="Poppins Heavy"/>
                <a:sym typeface="Poppins Heavy"/>
              </a:rPr>
              <a:t>Feedback</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8839">
                <a:alpha val="100000"/>
              </a:srgbClr>
            </a:gs>
            <a:gs pos="50000">
              <a:srgbClr val="FEB06D">
                <a:alpha val="100000"/>
              </a:srgbClr>
            </a:gs>
            <a:gs pos="100000">
              <a:srgbClr val="FFC695">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335" y="-4014935"/>
            <a:ext cx="18503435" cy="18503435"/>
          </a:xfrm>
          <a:custGeom>
            <a:avLst/>
            <a:gdLst/>
            <a:ahLst/>
            <a:cxnLst/>
            <a:rect r="r" b="b" t="t" l="l"/>
            <a:pathLst>
              <a:path h="18503435" w="18503435">
                <a:moveTo>
                  <a:pt x="0" y="0"/>
                </a:moveTo>
                <a:lnTo>
                  <a:pt x="18503435" y="0"/>
                </a:lnTo>
                <a:lnTo>
                  <a:pt x="18503435" y="18503435"/>
                </a:lnTo>
                <a:lnTo>
                  <a:pt x="0" y="18503435"/>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1343" y="6014118"/>
            <a:ext cx="22249068" cy="5784758"/>
          </a:xfrm>
          <a:custGeom>
            <a:avLst/>
            <a:gdLst/>
            <a:ahLst/>
            <a:cxnLst/>
            <a:rect r="r" b="b" t="t" l="l"/>
            <a:pathLst>
              <a:path h="5784758" w="22249068">
                <a:moveTo>
                  <a:pt x="0" y="0"/>
                </a:moveTo>
                <a:lnTo>
                  <a:pt x="22249069" y="0"/>
                </a:lnTo>
                <a:lnTo>
                  <a:pt x="22249069" y="5784758"/>
                </a:lnTo>
                <a:lnTo>
                  <a:pt x="0" y="578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15994" y="9258300"/>
            <a:ext cx="4387595" cy="2093523"/>
            <a:chOff x="0" y="0"/>
            <a:chExt cx="5850127" cy="2791364"/>
          </a:xfrm>
        </p:grpSpPr>
        <p:grpSp>
          <p:nvGrpSpPr>
            <p:cNvPr name="Group 5" id="5"/>
            <p:cNvGrpSpPr/>
            <p:nvPr/>
          </p:nvGrpSpPr>
          <p:grpSpPr>
            <a:xfrm rot="0">
              <a:off x="0" y="0"/>
              <a:ext cx="5850127" cy="2791364"/>
              <a:chOff x="0" y="0"/>
              <a:chExt cx="902797" cy="430766"/>
            </a:xfrm>
          </p:grpSpPr>
          <p:sp>
            <p:nvSpPr>
              <p:cNvPr name="Freeform 6" id="6"/>
              <p:cNvSpPr/>
              <p:nvPr/>
            </p:nvSpPr>
            <p:spPr>
              <a:xfrm flipH="false" flipV="false" rot="0">
                <a:off x="0" y="0"/>
                <a:ext cx="902797" cy="430766"/>
              </a:xfrm>
              <a:custGeom>
                <a:avLst/>
                <a:gdLst/>
                <a:ahLst/>
                <a:cxnLst/>
                <a:rect r="r" b="b" t="t" l="l"/>
                <a:pathLst>
                  <a:path h="430766" w="902797">
                    <a:moveTo>
                      <a:pt x="93739" y="0"/>
                    </a:moveTo>
                    <a:lnTo>
                      <a:pt x="809058" y="0"/>
                    </a:lnTo>
                    <a:cubicBezTo>
                      <a:pt x="860829" y="0"/>
                      <a:pt x="902797" y="41968"/>
                      <a:pt x="902797" y="93739"/>
                    </a:cubicBezTo>
                    <a:lnTo>
                      <a:pt x="902797" y="337027"/>
                    </a:lnTo>
                    <a:cubicBezTo>
                      <a:pt x="902797" y="361888"/>
                      <a:pt x="892921" y="385731"/>
                      <a:pt x="875342" y="403310"/>
                    </a:cubicBezTo>
                    <a:cubicBezTo>
                      <a:pt x="857762" y="420890"/>
                      <a:pt x="833919" y="430766"/>
                      <a:pt x="809058" y="430766"/>
                    </a:cubicBezTo>
                    <a:lnTo>
                      <a:pt x="93739" y="430766"/>
                    </a:lnTo>
                    <a:cubicBezTo>
                      <a:pt x="68878" y="430766"/>
                      <a:pt x="45035" y="420890"/>
                      <a:pt x="27456" y="403310"/>
                    </a:cubicBezTo>
                    <a:cubicBezTo>
                      <a:pt x="9876" y="385731"/>
                      <a:pt x="0" y="361888"/>
                      <a:pt x="0" y="337027"/>
                    </a:cubicBezTo>
                    <a:lnTo>
                      <a:pt x="0" y="93739"/>
                    </a:lnTo>
                    <a:cubicBezTo>
                      <a:pt x="0" y="41968"/>
                      <a:pt x="41968" y="0"/>
                      <a:pt x="93739" y="0"/>
                    </a:cubicBezTo>
                    <a:close/>
                  </a:path>
                </a:pathLst>
              </a:custGeom>
              <a:gradFill rotWithShape="true">
                <a:gsLst>
                  <a:gs pos="0">
                    <a:srgbClr val="F08839">
                      <a:alpha val="100000"/>
                    </a:srgbClr>
                  </a:gs>
                  <a:gs pos="50000">
                    <a:srgbClr val="FEB06D">
                      <a:alpha val="100000"/>
                    </a:srgbClr>
                  </a:gs>
                  <a:gs pos="100000">
                    <a:srgbClr val="FFC695">
                      <a:alpha val="100000"/>
                    </a:srgbClr>
                  </a:gs>
                </a:gsLst>
                <a:lin ang="0"/>
              </a:gradFill>
            </p:spPr>
          </p:sp>
          <p:sp>
            <p:nvSpPr>
              <p:cNvPr name="TextBox 7" id="7"/>
              <p:cNvSpPr txBox="true"/>
              <p:nvPr/>
            </p:nvSpPr>
            <p:spPr>
              <a:xfrm>
                <a:off x="0" y="28575"/>
                <a:ext cx="902797" cy="402191"/>
              </a:xfrm>
              <a:prstGeom prst="rect">
                <a:avLst/>
              </a:prstGeom>
            </p:spPr>
            <p:txBody>
              <a:bodyPr anchor="ctr" rtlCol="false" tIns="50800" lIns="50800" bIns="50800" rIns="50800"/>
              <a:lstStyle/>
              <a:p>
                <a:pPr algn="ctr">
                  <a:lnSpc>
                    <a:spcPts val="1919"/>
                  </a:lnSpc>
                </a:pPr>
              </a:p>
            </p:txBody>
          </p:sp>
        </p:grpSp>
        <p:sp>
          <p:nvSpPr>
            <p:cNvPr name="Freeform 8" id="8"/>
            <p:cNvSpPr/>
            <p:nvPr/>
          </p:nvSpPr>
          <p:spPr>
            <a:xfrm flipH="false" flipV="false" rot="0">
              <a:off x="392923" y="91459"/>
              <a:ext cx="3233530" cy="1554266"/>
            </a:xfrm>
            <a:custGeom>
              <a:avLst/>
              <a:gdLst/>
              <a:ahLst/>
              <a:cxnLst/>
              <a:rect r="r" b="b" t="t" l="l"/>
              <a:pathLst>
                <a:path h="1554266" w="3233530">
                  <a:moveTo>
                    <a:pt x="0" y="0"/>
                  </a:moveTo>
                  <a:lnTo>
                    <a:pt x="3233529" y="0"/>
                  </a:lnTo>
                  <a:lnTo>
                    <a:pt x="3233529" y="1554265"/>
                  </a:lnTo>
                  <a:lnTo>
                    <a:pt x="0" y="1554265"/>
                  </a:lnTo>
                  <a:lnTo>
                    <a:pt x="0" y="0"/>
                  </a:lnTo>
                  <a:close/>
                </a:path>
              </a:pathLst>
            </a:custGeom>
            <a:blipFill>
              <a:blip r:embed="rId6"/>
              <a:stretch>
                <a:fillRect l="0" t="-15579" r="0" b="0"/>
              </a:stretch>
            </a:blipFill>
          </p:spPr>
        </p:sp>
      </p:grpSp>
      <p:grpSp>
        <p:nvGrpSpPr>
          <p:cNvPr name="Group 9" id="9"/>
          <p:cNvGrpSpPr/>
          <p:nvPr/>
        </p:nvGrpSpPr>
        <p:grpSpPr>
          <a:xfrm rot="0">
            <a:off x="3162265" y="9258300"/>
            <a:ext cx="11963470" cy="4031369"/>
            <a:chOff x="0" y="0"/>
            <a:chExt cx="1057797" cy="356449"/>
          </a:xfrm>
        </p:grpSpPr>
        <p:sp>
          <p:nvSpPr>
            <p:cNvPr name="Freeform 10" id="10"/>
            <p:cNvSpPr/>
            <p:nvPr/>
          </p:nvSpPr>
          <p:spPr>
            <a:xfrm flipH="false" flipV="false" rot="0">
              <a:off x="0" y="0"/>
              <a:ext cx="1057797" cy="356449"/>
            </a:xfrm>
            <a:custGeom>
              <a:avLst/>
              <a:gdLst/>
              <a:ahLst/>
              <a:cxnLst/>
              <a:rect r="r" b="b" t="t" l="l"/>
              <a:pathLst>
                <a:path h="356449" w="1057797">
                  <a:moveTo>
                    <a:pt x="50557" y="0"/>
                  </a:moveTo>
                  <a:lnTo>
                    <a:pt x="1007240" y="0"/>
                  </a:lnTo>
                  <a:cubicBezTo>
                    <a:pt x="1035162" y="0"/>
                    <a:pt x="1057797" y="22635"/>
                    <a:pt x="1057797" y="50557"/>
                  </a:cubicBezTo>
                  <a:lnTo>
                    <a:pt x="1057797" y="305892"/>
                  </a:lnTo>
                  <a:cubicBezTo>
                    <a:pt x="1057797" y="333814"/>
                    <a:pt x="1035162" y="356449"/>
                    <a:pt x="1007240" y="356449"/>
                  </a:cubicBezTo>
                  <a:lnTo>
                    <a:pt x="50557" y="356449"/>
                  </a:lnTo>
                  <a:cubicBezTo>
                    <a:pt x="22635" y="356449"/>
                    <a:pt x="0" y="333814"/>
                    <a:pt x="0" y="305892"/>
                  </a:cubicBezTo>
                  <a:lnTo>
                    <a:pt x="0" y="50557"/>
                  </a:lnTo>
                  <a:cubicBezTo>
                    <a:pt x="0" y="22635"/>
                    <a:pt x="22635" y="0"/>
                    <a:pt x="50557" y="0"/>
                  </a:cubicBezTo>
                  <a:close/>
                </a:path>
              </a:pathLst>
            </a:custGeom>
            <a:gradFill rotWithShape="true">
              <a:gsLst>
                <a:gs pos="0">
                  <a:srgbClr val="85200C">
                    <a:alpha val="100000"/>
                  </a:srgbClr>
                </a:gs>
                <a:gs pos="100000">
                  <a:srgbClr val="DC4B0F">
                    <a:alpha val="100000"/>
                  </a:srgbClr>
                </a:gs>
              </a:gsLst>
              <a:lin ang="0"/>
            </a:gradFill>
          </p:spPr>
        </p:sp>
        <p:sp>
          <p:nvSpPr>
            <p:cNvPr name="TextBox 11" id="11"/>
            <p:cNvSpPr txBox="true"/>
            <p:nvPr/>
          </p:nvSpPr>
          <p:spPr>
            <a:xfrm>
              <a:off x="0" y="-38100"/>
              <a:ext cx="1057797" cy="39454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874565" y="9023776"/>
            <a:ext cx="2263079" cy="2785329"/>
            <a:chOff x="0" y="0"/>
            <a:chExt cx="660400" cy="812800"/>
          </a:xfrm>
        </p:grpSpPr>
        <p:sp>
          <p:nvSpPr>
            <p:cNvPr name="Freeform 13" id="13"/>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gradFill rotWithShape="true">
              <a:gsLst>
                <a:gs pos="0">
                  <a:srgbClr val="85200C">
                    <a:alpha val="100000"/>
                  </a:srgbClr>
                </a:gs>
                <a:gs pos="100000">
                  <a:srgbClr val="DC4B0F">
                    <a:alpha val="100000"/>
                  </a:srgbClr>
                </a:gs>
              </a:gsLst>
              <a:lin ang="0"/>
            </a:gradFill>
          </p:spPr>
        </p:sp>
        <p:sp>
          <p:nvSpPr>
            <p:cNvPr name="TextBox 14" id="14"/>
            <p:cNvSpPr txBox="true"/>
            <p:nvPr/>
          </p:nvSpPr>
          <p:spPr>
            <a:xfrm>
              <a:off x="0" y="155575"/>
              <a:ext cx="660400" cy="657225"/>
            </a:xfrm>
            <a:prstGeom prst="rect">
              <a:avLst/>
            </a:prstGeom>
          </p:spPr>
          <p:txBody>
            <a:bodyPr anchor="ctr" rtlCol="false" tIns="50800" lIns="50800" bIns="50800" rIns="50800"/>
            <a:lstStyle/>
            <a:p>
              <a:pPr algn="ctr">
                <a:lnSpc>
                  <a:spcPts val="1919"/>
                </a:lnSpc>
              </a:pPr>
            </a:p>
          </p:txBody>
        </p:sp>
      </p:grpSp>
      <p:sp>
        <p:nvSpPr>
          <p:cNvPr name="TextBox 15" id="15"/>
          <p:cNvSpPr txBox="true"/>
          <p:nvPr/>
        </p:nvSpPr>
        <p:spPr>
          <a:xfrm rot="0">
            <a:off x="14612249" y="9372600"/>
            <a:ext cx="1061070" cy="816970"/>
          </a:xfrm>
          <a:prstGeom prst="rect">
            <a:avLst/>
          </a:prstGeom>
        </p:spPr>
        <p:txBody>
          <a:bodyPr anchor="t" rtlCol="false" tIns="0" lIns="0" bIns="0" rIns="0">
            <a:spAutoFit/>
          </a:bodyPr>
          <a:lstStyle/>
          <a:p>
            <a:pPr algn="l">
              <a:lnSpc>
                <a:spcPts val="5733"/>
              </a:lnSpc>
            </a:pPr>
            <a:r>
              <a:rPr lang="en-US" sz="6035" b="true">
                <a:solidFill>
                  <a:srgbClr val="FFFFFF"/>
                </a:solidFill>
                <a:latin typeface="Poppins Heavy"/>
                <a:ea typeface="Poppins Heavy"/>
                <a:cs typeface="Poppins Heavy"/>
                <a:sym typeface="Poppins Heavy"/>
              </a:rPr>
              <a:t>21</a:t>
            </a:r>
          </a:p>
        </p:txBody>
      </p:sp>
      <p:sp>
        <p:nvSpPr>
          <p:cNvPr name="TextBox 16" id="16"/>
          <p:cNvSpPr txBox="true"/>
          <p:nvPr/>
        </p:nvSpPr>
        <p:spPr>
          <a:xfrm rot="0">
            <a:off x="3726851" y="9629933"/>
            <a:ext cx="10600166" cy="380827"/>
          </a:xfrm>
          <a:prstGeom prst="rect">
            <a:avLst/>
          </a:prstGeom>
        </p:spPr>
        <p:txBody>
          <a:bodyPr anchor="t" rtlCol="false" tIns="0" lIns="0" bIns="0" rIns="0">
            <a:spAutoFit/>
          </a:bodyPr>
          <a:lstStyle/>
          <a:p>
            <a:pPr algn="l">
              <a:lnSpc>
                <a:spcPts val="2604"/>
              </a:lnSpc>
            </a:pPr>
            <a:r>
              <a:rPr lang="en-US" sz="2742" b="true">
                <a:solidFill>
                  <a:srgbClr val="FFFFFF"/>
                </a:solidFill>
                <a:latin typeface="Poppins Semi-Bold"/>
                <a:ea typeface="Poppins Semi-Bold"/>
                <a:cs typeface="Poppins Semi-Bold"/>
                <a:sym typeface="Poppins Semi-Bold"/>
              </a:rPr>
              <a:t>RED FLAG, GREEN FLAG: What makes a good teammate?</a:t>
            </a:r>
          </a:p>
        </p:txBody>
      </p:sp>
      <p:sp>
        <p:nvSpPr>
          <p:cNvPr name="TextBox 17" id="17"/>
          <p:cNvSpPr txBox="true"/>
          <p:nvPr/>
        </p:nvSpPr>
        <p:spPr>
          <a:xfrm rot="0">
            <a:off x="415994" y="2569526"/>
            <a:ext cx="18193708" cy="2571529"/>
          </a:xfrm>
          <a:prstGeom prst="rect">
            <a:avLst/>
          </a:prstGeom>
        </p:spPr>
        <p:txBody>
          <a:bodyPr anchor="t" rtlCol="false" tIns="0" lIns="0" bIns="0" rIns="0">
            <a:spAutoFit/>
          </a:bodyPr>
          <a:lstStyle/>
          <a:p>
            <a:pPr algn="ctr">
              <a:lnSpc>
                <a:spcPts val="17708"/>
              </a:lnSpc>
            </a:pPr>
            <a:r>
              <a:rPr lang="en-US" sz="18640" b="true">
                <a:solidFill>
                  <a:srgbClr val="FFFFFF"/>
                </a:solidFill>
                <a:latin typeface="Poppins Heavy"/>
                <a:ea typeface="Poppins Heavy"/>
                <a:cs typeface="Poppins Heavy"/>
                <a:sym typeface="Poppins Heavy"/>
              </a:rPr>
              <a:t>THANK YOU</a:t>
            </a:r>
          </a:p>
        </p:txBody>
      </p:sp>
      <p:grpSp>
        <p:nvGrpSpPr>
          <p:cNvPr name="Group 18" id="18"/>
          <p:cNvGrpSpPr/>
          <p:nvPr/>
        </p:nvGrpSpPr>
        <p:grpSpPr>
          <a:xfrm rot="158860">
            <a:off x="2026522" y="4684060"/>
            <a:ext cx="15206884" cy="2434004"/>
            <a:chOff x="0" y="0"/>
            <a:chExt cx="1729907" cy="276888"/>
          </a:xfrm>
        </p:grpSpPr>
        <p:sp>
          <p:nvSpPr>
            <p:cNvPr name="Freeform 19" id="19"/>
            <p:cNvSpPr/>
            <p:nvPr/>
          </p:nvSpPr>
          <p:spPr>
            <a:xfrm flipH="false" flipV="false" rot="0">
              <a:off x="0" y="0"/>
              <a:ext cx="1729907" cy="276888"/>
            </a:xfrm>
            <a:custGeom>
              <a:avLst/>
              <a:gdLst/>
              <a:ahLst/>
              <a:cxnLst/>
              <a:rect r="r" b="b" t="t" l="l"/>
              <a:pathLst>
                <a:path h="276888" w="1729907">
                  <a:moveTo>
                    <a:pt x="7557" y="0"/>
                  </a:moveTo>
                  <a:lnTo>
                    <a:pt x="1722350" y="0"/>
                  </a:lnTo>
                  <a:cubicBezTo>
                    <a:pt x="1724354" y="0"/>
                    <a:pt x="1726276" y="796"/>
                    <a:pt x="1727693" y="2213"/>
                  </a:cubicBezTo>
                  <a:cubicBezTo>
                    <a:pt x="1729110" y="3631"/>
                    <a:pt x="1729907" y="5553"/>
                    <a:pt x="1729907" y="7557"/>
                  </a:cubicBezTo>
                  <a:lnTo>
                    <a:pt x="1729907" y="269331"/>
                  </a:lnTo>
                  <a:cubicBezTo>
                    <a:pt x="1729907" y="273504"/>
                    <a:pt x="1726523" y="276888"/>
                    <a:pt x="1722350" y="276888"/>
                  </a:cubicBezTo>
                  <a:lnTo>
                    <a:pt x="7557" y="276888"/>
                  </a:lnTo>
                  <a:cubicBezTo>
                    <a:pt x="5553" y="276888"/>
                    <a:pt x="3631" y="276092"/>
                    <a:pt x="2213" y="274674"/>
                  </a:cubicBezTo>
                  <a:cubicBezTo>
                    <a:pt x="796" y="273257"/>
                    <a:pt x="0" y="271335"/>
                    <a:pt x="0" y="269331"/>
                  </a:cubicBezTo>
                  <a:lnTo>
                    <a:pt x="0" y="7557"/>
                  </a:lnTo>
                  <a:cubicBezTo>
                    <a:pt x="0" y="5553"/>
                    <a:pt x="796" y="3631"/>
                    <a:pt x="2213" y="2213"/>
                  </a:cubicBezTo>
                  <a:cubicBezTo>
                    <a:pt x="3631" y="796"/>
                    <a:pt x="5553" y="0"/>
                    <a:pt x="7557" y="0"/>
                  </a:cubicBezTo>
                  <a:close/>
                </a:path>
              </a:pathLst>
            </a:custGeom>
            <a:gradFill rotWithShape="true">
              <a:gsLst>
                <a:gs pos="0">
                  <a:srgbClr val="841F0B">
                    <a:alpha val="100000"/>
                  </a:srgbClr>
                </a:gs>
                <a:gs pos="100000">
                  <a:srgbClr val="DA4610">
                    <a:alpha val="100000"/>
                  </a:srgbClr>
                </a:gs>
              </a:gsLst>
              <a:lin ang="0"/>
            </a:gradFill>
          </p:spPr>
        </p:sp>
        <p:sp>
          <p:nvSpPr>
            <p:cNvPr name="TextBox 20" id="20"/>
            <p:cNvSpPr txBox="true"/>
            <p:nvPr/>
          </p:nvSpPr>
          <p:spPr>
            <a:xfrm>
              <a:off x="0" y="28575"/>
              <a:ext cx="1729907" cy="248313"/>
            </a:xfrm>
            <a:prstGeom prst="rect">
              <a:avLst/>
            </a:prstGeom>
          </p:spPr>
          <p:txBody>
            <a:bodyPr anchor="ctr" rtlCol="false" tIns="80937" lIns="80937" bIns="80937" rIns="80937"/>
            <a:lstStyle/>
            <a:p>
              <a:pPr algn="ctr">
                <a:lnSpc>
                  <a:spcPts val="1919"/>
                </a:lnSpc>
              </a:pPr>
            </a:p>
          </p:txBody>
        </p:sp>
      </p:grpSp>
      <p:sp>
        <p:nvSpPr>
          <p:cNvPr name="TextBox 21" id="21"/>
          <p:cNvSpPr txBox="true"/>
          <p:nvPr/>
        </p:nvSpPr>
        <p:spPr>
          <a:xfrm rot="158385">
            <a:off x="2204473" y="4748698"/>
            <a:ext cx="16058655" cy="2571144"/>
          </a:xfrm>
          <a:prstGeom prst="rect">
            <a:avLst/>
          </a:prstGeom>
        </p:spPr>
        <p:txBody>
          <a:bodyPr anchor="t" rtlCol="false" tIns="0" lIns="0" bIns="0" rIns="0">
            <a:spAutoFit/>
          </a:bodyPr>
          <a:lstStyle/>
          <a:p>
            <a:pPr algn="l">
              <a:lnSpc>
                <a:spcPts val="17708"/>
              </a:lnSpc>
            </a:pPr>
            <a:r>
              <a:rPr lang="en-US" sz="18640" b="true">
                <a:solidFill>
                  <a:srgbClr val="FFFFFF"/>
                </a:solidFill>
                <a:latin typeface="Poppins Heavy"/>
                <a:ea typeface="Poppins Heavy"/>
                <a:cs typeface="Poppins Heavy"/>
                <a:sym typeface="Poppins Heavy"/>
              </a:rPr>
              <a:t>SELFIE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DAHU6PXj11c</dc:identifier>
  <dcterms:modified xsi:type="dcterms:W3CDTF">2011-08-01T06:04:30Z</dcterms:modified>
  <cp:revision>1</cp:revision>
  <dc:title>RED FLAG, GREEN FLAG: What makes a good teammate?</dc:title>
</cp:coreProperties>
</file>