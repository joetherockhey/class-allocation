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slide+xml" PartName="/ppt/slides/slide26.xml"/>
  <Override ContentType="application/vnd.openxmlformats-officedocument.presentationml.slide+xml" PartName="/ppt/slides/slide27.xml"/>
  <Override ContentType="application/vnd.openxmlformats-officedocument.presentationml.slide+xml" PartName="/ppt/slides/slide28.xml"/>
  <Override ContentType="application/vnd.openxmlformats-officedocument.presentationml.slide+xml" PartName="/ppt/slides/slide29.xml"/>
  <Override ContentType="application/vnd.openxmlformats-officedocument.presentationml.slide+xml" PartName="/ppt/slides/slide30.xml"/>
  <Override ContentType="application/vnd.openxmlformats-officedocument.presentationml.slide+xml" PartName="/ppt/slides/slide31.xml"/>
  <Override ContentType="application/vnd.openxmlformats-officedocument.presentationml.slide+xml" PartName="/ppt/slides/slide32.xml"/>
  <Override ContentType="application/vnd.openxmlformats-officedocument.presentationml.slide+xml" PartName="/ppt/slides/slide33.xml"/>
  <Override ContentType="application/vnd.openxmlformats-officedocument.presentationml.slide+xml" PartName="/ppt/slides/slide34.xml"/>
  <Override ContentType="application/vnd.openxmlformats-officedocument.presentationml.slide+xml" PartName="/ppt/slides/slide35.xml"/>
  <Override ContentType="application/vnd.openxmlformats-officedocument.presentationml.slide+xml" PartName="/ppt/slides/slide36.xml"/>
  <Override ContentType="application/vnd.openxmlformats-officedocument.presentationml.slide+xml" PartName="/ppt/slides/slide37.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Lst>
  <p:sldSz cx="18288000" cy="10287000"/>
  <p:notesSz cx="6858000" cy="9144000"/>
  <p:embeddedFontLst>
    <p:embeddedFont>
      <p:font typeface="Poppins Heavy" charset="1" panose="00000A00000000000000"/>
      <p:regular r:id="rId43"/>
    </p:embeddedFont>
    <p:embeddedFont>
      <p:font typeface="Poppins Semi-Bold" charset="1" panose="00000700000000000000"/>
      <p:regular r:id="rId44"/>
    </p:embeddedFont>
    <p:embeddedFont>
      <p:font typeface="Poppins Ultra-Bold" charset="1" panose="00000900000000000000"/>
      <p:regular r:id="rId45"/>
    </p:embeddedFont>
    <p:embeddedFont>
      <p:font typeface="Milestone Script" charset="1" panose="00000000000000000000"/>
      <p:regular r:id="rId46"/>
    </p:embeddedFont>
    <p:embeddedFont>
      <p:font typeface="Jack in the Box" charset="1" panose="03000600000000000000"/>
      <p:regular r:id="rId4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slides/slide24.xml" Type="http://schemas.openxmlformats.org/officeDocument/2006/relationships/slide"/><Relationship Id="rId3" Target="viewProps.xml" Type="http://schemas.openxmlformats.org/officeDocument/2006/relationships/viewProps"/><Relationship Id="rId30" Target="slides/slide25.xml" Type="http://schemas.openxmlformats.org/officeDocument/2006/relationships/slide"/><Relationship Id="rId31" Target="slides/slide26.xml" Type="http://schemas.openxmlformats.org/officeDocument/2006/relationships/slide"/><Relationship Id="rId32" Target="slides/slide27.xml" Type="http://schemas.openxmlformats.org/officeDocument/2006/relationships/slide"/><Relationship Id="rId33" Target="slides/slide28.xml" Type="http://schemas.openxmlformats.org/officeDocument/2006/relationships/slide"/><Relationship Id="rId34" Target="slides/slide29.xml" Type="http://schemas.openxmlformats.org/officeDocument/2006/relationships/slide"/><Relationship Id="rId35" Target="slides/slide30.xml" Type="http://schemas.openxmlformats.org/officeDocument/2006/relationships/slide"/><Relationship Id="rId36" Target="slides/slide31.xml" Type="http://schemas.openxmlformats.org/officeDocument/2006/relationships/slide"/><Relationship Id="rId37" Target="slides/slide32.xml" Type="http://schemas.openxmlformats.org/officeDocument/2006/relationships/slide"/><Relationship Id="rId38" Target="slides/slide33.xml" Type="http://schemas.openxmlformats.org/officeDocument/2006/relationships/slide"/><Relationship Id="rId39" Target="slides/slide34.xml" Type="http://schemas.openxmlformats.org/officeDocument/2006/relationships/slide"/><Relationship Id="rId4" Target="theme/theme1.xml" Type="http://schemas.openxmlformats.org/officeDocument/2006/relationships/theme"/><Relationship Id="rId40" Target="slides/slide35.xml" Type="http://schemas.openxmlformats.org/officeDocument/2006/relationships/slide"/><Relationship Id="rId41" Target="slides/slide36.xml" Type="http://schemas.openxmlformats.org/officeDocument/2006/relationships/slide"/><Relationship Id="rId42" Target="slides/slide37.xml" Type="http://schemas.openxmlformats.org/officeDocument/2006/relationships/slide"/><Relationship Id="rId43" Target="fonts/font43.fntdata" Type="http://schemas.openxmlformats.org/officeDocument/2006/relationships/font"/><Relationship Id="rId44" Target="fonts/font44.fntdata" Type="http://schemas.openxmlformats.org/officeDocument/2006/relationships/font"/><Relationship Id="rId45" Target="fonts/font45.fntdata" Type="http://schemas.openxmlformats.org/officeDocument/2006/relationships/font"/><Relationship Id="rId46" Target="fonts/font46.fntdata" Type="http://schemas.openxmlformats.org/officeDocument/2006/relationships/font"/><Relationship Id="rId47" Target="fonts/font47.fntdata" Type="http://schemas.openxmlformats.org/officeDocument/2006/relationships/font"/><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pn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10.png" Type="http://schemas.openxmlformats.org/officeDocument/2006/relationships/image"/><Relationship Id="rId5" Target="../media/image11.png" Type="http://schemas.openxmlformats.org/officeDocument/2006/relationships/image"/><Relationship Id="rId6" Target="../media/image7.png" Type="http://schemas.openxmlformats.org/officeDocument/2006/relationships/image"/><Relationship Id="rId7" Target="../media/image8.svg" Type="http://schemas.openxmlformats.org/officeDocument/2006/relationships/image"/><Relationship Id="rId8" Target="../media/image9.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5.svg" Type="http://schemas.openxmlformats.org/officeDocument/2006/relationships/image"/><Relationship Id="rId11" Target="../media/image16.png" Type="http://schemas.openxmlformats.org/officeDocument/2006/relationships/image"/><Relationship Id="rId12" Target="../media/image17.svg" Type="http://schemas.openxmlformats.org/officeDocument/2006/relationships/image"/><Relationship Id="rId13" Target="../media/image18.png" Type="http://schemas.openxmlformats.org/officeDocument/2006/relationships/image"/><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 Id="rId7" Target="../media/image12.png" Type="http://schemas.openxmlformats.org/officeDocument/2006/relationships/image"/><Relationship Id="rId8" Target="../media/image13.svg" Type="http://schemas.openxmlformats.org/officeDocument/2006/relationships/image"/><Relationship Id="rId9" Target="../media/image14.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19.png" Type="http://schemas.openxmlformats.org/officeDocument/2006/relationships/image"/><Relationship Id="rId5" Target="../media/image20.png" Type="http://schemas.openxmlformats.org/officeDocument/2006/relationships/image"/><Relationship Id="rId6" Target="../media/image7.png" Type="http://schemas.openxmlformats.org/officeDocument/2006/relationships/image"/><Relationship Id="rId7" Target="../media/image8.svg" Type="http://schemas.openxmlformats.org/officeDocument/2006/relationships/image"/><Relationship Id="rId8" Target="../media/image9.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4.png" Type="http://schemas.openxmlformats.org/officeDocument/2006/relationships/image"/><Relationship Id="rId2" Target="../media/image3.png" Type="http://schemas.openxmlformats.org/officeDocument/2006/relationships/image"/><Relationship Id="rId3" Target="../media/image4.svg" Type="http://schemas.openxmlformats.org/officeDocument/2006/relationships/image"/><Relationship Id="rId4" Target="../media/image21.png" Type="http://schemas.openxmlformats.org/officeDocument/2006/relationships/image"/><Relationship Id="rId5" Target="../media/image7.png" Type="http://schemas.openxmlformats.org/officeDocument/2006/relationships/image"/><Relationship Id="rId6" Target="../media/image8.svg" Type="http://schemas.openxmlformats.org/officeDocument/2006/relationships/image"/><Relationship Id="rId7" Target="../media/image9.png" Type="http://schemas.openxmlformats.org/officeDocument/2006/relationships/image"/><Relationship Id="rId8" Target="../media/image22.png" Type="http://schemas.openxmlformats.org/officeDocument/2006/relationships/image"/><Relationship Id="rId9" Target="../media/image23.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 Id="rId7" Target="../media/image18.png" Type="http://schemas.openxmlformats.org/officeDocument/2006/relationships/image"/><Relationship Id="rId8" Target="../media/image24.pn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2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2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2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2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4.png" Type="http://schemas.openxmlformats.org/officeDocument/2006/relationships/image"/><Relationship Id="rId2" Target="../media/image3.png" Type="http://schemas.openxmlformats.org/officeDocument/2006/relationships/image"/><Relationship Id="rId3" Target="../media/image4.svg" Type="http://schemas.openxmlformats.org/officeDocument/2006/relationships/image"/><Relationship Id="rId4" Target="../media/image25.png" Type="http://schemas.openxmlformats.org/officeDocument/2006/relationships/image"/><Relationship Id="rId5" Target="../media/image26.png" Type="http://schemas.openxmlformats.org/officeDocument/2006/relationships/image"/><Relationship Id="rId6" Target="../media/image27.png" Type="http://schemas.openxmlformats.org/officeDocument/2006/relationships/image"/><Relationship Id="rId7" Target="../media/image7.png" Type="http://schemas.openxmlformats.org/officeDocument/2006/relationships/image"/><Relationship Id="rId8" Target="../media/image8.svg" Type="http://schemas.openxmlformats.org/officeDocument/2006/relationships/image"/><Relationship Id="rId9" Target="../media/image9.png" Type="http://schemas.openxmlformats.org/officeDocument/2006/relationships/image"/></Relationships>
</file>

<file path=ppt/slides/_rels/slide2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2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3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3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3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3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3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3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3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_rels/slide3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 Id="rId6" Target="../media/image9.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grpSp>
        <p:nvGrpSpPr>
          <p:cNvPr name="Group 2" id="2"/>
          <p:cNvGrpSpPr/>
          <p:nvPr/>
        </p:nvGrpSpPr>
        <p:grpSpPr>
          <a:xfrm rot="0">
            <a:off x="-394066" y="-422976"/>
            <a:ext cx="10247257" cy="12119945"/>
            <a:chOff x="0" y="0"/>
            <a:chExt cx="649285" cy="767942"/>
          </a:xfrm>
        </p:grpSpPr>
        <p:sp>
          <p:nvSpPr>
            <p:cNvPr name="Freeform 3" id="3"/>
            <p:cNvSpPr/>
            <p:nvPr/>
          </p:nvSpPr>
          <p:spPr>
            <a:xfrm flipH="false" flipV="false" rot="0">
              <a:off x="0" y="0"/>
              <a:ext cx="649285" cy="767942"/>
            </a:xfrm>
            <a:custGeom>
              <a:avLst/>
              <a:gdLst/>
              <a:ahLst/>
              <a:cxnLst/>
              <a:rect r="r" b="b" t="t" l="l"/>
              <a:pathLst>
                <a:path h="767942" w="649285">
                  <a:moveTo>
                    <a:pt x="0" y="0"/>
                  </a:moveTo>
                  <a:lnTo>
                    <a:pt x="649285" y="0"/>
                  </a:lnTo>
                  <a:lnTo>
                    <a:pt x="649285" y="767942"/>
                  </a:lnTo>
                  <a:lnTo>
                    <a:pt x="0" y="767942"/>
                  </a:lnTo>
                  <a:close/>
                </a:path>
              </a:pathLst>
            </a:custGeom>
            <a:gradFill rotWithShape="true">
              <a:gsLst>
                <a:gs pos="0">
                  <a:srgbClr val="841F0B">
                    <a:alpha val="100000"/>
                  </a:srgbClr>
                </a:gs>
                <a:gs pos="100000">
                  <a:srgbClr val="F80118">
                    <a:alpha val="100000"/>
                  </a:srgbClr>
                </a:gs>
              </a:gsLst>
              <a:lin ang="0"/>
            </a:gradFill>
          </p:spPr>
        </p:sp>
        <p:sp>
          <p:nvSpPr>
            <p:cNvPr name="TextBox 4" id="4"/>
            <p:cNvSpPr txBox="true"/>
            <p:nvPr/>
          </p:nvSpPr>
          <p:spPr>
            <a:xfrm>
              <a:off x="0" y="28575"/>
              <a:ext cx="649285" cy="739367"/>
            </a:xfrm>
            <a:prstGeom prst="rect">
              <a:avLst/>
            </a:prstGeom>
          </p:spPr>
          <p:txBody>
            <a:bodyPr anchor="ctr" rtlCol="false" tIns="50800" lIns="50800" bIns="50800" rIns="50800"/>
            <a:lstStyle/>
            <a:p>
              <a:pPr algn="ctr">
                <a:lnSpc>
                  <a:spcPts val="1919"/>
                </a:lnSpc>
              </a:pPr>
            </a:p>
          </p:txBody>
        </p:sp>
      </p:grpSp>
      <p:grpSp>
        <p:nvGrpSpPr>
          <p:cNvPr name="Group 5" id="5"/>
          <p:cNvGrpSpPr/>
          <p:nvPr/>
        </p:nvGrpSpPr>
        <p:grpSpPr>
          <a:xfrm rot="0">
            <a:off x="9144000" y="-823190"/>
            <a:ext cx="10956449" cy="12119945"/>
            <a:chOff x="0" y="0"/>
            <a:chExt cx="694220" cy="767942"/>
          </a:xfrm>
        </p:grpSpPr>
        <p:sp>
          <p:nvSpPr>
            <p:cNvPr name="Freeform 6" id="6"/>
            <p:cNvSpPr/>
            <p:nvPr/>
          </p:nvSpPr>
          <p:spPr>
            <a:xfrm flipH="false" flipV="false" rot="0">
              <a:off x="0" y="0"/>
              <a:ext cx="694220" cy="767942"/>
            </a:xfrm>
            <a:custGeom>
              <a:avLst/>
              <a:gdLst/>
              <a:ahLst/>
              <a:cxnLst/>
              <a:rect r="r" b="b" t="t" l="l"/>
              <a:pathLst>
                <a:path h="767942" w="694220">
                  <a:moveTo>
                    <a:pt x="0" y="0"/>
                  </a:moveTo>
                  <a:lnTo>
                    <a:pt x="694220" y="0"/>
                  </a:lnTo>
                  <a:lnTo>
                    <a:pt x="694220" y="767942"/>
                  </a:lnTo>
                  <a:lnTo>
                    <a:pt x="0" y="767942"/>
                  </a:lnTo>
                  <a:close/>
                </a:path>
              </a:pathLst>
            </a:custGeom>
            <a:gradFill rotWithShape="true">
              <a:gsLst>
                <a:gs pos="0">
                  <a:srgbClr val="4ABD28">
                    <a:alpha val="100000"/>
                  </a:srgbClr>
                </a:gs>
                <a:gs pos="100000">
                  <a:srgbClr val="008601">
                    <a:alpha val="100000"/>
                  </a:srgbClr>
                </a:gs>
              </a:gsLst>
              <a:lin ang="0"/>
            </a:gradFill>
          </p:spPr>
        </p:sp>
        <p:sp>
          <p:nvSpPr>
            <p:cNvPr name="TextBox 7" id="7"/>
            <p:cNvSpPr txBox="true"/>
            <p:nvPr/>
          </p:nvSpPr>
          <p:spPr>
            <a:xfrm>
              <a:off x="0" y="28575"/>
              <a:ext cx="694220" cy="739367"/>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229430" y="-3412012"/>
            <a:ext cx="17254647" cy="17254647"/>
          </a:xfrm>
          <a:custGeom>
            <a:avLst/>
            <a:gdLst/>
            <a:ahLst/>
            <a:cxnLst/>
            <a:rect r="r" b="b" t="t" l="l"/>
            <a:pathLst>
              <a:path h="17254647" w="17254647">
                <a:moveTo>
                  <a:pt x="0" y="0"/>
                </a:moveTo>
                <a:lnTo>
                  <a:pt x="17254648" y="0"/>
                </a:lnTo>
                <a:lnTo>
                  <a:pt x="17254648" y="17254647"/>
                </a:lnTo>
                <a:lnTo>
                  <a:pt x="0" y="17254647"/>
                </a:lnTo>
                <a:lnTo>
                  <a:pt x="0" y="0"/>
                </a:lnTo>
                <a:close/>
              </a:path>
            </a:pathLst>
          </a:custGeom>
          <a:blipFill>
            <a:blip r:embed="rId2">
              <a:alphaModFix amt="78000"/>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4">
              <a:alphaModFix amt="65000"/>
              <a:extLst>
                <a:ext uri="{96DAC541-7B7A-43D3-8B79-37D633B846F1}">
                  <asvg:svgBlip xmlns:asvg="http://schemas.microsoft.com/office/drawing/2016/SVG/main" r:embed="rId5"/>
                </a:ext>
              </a:extLst>
            </a:blip>
            <a:stretch>
              <a:fillRect l="0" t="0" r="0" b="0"/>
            </a:stretch>
          </a:blipFill>
        </p:spPr>
      </p:sp>
      <p:grpSp>
        <p:nvGrpSpPr>
          <p:cNvPr name="Group 10" id="10"/>
          <p:cNvGrpSpPr/>
          <p:nvPr/>
        </p:nvGrpSpPr>
        <p:grpSpPr>
          <a:xfrm rot="0">
            <a:off x="1028700" y="-745535"/>
            <a:ext cx="19447556" cy="12765064"/>
            <a:chOff x="0" y="0"/>
            <a:chExt cx="25930075" cy="17020085"/>
          </a:xfrm>
        </p:grpSpPr>
        <p:sp>
          <p:nvSpPr>
            <p:cNvPr name="Freeform 11" id="11"/>
            <p:cNvSpPr/>
            <p:nvPr/>
          </p:nvSpPr>
          <p:spPr>
            <a:xfrm flipH="false" flipV="false" rot="0">
              <a:off x="399947" y="0"/>
              <a:ext cx="25530127" cy="17020085"/>
            </a:xfrm>
            <a:custGeom>
              <a:avLst/>
              <a:gdLst/>
              <a:ahLst/>
              <a:cxnLst/>
              <a:rect r="r" b="b" t="t" l="l"/>
              <a:pathLst>
                <a:path h="17020085" w="25530127">
                  <a:moveTo>
                    <a:pt x="0" y="0"/>
                  </a:moveTo>
                  <a:lnTo>
                    <a:pt x="25530128" y="0"/>
                  </a:lnTo>
                  <a:lnTo>
                    <a:pt x="25530128" y="17020085"/>
                  </a:lnTo>
                  <a:lnTo>
                    <a:pt x="0" y="17020085"/>
                  </a:lnTo>
                  <a:lnTo>
                    <a:pt x="0" y="0"/>
                  </a:lnTo>
                  <a:close/>
                </a:path>
              </a:pathLst>
            </a:custGeom>
            <a:blipFill>
              <a:blip r:embed="rId6">
                <a:alphaModFix amt="37000"/>
              </a:blip>
              <a:stretch>
                <a:fillRect l="0" t="0" r="0" b="0"/>
              </a:stretch>
            </a:blipFill>
          </p:spPr>
        </p:sp>
        <p:sp>
          <p:nvSpPr>
            <p:cNvPr name="Freeform 12" id="12"/>
            <p:cNvSpPr/>
            <p:nvPr/>
          </p:nvSpPr>
          <p:spPr>
            <a:xfrm flipH="false" flipV="false" rot="0">
              <a:off x="0" y="0"/>
              <a:ext cx="25530127" cy="17020085"/>
            </a:xfrm>
            <a:custGeom>
              <a:avLst/>
              <a:gdLst/>
              <a:ahLst/>
              <a:cxnLst/>
              <a:rect r="r" b="b" t="t" l="l"/>
              <a:pathLst>
                <a:path h="17020085" w="25530127">
                  <a:moveTo>
                    <a:pt x="0" y="0"/>
                  </a:moveTo>
                  <a:lnTo>
                    <a:pt x="25530127" y="0"/>
                  </a:lnTo>
                  <a:lnTo>
                    <a:pt x="25530127" y="17020085"/>
                  </a:lnTo>
                  <a:lnTo>
                    <a:pt x="0" y="17020085"/>
                  </a:lnTo>
                  <a:lnTo>
                    <a:pt x="0" y="0"/>
                  </a:lnTo>
                  <a:close/>
                </a:path>
              </a:pathLst>
            </a:custGeom>
            <a:blipFill>
              <a:blip r:embed="rId7"/>
              <a:stretch>
                <a:fillRect l="0" t="0" r="0" b="0"/>
              </a:stretch>
            </a:blipFill>
          </p:spPr>
        </p:sp>
      </p:grpSp>
      <p:sp>
        <p:nvSpPr>
          <p:cNvPr name="Freeform 13" id="13"/>
          <p:cNvSpPr/>
          <p:nvPr/>
        </p:nvSpPr>
        <p:spPr>
          <a:xfrm flipH="false" flipV="false" rot="0">
            <a:off x="-1479981" y="6089755"/>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pSp>
        <p:nvGrpSpPr>
          <p:cNvPr name="Group 14" id="14"/>
          <p:cNvGrpSpPr/>
          <p:nvPr/>
        </p:nvGrpSpPr>
        <p:grpSpPr>
          <a:xfrm rot="0">
            <a:off x="7227382" y="9258300"/>
            <a:ext cx="3833236" cy="4031369"/>
            <a:chOff x="0" y="0"/>
            <a:chExt cx="338931" cy="356449"/>
          </a:xfrm>
        </p:grpSpPr>
        <p:sp>
          <p:nvSpPr>
            <p:cNvPr name="Freeform 15" id="15"/>
            <p:cNvSpPr/>
            <p:nvPr/>
          </p:nvSpPr>
          <p:spPr>
            <a:xfrm flipH="false" flipV="false" rot="0">
              <a:off x="0" y="0"/>
              <a:ext cx="338931" cy="356449"/>
            </a:xfrm>
            <a:custGeom>
              <a:avLst/>
              <a:gdLst/>
              <a:ahLst/>
              <a:cxnLst/>
              <a:rect r="r" b="b" t="t" l="l"/>
              <a:pathLst>
                <a:path h="356449" w="338931">
                  <a:moveTo>
                    <a:pt x="119919" y="0"/>
                  </a:moveTo>
                  <a:lnTo>
                    <a:pt x="219012" y="0"/>
                  </a:lnTo>
                  <a:cubicBezTo>
                    <a:pt x="285241" y="0"/>
                    <a:pt x="338931" y="53689"/>
                    <a:pt x="338931" y="119919"/>
                  </a:cubicBezTo>
                  <a:lnTo>
                    <a:pt x="338931" y="236531"/>
                  </a:lnTo>
                  <a:cubicBezTo>
                    <a:pt x="338931" y="302760"/>
                    <a:pt x="285241" y="356449"/>
                    <a:pt x="219012" y="356449"/>
                  </a:cubicBezTo>
                  <a:lnTo>
                    <a:pt x="119919" y="356449"/>
                  </a:lnTo>
                  <a:cubicBezTo>
                    <a:pt x="53689" y="356449"/>
                    <a:pt x="0" y="302760"/>
                    <a:pt x="0" y="236531"/>
                  </a:cubicBezTo>
                  <a:lnTo>
                    <a:pt x="0" y="119919"/>
                  </a:lnTo>
                  <a:cubicBezTo>
                    <a:pt x="0" y="53689"/>
                    <a:pt x="53689" y="0"/>
                    <a:pt x="11991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16" id="16"/>
            <p:cNvSpPr txBox="true"/>
            <p:nvPr/>
          </p:nvSpPr>
          <p:spPr>
            <a:xfrm>
              <a:off x="0" y="-38100"/>
              <a:ext cx="338931" cy="394549"/>
            </a:xfrm>
            <a:prstGeom prst="rect">
              <a:avLst/>
            </a:prstGeom>
          </p:spPr>
          <p:txBody>
            <a:bodyPr anchor="ctr" rtlCol="false" tIns="50800" lIns="50800" bIns="50800" rIns="50800"/>
            <a:lstStyle/>
            <a:p>
              <a:pPr algn="ctr">
                <a:lnSpc>
                  <a:spcPts val="2659"/>
                </a:lnSpc>
                <a:spcBef>
                  <a:spcPct val="0"/>
                </a:spcBef>
              </a:pPr>
            </a:p>
          </p:txBody>
        </p:sp>
      </p:grpSp>
      <p:sp>
        <p:nvSpPr>
          <p:cNvPr name="TextBox 17" id="17"/>
          <p:cNvSpPr txBox="true"/>
          <p:nvPr/>
        </p:nvSpPr>
        <p:spPr>
          <a:xfrm rot="0">
            <a:off x="1256455" y="793800"/>
            <a:ext cx="5770136" cy="3307821"/>
          </a:xfrm>
          <a:prstGeom prst="rect">
            <a:avLst/>
          </a:prstGeom>
        </p:spPr>
        <p:txBody>
          <a:bodyPr anchor="t" rtlCol="false" tIns="0" lIns="0" bIns="0" rIns="0">
            <a:spAutoFit/>
          </a:bodyPr>
          <a:lstStyle/>
          <a:p>
            <a:pPr algn="l">
              <a:lnSpc>
                <a:spcPts val="12172"/>
              </a:lnSpc>
            </a:pPr>
            <a:r>
              <a:rPr lang="en-US" sz="12812" b="true">
                <a:solidFill>
                  <a:srgbClr val="FFFFFF"/>
                </a:solidFill>
                <a:latin typeface="Poppins Heavy"/>
                <a:ea typeface="Poppins Heavy"/>
                <a:cs typeface="Poppins Heavy"/>
                <a:sym typeface="Poppins Heavy"/>
              </a:rPr>
              <a:t>RED FLAG</a:t>
            </a:r>
          </a:p>
        </p:txBody>
      </p:sp>
      <p:grpSp>
        <p:nvGrpSpPr>
          <p:cNvPr name="Group 18" id="18"/>
          <p:cNvGrpSpPr/>
          <p:nvPr/>
        </p:nvGrpSpPr>
        <p:grpSpPr>
          <a:xfrm rot="112350">
            <a:off x="3104164" y="6207708"/>
            <a:ext cx="12046580" cy="948610"/>
            <a:chOff x="0" y="0"/>
            <a:chExt cx="605413" cy="47673"/>
          </a:xfrm>
        </p:grpSpPr>
        <p:sp>
          <p:nvSpPr>
            <p:cNvPr name="Freeform 19" id="19"/>
            <p:cNvSpPr/>
            <p:nvPr/>
          </p:nvSpPr>
          <p:spPr>
            <a:xfrm flipH="false" flipV="false" rot="0">
              <a:off x="0" y="0"/>
              <a:ext cx="605413" cy="47673"/>
            </a:xfrm>
            <a:custGeom>
              <a:avLst/>
              <a:gdLst/>
              <a:ahLst/>
              <a:cxnLst/>
              <a:rect r="r" b="b" t="t" l="l"/>
              <a:pathLst>
                <a:path h="47673" w="605413">
                  <a:moveTo>
                    <a:pt x="23837" y="0"/>
                  </a:moveTo>
                  <a:lnTo>
                    <a:pt x="581577" y="0"/>
                  </a:lnTo>
                  <a:cubicBezTo>
                    <a:pt x="594741" y="0"/>
                    <a:pt x="605413" y="10672"/>
                    <a:pt x="605413" y="23837"/>
                  </a:cubicBezTo>
                  <a:lnTo>
                    <a:pt x="605413" y="23837"/>
                  </a:lnTo>
                  <a:cubicBezTo>
                    <a:pt x="605413" y="30159"/>
                    <a:pt x="602902" y="36222"/>
                    <a:pt x="598432" y="40692"/>
                  </a:cubicBezTo>
                  <a:cubicBezTo>
                    <a:pt x="593961" y="45162"/>
                    <a:pt x="587898" y="47673"/>
                    <a:pt x="581577" y="47673"/>
                  </a:cubicBezTo>
                  <a:lnTo>
                    <a:pt x="23837" y="47673"/>
                  </a:lnTo>
                  <a:cubicBezTo>
                    <a:pt x="17515" y="47673"/>
                    <a:pt x="11452" y="45162"/>
                    <a:pt x="6982" y="40692"/>
                  </a:cubicBezTo>
                  <a:cubicBezTo>
                    <a:pt x="2511" y="36222"/>
                    <a:pt x="0" y="30159"/>
                    <a:pt x="0" y="23837"/>
                  </a:cubicBezTo>
                  <a:lnTo>
                    <a:pt x="0" y="23837"/>
                  </a:lnTo>
                  <a:cubicBezTo>
                    <a:pt x="0" y="17515"/>
                    <a:pt x="2511" y="11452"/>
                    <a:pt x="6982" y="6982"/>
                  </a:cubicBezTo>
                  <a:cubicBezTo>
                    <a:pt x="11452" y="2511"/>
                    <a:pt x="17515" y="0"/>
                    <a:pt x="23837" y="0"/>
                  </a:cubicBezTo>
                  <a:close/>
                </a:path>
              </a:pathLst>
            </a:custGeom>
            <a:solidFill>
              <a:srgbClr val="FFFFFF"/>
            </a:solidFill>
          </p:spPr>
        </p:sp>
        <p:sp>
          <p:nvSpPr>
            <p:cNvPr name="TextBox 20" id="20"/>
            <p:cNvSpPr txBox="true"/>
            <p:nvPr/>
          </p:nvSpPr>
          <p:spPr>
            <a:xfrm>
              <a:off x="0" y="28575"/>
              <a:ext cx="605413" cy="19098"/>
            </a:xfrm>
            <a:prstGeom prst="rect">
              <a:avLst/>
            </a:prstGeom>
          </p:spPr>
          <p:txBody>
            <a:bodyPr anchor="ctr" rtlCol="false" tIns="40921" lIns="40921" bIns="40921" rIns="40921"/>
            <a:lstStyle/>
            <a:p>
              <a:pPr algn="ctr">
                <a:lnSpc>
                  <a:spcPts val="1919"/>
                </a:lnSpc>
              </a:pPr>
            </a:p>
          </p:txBody>
        </p:sp>
      </p:grpSp>
      <p:sp>
        <p:nvSpPr>
          <p:cNvPr name="TextBox 21" id="21"/>
          <p:cNvSpPr txBox="true"/>
          <p:nvPr/>
        </p:nvSpPr>
        <p:spPr>
          <a:xfrm rot="98403">
            <a:off x="3216605" y="6260900"/>
            <a:ext cx="11970800" cy="780153"/>
          </a:xfrm>
          <a:prstGeom prst="rect">
            <a:avLst/>
          </a:prstGeom>
        </p:spPr>
        <p:txBody>
          <a:bodyPr anchor="t" rtlCol="false" tIns="0" lIns="0" bIns="0" rIns="0">
            <a:spAutoFit/>
          </a:bodyPr>
          <a:lstStyle/>
          <a:p>
            <a:pPr algn="ctr">
              <a:lnSpc>
                <a:spcPts val="5722"/>
              </a:lnSpc>
            </a:pPr>
            <a:r>
              <a:rPr lang="en-US" b="true" sz="5155">
                <a:gradFill>
                  <a:gsLst>
                    <a:gs pos="0">
                      <a:srgbClr val="85200C">
                        <a:alpha val="100000"/>
                      </a:srgbClr>
                    </a:gs>
                    <a:gs pos="100000">
                      <a:srgbClr val="DC4B0F">
                        <a:alpha val="100000"/>
                      </a:srgbClr>
                    </a:gs>
                  </a:gsLst>
                  <a:lin ang="0"/>
                </a:gradFill>
                <a:latin typeface="Poppins Heavy"/>
                <a:ea typeface="Poppins Heavy"/>
                <a:cs typeface="Poppins Heavy"/>
                <a:sym typeface="Poppins Heavy"/>
              </a:rPr>
              <a:t>Be a teammate you wish you had!</a:t>
            </a:r>
          </a:p>
        </p:txBody>
      </p:sp>
      <p:sp>
        <p:nvSpPr>
          <p:cNvPr name="TextBox 22" id="22"/>
          <p:cNvSpPr txBox="true"/>
          <p:nvPr/>
        </p:nvSpPr>
        <p:spPr>
          <a:xfrm rot="0">
            <a:off x="11306199" y="793800"/>
            <a:ext cx="5770136" cy="3311926"/>
          </a:xfrm>
          <a:prstGeom prst="rect">
            <a:avLst/>
          </a:prstGeom>
        </p:spPr>
        <p:txBody>
          <a:bodyPr anchor="t" rtlCol="false" tIns="0" lIns="0" bIns="0" rIns="0">
            <a:spAutoFit/>
          </a:bodyPr>
          <a:lstStyle/>
          <a:p>
            <a:pPr algn="r">
              <a:lnSpc>
                <a:spcPts val="12171"/>
              </a:lnSpc>
            </a:pPr>
            <a:r>
              <a:rPr lang="en-US" sz="12812" b="true">
                <a:solidFill>
                  <a:srgbClr val="FFFFFF"/>
                </a:solidFill>
                <a:latin typeface="Poppins Heavy"/>
                <a:ea typeface="Poppins Heavy"/>
                <a:cs typeface="Poppins Heavy"/>
                <a:sym typeface="Poppins Heavy"/>
              </a:rPr>
              <a:t>GREEN FLAG</a:t>
            </a:r>
          </a:p>
        </p:txBody>
      </p:sp>
      <p:sp>
        <p:nvSpPr>
          <p:cNvPr name="Freeform 23" id="23"/>
          <p:cNvSpPr/>
          <p:nvPr/>
        </p:nvSpPr>
        <p:spPr>
          <a:xfrm flipH="false" flipV="false" rot="0">
            <a:off x="7743200" y="9300930"/>
            <a:ext cx="2345131" cy="1127237"/>
          </a:xfrm>
          <a:custGeom>
            <a:avLst/>
            <a:gdLst/>
            <a:ahLst/>
            <a:cxnLst/>
            <a:rect r="r" b="b" t="t" l="l"/>
            <a:pathLst>
              <a:path h="1127237" w="2345131">
                <a:moveTo>
                  <a:pt x="0" y="0"/>
                </a:moveTo>
                <a:lnTo>
                  <a:pt x="2345131" y="0"/>
                </a:lnTo>
                <a:lnTo>
                  <a:pt x="2345131" y="1127237"/>
                </a:lnTo>
                <a:lnTo>
                  <a:pt x="0" y="1127237"/>
                </a:lnTo>
                <a:lnTo>
                  <a:pt x="0" y="0"/>
                </a:lnTo>
                <a:close/>
              </a:path>
            </a:pathLst>
          </a:custGeom>
          <a:blipFill>
            <a:blip r:embed="rId10"/>
            <a:stretch>
              <a:fillRect l="0" t="-15579" r="0" b="0"/>
            </a:stretch>
          </a:blipFill>
        </p:spPr>
      </p:sp>
      <p:grpSp>
        <p:nvGrpSpPr>
          <p:cNvPr name="Group 24" id="24"/>
          <p:cNvGrpSpPr/>
          <p:nvPr/>
        </p:nvGrpSpPr>
        <p:grpSpPr>
          <a:xfrm rot="0">
            <a:off x="3589083" y="7162357"/>
            <a:ext cx="10876641" cy="1041891"/>
            <a:chOff x="0" y="0"/>
            <a:chExt cx="14502188" cy="1389187"/>
          </a:xfrm>
        </p:grpSpPr>
        <p:grpSp>
          <p:nvGrpSpPr>
            <p:cNvPr name="Group 25" id="25"/>
            <p:cNvGrpSpPr/>
            <p:nvPr/>
          </p:nvGrpSpPr>
          <p:grpSpPr>
            <a:xfrm rot="112350">
              <a:off x="11120" y="236087"/>
              <a:ext cx="14465332" cy="917012"/>
              <a:chOff x="0" y="0"/>
              <a:chExt cx="605413" cy="38379"/>
            </a:xfrm>
          </p:grpSpPr>
          <p:sp>
            <p:nvSpPr>
              <p:cNvPr name="Freeform 26" id="26"/>
              <p:cNvSpPr/>
              <p:nvPr/>
            </p:nvSpPr>
            <p:spPr>
              <a:xfrm flipH="false" flipV="false" rot="0">
                <a:off x="0" y="0"/>
                <a:ext cx="605413" cy="38379"/>
              </a:xfrm>
              <a:custGeom>
                <a:avLst/>
                <a:gdLst/>
                <a:ahLst/>
                <a:cxnLst/>
                <a:rect r="r" b="b" t="t" l="l"/>
                <a:pathLst>
                  <a:path h="38379" w="605413">
                    <a:moveTo>
                      <a:pt x="19190" y="0"/>
                    </a:moveTo>
                    <a:lnTo>
                      <a:pt x="586224" y="0"/>
                    </a:lnTo>
                    <a:cubicBezTo>
                      <a:pt x="591313" y="0"/>
                      <a:pt x="596194" y="2022"/>
                      <a:pt x="599793" y="5621"/>
                    </a:cubicBezTo>
                    <a:cubicBezTo>
                      <a:pt x="603391" y="9219"/>
                      <a:pt x="605413" y="14100"/>
                      <a:pt x="605413" y="19190"/>
                    </a:cubicBezTo>
                    <a:lnTo>
                      <a:pt x="605413" y="19190"/>
                    </a:lnTo>
                    <a:cubicBezTo>
                      <a:pt x="605413" y="24279"/>
                      <a:pt x="603391" y="29160"/>
                      <a:pt x="599793" y="32759"/>
                    </a:cubicBezTo>
                    <a:cubicBezTo>
                      <a:pt x="596194" y="36358"/>
                      <a:pt x="591313" y="38379"/>
                      <a:pt x="586224" y="38379"/>
                    </a:cubicBezTo>
                    <a:lnTo>
                      <a:pt x="19190" y="38379"/>
                    </a:lnTo>
                    <a:cubicBezTo>
                      <a:pt x="14100" y="38379"/>
                      <a:pt x="9219" y="36358"/>
                      <a:pt x="5621" y="32759"/>
                    </a:cubicBezTo>
                    <a:cubicBezTo>
                      <a:pt x="2022" y="29160"/>
                      <a:pt x="0" y="24279"/>
                      <a:pt x="0" y="19190"/>
                    </a:cubicBezTo>
                    <a:lnTo>
                      <a:pt x="0" y="19190"/>
                    </a:lnTo>
                    <a:cubicBezTo>
                      <a:pt x="0" y="14100"/>
                      <a:pt x="2022" y="9219"/>
                      <a:pt x="5621" y="5621"/>
                    </a:cubicBezTo>
                    <a:cubicBezTo>
                      <a:pt x="9219" y="2022"/>
                      <a:pt x="14100" y="0"/>
                      <a:pt x="19190" y="0"/>
                    </a:cubicBezTo>
                    <a:close/>
                  </a:path>
                </a:pathLst>
              </a:custGeom>
              <a:solidFill>
                <a:srgbClr val="FFFFFF"/>
              </a:solidFill>
            </p:spPr>
          </p:sp>
          <p:sp>
            <p:nvSpPr>
              <p:cNvPr name="TextBox 27" id="27"/>
              <p:cNvSpPr txBox="true"/>
              <p:nvPr/>
            </p:nvSpPr>
            <p:spPr>
              <a:xfrm>
                <a:off x="0" y="28575"/>
                <a:ext cx="605413" cy="9804"/>
              </a:xfrm>
              <a:prstGeom prst="rect">
                <a:avLst/>
              </a:prstGeom>
            </p:spPr>
            <p:txBody>
              <a:bodyPr anchor="ctr" rtlCol="false" tIns="50800" lIns="50800" bIns="50800" rIns="50800"/>
              <a:lstStyle/>
              <a:p>
                <a:pPr algn="ctr">
                  <a:lnSpc>
                    <a:spcPts val="1919"/>
                  </a:lnSpc>
                </a:pPr>
              </a:p>
            </p:txBody>
          </p:sp>
        </p:grpSp>
        <p:sp>
          <p:nvSpPr>
            <p:cNvPr name="TextBox 28" id="28"/>
            <p:cNvSpPr txBox="true"/>
            <p:nvPr/>
          </p:nvSpPr>
          <p:spPr>
            <a:xfrm rot="109406">
              <a:off x="121924" y="341245"/>
              <a:ext cx="14374336" cy="620450"/>
            </a:xfrm>
            <a:prstGeom prst="rect">
              <a:avLst/>
            </a:prstGeom>
          </p:spPr>
          <p:txBody>
            <a:bodyPr anchor="t" rtlCol="false" tIns="0" lIns="0" bIns="0" rIns="0">
              <a:spAutoFit/>
            </a:bodyPr>
            <a:lstStyle/>
            <a:p>
              <a:pPr algn="ctr">
                <a:lnSpc>
                  <a:spcPts val="3370"/>
                </a:lnSpc>
              </a:pPr>
              <a:r>
                <a:rPr lang="en-US" b="true" sz="3036">
                  <a:gradFill>
                    <a:gsLst>
                      <a:gs pos="0">
                        <a:srgbClr val="85200C">
                          <a:alpha val="100000"/>
                        </a:srgbClr>
                      </a:gs>
                      <a:gs pos="100000">
                        <a:srgbClr val="DC4B0F">
                          <a:alpha val="100000"/>
                        </a:srgbClr>
                      </a:gs>
                    </a:gsLst>
                    <a:lin ang="0"/>
                  </a:gradFill>
                  <a:latin typeface="Poppins Heavy"/>
                  <a:ea typeface="Poppins Heavy"/>
                  <a:cs typeface="Poppins Heavy"/>
                  <a:sym typeface="Poppins Heavy"/>
                </a:rPr>
                <a:t>Developed and facilitated by students – for students</a:t>
              </a:r>
            </a:p>
          </p:txBody>
        </p:sp>
      </p:grpSp>
      <p:sp>
        <p:nvSpPr>
          <p:cNvPr name="TextBox 29" id="29"/>
          <p:cNvSpPr txBox="true"/>
          <p:nvPr/>
        </p:nvSpPr>
        <p:spPr>
          <a:xfrm rot="0">
            <a:off x="591083" y="9082165"/>
            <a:ext cx="6360074" cy="872490"/>
          </a:xfrm>
          <a:prstGeom prst="rect">
            <a:avLst/>
          </a:prstGeom>
        </p:spPr>
        <p:txBody>
          <a:bodyPr anchor="t" rtlCol="false" tIns="0" lIns="0" bIns="0" rIns="0">
            <a:spAutoFit/>
          </a:bodyPr>
          <a:lstStyle/>
          <a:p>
            <a:pPr algn="l">
              <a:lnSpc>
                <a:spcPts val="3330"/>
              </a:lnSpc>
            </a:pPr>
            <a:r>
              <a:rPr lang="en-US" sz="3000" b="true">
                <a:solidFill>
                  <a:srgbClr val="FFFFFF"/>
                </a:solidFill>
                <a:latin typeface="Poppins Heavy"/>
                <a:ea typeface="Poppins Heavy"/>
                <a:cs typeface="Poppins Heavy"/>
                <a:sym typeface="Poppins Heavy"/>
              </a:rPr>
              <a:t>From</a:t>
            </a:r>
            <a:r>
              <a:rPr lang="en-US" sz="3000" b="true">
                <a:solidFill>
                  <a:srgbClr val="FFFFFF"/>
                </a:solidFill>
                <a:latin typeface="Poppins Heavy"/>
                <a:ea typeface="Poppins Heavy"/>
                <a:cs typeface="Poppins Heavy"/>
                <a:sym typeface="Poppins Heavy"/>
              </a:rPr>
              <a:t> WORK3601 to BUSS1000 | Teamwork and peer feedback</a:t>
            </a:r>
          </a:p>
        </p:txBody>
      </p:sp>
      <p:sp>
        <p:nvSpPr>
          <p:cNvPr name="TextBox 30" id="30"/>
          <p:cNvSpPr txBox="true"/>
          <p:nvPr/>
        </p:nvSpPr>
        <p:spPr>
          <a:xfrm rot="0">
            <a:off x="11363349" y="9005584"/>
            <a:ext cx="6662300" cy="939546"/>
          </a:xfrm>
          <a:prstGeom prst="rect">
            <a:avLst/>
          </a:prstGeom>
        </p:spPr>
        <p:txBody>
          <a:bodyPr anchor="t" rtlCol="false" tIns="0" lIns="0" bIns="0" rIns="0">
            <a:spAutoFit/>
          </a:bodyPr>
          <a:lstStyle/>
          <a:p>
            <a:pPr algn="l">
              <a:lnSpc>
                <a:spcPts val="2441"/>
              </a:lnSpc>
            </a:pPr>
            <a:r>
              <a:rPr lang="en-US" sz="2199" b="true">
                <a:solidFill>
                  <a:srgbClr val="FFFFFF"/>
                </a:solidFill>
                <a:latin typeface="Poppins Heavy"/>
                <a:ea typeface="Poppins Heavy"/>
                <a:cs typeface="Poppins Heavy"/>
                <a:sym typeface="Poppins Heavy"/>
              </a:rPr>
              <a:t>Twelve scenarios.</a:t>
            </a:r>
            <a:r>
              <a:rPr lang="en-US" sz="2199" b="true">
                <a:solidFill>
                  <a:srgbClr val="FFFFFF"/>
                </a:solidFill>
                <a:latin typeface="Poppins Heavy"/>
                <a:ea typeface="Poppins Heavy"/>
                <a:cs typeface="Poppins Heavy"/>
                <a:sym typeface="Poppins Heavy"/>
              </a:rPr>
              <a:t> They get harder as you go. Move to the side of the room that matches your call, then be ready to say why</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215980" y="247933"/>
            <a:ext cx="20365243" cy="13542886"/>
          </a:xfrm>
          <a:custGeom>
            <a:avLst/>
            <a:gdLst/>
            <a:ahLst/>
            <a:cxnLst/>
            <a:rect r="r" b="b" t="t" l="l"/>
            <a:pathLst>
              <a:path h="13542886" w="20365243">
                <a:moveTo>
                  <a:pt x="0" y="0"/>
                </a:moveTo>
                <a:lnTo>
                  <a:pt x="20365242" y="0"/>
                </a:lnTo>
                <a:lnTo>
                  <a:pt x="20365242" y="13542887"/>
                </a:lnTo>
                <a:lnTo>
                  <a:pt x="0" y="13542887"/>
                </a:lnTo>
                <a:lnTo>
                  <a:pt x="0" y="0"/>
                </a:lnTo>
                <a:close/>
              </a:path>
            </a:pathLst>
          </a:custGeom>
          <a:blipFill>
            <a:blip r:embed="rId4">
              <a:alphaModFix amt="29000"/>
            </a:blip>
            <a:stretch>
              <a:fillRect l="0" t="0" r="0" b="0"/>
            </a:stretch>
          </a:blipFill>
        </p:spPr>
      </p:sp>
      <p:sp>
        <p:nvSpPr>
          <p:cNvPr name="Freeform 4" id="4"/>
          <p:cNvSpPr/>
          <p:nvPr/>
        </p:nvSpPr>
        <p:spPr>
          <a:xfrm flipH="false" flipV="false" rot="0">
            <a:off x="-368380" y="95533"/>
            <a:ext cx="20365243" cy="13542886"/>
          </a:xfrm>
          <a:custGeom>
            <a:avLst/>
            <a:gdLst/>
            <a:ahLst/>
            <a:cxnLst/>
            <a:rect r="r" b="b" t="t" l="l"/>
            <a:pathLst>
              <a:path h="13542886" w="20365243">
                <a:moveTo>
                  <a:pt x="0" y="0"/>
                </a:moveTo>
                <a:lnTo>
                  <a:pt x="20365242" y="0"/>
                </a:lnTo>
                <a:lnTo>
                  <a:pt x="20365242" y="13542887"/>
                </a:lnTo>
                <a:lnTo>
                  <a:pt x="0" y="13542887"/>
                </a:lnTo>
                <a:lnTo>
                  <a:pt x="0" y="0"/>
                </a:lnTo>
                <a:close/>
              </a:path>
            </a:pathLst>
          </a:custGeom>
          <a:blipFill>
            <a:blip r:embed="rId5"/>
            <a:stretch>
              <a:fillRect l="0" t="0" r="0" b="0"/>
            </a:stretch>
          </a:blipFill>
        </p:spPr>
      </p:sp>
      <p:sp>
        <p:nvSpPr>
          <p:cNvPr name="Freeform 5" id="5"/>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6" id="6"/>
          <p:cNvGrpSpPr/>
          <p:nvPr/>
        </p:nvGrpSpPr>
        <p:grpSpPr>
          <a:xfrm rot="0">
            <a:off x="415994" y="9258300"/>
            <a:ext cx="4387595" cy="2093523"/>
            <a:chOff x="0" y="0"/>
            <a:chExt cx="5850127" cy="2791364"/>
          </a:xfrm>
        </p:grpSpPr>
        <p:grpSp>
          <p:nvGrpSpPr>
            <p:cNvPr name="Group 7" id="7"/>
            <p:cNvGrpSpPr/>
            <p:nvPr/>
          </p:nvGrpSpPr>
          <p:grpSpPr>
            <a:xfrm rot="0">
              <a:off x="0" y="0"/>
              <a:ext cx="5850127" cy="2791364"/>
              <a:chOff x="0" y="0"/>
              <a:chExt cx="902797" cy="430766"/>
            </a:xfrm>
          </p:grpSpPr>
          <p:sp>
            <p:nvSpPr>
              <p:cNvPr name="Freeform 8" id="8"/>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9" id="9"/>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10" id="10"/>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8"/>
              <a:stretch>
                <a:fillRect l="0" t="-15579" r="0" b="0"/>
              </a:stretch>
            </a:blipFill>
          </p:spPr>
        </p:sp>
      </p:grpSp>
      <p:grpSp>
        <p:nvGrpSpPr>
          <p:cNvPr name="Group 11" id="11"/>
          <p:cNvGrpSpPr/>
          <p:nvPr/>
        </p:nvGrpSpPr>
        <p:grpSpPr>
          <a:xfrm rot="0">
            <a:off x="3162265" y="9258300"/>
            <a:ext cx="11963470" cy="4031369"/>
            <a:chOff x="0" y="0"/>
            <a:chExt cx="1057797" cy="356449"/>
          </a:xfrm>
        </p:grpSpPr>
        <p:sp>
          <p:nvSpPr>
            <p:cNvPr name="Freeform 12" id="12"/>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3" id="13"/>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4" id="14"/>
          <p:cNvGrpSpPr/>
          <p:nvPr/>
        </p:nvGrpSpPr>
        <p:grpSpPr>
          <a:xfrm rot="0">
            <a:off x="13874565" y="9023776"/>
            <a:ext cx="2263079" cy="2785329"/>
            <a:chOff x="0" y="0"/>
            <a:chExt cx="660400" cy="812800"/>
          </a:xfrm>
        </p:grpSpPr>
        <p:sp>
          <p:nvSpPr>
            <p:cNvPr name="Freeform 15" id="15"/>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6" id="16"/>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7" id="17"/>
          <p:cNvGrpSpPr/>
          <p:nvPr/>
        </p:nvGrpSpPr>
        <p:grpSpPr>
          <a:xfrm rot="0">
            <a:off x="2206700" y="1354940"/>
            <a:ext cx="13640468" cy="2911629"/>
            <a:chOff x="0" y="0"/>
            <a:chExt cx="18187291" cy="3882171"/>
          </a:xfrm>
        </p:grpSpPr>
        <p:grpSp>
          <p:nvGrpSpPr>
            <p:cNvPr name="Group 18" id="18"/>
            <p:cNvGrpSpPr/>
            <p:nvPr/>
          </p:nvGrpSpPr>
          <p:grpSpPr>
            <a:xfrm rot="158860">
              <a:off x="467910" y="633497"/>
              <a:ext cx="16973194" cy="2559252"/>
              <a:chOff x="0" y="0"/>
              <a:chExt cx="1448129" cy="218352"/>
            </a:xfrm>
          </p:grpSpPr>
          <p:sp>
            <p:nvSpPr>
              <p:cNvPr name="Freeform 19" id="19"/>
              <p:cNvSpPr/>
              <p:nvPr/>
            </p:nvSpPr>
            <p:spPr>
              <a:xfrm flipH="false" flipV="false" rot="0">
                <a:off x="0" y="0"/>
                <a:ext cx="1448129" cy="218352"/>
              </a:xfrm>
              <a:custGeom>
                <a:avLst/>
                <a:gdLst/>
                <a:ahLst/>
                <a:cxnLst/>
                <a:rect r="r" b="b" t="t" l="l"/>
                <a:pathLst>
                  <a:path h="218352" w="1448129">
                    <a:moveTo>
                      <a:pt x="9027" y="0"/>
                    </a:moveTo>
                    <a:lnTo>
                      <a:pt x="1439102" y="0"/>
                    </a:lnTo>
                    <a:cubicBezTo>
                      <a:pt x="1444087" y="0"/>
                      <a:pt x="1448129" y="4042"/>
                      <a:pt x="1448129" y="9027"/>
                    </a:cubicBezTo>
                    <a:lnTo>
                      <a:pt x="1448129" y="209324"/>
                    </a:lnTo>
                    <a:cubicBezTo>
                      <a:pt x="1448129" y="211718"/>
                      <a:pt x="1447178" y="214015"/>
                      <a:pt x="1445485" y="215708"/>
                    </a:cubicBezTo>
                    <a:cubicBezTo>
                      <a:pt x="1443792" y="217401"/>
                      <a:pt x="1441496" y="218352"/>
                      <a:pt x="1439102" y="218352"/>
                    </a:cubicBezTo>
                    <a:lnTo>
                      <a:pt x="9027" y="218352"/>
                    </a:lnTo>
                    <a:cubicBezTo>
                      <a:pt x="6633" y="218352"/>
                      <a:pt x="4337" y="217401"/>
                      <a:pt x="2644" y="215708"/>
                    </a:cubicBezTo>
                    <a:cubicBezTo>
                      <a:pt x="951" y="214015"/>
                      <a:pt x="0" y="211718"/>
                      <a:pt x="0" y="209324"/>
                    </a:cubicBezTo>
                    <a:lnTo>
                      <a:pt x="0" y="9027"/>
                    </a:lnTo>
                    <a:cubicBezTo>
                      <a:pt x="0" y="6633"/>
                      <a:pt x="951" y="4337"/>
                      <a:pt x="2644" y="2644"/>
                    </a:cubicBezTo>
                    <a:cubicBezTo>
                      <a:pt x="4337" y="951"/>
                      <a:pt x="6633" y="0"/>
                      <a:pt x="9027" y="0"/>
                    </a:cubicBezTo>
                    <a:close/>
                  </a:path>
                </a:pathLst>
              </a:custGeom>
              <a:gradFill rotWithShape="true">
                <a:gsLst>
                  <a:gs pos="0">
                    <a:srgbClr val="841F0B">
                      <a:alpha val="100000"/>
                    </a:srgbClr>
                  </a:gs>
                  <a:gs pos="100000">
                    <a:srgbClr val="DA4610">
                      <a:alpha val="100000"/>
                    </a:srgbClr>
                  </a:gs>
                </a:gsLst>
                <a:lin ang="0"/>
              </a:gradFill>
            </p:spPr>
          </p:sp>
          <p:sp>
            <p:nvSpPr>
              <p:cNvPr name="TextBox 20" id="20"/>
              <p:cNvSpPr txBox="true"/>
              <p:nvPr/>
            </p:nvSpPr>
            <p:spPr>
              <a:xfrm>
                <a:off x="0" y="28575"/>
                <a:ext cx="1448129" cy="189777"/>
              </a:xfrm>
              <a:prstGeom prst="rect">
                <a:avLst/>
              </a:prstGeom>
            </p:spPr>
            <p:txBody>
              <a:bodyPr anchor="ctr" rtlCol="false" tIns="80937" lIns="80937" bIns="80937" rIns="80937"/>
              <a:lstStyle/>
              <a:p>
                <a:pPr algn="ctr">
                  <a:lnSpc>
                    <a:spcPts val="1919"/>
                  </a:lnSpc>
                </a:pPr>
              </a:p>
            </p:txBody>
          </p:sp>
        </p:grpSp>
        <p:sp>
          <p:nvSpPr>
            <p:cNvPr name="TextBox 21" id="21"/>
            <p:cNvSpPr txBox="true"/>
            <p:nvPr/>
          </p:nvSpPr>
          <p:spPr>
            <a:xfrm rot="204077">
              <a:off x="61705" y="732873"/>
              <a:ext cx="18052012" cy="2616099"/>
            </a:xfrm>
            <a:prstGeom prst="rect">
              <a:avLst/>
            </a:prstGeom>
          </p:spPr>
          <p:txBody>
            <a:bodyPr anchor="t" rtlCol="false" tIns="0" lIns="0" bIns="0" rIns="0">
              <a:spAutoFit/>
            </a:bodyPr>
            <a:lstStyle/>
            <a:p>
              <a:pPr algn="ctr">
                <a:lnSpc>
                  <a:spcPts val="13178"/>
                </a:lnSpc>
              </a:pPr>
              <a:r>
                <a:rPr lang="en-US" sz="13871" b="true">
                  <a:solidFill>
                    <a:srgbClr val="FFFFFF"/>
                  </a:solidFill>
                  <a:latin typeface="Poppins Heavy"/>
                  <a:ea typeface="Poppins Heavy"/>
                  <a:cs typeface="Poppins Heavy"/>
                  <a:sym typeface="Poppins Heavy"/>
                </a:rPr>
                <a:t>Introduction</a:t>
              </a:r>
            </a:p>
          </p:txBody>
        </p:sp>
      </p:grpSp>
      <p:sp>
        <p:nvSpPr>
          <p:cNvPr name="TextBox 22" id="22"/>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01</a:t>
            </a:r>
          </a:p>
        </p:txBody>
      </p:sp>
      <p:sp>
        <p:nvSpPr>
          <p:cNvPr name="TextBox 23" id="23"/>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24" id="24"/>
          <p:cNvSpPr txBox="true"/>
          <p:nvPr/>
        </p:nvSpPr>
        <p:spPr>
          <a:xfrm rot="0">
            <a:off x="3298212" y="4337153"/>
            <a:ext cx="11457444" cy="2003206"/>
          </a:xfrm>
          <a:prstGeom prst="rect">
            <a:avLst/>
          </a:prstGeom>
        </p:spPr>
        <p:txBody>
          <a:bodyPr anchor="t" rtlCol="false" tIns="0" lIns="0" bIns="0" rIns="0">
            <a:spAutoFit/>
          </a:bodyPr>
          <a:lstStyle/>
          <a:p>
            <a:pPr algn="ctr">
              <a:lnSpc>
                <a:spcPts val="5021"/>
              </a:lnSpc>
            </a:pPr>
            <a:r>
              <a:rPr lang="en-US" sz="5285" b="true">
                <a:solidFill>
                  <a:srgbClr val="FFFFFF"/>
                </a:solidFill>
                <a:latin typeface="Poppins Semi-Bold"/>
                <a:ea typeface="Poppins Semi-Bold"/>
                <a:cs typeface="Poppins Semi-Bold"/>
                <a:sym typeface="Poppins Semi-Bold"/>
              </a:rPr>
              <a:t>Who are we? Final year students with Management &amp; Leadership as a major/minor</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2627462" y="715282"/>
            <a:ext cx="12893842" cy="1817747"/>
            <a:chOff x="0" y="0"/>
            <a:chExt cx="17191789" cy="2423662"/>
          </a:xfrm>
        </p:grpSpPr>
        <p:grpSp>
          <p:nvGrpSpPr>
            <p:cNvPr name="Group 16" id="16"/>
            <p:cNvGrpSpPr/>
            <p:nvPr/>
          </p:nvGrpSpPr>
          <p:grpSpPr>
            <a:xfrm rot="158860">
              <a:off x="342028" y="371106"/>
              <a:ext cx="16105908" cy="1675677"/>
              <a:chOff x="0" y="0"/>
              <a:chExt cx="1598752" cy="166336"/>
            </a:xfrm>
          </p:grpSpPr>
          <p:sp>
            <p:nvSpPr>
              <p:cNvPr name="Freeform 17" id="17"/>
              <p:cNvSpPr/>
              <p:nvPr/>
            </p:nvSpPr>
            <p:spPr>
              <a:xfrm flipH="false" flipV="false" rot="0">
                <a:off x="0" y="0"/>
                <a:ext cx="1598752" cy="166336"/>
              </a:xfrm>
              <a:custGeom>
                <a:avLst/>
                <a:gdLst/>
                <a:ahLst/>
                <a:cxnLst/>
                <a:rect r="r" b="b" t="t" l="l"/>
                <a:pathLst>
                  <a:path h="166336" w="1598752">
                    <a:moveTo>
                      <a:pt x="8177" y="0"/>
                    </a:moveTo>
                    <a:lnTo>
                      <a:pt x="1590575" y="0"/>
                    </a:lnTo>
                    <a:cubicBezTo>
                      <a:pt x="1595091" y="0"/>
                      <a:pt x="1598752" y="3661"/>
                      <a:pt x="1598752" y="8177"/>
                    </a:cubicBezTo>
                    <a:lnTo>
                      <a:pt x="1598752" y="158159"/>
                    </a:lnTo>
                    <a:cubicBezTo>
                      <a:pt x="1598752" y="162675"/>
                      <a:pt x="1595091" y="166336"/>
                      <a:pt x="1590575" y="166336"/>
                    </a:cubicBezTo>
                    <a:lnTo>
                      <a:pt x="8177" y="166336"/>
                    </a:lnTo>
                    <a:cubicBezTo>
                      <a:pt x="3661" y="166336"/>
                      <a:pt x="0" y="162675"/>
                      <a:pt x="0" y="158159"/>
                    </a:cubicBezTo>
                    <a:lnTo>
                      <a:pt x="0" y="8177"/>
                    </a:lnTo>
                    <a:cubicBezTo>
                      <a:pt x="0" y="3661"/>
                      <a:pt x="3661" y="0"/>
                      <a:pt x="8177" y="0"/>
                    </a:cubicBezTo>
                    <a:close/>
                  </a:path>
                </a:pathLst>
              </a:custGeom>
              <a:gradFill rotWithShape="true">
                <a:gsLst>
                  <a:gs pos="0">
                    <a:srgbClr val="841F0B">
                      <a:alpha val="100000"/>
                    </a:srgbClr>
                  </a:gs>
                  <a:gs pos="100000">
                    <a:srgbClr val="DA4610">
                      <a:alpha val="100000"/>
                    </a:srgbClr>
                  </a:gs>
                </a:gsLst>
                <a:lin ang="0"/>
              </a:gradFill>
            </p:spPr>
          </p:sp>
          <p:sp>
            <p:nvSpPr>
              <p:cNvPr name="TextBox 18" id="18"/>
              <p:cNvSpPr txBox="true"/>
              <p:nvPr/>
            </p:nvSpPr>
            <p:spPr>
              <a:xfrm>
                <a:off x="0" y="28575"/>
                <a:ext cx="1598752" cy="137761"/>
              </a:xfrm>
              <a:prstGeom prst="rect">
                <a:avLst/>
              </a:prstGeom>
            </p:spPr>
            <p:txBody>
              <a:bodyPr anchor="ctr" rtlCol="false" tIns="80937" lIns="80937" bIns="80937" rIns="80937"/>
              <a:lstStyle/>
              <a:p>
                <a:pPr algn="ctr">
                  <a:lnSpc>
                    <a:spcPts val="1919"/>
                  </a:lnSpc>
                </a:pPr>
              </a:p>
            </p:txBody>
          </p:sp>
        </p:grpSp>
        <p:sp>
          <p:nvSpPr>
            <p:cNvPr name="TextBox 19" id="19"/>
            <p:cNvSpPr txBox="true"/>
            <p:nvPr/>
          </p:nvSpPr>
          <p:spPr>
            <a:xfrm rot="141634">
              <a:off x="24873" y="510574"/>
              <a:ext cx="17136944" cy="1560831"/>
            </a:xfrm>
            <a:prstGeom prst="rect">
              <a:avLst/>
            </a:prstGeom>
          </p:spPr>
          <p:txBody>
            <a:bodyPr anchor="t" rtlCol="false" tIns="0" lIns="0" bIns="0" rIns="0">
              <a:spAutoFit/>
            </a:bodyPr>
            <a:lstStyle/>
            <a:p>
              <a:pPr algn="ctr">
                <a:lnSpc>
                  <a:spcPts val="7920"/>
                </a:lnSpc>
              </a:pPr>
              <a:r>
                <a:rPr lang="en-US" sz="8337" b="true">
                  <a:solidFill>
                    <a:srgbClr val="FFFFFF"/>
                  </a:solidFill>
                  <a:latin typeface="Poppins Heavy"/>
                  <a:ea typeface="Poppins Heavy"/>
                  <a:cs typeface="Poppins Heavy"/>
                  <a:sym typeface="Poppins Heavy"/>
                </a:rPr>
                <a:t>LEARNING OUTCOMES </a:t>
              </a:r>
            </a:p>
          </p:txBody>
        </p:sp>
      </p:grpSp>
      <p:sp>
        <p:nvSpPr>
          <p:cNvPr name="TextBox 20" id="20"/>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02</a:t>
            </a:r>
          </a:p>
        </p:txBody>
      </p:sp>
      <p:sp>
        <p:nvSpPr>
          <p:cNvPr name="TextBox 21" id="21"/>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grpSp>
        <p:nvGrpSpPr>
          <p:cNvPr name="Group 22" id="22"/>
          <p:cNvGrpSpPr/>
          <p:nvPr/>
        </p:nvGrpSpPr>
        <p:grpSpPr>
          <a:xfrm rot="0">
            <a:off x="3175974" y="2535570"/>
            <a:ext cx="11466222" cy="1932753"/>
            <a:chOff x="0" y="0"/>
            <a:chExt cx="1429057" cy="240883"/>
          </a:xfrm>
        </p:grpSpPr>
        <p:sp>
          <p:nvSpPr>
            <p:cNvPr name="Freeform 23" id="23"/>
            <p:cNvSpPr/>
            <p:nvPr/>
          </p:nvSpPr>
          <p:spPr>
            <a:xfrm flipH="false" flipV="false" rot="0">
              <a:off x="0" y="0"/>
              <a:ext cx="1429057" cy="240883"/>
            </a:xfrm>
            <a:custGeom>
              <a:avLst/>
              <a:gdLst/>
              <a:ahLst/>
              <a:cxnLst/>
              <a:rect r="r" b="b" t="t" l="l"/>
              <a:pathLst>
                <a:path h="240883" w="1429057">
                  <a:moveTo>
                    <a:pt x="6330" y="0"/>
                  </a:moveTo>
                  <a:lnTo>
                    <a:pt x="1422727" y="0"/>
                  </a:lnTo>
                  <a:cubicBezTo>
                    <a:pt x="1426223" y="0"/>
                    <a:pt x="1429057" y="2834"/>
                    <a:pt x="1429057" y="6330"/>
                  </a:cubicBezTo>
                  <a:lnTo>
                    <a:pt x="1429057" y="234553"/>
                  </a:lnTo>
                  <a:cubicBezTo>
                    <a:pt x="1429057" y="236231"/>
                    <a:pt x="1428390" y="237841"/>
                    <a:pt x="1427203" y="239029"/>
                  </a:cubicBezTo>
                  <a:cubicBezTo>
                    <a:pt x="1426016" y="240216"/>
                    <a:pt x="1424405" y="240883"/>
                    <a:pt x="1422727" y="240883"/>
                  </a:cubicBezTo>
                  <a:lnTo>
                    <a:pt x="6330" y="240883"/>
                  </a:lnTo>
                  <a:cubicBezTo>
                    <a:pt x="2834" y="240883"/>
                    <a:pt x="0" y="238049"/>
                    <a:pt x="0" y="234553"/>
                  </a:cubicBezTo>
                  <a:lnTo>
                    <a:pt x="0" y="6330"/>
                  </a:lnTo>
                  <a:cubicBezTo>
                    <a:pt x="0" y="4651"/>
                    <a:pt x="667" y="3041"/>
                    <a:pt x="1854" y="1854"/>
                  </a:cubicBezTo>
                  <a:cubicBezTo>
                    <a:pt x="3041" y="667"/>
                    <a:pt x="4651" y="0"/>
                    <a:pt x="6330" y="0"/>
                  </a:cubicBezTo>
                  <a:close/>
                </a:path>
              </a:pathLst>
            </a:custGeom>
            <a:gradFill rotWithShape="true">
              <a:gsLst>
                <a:gs pos="0">
                  <a:srgbClr val="FFFFFF">
                    <a:alpha val="100000"/>
                  </a:srgbClr>
                </a:gs>
                <a:gs pos="100000">
                  <a:srgbClr val="FFFFFF">
                    <a:alpha val="0"/>
                  </a:srgbClr>
                </a:gs>
              </a:gsLst>
              <a:lin ang="0"/>
            </a:gradFill>
          </p:spPr>
        </p:sp>
        <p:sp>
          <p:nvSpPr>
            <p:cNvPr name="TextBox 24" id="24"/>
            <p:cNvSpPr txBox="true"/>
            <p:nvPr/>
          </p:nvSpPr>
          <p:spPr>
            <a:xfrm>
              <a:off x="0" y="28575"/>
              <a:ext cx="1429057" cy="212308"/>
            </a:xfrm>
            <a:prstGeom prst="rect">
              <a:avLst/>
            </a:prstGeom>
          </p:spPr>
          <p:txBody>
            <a:bodyPr anchor="ctr" rtlCol="false" tIns="40741" lIns="40741" bIns="40741" rIns="40741"/>
            <a:lstStyle/>
            <a:p>
              <a:pPr algn="ctr">
                <a:lnSpc>
                  <a:spcPts val="1919"/>
                </a:lnSpc>
              </a:pPr>
            </a:p>
          </p:txBody>
        </p:sp>
      </p:grpSp>
      <p:grpSp>
        <p:nvGrpSpPr>
          <p:cNvPr name="Group 25" id="25"/>
          <p:cNvGrpSpPr/>
          <p:nvPr/>
        </p:nvGrpSpPr>
        <p:grpSpPr>
          <a:xfrm rot="0">
            <a:off x="3025216" y="2526362"/>
            <a:ext cx="267763" cy="1968990"/>
            <a:chOff x="0" y="0"/>
            <a:chExt cx="56993" cy="419100"/>
          </a:xfrm>
        </p:grpSpPr>
        <p:sp>
          <p:nvSpPr>
            <p:cNvPr name="Freeform 26" id="26"/>
            <p:cNvSpPr/>
            <p:nvPr/>
          </p:nvSpPr>
          <p:spPr>
            <a:xfrm flipH="false" flipV="false" rot="0">
              <a:off x="0" y="0"/>
              <a:ext cx="56993" cy="419100"/>
            </a:xfrm>
            <a:custGeom>
              <a:avLst/>
              <a:gdLst/>
              <a:ahLst/>
              <a:cxnLst/>
              <a:rect r="r" b="b" t="t" l="l"/>
              <a:pathLst>
                <a:path h="419100" w="56993">
                  <a:moveTo>
                    <a:pt x="28497" y="0"/>
                  </a:moveTo>
                  <a:lnTo>
                    <a:pt x="28497" y="0"/>
                  </a:lnTo>
                  <a:cubicBezTo>
                    <a:pt x="36055" y="0"/>
                    <a:pt x="43303" y="3002"/>
                    <a:pt x="48647" y="8346"/>
                  </a:cubicBezTo>
                  <a:cubicBezTo>
                    <a:pt x="53991" y="13691"/>
                    <a:pt x="56993" y="20939"/>
                    <a:pt x="56993" y="28497"/>
                  </a:cubicBezTo>
                  <a:lnTo>
                    <a:pt x="56993" y="390603"/>
                  </a:lnTo>
                  <a:cubicBezTo>
                    <a:pt x="56993" y="406342"/>
                    <a:pt x="44235" y="419100"/>
                    <a:pt x="28497" y="419100"/>
                  </a:cubicBezTo>
                  <a:lnTo>
                    <a:pt x="28497" y="419100"/>
                  </a:lnTo>
                  <a:cubicBezTo>
                    <a:pt x="12758" y="419100"/>
                    <a:pt x="0" y="406342"/>
                    <a:pt x="0" y="390603"/>
                  </a:cubicBezTo>
                  <a:lnTo>
                    <a:pt x="0" y="28497"/>
                  </a:lnTo>
                  <a:cubicBezTo>
                    <a:pt x="0" y="12758"/>
                    <a:pt x="12758" y="0"/>
                    <a:pt x="28497" y="0"/>
                  </a:cubicBezTo>
                  <a:close/>
                </a:path>
              </a:pathLst>
            </a:custGeom>
            <a:solidFill>
              <a:srgbClr val="6E3125"/>
            </a:solidFill>
          </p:spPr>
        </p:sp>
        <p:sp>
          <p:nvSpPr>
            <p:cNvPr name="TextBox 27" id="27"/>
            <p:cNvSpPr txBox="true"/>
            <p:nvPr/>
          </p:nvSpPr>
          <p:spPr>
            <a:xfrm>
              <a:off x="0" y="28575"/>
              <a:ext cx="56993" cy="390525"/>
            </a:xfrm>
            <a:prstGeom prst="rect">
              <a:avLst/>
            </a:prstGeom>
          </p:spPr>
          <p:txBody>
            <a:bodyPr anchor="ctr" rtlCol="false" tIns="49108" lIns="49108" bIns="49108" rIns="49108"/>
            <a:lstStyle/>
            <a:p>
              <a:pPr algn="ctr">
                <a:lnSpc>
                  <a:spcPts val="1919"/>
                </a:lnSpc>
              </a:pPr>
            </a:p>
          </p:txBody>
        </p:sp>
      </p:grpSp>
      <p:sp>
        <p:nvSpPr>
          <p:cNvPr name="TextBox 28" id="28"/>
          <p:cNvSpPr txBox="true"/>
          <p:nvPr/>
        </p:nvSpPr>
        <p:spPr>
          <a:xfrm rot="0">
            <a:off x="3519154" y="2838761"/>
            <a:ext cx="10870554" cy="1370659"/>
          </a:xfrm>
          <a:prstGeom prst="rect">
            <a:avLst/>
          </a:prstGeom>
        </p:spPr>
        <p:txBody>
          <a:bodyPr anchor="t" rtlCol="false" tIns="0" lIns="0" bIns="0" rIns="0">
            <a:spAutoFit/>
          </a:bodyPr>
          <a:lstStyle/>
          <a:p>
            <a:pPr algn="l">
              <a:lnSpc>
                <a:spcPts val="3516"/>
              </a:lnSpc>
            </a:pPr>
            <a:r>
              <a:rPr lang="en-US" sz="3286" b="true">
                <a:solidFill>
                  <a:srgbClr val="6E3125"/>
                </a:solidFill>
                <a:latin typeface="Poppins Heavy"/>
                <a:ea typeface="Poppins Heavy"/>
                <a:cs typeface="Poppins Heavy"/>
                <a:sym typeface="Poppins Heavy"/>
              </a:rPr>
              <a:t>We are here to help you learn from our mistakes! </a:t>
            </a:r>
          </a:p>
          <a:p>
            <a:pPr algn="l">
              <a:lnSpc>
                <a:spcPts val="3516"/>
              </a:lnSpc>
            </a:pPr>
            <a:r>
              <a:rPr lang="en-US" sz="3286" b="true">
                <a:solidFill>
                  <a:srgbClr val="6E3125"/>
                </a:solidFill>
                <a:latin typeface="Poppins Heavy"/>
                <a:ea typeface="Poppins Heavy"/>
                <a:cs typeface="Poppins Heavy"/>
                <a:sym typeface="Poppins Heavy"/>
              </a:rPr>
              <a:t>And we will do our best (also, this is our assignment – so be merciful and play with us)</a:t>
            </a:r>
          </a:p>
        </p:txBody>
      </p:sp>
      <p:grpSp>
        <p:nvGrpSpPr>
          <p:cNvPr name="Group 29" id="29"/>
          <p:cNvGrpSpPr/>
          <p:nvPr/>
        </p:nvGrpSpPr>
        <p:grpSpPr>
          <a:xfrm rot="0">
            <a:off x="2817325" y="4903736"/>
            <a:ext cx="13320319" cy="3389588"/>
            <a:chOff x="0" y="0"/>
            <a:chExt cx="17760426" cy="4519450"/>
          </a:xfrm>
        </p:grpSpPr>
        <p:grpSp>
          <p:nvGrpSpPr>
            <p:cNvPr name="Group 30" id="30"/>
            <p:cNvGrpSpPr/>
            <p:nvPr/>
          </p:nvGrpSpPr>
          <p:grpSpPr>
            <a:xfrm rot="0">
              <a:off x="0" y="527081"/>
              <a:ext cx="17760426" cy="3992370"/>
              <a:chOff x="0" y="0"/>
              <a:chExt cx="1668231" cy="375002"/>
            </a:xfrm>
          </p:grpSpPr>
          <p:sp>
            <p:nvSpPr>
              <p:cNvPr name="Freeform 31" id="31"/>
              <p:cNvSpPr/>
              <p:nvPr/>
            </p:nvSpPr>
            <p:spPr>
              <a:xfrm flipH="false" flipV="false" rot="0">
                <a:off x="0" y="0"/>
                <a:ext cx="1668231" cy="375002"/>
              </a:xfrm>
              <a:custGeom>
                <a:avLst/>
                <a:gdLst/>
                <a:ahLst/>
                <a:cxnLst/>
                <a:rect r="r" b="b" t="t" l="l"/>
                <a:pathLst>
                  <a:path h="375002" w="1668231">
                    <a:moveTo>
                      <a:pt x="26352" y="0"/>
                    </a:moveTo>
                    <a:lnTo>
                      <a:pt x="1641879" y="0"/>
                    </a:lnTo>
                    <a:cubicBezTo>
                      <a:pt x="1648868" y="0"/>
                      <a:pt x="1655570" y="2776"/>
                      <a:pt x="1660513" y="7718"/>
                    </a:cubicBezTo>
                    <a:cubicBezTo>
                      <a:pt x="1665455" y="12660"/>
                      <a:pt x="1668231" y="19363"/>
                      <a:pt x="1668231" y="26352"/>
                    </a:cubicBezTo>
                    <a:lnTo>
                      <a:pt x="1668231" y="348650"/>
                    </a:lnTo>
                    <a:cubicBezTo>
                      <a:pt x="1668231" y="355639"/>
                      <a:pt x="1665455" y="362342"/>
                      <a:pt x="1660513" y="367284"/>
                    </a:cubicBezTo>
                    <a:cubicBezTo>
                      <a:pt x="1655570" y="372226"/>
                      <a:pt x="1648868" y="375002"/>
                      <a:pt x="1641879" y="375002"/>
                    </a:cubicBezTo>
                    <a:lnTo>
                      <a:pt x="26352" y="375002"/>
                    </a:lnTo>
                    <a:cubicBezTo>
                      <a:pt x="19363" y="375002"/>
                      <a:pt x="12660" y="372226"/>
                      <a:pt x="7718" y="367284"/>
                    </a:cubicBezTo>
                    <a:cubicBezTo>
                      <a:pt x="2776" y="362342"/>
                      <a:pt x="0" y="355639"/>
                      <a:pt x="0" y="348650"/>
                    </a:cubicBezTo>
                    <a:lnTo>
                      <a:pt x="0" y="26352"/>
                    </a:lnTo>
                    <a:cubicBezTo>
                      <a:pt x="0" y="19363"/>
                      <a:pt x="2776" y="12660"/>
                      <a:pt x="7718" y="7718"/>
                    </a:cubicBezTo>
                    <a:cubicBezTo>
                      <a:pt x="12660" y="2776"/>
                      <a:pt x="19363" y="0"/>
                      <a:pt x="26352" y="0"/>
                    </a:cubicBezTo>
                    <a:close/>
                  </a:path>
                </a:pathLst>
              </a:custGeom>
              <a:gradFill rotWithShape="true">
                <a:gsLst>
                  <a:gs pos="0">
                    <a:srgbClr val="841F0B">
                      <a:alpha val="100000"/>
                    </a:srgbClr>
                  </a:gs>
                  <a:gs pos="100000">
                    <a:srgbClr val="DA4610">
                      <a:alpha val="100000"/>
                    </a:srgbClr>
                  </a:gs>
                </a:gsLst>
                <a:lin ang="0"/>
              </a:gradFill>
              <a:ln w="85725" cap="rnd">
                <a:solidFill>
                  <a:srgbClr val="6E3125"/>
                </a:solidFill>
                <a:prstDash val="solid"/>
                <a:round/>
              </a:ln>
            </p:spPr>
          </p:sp>
          <p:sp>
            <p:nvSpPr>
              <p:cNvPr name="TextBox 32" id="32"/>
              <p:cNvSpPr txBox="true"/>
              <p:nvPr/>
            </p:nvSpPr>
            <p:spPr>
              <a:xfrm>
                <a:off x="0" y="28575"/>
                <a:ext cx="1668231" cy="346427"/>
              </a:xfrm>
              <a:prstGeom prst="rect">
                <a:avLst/>
              </a:prstGeom>
            </p:spPr>
            <p:txBody>
              <a:bodyPr anchor="ctr" rtlCol="false" tIns="50800" lIns="50800" bIns="50800" rIns="50800"/>
              <a:lstStyle/>
              <a:p>
                <a:pPr algn="ctr">
                  <a:lnSpc>
                    <a:spcPts val="1919"/>
                  </a:lnSpc>
                </a:pPr>
              </a:p>
            </p:txBody>
          </p:sp>
        </p:grpSp>
        <p:grpSp>
          <p:nvGrpSpPr>
            <p:cNvPr name="Group 33" id="33"/>
            <p:cNvGrpSpPr/>
            <p:nvPr/>
          </p:nvGrpSpPr>
          <p:grpSpPr>
            <a:xfrm rot="0">
              <a:off x="521125" y="0"/>
              <a:ext cx="8948049" cy="1054161"/>
              <a:chOff x="0" y="0"/>
              <a:chExt cx="993684" cy="117065"/>
            </a:xfrm>
          </p:grpSpPr>
          <p:sp>
            <p:nvSpPr>
              <p:cNvPr name="Freeform 34" id="34"/>
              <p:cNvSpPr/>
              <p:nvPr/>
            </p:nvSpPr>
            <p:spPr>
              <a:xfrm flipH="false" flipV="false" rot="0">
                <a:off x="0" y="0"/>
                <a:ext cx="993684" cy="117065"/>
              </a:xfrm>
              <a:custGeom>
                <a:avLst/>
                <a:gdLst/>
                <a:ahLst/>
                <a:cxnLst/>
                <a:rect r="r" b="b" t="t" l="l"/>
                <a:pathLst>
                  <a:path h="117065" w="993684">
                    <a:moveTo>
                      <a:pt x="52305" y="0"/>
                    </a:moveTo>
                    <a:lnTo>
                      <a:pt x="941379" y="0"/>
                    </a:lnTo>
                    <a:cubicBezTo>
                      <a:pt x="955251" y="0"/>
                      <a:pt x="968555" y="5511"/>
                      <a:pt x="978364" y="15320"/>
                    </a:cubicBezTo>
                    <a:cubicBezTo>
                      <a:pt x="988173" y="25129"/>
                      <a:pt x="993684" y="38433"/>
                      <a:pt x="993684" y="52305"/>
                    </a:cubicBezTo>
                    <a:lnTo>
                      <a:pt x="993684" y="64760"/>
                    </a:lnTo>
                    <a:cubicBezTo>
                      <a:pt x="993684" y="78632"/>
                      <a:pt x="988173" y="91936"/>
                      <a:pt x="978364" y="101745"/>
                    </a:cubicBezTo>
                    <a:cubicBezTo>
                      <a:pt x="968555" y="111554"/>
                      <a:pt x="955251" y="117065"/>
                      <a:pt x="941379" y="117065"/>
                    </a:cubicBezTo>
                    <a:lnTo>
                      <a:pt x="52305" y="117065"/>
                    </a:lnTo>
                    <a:cubicBezTo>
                      <a:pt x="23418" y="117065"/>
                      <a:pt x="0" y="93647"/>
                      <a:pt x="0" y="64760"/>
                    </a:cubicBezTo>
                    <a:lnTo>
                      <a:pt x="0" y="52305"/>
                    </a:lnTo>
                    <a:cubicBezTo>
                      <a:pt x="0" y="23418"/>
                      <a:pt x="23418" y="0"/>
                      <a:pt x="52305"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a:ln w="85725" cap="rnd">
                <a:solidFill>
                  <a:srgbClr val="6E3125"/>
                </a:solidFill>
                <a:prstDash val="solid"/>
                <a:round/>
              </a:ln>
            </p:spPr>
          </p:sp>
          <p:sp>
            <p:nvSpPr>
              <p:cNvPr name="TextBox 35" id="35"/>
              <p:cNvSpPr txBox="true"/>
              <p:nvPr/>
            </p:nvSpPr>
            <p:spPr>
              <a:xfrm>
                <a:off x="0" y="28575"/>
                <a:ext cx="993684" cy="88490"/>
              </a:xfrm>
              <a:prstGeom prst="rect">
                <a:avLst/>
              </a:prstGeom>
            </p:spPr>
            <p:txBody>
              <a:bodyPr anchor="ctr" rtlCol="false" tIns="50800" lIns="50800" bIns="50800" rIns="50800"/>
              <a:lstStyle/>
              <a:p>
                <a:pPr algn="ctr">
                  <a:lnSpc>
                    <a:spcPts val="1919"/>
                  </a:lnSpc>
                </a:pPr>
              </a:p>
            </p:txBody>
          </p:sp>
        </p:grpSp>
        <p:sp>
          <p:nvSpPr>
            <p:cNvPr name="TextBox 36" id="36"/>
            <p:cNvSpPr txBox="true"/>
            <p:nvPr/>
          </p:nvSpPr>
          <p:spPr>
            <a:xfrm rot="0">
              <a:off x="814347" y="206942"/>
              <a:ext cx="8374179" cy="697427"/>
            </a:xfrm>
            <a:prstGeom prst="rect">
              <a:avLst/>
            </a:prstGeom>
          </p:spPr>
          <p:txBody>
            <a:bodyPr anchor="t" rtlCol="false" tIns="0" lIns="0" bIns="0" rIns="0">
              <a:spAutoFit/>
            </a:bodyPr>
            <a:lstStyle/>
            <a:p>
              <a:pPr algn="l">
                <a:lnSpc>
                  <a:spcPts val="3538"/>
                </a:lnSpc>
              </a:pPr>
              <a:r>
                <a:rPr lang="en-US" sz="3724" b="true">
                  <a:solidFill>
                    <a:srgbClr val="6E3125"/>
                  </a:solidFill>
                  <a:latin typeface="Poppins Heavy"/>
                  <a:ea typeface="Poppins Heavy"/>
                  <a:cs typeface="Poppins Heavy"/>
                  <a:sym typeface="Poppins Heavy"/>
                </a:rPr>
                <a:t>For us – The Facilitators</a:t>
              </a:r>
            </a:p>
          </p:txBody>
        </p:sp>
        <p:sp>
          <p:nvSpPr>
            <p:cNvPr name="TextBox 37" id="37"/>
            <p:cNvSpPr txBox="true"/>
            <p:nvPr/>
          </p:nvSpPr>
          <p:spPr>
            <a:xfrm rot="0">
              <a:off x="659605" y="1123796"/>
              <a:ext cx="16663126" cy="3066408"/>
            </a:xfrm>
            <a:prstGeom prst="rect">
              <a:avLst/>
            </a:prstGeom>
          </p:spPr>
          <p:txBody>
            <a:bodyPr anchor="t" rtlCol="false" tIns="0" lIns="0" bIns="0" rIns="0">
              <a:spAutoFit/>
            </a:bodyPr>
            <a:lstStyle/>
            <a:p>
              <a:pPr algn="l">
                <a:lnSpc>
                  <a:spcPts val="2592"/>
                </a:lnSpc>
              </a:pPr>
              <a:r>
                <a:rPr lang="en-US" sz="2422" b="true">
                  <a:solidFill>
                    <a:srgbClr val="FFFFFF"/>
                  </a:solidFill>
                  <a:latin typeface="Poppins Semi-Bold"/>
                  <a:ea typeface="Poppins Semi-Bold"/>
                  <a:cs typeface="Poppins Semi-Bold"/>
                  <a:sym typeface="Poppins Semi-Bold"/>
                </a:rPr>
                <a:t>Through</a:t>
              </a:r>
              <a:r>
                <a:rPr lang="en-US" sz="2422" b="true">
                  <a:solidFill>
                    <a:srgbClr val="FFFFFF"/>
                  </a:solidFill>
                  <a:latin typeface="Poppins Semi-Bold"/>
                  <a:ea typeface="Poppins Semi-Bold"/>
                  <a:cs typeface="Poppins Semi-Bold"/>
                  <a:sym typeface="Poppins Semi-Bold"/>
                </a:rPr>
                <a:t> preparing, delivering and reflecting on the session, we will be able to:</a:t>
              </a:r>
            </a:p>
            <a:p>
              <a:pPr algn="l" marL="523078" indent="-261539" lvl="1">
                <a:lnSpc>
                  <a:spcPts val="2592"/>
                </a:lnSpc>
                <a:buFont typeface="Arial"/>
                <a:buChar char="•"/>
              </a:pPr>
              <a:r>
                <a:rPr lang="en-US" b="true" sz="2422">
                  <a:solidFill>
                    <a:srgbClr val="FFFFFF"/>
                  </a:solidFill>
                  <a:latin typeface="Poppins Ultra-Bold"/>
                  <a:ea typeface="Poppins Ultra-Bold"/>
                  <a:cs typeface="Poppins Ultra-Bold"/>
                  <a:sym typeface="Poppins Ultra-Bold"/>
                </a:rPr>
                <a:t>Translate experience into useful guidance: </a:t>
              </a:r>
              <a:r>
                <a:rPr lang="en-US" b="true" sz="2422">
                  <a:solidFill>
                    <a:srgbClr val="FFFFFF"/>
                  </a:solidFill>
                  <a:latin typeface="Poppins Semi-Bold"/>
                  <a:ea typeface="Poppins Semi-Bold"/>
                  <a:cs typeface="Poppins Semi-Bold"/>
                  <a:sym typeface="Poppins Semi-Bold"/>
                </a:rPr>
                <a:t>connect our teamwork experiences and management learning to challenges first-years face. </a:t>
              </a:r>
            </a:p>
            <a:p>
              <a:pPr algn="l" marL="523078" indent="-261539" lvl="1">
                <a:lnSpc>
                  <a:spcPts val="2592"/>
                </a:lnSpc>
                <a:buFont typeface="Arial"/>
                <a:buChar char="•"/>
              </a:pPr>
              <a:r>
                <a:rPr lang="en-US" b="true" sz="2422">
                  <a:solidFill>
                    <a:srgbClr val="FFFFFF"/>
                  </a:solidFill>
                  <a:latin typeface="Poppins Ultra-Bold"/>
                  <a:ea typeface="Poppins Ultra-Bold"/>
                  <a:cs typeface="Poppins Ultra-Bold"/>
                  <a:sym typeface="Poppins Ultra-Bold"/>
                </a:rPr>
                <a:t>Facilitate an inclusive conversation:</a:t>
              </a:r>
              <a:r>
                <a:rPr lang="en-US" b="true" sz="2422">
                  <a:solidFill>
                    <a:srgbClr val="FFFFFF"/>
                  </a:solidFill>
                  <a:latin typeface="Poppins Semi-Bold"/>
                  <a:ea typeface="Poppins Semi-Bold"/>
                  <a:cs typeface="Poppins Semi-Bold"/>
                  <a:sym typeface="Poppins Semi-Bold"/>
                </a:rPr>
                <a:t> invite different perspectives, listen carefully and respond constructively to disagreement. </a:t>
              </a:r>
            </a:p>
            <a:p>
              <a:pPr algn="l" marL="523078" indent="-261539" lvl="1">
                <a:lnSpc>
                  <a:spcPts val="2592"/>
                </a:lnSpc>
                <a:buFont typeface="Arial"/>
                <a:buChar char="•"/>
              </a:pPr>
              <a:r>
                <a:rPr lang="en-US" b="true" sz="2422">
                  <a:solidFill>
                    <a:srgbClr val="FFFFFF"/>
                  </a:solidFill>
                  <a:latin typeface="Poppins Ultra-Bold"/>
                  <a:ea typeface="Poppins Ultra-Bold"/>
                  <a:cs typeface="Poppins Ultra-Bold"/>
                  <a:sym typeface="Poppins Ultra-Bold"/>
                </a:rPr>
                <a:t>Evaluate our own practice:</a:t>
              </a:r>
              <a:r>
                <a:rPr lang="en-US" b="true" sz="2422">
                  <a:solidFill>
                    <a:srgbClr val="FFFFFF"/>
                  </a:solidFill>
                  <a:latin typeface="Poppins Semi-Bold"/>
                  <a:ea typeface="Poppins Semi-Bold"/>
                  <a:cs typeface="Poppins Semi-Bold"/>
                  <a:sym typeface="Poppins Semi-Bold"/>
                </a:rPr>
                <a:t> use participants’ feedback to identify how we can improve our facilitation, teamwork and leadership.</a:t>
              </a: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2697079" y="1481271"/>
            <a:ext cx="12893842" cy="1817747"/>
            <a:chOff x="0" y="0"/>
            <a:chExt cx="17191789" cy="2423662"/>
          </a:xfrm>
        </p:grpSpPr>
        <p:grpSp>
          <p:nvGrpSpPr>
            <p:cNvPr name="Group 16" id="16"/>
            <p:cNvGrpSpPr/>
            <p:nvPr/>
          </p:nvGrpSpPr>
          <p:grpSpPr>
            <a:xfrm rot="158860">
              <a:off x="342028" y="371106"/>
              <a:ext cx="16105908" cy="1675677"/>
              <a:chOff x="0" y="0"/>
              <a:chExt cx="1598752" cy="166336"/>
            </a:xfrm>
          </p:grpSpPr>
          <p:sp>
            <p:nvSpPr>
              <p:cNvPr name="Freeform 17" id="17"/>
              <p:cNvSpPr/>
              <p:nvPr/>
            </p:nvSpPr>
            <p:spPr>
              <a:xfrm flipH="false" flipV="false" rot="0">
                <a:off x="0" y="0"/>
                <a:ext cx="1598752" cy="166336"/>
              </a:xfrm>
              <a:custGeom>
                <a:avLst/>
                <a:gdLst/>
                <a:ahLst/>
                <a:cxnLst/>
                <a:rect r="r" b="b" t="t" l="l"/>
                <a:pathLst>
                  <a:path h="166336" w="1598752">
                    <a:moveTo>
                      <a:pt x="8177" y="0"/>
                    </a:moveTo>
                    <a:lnTo>
                      <a:pt x="1590575" y="0"/>
                    </a:lnTo>
                    <a:cubicBezTo>
                      <a:pt x="1595091" y="0"/>
                      <a:pt x="1598752" y="3661"/>
                      <a:pt x="1598752" y="8177"/>
                    </a:cubicBezTo>
                    <a:lnTo>
                      <a:pt x="1598752" y="158159"/>
                    </a:lnTo>
                    <a:cubicBezTo>
                      <a:pt x="1598752" y="162675"/>
                      <a:pt x="1595091" y="166336"/>
                      <a:pt x="1590575" y="166336"/>
                    </a:cubicBezTo>
                    <a:lnTo>
                      <a:pt x="8177" y="166336"/>
                    </a:lnTo>
                    <a:cubicBezTo>
                      <a:pt x="3661" y="166336"/>
                      <a:pt x="0" y="162675"/>
                      <a:pt x="0" y="158159"/>
                    </a:cubicBezTo>
                    <a:lnTo>
                      <a:pt x="0" y="8177"/>
                    </a:lnTo>
                    <a:cubicBezTo>
                      <a:pt x="0" y="3661"/>
                      <a:pt x="3661" y="0"/>
                      <a:pt x="8177" y="0"/>
                    </a:cubicBezTo>
                    <a:close/>
                  </a:path>
                </a:pathLst>
              </a:custGeom>
              <a:gradFill rotWithShape="true">
                <a:gsLst>
                  <a:gs pos="0">
                    <a:srgbClr val="841F0B">
                      <a:alpha val="100000"/>
                    </a:srgbClr>
                  </a:gs>
                  <a:gs pos="100000">
                    <a:srgbClr val="DA4610">
                      <a:alpha val="100000"/>
                    </a:srgbClr>
                  </a:gs>
                </a:gsLst>
                <a:lin ang="0"/>
              </a:gradFill>
            </p:spPr>
          </p:sp>
          <p:sp>
            <p:nvSpPr>
              <p:cNvPr name="TextBox 18" id="18"/>
              <p:cNvSpPr txBox="true"/>
              <p:nvPr/>
            </p:nvSpPr>
            <p:spPr>
              <a:xfrm>
                <a:off x="0" y="28575"/>
                <a:ext cx="1598752" cy="137761"/>
              </a:xfrm>
              <a:prstGeom prst="rect">
                <a:avLst/>
              </a:prstGeom>
            </p:spPr>
            <p:txBody>
              <a:bodyPr anchor="ctr" rtlCol="false" tIns="80937" lIns="80937" bIns="80937" rIns="80937"/>
              <a:lstStyle/>
              <a:p>
                <a:pPr algn="ctr">
                  <a:lnSpc>
                    <a:spcPts val="1919"/>
                  </a:lnSpc>
                </a:pPr>
              </a:p>
            </p:txBody>
          </p:sp>
        </p:grpSp>
        <p:sp>
          <p:nvSpPr>
            <p:cNvPr name="TextBox 19" id="19"/>
            <p:cNvSpPr txBox="true"/>
            <p:nvPr/>
          </p:nvSpPr>
          <p:spPr>
            <a:xfrm rot="141634">
              <a:off x="24873" y="510574"/>
              <a:ext cx="17136944" cy="1560831"/>
            </a:xfrm>
            <a:prstGeom prst="rect">
              <a:avLst/>
            </a:prstGeom>
          </p:spPr>
          <p:txBody>
            <a:bodyPr anchor="t" rtlCol="false" tIns="0" lIns="0" bIns="0" rIns="0">
              <a:spAutoFit/>
            </a:bodyPr>
            <a:lstStyle/>
            <a:p>
              <a:pPr algn="ctr">
                <a:lnSpc>
                  <a:spcPts val="7920"/>
                </a:lnSpc>
              </a:pPr>
              <a:r>
                <a:rPr lang="en-US" sz="8337" b="true">
                  <a:solidFill>
                    <a:srgbClr val="FFFFFF"/>
                  </a:solidFill>
                  <a:latin typeface="Poppins Heavy"/>
                  <a:ea typeface="Poppins Heavy"/>
                  <a:cs typeface="Poppins Heavy"/>
                  <a:sym typeface="Poppins Heavy"/>
                </a:rPr>
                <a:t>LEARNING OUTCOMES </a:t>
              </a:r>
            </a:p>
          </p:txBody>
        </p:sp>
      </p:grpSp>
      <p:sp>
        <p:nvSpPr>
          <p:cNvPr name="TextBox 20" id="20"/>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03</a:t>
            </a:r>
          </a:p>
        </p:txBody>
      </p:sp>
      <p:sp>
        <p:nvSpPr>
          <p:cNvPr name="TextBox 21" id="21"/>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grpSp>
        <p:nvGrpSpPr>
          <p:cNvPr name="Group 22" id="22"/>
          <p:cNvGrpSpPr/>
          <p:nvPr/>
        </p:nvGrpSpPr>
        <p:grpSpPr>
          <a:xfrm rot="0">
            <a:off x="1201692" y="3757344"/>
            <a:ext cx="15884616" cy="4042118"/>
            <a:chOff x="0" y="0"/>
            <a:chExt cx="21179489" cy="5389490"/>
          </a:xfrm>
        </p:grpSpPr>
        <p:grpSp>
          <p:nvGrpSpPr>
            <p:cNvPr name="Group 23" id="23"/>
            <p:cNvGrpSpPr/>
            <p:nvPr/>
          </p:nvGrpSpPr>
          <p:grpSpPr>
            <a:xfrm rot="0">
              <a:off x="0" y="628549"/>
              <a:ext cx="21179489" cy="4760941"/>
              <a:chOff x="0" y="0"/>
              <a:chExt cx="1668231" cy="375002"/>
            </a:xfrm>
          </p:grpSpPr>
          <p:sp>
            <p:nvSpPr>
              <p:cNvPr name="Freeform 24" id="24"/>
              <p:cNvSpPr/>
              <p:nvPr/>
            </p:nvSpPr>
            <p:spPr>
              <a:xfrm flipH="false" flipV="false" rot="0">
                <a:off x="0" y="0"/>
                <a:ext cx="1668231" cy="375002"/>
              </a:xfrm>
              <a:custGeom>
                <a:avLst/>
                <a:gdLst/>
                <a:ahLst/>
                <a:cxnLst/>
                <a:rect r="r" b="b" t="t" l="l"/>
                <a:pathLst>
                  <a:path h="375002" w="1668231">
                    <a:moveTo>
                      <a:pt x="26352" y="0"/>
                    </a:moveTo>
                    <a:lnTo>
                      <a:pt x="1641879" y="0"/>
                    </a:lnTo>
                    <a:cubicBezTo>
                      <a:pt x="1648868" y="0"/>
                      <a:pt x="1655570" y="2776"/>
                      <a:pt x="1660513" y="7718"/>
                    </a:cubicBezTo>
                    <a:cubicBezTo>
                      <a:pt x="1665455" y="12660"/>
                      <a:pt x="1668231" y="19363"/>
                      <a:pt x="1668231" y="26352"/>
                    </a:cubicBezTo>
                    <a:lnTo>
                      <a:pt x="1668231" y="348650"/>
                    </a:lnTo>
                    <a:cubicBezTo>
                      <a:pt x="1668231" y="355639"/>
                      <a:pt x="1665455" y="362342"/>
                      <a:pt x="1660513" y="367284"/>
                    </a:cubicBezTo>
                    <a:cubicBezTo>
                      <a:pt x="1655570" y="372226"/>
                      <a:pt x="1648868" y="375002"/>
                      <a:pt x="1641879" y="375002"/>
                    </a:cubicBezTo>
                    <a:lnTo>
                      <a:pt x="26352" y="375002"/>
                    </a:lnTo>
                    <a:cubicBezTo>
                      <a:pt x="19363" y="375002"/>
                      <a:pt x="12660" y="372226"/>
                      <a:pt x="7718" y="367284"/>
                    </a:cubicBezTo>
                    <a:cubicBezTo>
                      <a:pt x="2776" y="362342"/>
                      <a:pt x="0" y="355639"/>
                      <a:pt x="0" y="348650"/>
                    </a:cubicBezTo>
                    <a:lnTo>
                      <a:pt x="0" y="26352"/>
                    </a:lnTo>
                    <a:cubicBezTo>
                      <a:pt x="0" y="19363"/>
                      <a:pt x="2776" y="12660"/>
                      <a:pt x="7718" y="7718"/>
                    </a:cubicBezTo>
                    <a:cubicBezTo>
                      <a:pt x="12660" y="2776"/>
                      <a:pt x="19363" y="0"/>
                      <a:pt x="26352" y="0"/>
                    </a:cubicBezTo>
                    <a:close/>
                  </a:path>
                </a:pathLst>
              </a:custGeom>
              <a:gradFill rotWithShape="true">
                <a:gsLst>
                  <a:gs pos="0">
                    <a:srgbClr val="841F0B">
                      <a:alpha val="100000"/>
                    </a:srgbClr>
                  </a:gs>
                  <a:gs pos="100000">
                    <a:srgbClr val="DA4610">
                      <a:alpha val="100000"/>
                    </a:srgbClr>
                  </a:gs>
                </a:gsLst>
                <a:lin ang="0"/>
              </a:gradFill>
              <a:ln w="85725" cap="rnd">
                <a:solidFill>
                  <a:srgbClr val="6E3125"/>
                </a:solidFill>
                <a:prstDash val="solid"/>
                <a:round/>
              </a:ln>
            </p:spPr>
          </p:sp>
          <p:sp>
            <p:nvSpPr>
              <p:cNvPr name="TextBox 25" id="25"/>
              <p:cNvSpPr txBox="true"/>
              <p:nvPr/>
            </p:nvSpPr>
            <p:spPr>
              <a:xfrm>
                <a:off x="0" y="28575"/>
                <a:ext cx="1668231" cy="346427"/>
              </a:xfrm>
              <a:prstGeom prst="rect">
                <a:avLst/>
              </a:prstGeom>
            </p:spPr>
            <p:txBody>
              <a:bodyPr anchor="ctr" rtlCol="false" tIns="50800" lIns="50800" bIns="50800" rIns="50800"/>
              <a:lstStyle/>
              <a:p>
                <a:pPr algn="ctr">
                  <a:lnSpc>
                    <a:spcPts val="1919"/>
                  </a:lnSpc>
                </a:pPr>
              </a:p>
            </p:txBody>
          </p:sp>
        </p:grpSp>
        <p:grpSp>
          <p:nvGrpSpPr>
            <p:cNvPr name="Group 26" id="26"/>
            <p:cNvGrpSpPr/>
            <p:nvPr/>
          </p:nvGrpSpPr>
          <p:grpSpPr>
            <a:xfrm rot="0">
              <a:off x="621447" y="0"/>
              <a:ext cx="10670640" cy="1257098"/>
              <a:chOff x="0" y="0"/>
              <a:chExt cx="993684" cy="117065"/>
            </a:xfrm>
          </p:grpSpPr>
          <p:sp>
            <p:nvSpPr>
              <p:cNvPr name="Freeform 27" id="27"/>
              <p:cNvSpPr/>
              <p:nvPr/>
            </p:nvSpPr>
            <p:spPr>
              <a:xfrm flipH="false" flipV="false" rot="0">
                <a:off x="0" y="0"/>
                <a:ext cx="993684" cy="117065"/>
              </a:xfrm>
              <a:custGeom>
                <a:avLst/>
                <a:gdLst/>
                <a:ahLst/>
                <a:cxnLst/>
                <a:rect r="r" b="b" t="t" l="l"/>
                <a:pathLst>
                  <a:path h="117065" w="993684">
                    <a:moveTo>
                      <a:pt x="52305" y="0"/>
                    </a:moveTo>
                    <a:lnTo>
                      <a:pt x="941379" y="0"/>
                    </a:lnTo>
                    <a:cubicBezTo>
                      <a:pt x="955251" y="0"/>
                      <a:pt x="968555" y="5511"/>
                      <a:pt x="978364" y="15320"/>
                    </a:cubicBezTo>
                    <a:cubicBezTo>
                      <a:pt x="988173" y="25129"/>
                      <a:pt x="993684" y="38433"/>
                      <a:pt x="993684" y="52305"/>
                    </a:cubicBezTo>
                    <a:lnTo>
                      <a:pt x="993684" y="64760"/>
                    </a:lnTo>
                    <a:cubicBezTo>
                      <a:pt x="993684" y="78632"/>
                      <a:pt x="988173" y="91936"/>
                      <a:pt x="978364" y="101745"/>
                    </a:cubicBezTo>
                    <a:cubicBezTo>
                      <a:pt x="968555" y="111554"/>
                      <a:pt x="955251" y="117065"/>
                      <a:pt x="941379" y="117065"/>
                    </a:cubicBezTo>
                    <a:lnTo>
                      <a:pt x="52305" y="117065"/>
                    </a:lnTo>
                    <a:cubicBezTo>
                      <a:pt x="23418" y="117065"/>
                      <a:pt x="0" y="93647"/>
                      <a:pt x="0" y="64760"/>
                    </a:cubicBezTo>
                    <a:lnTo>
                      <a:pt x="0" y="52305"/>
                    </a:lnTo>
                    <a:cubicBezTo>
                      <a:pt x="0" y="23418"/>
                      <a:pt x="23418" y="0"/>
                      <a:pt x="52305"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a:ln w="85725" cap="rnd">
                <a:solidFill>
                  <a:srgbClr val="6E3125"/>
                </a:solidFill>
                <a:prstDash val="solid"/>
                <a:round/>
              </a:ln>
            </p:spPr>
          </p:sp>
          <p:sp>
            <p:nvSpPr>
              <p:cNvPr name="TextBox 28" id="28"/>
              <p:cNvSpPr txBox="true"/>
              <p:nvPr/>
            </p:nvSpPr>
            <p:spPr>
              <a:xfrm>
                <a:off x="0" y="28575"/>
                <a:ext cx="993684" cy="88490"/>
              </a:xfrm>
              <a:prstGeom prst="rect">
                <a:avLst/>
              </a:prstGeom>
            </p:spPr>
            <p:txBody>
              <a:bodyPr anchor="ctr" rtlCol="false" tIns="50800" lIns="50800" bIns="50800" rIns="50800"/>
              <a:lstStyle/>
              <a:p>
                <a:pPr algn="ctr">
                  <a:lnSpc>
                    <a:spcPts val="1919"/>
                  </a:lnSpc>
                </a:pPr>
              </a:p>
            </p:txBody>
          </p:sp>
        </p:grpSp>
        <p:sp>
          <p:nvSpPr>
            <p:cNvPr name="TextBox 29" id="29"/>
            <p:cNvSpPr txBox="true"/>
            <p:nvPr/>
          </p:nvSpPr>
          <p:spPr>
            <a:xfrm rot="0">
              <a:off x="971117" y="226253"/>
              <a:ext cx="9986294" cy="739775"/>
            </a:xfrm>
            <a:prstGeom prst="rect">
              <a:avLst/>
            </a:prstGeom>
          </p:spPr>
          <p:txBody>
            <a:bodyPr anchor="t" rtlCol="false" tIns="0" lIns="0" bIns="0" rIns="0">
              <a:spAutoFit/>
            </a:bodyPr>
            <a:lstStyle/>
            <a:p>
              <a:pPr algn="l">
                <a:lnSpc>
                  <a:spcPts val="3704"/>
                </a:lnSpc>
              </a:pPr>
              <a:r>
                <a:rPr lang="en-US" sz="3899" b="true">
                  <a:solidFill>
                    <a:srgbClr val="6E3125"/>
                  </a:solidFill>
                  <a:latin typeface="Poppins Heavy"/>
                  <a:ea typeface="Poppins Heavy"/>
                  <a:cs typeface="Poppins Heavy"/>
                  <a:sym typeface="Poppins Heavy"/>
                </a:rPr>
                <a:t>For you – Our dear audience</a:t>
              </a:r>
            </a:p>
          </p:txBody>
        </p:sp>
        <p:sp>
          <p:nvSpPr>
            <p:cNvPr name="TextBox 30" id="30"/>
            <p:cNvSpPr txBox="true"/>
            <p:nvPr/>
          </p:nvSpPr>
          <p:spPr>
            <a:xfrm rot="0">
              <a:off x="786586" y="1347829"/>
              <a:ext cx="19870947" cy="3689451"/>
            </a:xfrm>
            <a:prstGeom prst="rect">
              <a:avLst/>
            </a:prstGeom>
          </p:spPr>
          <p:txBody>
            <a:bodyPr anchor="t" rtlCol="false" tIns="0" lIns="0" bIns="0" rIns="0">
              <a:spAutoFit/>
            </a:bodyPr>
            <a:lstStyle/>
            <a:p>
              <a:pPr algn="l">
                <a:lnSpc>
                  <a:spcPts val="3091"/>
                </a:lnSpc>
              </a:pPr>
              <a:r>
                <a:rPr lang="en-US" sz="2889" b="true">
                  <a:solidFill>
                    <a:srgbClr val="FFFFFF"/>
                  </a:solidFill>
                  <a:latin typeface="Poppins Semi-Bold"/>
                  <a:ea typeface="Poppins Semi-Bold"/>
                  <a:cs typeface="Poppins Semi-Bold"/>
                  <a:sym typeface="Poppins Semi-Bold"/>
                </a:rPr>
                <a:t>By</a:t>
              </a:r>
              <a:r>
                <a:rPr lang="en-US" sz="2889" b="true">
                  <a:solidFill>
                    <a:srgbClr val="FFFFFF"/>
                  </a:solidFill>
                  <a:latin typeface="Poppins Semi-Bold"/>
                  <a:ea typeface="Poppins Semi-Bold"/>
                  <a:cs typeface="Poppins Semi-Bold"/>
                  <a:sym typeface="Poppins Semi-Bold"/>
                </a:rPr>
                <a:t> the end of the session, students will be able to:</a:t>
              </a:r>
            </a:p>
            <a:p>
              <a:pPr algn="l" marL="623776" indent="-311888" lvl="1">
                <a:lnSpc>
                  <a:spcPts val="3091"/>
                </a:lnSpc>
                <a:buFont typeface="Arial"/>
                <a:buChar char="•"/>
              </a:pPr>
              <a:r>
                <a:rPr lang="en-US" b="true" sz="2889">
                  <a:solidFill>
                    <a:srgbClr val="FFFFFF"/>
                  </a:solidFill>
                  <a:latin typeface="Poppins Ultra-Bold"/>
                  <a:ea typeface="Poppins Ultra-Bold"/>
                  <a:cs typeface="Poppins Ultra-Bold"/>
                  <a:sym typeface="Poppins Ultra-Bold"/>
                </a:rPr>
                <a:t>Recognise effective teamwork:</a:t>
              </a:r>
              <a:r>
                <a:rPr lang="en-US" b="true" sz="2889">
                  <a:solidFill>
                    <a:srgbClr val="FFFFFF"/>
                  </a:solidFill>
                  <a:latin typeface="Poppins Semi-Bold"/>
                  <a:ea typeface="Poppins Semi-Bold"/>
                  <a:cs typeface="Poppins Semi-Bold"/>
                  <a:sym typeface="Poppins Semi-Bold"/>
                </a:rPr>
                <a:t> explain how everyday behaviours affect a team, using the five peer-review criteria and considering context. </a:t>
              </a:r>
            </a:p>
            <a:p>
              <a:pPr algn="l" marL="623776" indent="-311888" lvl="1">
                <a:lnSpc>
                  <a:spcPts val="3091"/>
                </a:lnSpc>
                <a:buFont typeface="Arial"/>
                <a:buChar char="•"/>
              </a:pPr>
              <a:r>
                <a:rPr lang="en-US" b="true" sz="2889">
                  <a:solidFill>
                    <a:srgbClr val="FFFFFF"/>
                  </a:solidFill>
                  <a:latin typeface="Poppins Ultra-Bold"/>
                  <a:ea typeface="Poppins Ultra-Bold"/>
                  <a:cs typeface="Poppins Ultra-Bold"/>
                  <a:sym typeface="Poppins Ultra-Bold"/>
                </a:rPr>
                <a:t>Practise constructive feedback:</a:t>
              </a:r>
              <a:r>
                <a:rPr lang="en-US" b="true" sz="2889">
                  <a:solidFill>
                    <a:srgbClr val="FFFFFF"/>
                  </a:solidFill>
                  <a:latin typeface="Poppins Semi-Bold"/>
                  <a:ea typeface="Poppins Semi-Bold"/>
                  <a:cs typeface="Poppins Semi-Bold"/>
                  <a:sym typeface="Poppins Semi-Bold"/>
                </a:rPr>
                <a:t> describe a specific behaviour, explain its impact and suggest a next step while there is still time to act. </a:t>
              </a:r>
            </a:p>
            <a:p>
              <a:pPr algn="l" marL="623776" indent="-311888" lvl="1">
                <a:lnSpc>
                  <a:spcPts val="3091"/>
                </a:lnSpc>
                <a:buFont typeface="Arial"/>
                <a:buChar char="•"/>
              </a:pPr>
              <a:r>
                <a:rPr lang="en-US" b="true" sz="2889">
                  <a:solidFill>
                    <a:srgbClr val="FFFFFF"/>
                  </a:solidFill>
                  <a:latin typeface="Poppins Ultra-Bold"/>
                  <a:ea typeface="Poppins Ultra-Bold"/>
                  <a:cs typeface="Poppins Ultra-Bold"/>
                  <a:sym typeface="Poppins Ultra-Bold"/>
                </a:rPr>
                <a:t>Put the learning into practice: </a:t>
              </a:r>
              <a:r>
                <a:rPr lang="en-US" b="true" sz="2889">
                  <a:solidFill>
                    <a:srgbClr val="FFFFFF"/>
                  </a:solidFill>
                  <a:latin typeface="Poppins Semi-Bold"/>
                  <a:ea typeface="Poppins Semi-Bold"/>
                  <a:cs typeface="Poppins Semi-Bold"/>
                  <a:sym typeface="Poppins Semi-Bold"/>
                </a:rPr>
                <a:t>choose one behaviour to improve personally and one agreement to establish with their team.</a:t>
              </a:r>
            </a:p>
          </p:txBody>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sp>
        <p:nvSpPr>
          <p:cNvPr name="TextBox 15" id="15"/>
          <p:cNvSpPr txBox="true"/>
          <p:nvPr/>
        </p:nvSpPr>
        <p:spPr>
          <a:xfrm rot="0">
            <a:off x="2285300" y="3116256"/>
            <a:ext cx="13388019" cy="888928"/>
          </a:xfrm>
          <a:prstGeom prst="rect">
            <a:avLst/>
          </a:prstGeom>
        </p:spPr>
        <p:txBody>
          <a:bodyPr anchor="t" rtlCol="false" tIns="0" lIns="0" bIns="0" rIns="0">
            <a:spAutoFit/>
          </a:bodyPr>
          <a:lstStyle/>
          <a:p>
            <a:pPr algn="ctr">
              <a:lnSpc>
                <a:spcPts val="3227"/>
              </a:lnSpc>
            </a:pPr>
            <a:r>
              <a:rPr lang="en-US" sz="3397" b="true">
                <a:solidFill>
                  <a:srgbClr val="FFFFFF"/>
                </a:solidFill>
                <a:latin typeface="Poppins Semi-Bold"/>
                <a:ea typeface="Poppins Semi-Bold"/>
                <a:cs typeface="Poppins Semi-Bold"/>
                <a:sym typeface="Poppins Semi-Bold"/>
              </a:rPr>
              <a:t>Twelve scenarios. They get harder as you go. Move to the corner that matches your call, then be ready to say </a:t>
            </a:r>
            <a:r>
              <a:rPr lang="en-US" sz="3397" b="true">
                <a:solidFill>
                  <a:srgbClr val="FFFFFF"/>
                </a:solidFill>
                <a:latin typeface="Poppins Ultra-Bold"/>
                <a:ea typeface="Poppins Ultra-Bold"/>
                <a:cs typeface="Poppins Ultra-Bold"/>
                <a:sym typeface="Poppins Ultra-Bold"/>
              </a:rPr>
              <a:t>why.</a:t>
            </a:r>
          </a:p>
        </p:txBody>
      </p:sp>
      <p:grpSp>
        <p:nvGrpSpPr>
          <p:cNvPr name="Group 16" id="16"/>
          <p:cNvGrpSpPr/>
          <p:nvPr/>
        </p:nvGrpSpPr>
        <p:grpSpPr>
          <a:xfrm rot="0">
            <a:off x="2560397" y="1028700"/>
            <a:ext cx="14158550" cy="2197917"/>
            <a:chOff x="0" y="0"/>
            <a:chExt cx="18878067" cy="2930556"/>
          </a:xfrm>
        </p:grpSpPr>
        <p:sp>
          <p:nvSpPr>
            <p:cNvPr name="TextBox 17" id="17"/>
            <p:cNvSpPr txBox="true"/>
            <p:nvPr/>
          </p:nvSpPr>
          <p:spPr>
            <a:xfrm rot="0">
              <a:off x="0" y="171450"/>
              <a:ext cx="8270804" cy="2269058"/>
            </a:xfrm>
            <a:prstGeom prst="rect">
              <a:avLst/>
            </a:prstGeom>
          </p:spPr>
          <p:txBody>
            <a:bodyPr anchor="t" rtlCol="false" tIns="0" lIns="0" bIns="0" rIns="0">
              <a:spAutoFit/>
            </a:bodyPr>
            <a:lstStyle/>
            <a:p>
              <a:pPr algn="l">
                <a:lnSpc>
                  <a:spcPts val="11447"/>
                </a:lnSpc>
              </a:pPr>
              <a:r>
                <a:rPr lang="en-US" sz="12049" b="true">
                  <a:solidFill>
                    <a:srgbClr val="FFFFFF"/>
                  </a:solidFill>
                  <a:latin typeface="Poppins Heavy"/>
                  <a:ea typeface="Poppins Heavy"/>
                  <a:cs typeface="Poppins Heavy"/>
                  <a:sym typeface="Poppins Heavy"/>
                </a:rPr>
                <a:t>HOW IT</a:t>
              </a:r>
            </a:p>
          </p:txBody>
        </p:sp>
        <p:grpSp>
          <p:nvGrpSpPr>
            <p:cNvPr name="Group 18" id="18"/>
            <p:cNvGrpSpPr/>
            <p:nvPr/>
          </p:nvGrpSpPr>
          <p:grpSpPr>
            <a:xfrm rot="158860">
              <a:off x="7907035" y="420106"/>
              <a:ext cx="9448226" cy="2036940"/>
              <a:chOff x="0" y="0"/>
              <a:chExt cx="1284328" cy="276888"/>
            </a:xfrm>
          </p:grpSpPr>
          <p:sp>
            <p:nvSpPr>
              <p:cNvPr name="Freeform 19" id="19"/>
              <p:cNvSpPr/>
              <p:nvPr/>
            </p:nvSpPr>
            <p:spPr>
              <a:xfrm flipH="false" flipV="false" rot="0">
                <a:off x="0" y="0"/>
                <a:ext cx="1284328" cy="276888"/>
              </a:xfrm>
              <a:custGeom>
                <a:avLst/>
                <a:gdLst/>
                <a:ahLst/>
                <a:cxnLst/>
                <a:rect r="r" b="b" t="t" l="l"/>
                <a:pathLst>
                  <a:path h="276888" w="1284328">
                    <a:moveTo>
                      <a:pt x="16217" y="0"/>
                    </a:moveTo>
                    <a:lnTo>
                      <a:pt x="1268110" y="0"/>
                    </a:lnTo>
                    <a:cubicBezTo>
                      <a:pt x="1272412" y="0"/>
                      <a:pt x="1276537" y="1709"/>
                      <a:pt x="1279578" y="4750"/>
                    </a:cubicBezTo>
                    <a:cubicBezTo>
                      <a:pt x="1282619" y="7791"/>
                      <a:pt x="1284328" y="11916"/>
                      <a:pt x="1284328" y="16217"/>
                    </a:cubicBezTo>
                    <a:lnTo>
                      <a:pt x="1284328" y="260670"/>
                    </a:lnTo>
                    <a:cubicBezTo>
                      <a:pt x="1284328" y="269627"/>
                      <a:pt x="1277067" y="276888"/>
                      <a:pt x="1268110" y="276888"/>
                    </a:cubicBezTo>
                    <a:lnTo>
                      <a:pt x="16217" y="276888"/>
                    </a:lnTo>
                    <a:cubicBezTo>
                      <a:pt x="7261" y="276888"/>
                      <a:pt x="0" y="269627"/>
                      <a:pt x="0" y="260670"/>
                    </a:cubicBezTo>
                    <a:lnTo>
                      <a:pt x="0" y="16217"/>
                    </a:lnTo>
                    <a:cubicBezTo>
                      <a:pt x="0" y="11916"/>
                      <a:pt x="1709" y="7791"/>
                      <a:pt x="4750" y="4750"/>
                    </a:cubicBezTo>
                    <a:cubicBezTo>
                      <a:pt x="7791" y="1709"/>
                      <a:pt x="11916" y="0"/>
                      <a:pt x="16217" y="0"/>
                    </a:cubicBezTo>
                    <a:close/>
                  </a:path>
                </a:pathLst>
              </a:custGeom>
              <a:gradFill rotWithShape="true">
                <a:gsLst>
                  <a:gs pos="0">
                    <a:srgbClr val="841F0B">
                      <a:alpha val="100000"/>
                    </a:srgbClr>
                  </a:gs>
                  <a:gs pos="100000">
                    <a:srgbClr val="DA4610">
                      <a:alpha val="100000"/>
                    </a:srgbClr>
                  </a:gs>
                </a:gsLst>
                <a:lin ang="0"/>
              </a:gradFill>
            </p:spPr>
          </p:sp>
          <p:sp>
            <p:nvSpPr>
              <p:cNvPr name="TextBox 20" id="20"/>
              <p:cNvSpPr txBox="true"/>
              <p:nvPr/>
            </p:nvSpPr>
            <p:spPr>
              <a:xfrm>
                <a:off x="0" y="28575"/>
                <a:ext cx="1284328" cy="248313"/>
              </a:xfrm>
              <a:prstGeom prst="rect">
                <a:avLst/>
              </a:prstGeom>
            </p:spPr>
            <p:txBody>
              <a:bodyPr anchor="ctr" rtlCol="false" tIns="50800" lIns="50800" bIns="50800" rIns="50800"/>
              <a:lstStyle/>
              <a:p>
                <a:pPr algn="ctr">
                  <a:lnSpc>
                    <a:spcPts val="1919"/>
                  </a:lnSpc>
                </a:pPr>
              </a:p>
            </p:txBody>
          </p:sp>
        </p:grpSp>
        <p:sp>
          <p:nvSpPr>
            <p:cNvPr name="TextBox 21" id="21"/>
            <p:cNvSpPr txBox="true"/>
            <p:nvPr/>
          </p:nvSpPr>
          <p:spPr>
            <a:xfrm rot="158385">
              <a:off x="8127156" y="416383"/>
              <a:ext cx="10696438" cy="2269058"/>
            </a:xfrm>
            <a:prstGeom prst="rect">
              <a:avLst/>
            </a:prstGeom>
          </p:spPr>
          <p:txBody>
            <a:bodyPr anchor="t" rtlCol="false" tIns="0" lIns="0" bIns="0" rIns="0">
              <a:spAutoFit/>
            </a:bodyPr>
            <a:lstStyle/>
            <a:p>
              <a:pPr algn="l">
                <a:lnSpc>
                  <a:spcPts val="11447"/>
                </a:lnSpc>
              </a:pPr>
              <a:r>
                <a:rPr lang="en-US" sz="12049" b="true">
                  <a:solidFill>
                    <a:srgbClr val="FFFFFF"/>
                  </a:solidFill>
                  <a:latin typeface="Poppins Heavy"/>
                  <a:ea typeface="Poppins Heavy"/>
                  <a:cs typeface="Poppins Heavy"/>
                  <a:sym typeface="Poppins Heavy"/>
                </a:rPr>
                <a:t>WORKS?</a:t>
              </a:r>
            </a:p>
          </p:txBody>
        </p:sp>
      </p:grpSp>
      <p:sp>
        <p:nvSpPr>
          <p:cNvPr name="AutoShape 22" id="22"/>
          <p:cNvSpPr/>
          <p:nvPr/>
        </p:nvSpPr>
        <p:spPr>
          <a:xfrm>
            <a:off x="2598760" y="2786166"/>
            <a:ext cx="5504384" cy="0"/>
          </a:xfrm>
          <a:prstGeom prst="line">
            <a:avLst/>
          </a:prstGeom>
          <a:ln cap="flat" w="66675">
            <a:solidFill>
              <a:srgbClr val="FFFFFF"/>
            </a:solidFill>
            <a:prstDash val="solid"/>
            <a:headEnd type="none" len="sm" w="sm"/>
            <a:tailEnd type="none" len="sm" w="sm"/>
          </a:ln>
        </p:spPr>
      </p:sp>
      <p:grpSp>
        <p:nvGrpSpPr>
          <p:cNvPr name="Group 23" id="23"/>
          <p:cNvGrpSpPr/>
          <p:nvPr/>
        </p:nvGrpSpPr>
        <p:grpSpPr>
          <a:xfrm rot="0">
            <a:off x="686305" y="4319509"/>
            <a:ext cx="10920785" cy="4311423"/>
            <a:chOff x="0" y="0"/>
            <a:chExt cx="14561047" cy="5748564"/>
          </a:xfrm>
        </p:grpSpPr>
        <p:grpSp>
          <p:nvGrpSpPr>
            <p:cNvPr name="Group 24" id="24"/>
            <p:cNvGrpSpPr/>
            <p:nvPr/>
          </p:nvGrpSpPr>
          <p:grpSpPr>
            <a:xfrm rot="0">
              <a:off x="898827" y="249011"/>
              <a:ext cx="13662219" cy="1348916"/>
              <a:chOff x="0" y="0"/>
              <a:chExt cx="526852" cy="52018"/>
            </a:xfrm>
          </p:grpSpPr>
          <p:sp>
            <p:nvSpPr>
              <p:cNvPr name="Freeform 25" id="25"/>
              <p:cNvSpPr/>
              <p:nvPr/>
            </p:nvSpPr>
            <p:spPr>
              <a:xfrm flipH="false" flipV="false" rot="0">
                <a:off x="0" y="0"/>
                <a:ext cx="526852" cy="52018"/>
              </a:xfrm>
              <a:custGeom>
                <a:avLst/>
                <a:gdLst/>
                <a:ahLst/>
                <a:cxnLst/>
                <a:rect r="r" b="b" t="t" l="l"/>
                <a:pathLst>
                  <a:path h="52018" w="526852">
                    <a:moveTo>
                      <a:pt x="26009" y="0"/>
                    </a:moveTo>
                    <a:lnTo>
                      <a:pt x="500843" y="0"/>
                    </a:lnTo>
                    <a:cubicBezTo>
                      <a:pt x="507741" y="0"/>
                      <a:pt x="514356" y="2740"/>
                      <a:pt x="519234" y="7618"/>
                    </a:cubicBezTo>
                    <a:cubicBezTo>
                      <a:pt x="524112" y="12495"/>
                      <a:pt x="526852" y="19111"/>
                      <a:pt x="526852" y="26009"/>
                    </a:cubicBezTo>
                    <a:lnTo>
                      <a:pt x="526852" y="26009"/>
                    </a:lnTo>
                    <a:cubicBezTo>
                      <a:pt x="526852" y="40373"/>
                      <a:pt x="515207" y="52018"/>
                      <a:pt x="500843" y="52018"/>
                    </a:cubicBezTo>
                    <a:lnTo>
                      <a:pt x="26009" y="52018"/>
                    </a:lnTo>
                    <a:cubicBezTo>
                      <a:pt x="19111" y="52018"/>
                      <a:pt x="12495" y="49278"/>
                      <a:pt x="7618" y="44400"/>
                    </a:cubicBezTo>
                    <a:cubicBezTo>
                      <a:pt x="2740" y="39522"/>
                      <a:pt x="0" y="32907"/>
                      <a:pt x="0" y="26009"/>
                    </a:cubicBezTo>
                    <a:lnTo>
                      <a:pt x="0" y="26009"/>
                    </a:lnTo>
                    <a:cubicBezTo>
                      <a:pt x="0" y="19111"/>
                      <a:pt x="2740" y="12495"/>
                      <a:pt x="7618" y="7618"/>
                    </a:cubicBezTo>
                    <a:cubicBezTo>
                      <a:pt x="12495" y="2740"/>
                      <a:pt x="19111" y="0"/>
                      <a:pt x="26009" y="0"/>
                    </a:cubicBezTo>
                    <a:close/>
                  </a:path>
                </a:pathLst>
              </a:custGeom>
              <a:solidFill>
                <a:srgbClr val="FFFFFF"/>
              </a:solidFill>
            </p:spPr>
          </p:sp>
          <p:sp>
            <p:nvSpPr>
              <p:cNvPr name="TextBox 26" id="26"/>
              <p:cNvSpPr txBox="true"/>
              <p:nvPr/>
            </p:nvSpPr>
            <p:spPr>
              <a:xfrm>
                <a:off x="0" y="28575"/>
                <a:ext cx="526852" cy="23443"/>
              </a:xfrm>
              <a:prstGeom prst="rect">
                <a:avLst/>
              </a:prstGeom>
            </p:spPr>
            <p:txBody>
              <a:bodyPr anchor="ctr" rtlCol="false" tIns="50800" lIns="50800" bIns="50800" rIns="50800"/>
              <a:lstStyle/>
              <a:p>
                <a:pPr algn="ctr">
                  <a:lnSpc>
                    <a:spcPts val="1919"/>
                  </a:lnSpc>
                </a:pPr>
              </a:p>
            </p:txBody>
          </p:sp>
        </p:grpSp>
        <p:grpSp>
          <p:nvGrpSpPr>
            <p:cNvPr name="Group 27" id="27"/>
            <p:cNvGrpSpPr/>
            <p:nvPr/>
          </p:nvGrpSpPr>
          <p:grpSpPr>
            <a:xfrm rot="0">
              <a:off x="0" y="0"/>
              <a:ext cx="1797655" cy="1797655"/>
              <a:chOff x="0" y="0"/>
              <a:chExt cx="812800" cy="812800"/>
            </a:xfrm>
          </p:grpSpPr>
          <p:sp>
            <p:nvSpPr>
              <p:cNvPr name="Freeform 28" id="2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29" id="29"/>
              <p:cNvSpPr txBox="true"/>
              <p:nvPr/>
            </p:nvSpPr>
            <p:spPr>
              <a:xfrm>
                <a:off x="76200" y="104775"/>
                <a:ext cx="660400" cy="631825"/>
              </a:xfrm>
              <a:prstGeom prst="rect">
                <a:avLst/>
              </a:prstGeom>
            </p:spPr>
            <p:txBody>
              <a:bodyPr anchor="ctr" rtlCol="false" tIns="50800" lIns="50800" bIns="50800" rIns="50800"/>
              <a:lstStyle/>
              <a:p>
                <a:pPr algn="ctr">
                  <a:lnSpc>
                    <a:spcPts val="1919"/>
                  </a:lnSpc>
                </a:pPr>
              </a:p>
            </p:txBody>
          </p:sp>
        </p:grpSp>
        <p:sp>
          <p:nvSpPr>
            <p:cNvPr name="TextBox 30" id="30"/>
            <p:cNvSpPr txBox="true"/>
            <p:nvPr/>
          </p:nvSpPr>
          <p:spPr>
            <a:xfrm rot="0">
              <a:off x="2158504" y="467133"/>
              <a:ext cx="12102640" cy="855133"/>
            </a:xfrm>
            <a:prstGeom prst="rect">
              <a:avLst/>
            </a:prstGeom>
          </p:spPr>
          <p:txBody>
            <a:bodyPr anchor="t" rtlCol="false" tIns="0" lIns="0" bIns="0" rIns="0">
              <a:spAutoFit/>
            </a:bodyPr>
            <a:lstStyle/>
            <a:p>
              <a:pPr algn="l">
                <a:lnSpc>
                  <a:spcPts val="2374"/>
                </a:lnSpc>
              </a:pPr>
              <a:r>
                <a:rPr lang="en-US" sz="2499" b="true">
                  <a:gradFill>
                    <a:gsLst>
                      <a:gs pos="0">
                        <a:srgbClr val="841F0B">
                          <a:alpha val="100000"/>
                        </a:srgbClr>
                      </a:gs>
                      <a:gs pos="100000">
                        <a:srgbClr val="DA4610">
                          <a:alpha val="100000"/>
                        </a:srgbClr>
                      </a:gs>
                    </a:gsLst>
                    <a:lin ang="0"/>
                  </a:gradFill>
                  <a:latin typeface="Poppins Heavy"/>
                  <a:ea typeface="Poppins Heavy"/>
                  <a:cs typeface="Poppins Heavy"/>
                  <a:sym typeface="Poppins Heavy"/>
                </a:rPr>
                <a:t>Read the scenario:</a:t>
              </a:r>
              <a:r>
                <a:rPr lang="en-US" sz="2499" b="true">
                  <a:gradFill>
                    <a:gsLst>
                      <a:gs pos="0">
                        <a:srgbClr val="841F0B">
                          <a:alpha val="100000"/>
                        </a:srgbClr>
                      </a:gs>
                      <a:gs pos="100000">
                        <a:srgbClr val="DA4610">
                          <a:alpha val="100000"/>
                        </a:srgbClr>
                      </a:gs>
                    </a:gsLst>
                    <a:lin ang="0"/>
                  </a:gradFill>
                  <a:latin typeface="Poppins Semi-Bold"/>
                  <a:ea typeface="Poppins Semi-Bold"/>
                  <a:cs typeface="Poppins Semi-Bold"/>
                  <a:sym typeface="Poppins Semi-Bold"/>
                </a:rPr>
                <a:t> You get one behaviour from a group assignment. That is all the information you have.</a:t>
              </a:r>
            </a:p>
          </p:txBody>
        </p:sp>
        <p:grpSp>
          <p:nvGrpSpPr>
            <p:cNvPr name="Group 31" id="31"/>
            <p:cNvGrpSpPr/>
            <p:nvPr/>
          </p:nvGrpSpPr>
          <p:grpSpPr>
            <a:xfrm rot="0">
              <a:off x="898827" y="2224465"/>
              <a:ext cx="13662219" cy="1348916"/>
              <a:chOff x="0" y="0"/>
              <a:chExt cx="526852" cy="52018"/>
            </a:xfrm>
          </p:grpSpPr>
          <p:sp>
            <p:nvSpPr>
              <p:cNvPr name="Freeform 32" id="32"/>
              <p:cNvSpPr/>
              <p:nvPr/>
            </p:nvSpPr>
            <p:spPr>
              <a:xfrm flipH="false" flipV="false" rot="0">
                <a:off x="0" y="0"/>
                <a:ext cx="526852" cy="52018"/>
              </a:xfrm>
              <a:custGeom>
                <a:avLst/>
                <a:gdLst/>
                <a:ahLst/>
                <a:cxnLst/>
                <a:rect r="r" b="b" t="t" l="l"/>
                <a:pathLst>
                  <a:path h="52018" w="526852">
                    <a:moveTo>
                      <a:pt x="26009" y="0"/>
                    </a:moveTo>
                    <a:lnTo>
                      <a:pt x="500843" y="0"/>
                    </a:lnTo>
                    <a:cubicBezTo>
                      <a:pt x="507741" y="0"/>
                      <a:pt x="514356" y="2740"/>
                      <a:pt x="519234" y="7618"/>
                    </a:cubicBezTo>
                    <a:cubicBezTo>
                      <a:pt x="524112" y="12495"/>
                      <a:pt x="526852" y="19111"/>
                      <a:pt x="526852" y="26009"/>
                    </a:cubicBezTo>
                    <a:lnTo>
                      <a:pt x="526852" y="26009"/>
                    </a:lnTo>
                    <a:cubicBezTo>
                      <a:pt x="526852" y="40373"/>
                      <a:pt x="515207" y="52018"/>
                      <a:pt x="500843" y="52018"/>
                    </a:cubicBezTo>
                    <a:lnTo>
                      <a:pt x="26009" y="52018"/>
                    </a:lnTo>
                    <a:cubicBezTo>
                      <a:pt x="19111" y="52018"/>
                      <a:pt x="12495" y="49278"/>
                      <a:pt x="7618" y="44400"/>
                    </a:cubicBezTo>
                    <a:cubicBezTo>
                      <a:pt x="2740" y="39522"/>
                      <a:pt x="0" y="32907"/>
                      <a:pt x="0" y="26009"/>
                    </a:cubicBezTo>
                    <a:lnTo>
                      <a:pt x="0" y="26009"/>
                    </a:lnTo>
                    <a:cubicBezTo>
                      <a:pt x="0" y="19111"/>
                      <a:pt x="2740" y="12495"/>
                      <a:pt x="7618" y="7618"/>
                    </a:cubicBezTo>
                    <a:cubicBezTo>
                      <a:pt x="12495" y="2740"/>
                      <a:pt x="19111" y="0"/>
                      <a:pt x="26009" y="0"/>
                    </a:cubicBezTo>
                    <a:close/>
                  </a:path>
                </a:pathLst>
              </a:custGeom>
              <a:solidFill>
                <a:srgbClr val="FFFFFF"/>
              </a:solidFill>
            </p:spPr>
          </p:sp>
          <p:sp>
            <p:nvSpPr>
              <p:cNvPr name="TextBox 33" id="33"/>
              <p:cNvSpPr txBox="true"/>
              <p:nvPr/>
            </p:nvSpPr>
            <p:spPr>
              <a:xfrm>
                <a:off x="0" y="28575"/>
                <a:ext cx="526852" cy="23443"/>
              </a:xfrm>
              <a:prstGeom prst="rect">
                <a:avLst/>
              </a:prstGeom>
            </p:spPr>
            <p:txBody>
              <a:bodyPr anchor="ctr" rtlCol="false" tIns="50800" lIns="50800" bIns="50800" rIns="50800"/>
              <a:lstStyle/>
              <a:p>
                <a:pPr algn="ctr">
                  <a:lnSpc>
                    <a:spcPts val="1919"/>
                  </a:lnSpc>
                </a:pPr>
              </a:p>
            </p:txBody>
          </p:sp>
        </p:grpSp>
        <p:grpSp>
          <p:nvGrpSpPr>
            <p:cNvPr name="Group 34" id="34"/>
            <p:cNvGrpSpPr/>
            <p:nvPr/>
          </p:nvGrpSpPr>
          <p:grpSpPr>
            <a:xfrm rot="0">
              <a:off x="0" y="1975455"/>
              <a:ext cx="1797655" cy="1797655"/>
              <a:chOff x="0" y="0"/>
              <a:chExt cx="812800" cy="812800"/>
            </a:xfrm>
          </p:grpSpPr>
          <p:sp>
            <p:nvSpPr>
              <p:cNvPr name="Freeform 35" id="3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36" id="36"/>
              <p:cNvSpPr txBox="true"/>
              <p:nvPr/>
            </p:nvSpPr>
            <p:spPr>
              <a:xfrm>
                <a:off x="76200" y="104775"/>
                <a:ext cx="660400" cy="631825"/>
              </a:xfrm>
              <a:prstGeom prst="rect">
                <a:avLst/>
              </a:prstGeom>
            </p:spPr>
            <p:txBody>
              <a:bodyPr anchor="ctr" rtlCol="false" tIns="50800" lIns="50800" bIns="50800" rIns="50800"/>
              <a:lstStyle/>
              <a:p>
                <a:pPr algn="ctr">
                  <a:lnSpc>
                    <a:spcPts val="1919"/>
                  </a:lnSpc>
                </a:pPr>
              </a:p>
            </p:txBody>
          </p:sp>
        </p:grpSp>
        <p:sp>
          <p:nvSpPr>
            <p:cNvPr name="TextBox 37" id="37"/>
            <p:cNvSpPr txBox="true"/>
            <p:nvPr/>
          </p:nvSpPr>
          <p:spPr>
            <a:xfrm rot="0">
              <a:off x="2158504" y="2442587"/>
              <a:ext cx="12102640" cy="855133"/>
            </a:xfrm>
            <a:prstGeom prst="rect">
              <a:avLst/>
            </a:prstGeom>
          </p:spPr>
          <p:txBody>
            <a:bodyPr anchor="t" rtlCol="false" tIns="0" lIns="0" bIns="0" rIns="0">
              <a:spAutoFit/>
            </a:bodyPr>
            <a:lstStyle/>
            <a:p>
              <a:pPr algn="l">
                <a:lnSpc>
                  <a:spcPts val="2374"/>
                </a:lnSpc>
              </a:pPr>
              <a:r>
                <a:rPr lang="en-US" sz="2499" b="true">
                  <a:gradFill>
                    <a:gsLst>
                      <a:gs pos="0">
                        <a:srgbClr val="841F0B">
                          <a:alpha val="100000"/>
                        </a:srgbClr>
                      </a:gs>
                      <a:gs pos="100000">
                        <a:srgbClr val="DA4610">
                          <a:alpha val="100000"/>
                        </a:srgbClr>
                      </a:gs>
                    </a:gsLst>
                    <a:lin ang="0"/>
                  </a:gradFill>
                  <a:latin typeface="Poppins Heavy"/>
                  <a:ea typeface="Poppins Heavy"/>
                  <a:cs typeface="Poppins Heavy"/>
                  <a:sym typeface="Poppins Heavy"/>
                </a:rPr>
                <a:t>Move: </a:t>
              </a:r>
              <a:r>
                <a:rPr lang="en-US" sz="2499" b="true">
                  <a:gradFill>
                    <a:gsLst>
                      <a:gs pos="0">
                        <a:srgbClr val="841F0B">
                          <a:alpha val="100000"/>
                        </a:srgbClr>
                      </a:gs>
                      <a:gs pos="100000">
                        <a:srgbClr val="DA4610">
                          <a:alpha val="100000"/>
                        </a:srgbClr>
                      </a:gs>
                    </a:gsLst>
                    <a:lin ang="0"/>
                  </a:gradFill>
                  <a:latin typeface="Poppins Semi-Bold"/>
                  <a:ea typeface="Poppins Semi-Bold"/>
                  <a:cs typeface="Poppins Semi-Bold"/>
                  <a:sym typeface="Poppins Semi-Bold"/>
                </a:rPr>
                <a:t>Go to RED, GREEN, or the DEPENDS zone in the middle. No standing between zones. </a:t>
              </a:r>
            </a:p>
          </p:txBody>
        </p:sp>
        <p:sp>
          <p:nvSpPr>
            <p:cNvPr name="Freeform 38" id="38"/>
            <p:cNvSpPr/>
            <p:nvPr/>
          </p:nvSpPr>
          <p:spPr>
            <a:xfrm flipH="false" flipV="false" rot="0">
              <a:off x="240617" y="2561803"/>
              <a:ext cx="1343993" cy="624957"/>
            </a:xfrm>
            <a:custGeom>
              <a:avLst/>
              <a:gdLst/>
              <a:ahLst/>
              <a:cxnLst/>
              <a:rect r="r" b="b" t="t" l="l"/>
              <a:pathLst>
                <a:path h="624957" w="1343993">
                  <a:moveTo>
                    <a:pt x="0" y="0"/>
                  </a:moveTo>
                  <a:lnTo>
                    <a:pt x="1343993" y="0"/>
                  </a:lnTo>
                  <a:lnTo>
                    <a:pt x="1343993" y="624957"/>
                  </a:lnTo>
                  <a:lnTo>
                    <a:pt x="0" y="624957"/>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39" id="39"/>
            <p:cNvGrpSpPr/>
            <p:nvPr/>
          </p:nvGrpSpPr>
          <p:grpSpPr>
            <a:xfrm rot="0">
              <a:off x="898827" y="4199920"/>
              <a:ext cx="13662219" cy="1348916"/>
              <a:chOff x="0" y="0"/>
              <a:chExt cx="526852" cy="52018"/>
            </a:xfrm>
          </p:grpSpPr>
          <p:sp>
            <p:nvSpPr>
              <p:cNvPr name="Freeform 40" id="40"/>
              <p:cNvSpPr/>
              <p:nvPr/>
            </p:nvSpPr>
            <p:spPr>
              <a:xfrm flipH="false" flipV="false" rot="0">
                <a:off x="0" y="0"/>
                <a:ext cx="526852" cy="52018"/>
              </a:xfrm>
              <a:custGeom>
                <a:avLst/>
                <a:gdLst/>
                <a:ahLst/>
                <a:cxnLst/>
                <a:rect r="r" b="b" t="t" l="l"/>
                <a:pathLst>
                  <a:path h="52018" w="526852">
                    <a:moveTo>
                      <a:pt x="26009" y="0"/>
                    </a:moveTo>
                    <a:lnTo>
                      <a:pt x="500843" y="0"/>
                    </a:lnTo>
                    <a:cubicBezTo>
                      <a:pt x="507741" y="0"/>
                      <a:pt x="514356" y="2740"/>
                      <a:pt x="519234" y="7618"/>
                    </a:cubicBezTo>
                    <a:cubicBezTo>
                      <a:pt x="524112" y="12495"/>
                      <a:pt x="526852" y="19111"/>
                      <a:pt x="526852" y="26009"/>
                    </a:cubicBezTo>
                    <a:lnTo>
                      <a:pt x="526852" y="26009"/>
                    </a:lnTo>
                    <a:cubicBezTo>
                      <a:pt x="526852" y="40373"/>
                      <a:pt x="515207" y="52018"/>
                      <a:pt x="500843" y="52018"/>
                    </a:cubicBezTo>
                    <a:lnTo>
                      <a:pt x="26009" y="52018"/>
                    </a:lnTo>
                    <a:cubicBezTo>
                      <a:pt x="19111" y="52018"/>
                      <a:pt x="12495" y="49278"/>
                      <a:pt x="7618" y="44400"/>
                    </a:cubicBezTo>
                    <a:cubicBezTo>
                      <a:pt x="2740" y="39522"/>
                      <a:pt x="0" y="32907"/>
                      <a:pt x="0" y="26009"/>
                    </a:cubicBezTo>
                    <a:lnTo>
                      <a:pt x="0" y="26009"/>
                    </a:lnTo>
                    <a:cubicBezTo>
                      <a:pt x="0" y="19111"/>
                      <a:pt x="2740" y="12495"/>
                      <a:pt x="7618" y="7618"/>
                    </a:cubicBezTo>
                    <a:cubicBezTo>
                      <a:pt x="12495" y="2740"/>
                      <a:pt x="19111" y="0"/>
                      <a:pt x="26009" y="0"/>
                    </a:cubicBezTo>
                    <a:close/>
                  </a:path>
                </a:pathLst>
              </a:custGeom>
              <a:solidFill>
                <a:srgbClr val="FFFFFF"/>
              </a:solidFill>
            </p:spPr>
          </p:sp>
          <p:sp>
            <p:nvSpPr>
              <p:cNvPr name="TextBox 41" id="41"/>
              <p:cNvSpPr txBox="true"/>
              <p:nvPr/>
            </p:nvSpPr>
            <p:spPr>
              <a:xfrm>
                <a:off x="0" y="28575"/>
                <a:ext cx="526852" cy="23443"/>
              </a:xfrm>
              <a:prstGeom prst="rect">
                <a:avLst/>
              </a:prstGeom>
            </p:spPr>
            <p:txBody>
              <a:bodyPr anchor="ctr" rtlCol="false" tIns="50800" lIns="50800" bIns="50800" rIns="50800"/>
              <a:lstStyle/>
              <a:p>
                <a:pPr algn="ctr">
                  <a:lnSpc>
                    <a:spcPts val="1919"/>
                  </a:lnSpc>
                </a:pPr>
              </a:p>
            </p:txBody>
          </p:sp>
        </p:grpSp>
        <p:grpSp>
          <p:nvGrpSpPr>
            <p:cNvPr name="Group 42" id="42"/>
            <p:cNvGrpSpPr/>
            <p:nvPr/>
          </p:nvGrpSpPr>
          <p:grpSpPr>
            <a:xfrm rot="0">
              <a:off x="0" y="3950909"/>
              <a:ext cx="1797655" cy="1797655"/>
              <a:chOff x="0" y="0"/>
              <a:chExt cx="812800" cy="812800"/>
            </a:xfrm>
          </p:grpSpPr>
          <p:sp>
            <p:nvSpPr>
              <p:cNvPr name="Freeform 43" id="4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4" id="44"/>
              <p:cNvSpPr txBox="true"/>
              <p:nvPr/>
            </p:nvSpPr>
            <p:spPr>
              <a:xfrm>
                <a:off x="76200" y="104775"/>
                <a:ext cx="660400" cy="631825"/>
              </a:xfrm>
              <a:prstGeom prst="rect">
                <a:avLst/>
              </a:prstGeom>
            </p:spPr>
            <p:txBody>
              <a:bodyPr anchor="ctr" rtlCol="false" tIns="50800" lIns="50800" bIns="50800" rIns="50800"/>
              <a:lstStyle/>
              <a:p>
                <a:pPr algn="ctr">
                  <a:lnSpc>
                    <a:spcPts val="1919"/>
                  </a:lnSpc>
                </a:pPr>
              </a:p>
            </p:txBody>
          </p:sp>
        </p:grpSp>
        <p:sp>
          <p:nvSpPr>
            <p:cNvPr name="TextBox 45" id="45"/>
            <p:cNvSpPr txBox="true"/>
            <p:nvPr/>
          </p:nvSpPr>
          <p:spPr>
            <a:xfrm rot="0">
              <a:off x="2158504" y="4418042"/>
              <a:ext cx="12102640" cy="855133"/>
            </a:xfrm>
            <a:prstGeom prst="rect">
              <a:avLst/>
            </a:prstGeom>
          </p:spPr>
          <p:txBody>
            <a:bodyPr anchor="t" rtlCol="false" tIns="0" lIns="0" bIns="0" rIns="0">
              <a:spAutoFit/>
            </a:bodyPr>
            <a:lstStyle/>
            <a:p>
              <a:pPr algn="l">
                <a:lnSpc>
                  <a:spcPts val="2374"/>
                </a:lnSpc>
              </a:pPr>
              <a:r>
                <a:rPr lang="en-US" sz="2499" b="true">
                  <a:gradFill>
                    <a:gsLst>
                      <a:gs pos="0">
                        <a:srgbClr val="841F0B">
                          <a:alpha val="100000"/>
                        </a:srgbClr>
                      </a:gs>
                      <a:gs pos="100000">
                        <a:srgbClr val="DA4610">
                          <a:alpha val="100000"/>
                        </a:srgbClr>
                      </a:gs>
                    </a:gsLst>
                    <a:lin ang="0"/>
                  </a:gradFill>
                  <a:latin typeface="Poppins Heavy"/>
                  <a:ea typeface="Poppins Heavy"/>
                  <a:cs typeface="Poppins Heavy"/>
                  <a:sym typeface="Poppins Heavy"/>
                </a:rPr>
                <a:t>Defend it: </a:t>
              </a:r>
              <a:r>
                <a:rPr lang="en-US" sz="2499" b="true">
                  <a:gradFill>
                    <a:gsLst>
                      <a:gs pos="0">
                        <a:srgbClr val="841F0B">
                          <a:alpha val="100000"/>
                        </a:srgbClr>
                      </a:gs>
                      <a:gs pos="100000">
                        <a:srgbClr val="DA4610">
                          <a:alpha val="100000"/>
                        </a:srgbClr>
                      </a:gs>
                    </a:gsLst>
                    <a:lin ang="0"/>
                  </a:gradFill>
                  <a:latin typeface="Poppins Semi-Bold"/>
                  <a:ea typeface="Poppins Semi-Bold"/>
                  <a:cs typeface="Poppins Semi-Bold"/>
                  <a:sym typeface="Poppins Semi-Bold"/>
                </a:rPr>
                <a:t>A few people say why. Smallest group goes first.</a:t>
              </a:r>
            </a:p>
          </p:txBody>
        </p:sp>
        <p:sp>
          <p:nvSpPr>
            <p:cNvPr name="Freeform 46" id="46"/>
            <p:cNvSpPr/>
            <p:nvPr/>
          </p:nvSpPr>
          <p:spPr>
            <a:xfrm flipH="false" flipV="false" rot="0">
              <a:off x="284131" y="4281475"/>
              <a:ext cx="1248928" cy="1136524"/>
            </a:xfrm>
            <a:custGeom>
              <a:avLst/>
              <a:gdLst/>
              <a:ahLst/>
              <a:cxnLst/>
              <a:rect r="r" b="b" t="t" l="l"/>
              <a:pathLst>
                <a:path h="1136524" w="1248928">
                  <a:moveTo>
                    <a:pt x="0" y="0"/>
                  </a:moveTo>
                  <a:lnTo>
                    <a:pt x="1248928" y="0"/>
                  </a:lnTo>
                  <a:lnTo>
                    <a:pt x="1248928" y="1136524"/>
                  </a:lnTo>
                  <a:lnTo>
                    <a:pt x="0" y="1136524"/>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47" id="47"/>
            <p:cNvSpPr/>
            <p:nvPr/>
          </p:nvSpPr>
          <p:spPr>
            <a:xfrm flipH="false" flipV="false" rot="0">
              <a:off x="367357" y="276818"/>
              <a:ext cx="1075327" cy="1156265"/>
            </a:xfrm>
            <a:custGeom>
              <a:avLst/>
              <a:gdLst/>
              <a:ahLst/>
              <a:cxnLst/>
              <a:rect r="r" b="b" t="t" l="l"/>
              <a:pathLst>
                <a:path h="1156265" w="1075327">
                  <a:moveTo>
                    <a:pt x="0" y="0"/>
                  </a:moveTo>
                  <a:lnTo>
                    <a:pt x="1075327" y="0"/>
                  </a:lnTo>
                  <a:lnTo>
                    <a:pt x="1075327" y="1156265"/>
                  </a:lnTo>
                  <a:lnTo>
                    <a:pt x="0" y="1156265"/>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grpSp>
      <p:grpSp>
        <p:nvGrpSpPr>
          <p:cNvPr name="Group 48" id="48"/>
          <p:cNvGrpSpPr/>
          <p:nvPr/>
        </p:nvGrpSpPr>
        <p:grpSpPr>
          <a:xfrm rot="0">
            <a:off x="12046113" y="4414759"/>
            <a:ext cx="5213187" cy="4182329"/>
            <a:chOff x="0" y="0"/>
            <a:chExt cx="460944" cy="369797"/>
          </a:xfrm>
        </p:grpSpPr>
        <p:sp>
          <p:nvSpPr>
            <p:cNvPr name="Freeform 49" id="49"/>
            <p:cNvSpPr/>
            <p:nvPr/>
          </p:nvSpPr>
          <p:spPr>
            <a:xfrm flipH="false" flipV="false" rot="0">
              <a:off x="0" y="0"/>
              <a:ext cx="460944" cy="369797"/>
            </a:xfrm>
            <a:custGeom>
              <a:avLst/>
              <a:gdLst/>
              <a:ahLst/>
              <a:cxnLst/>
              <a:rect r="r" b="b" t="t" l="l"/>
              <a:pathLst>
                <a:path h="369797" w="460944">
                  <a:moveTo>
                    <a:pt x="52209" y="0"/>
                  </a:moveTo>
                  <a:lnTo>
                    <a:pt x="408735" y="0"/>
                  </a:lnTo>
                  <a:cubicBezTo>
                    <a:pt x="437569" y="0"/>
                    <a:pt x="460944" y="23375"/>
                    <a:pt x="460944" y="52209"/>
                  </a:cubicBezTo>
                  <a:lnTo>
                    <a:pt x="460944" y="317588"/>
                  </a:lnTo>
                  <a:cubicBezTo>
                    <a:pt x="460944" y="331434"/>
                    <a:pt x="455444" y="344714"/>
                    <a:pt x="445653" y="354505"/>
                  </a:cubicBezTo>
                  <a:cubicBezTo>
                    <a:pt x="435861" y="364296"/>
                    <a:pt x="422582" y="369797"/>
                    <a:pt x="408735" y="369797"/>
                  </a:cubicBezTo>
                  <a:lnTo>
                    <a:pt x="52209" y="369797"/>
                  </a:lnTo>
                  <a:cubicBezTo>
                    <a:pt x="38363" y="369797"/>
                    <a:pt x="25083" y="364296"/>
                    <a:pt x="15292" y="354505"/>
                  </a:cubicBezTo>
                  <a:cubicBezTo>
                    <a:pt x="5501" y="344714"/>
                    <a:pt x="0" y="331434"/>
                    <a:pt x="0" y="317588"/>
                  </a:cubicBezTo>
                  <a:lnTo>
                    <a:pt x="0" y="52209"/>
                  </a:lnTo>
                  <a:cubicBezTo>
                    <a:pt x="0" y="38363"/>
                    <a:pt x="5501" y="25083"/>
                    <a:pt x="15292" y="15292"/>
                  </a:cubicBezTo>
                  <a:cubicBezTo>
                    <a:pt x="25083" y="5501"/>
                    <a:pt x="38363" y="0"/>
                    <a:pt x="52209" y="0"/>
                  </a:cubicBezTo>
                  <a:close/>
                </a:path>
              </a:pathLst>
            </a:custGeom>
            <a:gradFill rotWithShape="true">
              <a:gsLst>
                <a:gs pos="0">
                  <a:srgbClr val="85200C">
                    <a:alpha val="100000"/>
                  </a:srgbClr>
                </a:gs>
                <a:gs pos="100000">
                  <a:srgbClr val="DC4B0F">
                    <a:alpha val="100000"/>
                  </a:srgbClr>
                </a:gs>
              </a:gsLst>
              <a:lin ang="0"/>
            </a:gradFill>
          </p:spPr>
        </p:sp>
        <p:sp>
          <p:nvSpPr>
            <p:cNvPr name="TextBox 50" id="50"/>
            <p:cNvSpPr txBox="true"/>
            <p:nvPr/>
          </p:nvSpPr>
          <p:spPr>
            <a:xfrm>
              <a:off x="0" y="-38100"/>
              <a:ext cx="460944" cy="407897"/>
            </a:xfrm>
            <a:prstGeom prst="rect">
              <a:avLst/>
            </a:prstGeom>
          </p:spPr>
          <p:txBody>
            <a:bodyPr anchor="ctr" rtlCol="false" tIns="50800" lIns="50800" bIns="50800" rIns="50800"/>
            <a:lstStyle/>
            <a:p>
              <a:pPr algn="ctr">
                <a:lnSpc>
                  <a:spcPts val="2659"/>
                </a:lnSpc>
                <a:spcBef>
                  <a:spcPct val="0"/>
                </a:spcBef>
              </a:pPr>
            </a:p>
          </p:txBody>
        </p:sp>
      </p:grpSp>
      <p:grpSp>
        <p:nvGrpSpPr>
          <p:cNvPr name="Group 51" id="51"/>
          <p:cNvGrpSpPr/>
          <p:nvPr/>
        </p:nvGrpSpPr>
        <p:grpSpPr>
          <a:xfrm rot="0">
            <a:off x="12231849" y="4586209"/>
            <a:ext cx="4841714" cy="812121"/>
            <a:chOff x="0" y="0"/>
            <a:chExt cx="428099" cy="71807"/>
          </a:xfrm>
        </p:grpSpPr>
        <p:sp>
          <p:nvSpPr>
            <p:cNvPr name="Freeform 52" id="52"/>
            <p:cNvSpPr/>
            <p:nvPr/>
          </p:nvSpPr>
          <p:spPr>
            <a:xfrm flipH="false" flipV="false" rot="0">
              <a:off x="0" y="0"/>
              <a:ext cx="428099" cy="71807"/>
            </a:xfrm>
            <a:custGeom>
              <a:avLst/>
              <a:gdLst/>
              <a:ahLst/>
              <a:cxnLst/>
              <a:rect r="r" b="b" t="t" l="l"/>
              <a:pathLst>
                <a:path h="71807" w="428099">
                  <a:moveTo>
                    <a:pt x="35903" y="0"/>
                  </a:moveTo>
                  <a:lnTo>
                    <a:pt x="392196" y="0"/>
                  </a:lnTo>
                  <a:cubicBezTo>
                    <a:pt x="412025" y="0"/>
                    <a:pt x="428099" y="16075"/>
                    <a:pt x="428099" y="35903"/>
                  </a:cubicBezTo>
                  <a:lnTo>
                    <a:pt x="428099" y="35903"/>
                  </a:lnTo>
                  <a:cubicBezTo>
                    <a:pt x="428099" y="55732"/>
                    <a:pt x="412025" y="71807"/>
                    <a:pt x="392196" y="71807"/>
                  </a:cubicBezTo>
                  <a:lnTo>
                    <a:pt x="35903" y="71807"/>
                  </a:lnTo>
                  <a:cubicBezTo>
                    <a:pt x="16075" y="71807"/>
                    <a:pt x="0" y="55732"/>
                    <a:pt x="0" y="35903"/>
                  </a:cubicBezTo>
                  <a:lnTo>
                    <a:pt x="0" y="35903"/>
                  </a:lnTo>
                  <a:cubicBezTo>
                    <a:pt x="0" y="16075"/>
                    <a:pt x="16075" y="0"/>
                    <a:pt x="35903"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53" id="53"/>
            <p:cNvSpPr txBox="true"/>
            <p:nvPr/>
          </p:nvSpPr>
          <p:spPr>
            <a:xfrm>
              <a:off x="0" y="-38100"/>
              <a:ext cx="428099" cy="109907"/>
            </a:xfrm>
            <a:prstGeom prst="rect">
              <a:avLst/>
            </a:prstGeom>
          </p:spPr>
          <p:txBody>
            <a:bodyPr anchor="ctr" rtlCol="false" tIns="50800" lIns="50800" bIns="50800" rIns="50800"/>
            <a:lstStyle/>
            <a:p>
              <a:pPr algn="ctr">
                <a:lnSpc>
                  <a:spcPts val="2659"/>
                </a:lnSpc>
                <a:spcBef>
                  <a:spcPct val="0"/>
                </a:spcBef>
              </a:pPr>
            </a:p>
          </p:txBody>
        </p:sp>
      </p:grpSp>
      <p:sp>
        <p:nvSpPr>
          <p:cNvPr name="Freeform 54" id="54"/>
          <p:cNvSpPr/>
          <p:nvPr/>
        </p:nvSpPr>
        <p:spPr>
          <a:xfrm flipH="false" flipV="false" rot="2700000">
            <a:off x="11474811" y="403012"/>
            <a:ext cx="10432906" cy="6242810"/>
          </a:xfrm>
          <a:custGeom>
            <a:avLst/>
            <a:gdLst/>
            <a:ahLst/>
            <a:cxnLst/>
            <a:rect r="r" b="b" t="t" l="l"/>
            <a:pathLst>
              <a:path h="6242810" w="10432906">
                <a:moveTo>
                  <a:pt x="0" y="0"/>
                </a:moveTo>
                <a:lnTo>
                  <a:pt x="10432906" y="0"/>
                </a:lnTo>
                <a:lnTo>
                  <a:pt x="10432906" y="6242810"/>
                </a:lnTo>
                <a:lnTo>
                  <a:pt x="0" y="6242810"/>
                </a:lnTo>
                <a:lnTo>
                  <a:pt x="0" y="0"/>
                </a:lnTo>
                <a:close/>
              </a:path>
            </a:pathLst>
          </a:custGeom>
          <a:blipFill>
            <a:blip r:embed="rId13"/>
            <a:stretch>
              <a:fillRect l="0" t="0" r="0" b="-65447"/>
            </a:stretch>
          </a:blipFill>
        </p:spPr>
      </p:sp>
      <p:sp>
        <p:nvSpPr>
          <p:cNvPr name="TextBox 55" id="55"/>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04</a:t>
            </a:r>
          </a:p>
        </p:txBody>
      </p:sp>
      <p:sp>
        <p:nvSpPr>
          <p:cNvPr name="TextBox 56" id="56"/>
          <p:cNvSpPr txBox="true"/>
          <p:nvPr/>
        </p:nvSpPr>
        <p:spPr>
          <a:xfrm rot="0">
            <a:off x="12406222" y="5585012"/>
            <a:ext cx="4492969" cy="2527228"/>
          </a:xfrm>
          <a:prstGeom prst="rect">
            <a:avLst/>
          </a:prstGeom>
        </p:spPr>
        <p:txBody>
          <a:bodyPr anchor="t" rtlCol="false" tIns="0" lIns="0" bIns="0" rIns="0">
            <a:spAutoFit/>
          </a:bodyPr>
          <a:lstStyle/>
          <a:p>
            <a:pPr algn="ctr">
              <a:lnSpc>
                <a:spcPts val="3227"/>
              </a:lnSpc>
            </a:pPr>
            <a:r>
              <a:rPr lang="en-US" sz="3397" b="true">
                <a:solidFill>
                  <a:srgbClr val="FFFFFF"/>
                </a:solidFill>
                <a:latin typeface="Poppins Semi-Bold"/>
                <a:ea typeface="Poppins Semi-Bold"/>
                <a:cs typeface="Poppins Semi-Bold"/>
                <a:sym typeface="Poppins Semi-Bold"/>
              </a:rPr>
              <a:t>The later scenarios do not have a clean answer. When the room splits, that is the lesson, not a mistake.</a:t>
            </a:r>
          </a:p>
        </p:txBody>
      </p:sp>
      <p:sp>
        <p:nvSpPr>
          <p:cNvPr name="TextBox 57" id="57"/>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175422">
            <a:off x="5012276" y="-2028262"/>
            <a:ext cx="18139191" cy="17751629"/>
            <a:chOff x="0" y="0"/>
            <a:chExt cx="24185588" cy="23668838"/>
          </a:xfrm>
        </p:grpSpPr>
        <p:sp>
          <p:nvSpPr>
            <p:cNvPr name="Freeform 4" id="4"/>
            <p:cNvSpPr/>
            <p:nvPr/>
          </p:nvSpPr>
          <p:spPr>
            <a:xfrm flipH="false" flipV="false" rot="-523029">
              <a:off x="1793368" y="1639659"/>
              <a:ext cx="20955249" cy="20559972"/>
            </a:xfrm>
            <a:custGeom>
              <a:avLst/>
              <a:gdLst/>
              <a:ahLst/>
              <a:cxnLst/>
              <a:rect r="r" b="b" t="t" l="l"/>
              <a:pathLst>
                <a:path h="20559972" w="20955249">
                  <a:moveTo>
                    <a:pt x="0" y="0"/>
                  </a:moveTo>
                  <a:lnTo>
                    <a:pt x="20955249" y="0"/>
                  </a:lnTo>
                  <a:lnTo>
                    <a:pt x="20955249" y="20559971"/>
                  </a:lnTo>
                  <a:lnTo>
                    <a:pt x="0" y="20559971"/>
                  </a:lnTo>
                  <a:lnTo>
                    <a:pt x="0" y="0"/>
                  </a:lnTo>
                  <a:close/>
                </a:path>
              </a:pathLst>
            </a:custGeom>
            <a:blipFill>
              <a:blip r:embed="rId4">
                <a:alphaModFix amt="30000"/>
              </a:blip>
              <a:stretch>
                <a:fillRect l="-23769" t="0" r="-23769" b="0"/>
              </a:stretch>
            </a:blipFill>
          </p:spPr>
        </p:sp>
        <p:sp>
          <p:nvSpPr>
            <p:cNvPr name="Freeform 5" id="5"/>
            <p:cNvSpPr/>
            <p:nvPr/>
          </p:nvSpPr>
          <p:spPr>
            <a:xfrm flipH="false" flipV="false" rot="-523029">
              <a:off x="1436971" y="1469208"/>
              <a:ext cx="20955249" cy="20559972"/>
            </a:xfrm>
            <a:custGeom>
              <a:avLst/>
              <a:gdLst/>
              <a:ahLst/>
              <a:cxnLst/>
              <a:rect r="r" b="b" t="t" l="l"/>
              <a:pathLst>
                <a:path h="20559972" w="20955249">
                  <a:moveTo>
                    <a:pt x="0" y="0"/>
                  </a:moveTo>
                  <a:lnTo>
                    <a:pt x="20955249" y="0"/>
                  </a:lnTo>
                  <a:lnTo>
                    <a:pt x="20955249" y="20559971"/>
                  </a:lnTo>
                  <a:lnTo>
                    <a:pt x="0" y="20559971"/>
                  </a:lnTo>
                  <a:lnTo>
                    <a:pt x="0" y="0"/>
                  </a:lnTo>
                  <a:close/>
                </a:path>
              </a:pathLst>
            </a:custGeom>
            <a:blipFill>
              <a:blip r:embed="rId5"/>
              <a:stretch>
                <a:fillRect l="-23769" t="0" r="-23769" b="0"/>
              </a:stretch>
            </a:blipFill>
          </p:spPr>
        </p:sp>
      </p:grpSp>
      <p:sp>
        <p:nvSpPr>
          <p:cNvPr name="Freeform 6" id="6"/>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7" id="7"/>
          <p:cNvGrpSpPr/>
          <p:nvPr/>
        </p:nvGrpSpPr>
        <p:grpSpPr>
          <a:xfrm rot="0">
            <a:off x="415994" y="9258300"/>
            <a:ext cx="4387595" cy="2093523"/>
            <a:chOff x="0" y="0"/>
            <a:chExt cx="902797" cy="430766"/>
          </a:xfrm>
        </p:grpSpPr>
        <p:sp>
          <p:nvSpPr>
            <p:cNvPr name="Freeform 8" id="8"/>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9" id="9"/>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10" id="10"/>
          <p:cNvSpPr/>
          <p:nvPr/>
        </p:nvSpPr>
        <p:spPr>
          <a:xfrm flipH="false" flipV="false" rot="0">
            <a:off x="710686" y="9326894"/>
            <a:ext cx="2425147" cy="1165699"/>
          </a:xfrm>
          <a:custGeom>
            <a:avLst/>
            <a:gdLst/>
            <a:ahLst/>
            <a:cxnLst/>
            <a:rect r="r" b="b" t="t" l="l"/>
            <a:pathLst>
              <a:path h="1165699" w="2425147">
                <a:moveTo>
                  <a:pt x="0" y="0"/>
                </a:moveTo>
                <a:lnTo>
                  <a:pt x="2425147" y="0"/>
                </a:lnTo>
                <a:lnTo>
                  <a:pt x="2425147" y="1165699"/>
                </a:lnTo>
                <a:lnTo>
                  <a:pt x="0" y="1165699"/>
                </a:lnTo>
                <a:lnTo>
                  <a:pt x="0" y="0"/>
                </a:lnTo>
                <a:close/>
              </a:path>
            </a:pathLst>
          </a:custGeom>
          <a:blipFill>
            <a:blip r:embed="rId8"/>
            <a:stretch>
              <a:fillRect l="0" t="-15579" r="0" b="0"/>
            </a:stretch>
          </a:blipFill>
        </p:spPr>
      </p:sp>
      <p:grpSp>
        <p:nvGrpSpPr>
          <p:cNvPr name="Group 11" id="11"/>
          <p:cNvGrpSpPr/>
          <p:nvPr/>
        </p:nvGrpSpPr>
        <p:grpSpPr>
          <a:xfrm rot="0">
            <a:off x="3162265" y="9258300"/>
            <a:ext cx="11963470" cy="4031369"/>
            <a:chOff x="0" y="0"/>
            <a:chExt cx="1057797" cy="356449"/>
          </a:xfrm>
        </p:grpSpPr>
        <p:sp>
          <p:nvSpPr>
            <p:cNvPr name="Freeform 12" id="12"/>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3" id="13"/>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4" id="14"/>
          <p:cNvGrpSpPr/>
          <p:nvPr/>
        </p:nvGrpSpPr>
        <p:grpSpPr>
          <a:xfrm rot="0">
            <a:off x="13874565" y="9023776"/>
            <a:ext cx="2263079" cy="2785329"/>
            <a:chOff x="0" y="0"/>
            <a:chExt cx="660400" cy="812800"/>
          </a:xfrm>
        </p:grpSpPr>
        <p:sp>
          <p:nvSpPr>
            <p:cNvPr name="Freeform 15" id="15"/>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6" id="16"/>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sp>
        <p:nvSpPr>
          <p:cNvPr name="TextBox 17" id="17"/>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05</a:t>
            </a:r>
          </a:p>
        </p:txBody>
      </p:sp>
      <p:sp>
        <p:nvSpPr>
          <p:cNvPr name="TextBox 18" id="18"/>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grpSp>
        <p:nvGrpSpPr>
          <p:cNvPr name="Group 19" id="19"/>
          <p:cNvGrpSpPr/>
          <p:nvPr/>
        </p:nvGrpSpPr>
        <p:grpSpPr>
          <a:xfrm rot="0">
            <a:off x="149294" y="1508737"/>
            <a:ext cx="7832248" cy="2791903"/>
            <a:chOff x="0" y="0"/>
            <a:chExt cx="10442998" cy="3722537"/>
          </a:xfrm>
        </p:grpSpPr>
        <p:sp>
          <p:nvSpPr>
            <p:cNvPr name="TextBox 20" id="20"/>
            <p:cNvSpPr txBox="true"/>
            <p:nvPr/>
          </p:nvSpPr>
          <p:spPr>
            <a:xfrm rot="0">
              <a:off x="0" y="-176228"/>
              <a:ext cx="10442998" cy="3898764"/>
            </a:xfrm>
            <a:prstGeom prst="rect">
              <a:avLst/>
            </a:prstGeom>
          </p:spPr>
          <p:txBody>
            <a:bodyPr anchor="t" rtlCol="false" tIns="0" lIns="0" bIns="0" rIns="0">
              <a:spAutoFit/>
            </a:bodyPr>
            <a:lstStyle/>
            <a:p>
              <a:pPr algn="ctr">
                <a:lnSpc>
                  <a:spcPts val="24642"/>
                </a:lnSpc>
              </a:pPr>
              <a:r>
                <a:rPr lang="en-US" sz="17602" spc="52">
                  <a:solidFill>
                    <a:srgbClr val="000000">
                      <a:alpha val="30980"/>
                    </a:srgbClr>
                  </a:solidFill>
                  <a:latin typeface="Milestone Script"/>
                  <a:ea typeface="Milestone Script"/>
                  <a:cs typeface="Milestone Script"/>
                  <a:sym typeface="Milestone Script"/>
                </a:rPr>
                <a:t>Level 1:</a:t>
              </a:r>
            </a:p>
          </p:txBody>
        </p:sp>
        <p:sp>
          <p:nvSpPr>
            <p:cNvPr name="TextBox 21" id="21"/>
            <p:cNvSpPr txBox="true"/>
            <p:nvPr/>
          </p:nvSpPr>
          <p:spPr>
            <a:xfrm rot="0">
              <a:off x="426613" y="-333375"/>
              <a:ext cx="9275478" cy="3898764"/>
            </a:xfrm>
            <a:prstGeom prst="rect">
              <a:avLst/>
            </a:prstGeom>
          </p:spPr>
          <p:txBody>
            <a:bodyPr anchor="t" rtlCol="false" tIns="0" lIns="0" bIns="0" rIns="0">
              <a:spAutoFit/>
            </a:bodyPr>
            <a:lstStyle/>
            <a:p>
              <a:pPr algn="ctr">
                <a:lnSpc>
                  <a:spcPts val="24642"/>
                </a:lnSpc>
              </a:pPr>
              <a:r>
                <a:rPr lang="en-US" sz="17602" spc="52">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Level 1:</a:t>
              </a:r>
            </a:p>
          </p:txBody>
        </p:sp>
      </p:grpSp>
      <p:grpSp>
        <p:nvGrpSpPr>
          <p:cNvPr name="Group 22" id="22"/>
          <p:cNvGrpSpPr/>
          <p:nvPr/>
        </p:nvGrpSpPr>
        <p:grpSpPr>
          <a:xfrm rot="0">
            <a:off x="940773" y="3518955"/>
            <a:ext cx="9908015" cy="2313943"/>
            <a:chOff x="0" y="0"/>
            <a:chExt cx="13210687" cy="3085258"/>
          </a:xfrm>
        </p:grpSpPr>
        <p:sp>
          <p:nvSpPr>
            <p:cNvPr name="TextBox 23" id="23"/>
            <p:cNvSpPr txBox="true"/>
            <p:nvPr/>
          </p:nvSpPr>
          <p:spPr>
            <a:xfrm rot="0">
              <a:off x="127682" y="356876"/>
              <a:ext cx="12125535" cy="2728382"/>
            </a:xfrm>
            <a:prstGeom prst="rect">
              <a:avLst/>
            </a:prstGeom>
          </p:spPr>
          <p:txBody>
            <a:bodyPr anchor="t" rtlCol="false" tIns="0" lIns="0" bIns="0" rIns="0">
              <a:spAutoFit/>
            </a:bodyPr>
            <a:lstStyle/>
            <a:p>
              <a:pPr algn="l">
                <a:lnSpc>
                  <a:spcPts val="13774"/>
                </a:lnSpc>
              </a:pPr>
              <a:r>
                <a:rPr lang="en-US" sz="14499" b="true">
                  <a:solidFill>
                    <a:srgbClr val="000000">
                      <a:alpha val="29804"/>
                    </a:srgbClr>
                  </a:solidFill>
                  <a:latin typeface="Poppins Heavy"/>
                  <a:ea typeface="Poppins Heavy"/>
                  <a:cs typeface="Poppins Heavy"/>
                  <a:sym typeface="Poppins Heavy"/>
                </a:rPr>
                <a:t>Warm Up</a:t>
              </a:r>
            </a:p>
          </p:txBody>
        </p:sp>
        <p:sp>
          <p:nvSpPr>
            <p:cNvPr name="TextBox 24" id="24"/>
            <p:cNvSpPr txBox="true"/>
            <p:nvPr/>
          </p:nvSpPr>
          <p:spPr>
            <a:xfrm rot="0">
              <a:off x="0" y="209550"/>
              <a:ext cx="13210687" cy="2728382"/>
            </a:xfrm>
            <a:prstGeom prst="rect">
              <a:avLst/>
            </a:prstGeom>
          </p:spPr>
          <p:txBody>
            <a:bodyPr anchor="t" rtlCol="false" tIns="0" lIns="0" bIns="0" rIns="0">
              <a:spAutoFit/>
            </a:bodyPr>
            <a:lstStyle/>
            <a:p>
              <a:pPr algn="l">
                <a:lnSpc>
                  <a:spcPts val="13774"/>
                </a:lnSpc>
              </a:pPr>
              <a:r>
                <a:rPr lang="en-US" sz="14499" b="true">
                  <a:gradFill>
                    <a:gsLst>
                      <a:gs pos="0">
                        <a:srgbClr val="85200C">
                          <a:alpha val="100000"/>
                        </a:srgbClr>
                      </a:gs>
                      <a:gs pos="100000">
                        <a:srgbClr val="DC4B0F">
                          <a:alpha val="100000"/>
                        </a:srgbClr>
                      </a:gs>
                    </a:gsLst>
                    <a:lin ang="0"/>
                  </a:gradFill>
                  <a:latin typeface="Poppins Heavy"/>
                  <a:ea typeface="Poppins Heavy"/>
                  <a:cs typeface="Poppins Heavy"/>
                  <a:sym typeface="Poppins Heavy"/>
                </a:rPr>
                <a:t>Warm Up</a:t>
              </a:r>
            </a:p>
          </p:txBody>
        </p:sp>
      </p:grpSp>
      <p:sp>
        <p:nvSpPr>
          <p:cNvPr name="TextBox 25" id="25"/>
          <p:cNvSpPr txBox="true"/>
          <p:nvPr/>
        </p:nvSpPr>
        <p:spPr>
          <a:xfrm rot="0">
            <a:off x="1004920" y="5768125"/>
            <a:ext cx="7695087" cy="1298503"/>
          </a:xfrm>
          <a:prstGeom prst="rect">
            <a:avLst/>
          </a:prstGeom>
        </p:spPr>
        <p:txBody>
          <a:bodyPr anchor="t" rtlCol="false" tIns="0" lIns="0" bIns="0" rIns="0">
            <a:spAutoFit/>
          </a:bodyPr>
          <a:lstStyle/>
          <a:p>
            <a:pPr algn="l">
              <a:lnSpc>
                <a:spcPts val="3227"/>
              </a:lnSpc>
            </a:pPr>
            <a:r>
              <a:rPr lang="en-US" sz="3397" b="true">
                <a:solidFill>
                  <a:srgbClr val="FFFFFF"/>
                </a:solidFill>
                <a:latin typeface="Poppins Semi-Bold"/>
                <a:ea typeface="Poppins Semi-Bold"/>
                <a:cs typeface="Poppins Semi-Bold"/>
                <a:sym typeface="Poppins Semi-Bold"/>
              </a:rPr>
              <a:t>Warm up. Everyone should land in the same corner. If they don’t, that is worth a minute on its own. </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271343" y="1105777"/>
            <a:ext cx="7487927" cy="1140886"/>
            <a:chOff x="0" y="0"/>
            <a:chExt cx="605413" cy="92243"/>
          </a:xfrm>
        </p:grpSpPr>
        <p:sp>
          <p:nvSpPr>
            <p:cNvPr name="Freeform 16" id="16"/>
            <p:cNvSpPr/>
            <p:nvPr/>
          </p:nvSpPr>
          <p:spPr>
            <a:xfrm flipH="false" flipV="false" rot="0">
              <a:off x="0" y="0"/>
              <a:ext cx="605413" cy="92243"/>
            </a:xfrm>
            <a:custGeom>
              <a:avLst/>
              <a:gdLst/>
              <a:ahLst/>
              <a:cxnLst/>
              <a:rect r="r" b="b" t="t" l="l"/>
              <a:pathLst>
                <a:path h="92243" w="605413">
                  <a:moveTo>
                    <a:pt x="46121" y="0"/>
                  </a:moveTo>
                  <a:lnTo>
                    <a:pt x="559292" y="0"/>
                  </a:lnTo>
                  <a:cubicBezTo>
                    <a:pt x="571524" y="0"/>
                    <a:pt x="583255" y="4859"/>
                    <a:pt x="591905" y="13509"/>
                  </a:cubicBezTo>
                  <a:cubicBezTo>
                    <a:pt x="600554" y="22158"/>
                    <a:pt x="605413" y="33889"/>
                    <a:pt x="605413" y="46121"/>
                  </a:cubicBezTo>
                  <a:lnTo>
                    <a:pt x="605413" y="46121"/>
                  </a:lnTo>
                  <a:cubicBezTo>
                    <a:pt x="605413" y="58354"/>
                    <a:pt x="600554" y="70085"/>
                    <a:pt x="591905" y="78734"/>
                  </a:cubicBezTo>
                  <a:cubicBezTo>
                    <a:pt x="583255" y="87384"/>
                    <a:pt x="571524" y="92243"/>
                    <a:pt x="559292" y="92243"/>
                  </a:cubicBezTo>
                  <a:lnTo>
                    <a:pt x="46121" y="92243"/>
                  </a:lnTo>
                  <a:cubicBezTo>
                    <a:pt x="33889" y="92243"/>
                    <a:pt x="22158" y="87384"/>
                    <a:pt x="13509" y="78734"/>
                  </a:cubicBezTo>
                  <a:cubicBezTo>
                    <a:pt x="4859" y="70085"/>
                    <a:pt x="0" y="58354"/>
                    <a:pt x="0" y="46121"/>
                  </a:cubicBezTo>
                  <a:lnTo>
                    <a:pt x="0" y="46121"/>
                  </a:lnTo>
                  <a:cubicBezTo>
                    <a:pt x="0" y="33889"/>
                    <a:pt x="4859" y="22158"/>
                    <a:pt x="13509" y="13509"/>
                  </a:cubicBezTo>
                  <a:cubicBezTo>
                    <a:pt x="22158" y="4859"/>
                    <a:pt x="33889" y="0"/>
                    <a:pt x="46121" y="0"/>
                  </a:cubicBezTo>
                  <a:close/>
                </a:path>
              </a:pathLst>
            </a:custGeom>
            <a:gradFill rotWithShape="true">
              <a:gsLst>
                <a:gs pos="0">
                  <a:srgbClr val="85200C">
                    <a:alpha val="100000"/>
                  </a:srgbClr>
                </a:gs>
                <a:gs pos="100000">
                  <a:srgbClr val="DC4B0F">
                    <a:alpha val="100000"/>
                  </a:srgbClr>
                </a:gs>
              </a:gsLst>
              <a:lin ang="0"/>
            </a:gradFill>
          </p:spPr>
        </p:sp>
        <p:sp>
          <p:nvSpPr>
            <p:cNvPr name="TextBox 17" id="17"/>
            <p:cNvSpPr txBox="true"/>
            <p:nvPr/>
          </p:nvSpPr>
          <p:spPr>
            <a:xfrm>
              <a:off x="0" y="28575"/>
              <a:ext cx="605413" cy="63668"/>
            </a:xfrm>
            <a:prstGeom prst="rect">
              <a:avLst/>
            </a:prstGeom>
          </p:spPr>
          <p:txBody>
            <a:bodyPr anchor="ctr" rtlCol="false" tIns="50800" lIns="50800" bIns="50800" rIns="50800"/>
            <a:lstStyle/>
            <a:p>
              <a:pPr algn="ctr">
                <a:lnSpc>
                  <a:spcPts val="1919"/>
                </a:lnSpc>
              </a:pPr>
            </a:p>
          </p:txBody>
        </p:sp>
      </p:grpSp>
      <p:grpSp>
        <p:nvGrpSpPr>
          <p:cNvPr name="Group 18" id="18"/>
          <p:cNvGrpSpPr/>
          <p:nvPr/>
        </p:nvGrpSpPr>
        <p:grpSpPr>
          <a:xfrm rot="0">
            <a:off x="2003578" y="2757065"/>
            <a:ext cx="14046712" cy="2529242"/>
            <a:chOff x="0" y="0"/>
            <a:chExt cx="18728950" cy="3372323"/>
          </a:xfrm>
        </p:grpSpPr>
        <p:grpSp>
          <p:nvGrpSpPr>
            <p:cNvPr name="Group 19" id="19"/>
            <p:cNvGrpSpPr/>
            <p:nvPr/>
          </p:nvGrpSpPr>
          <p:grpSpPr>
            <a:xfrm rot="0">
              <a:off x="0" y="0"/>
              <a:ext cx="18728950" cy="3372323"/>
              <a:chOff x="0" y="0"/>
              <a:chExt cx="1135704" cy="204494"/>
            </a:xfrm>
          </p:grpSpPr>
          <p:sp>
            <p:nvSpPr>
              <p:cNvPr name="Freeform 20" id="20"/>
              <p:cNvSpPr/>
              <p:nvPr/>
            </p:nvSpPr>
            <p:spPr>
              <a:xfrm flipH="false" flipV="false" rot="0">
                <a:off x="0" y="0"/>
                <a:ext cx="1135704" cy="204494"/>
              </a:xfrm>
              <a:custGeom>
                <a:avLst/>
                <a:gdLst/>
                <a:ahLst/>
                <a:cxnLst/>
                <a:rect r="r" b="b" t="t" l="l"/>
                <a:pathLst>
                  <a:path h="204494" w="1135704">
                    <a:moveTo>
                      <a:pt x="42628" y="0"/>
                    </a:moveTo>
                    <a:lnTo>
                      <a:pt x="1093075" y="0"/>
                    </a:lnTo>
                    <a:cubicBezTo>
                      <a:pt x="1104381" y="0"/>
                      <a:pt x="1115224" y="4491"/>
                      <a:pt x="1123218" y="12486"/>
                    </a:cubicBezTo>
                    <a:cubicBezTo>
                      <a:pt x="1131212" y="20480"/>
                      <a:pt x="1135704" y="31323"/>
                      <a:pt x="1135704" y="42628"/>
                    </a:cubicBezTo>
                    <a:lnTo>
                      <a:pt x="1135704" y="161866"/>
                    </a:lnTo>
                    <a:cubicBezTo>
                      <a:pt x="1135704" y="173171"/>
                      <a:pt x="1131212" y="184014"/>
                      <a:pt x="1123218" y="192009"/>
                    </a:cubicBezTo>
                    <a:cubicBezTo>
                      <a:pt x="1115224" y="200003"/>
                      <a:pt x="1104381" y="204494"/>
                      <a:pt x="1093075" y="204494"/>
                    </a:cubicBezTo>
                    <a:lnTo>
                      <a:pt x="42628" y="204494"/>
                    </a:lnTo>
                    <a:cubicBezTo>
                      <a:pt x="31323" y="204494"/>
                      <a:pt x="20480" y="200003"/>
                      <a:pt x="12486" y="192009"/>
                    </a:cubicBezTo>
                    <a:cubicBezTo>
                      <a:pt x="4491" y="184014"/>
                      <a:pt x="0" y="173171"/>
                      <a:pt x="0" y="161866"/>
                    </a:cubicBezTo>
                    <a:lnTo>
                      <a:pt x="0" y="42628"/>
                    </a:lnTo>
                    <a:cubicBezTo>
                      <a:pt x="0" y="31323"/>
                      <a:pt x="4491" y="20480"/>
                      <a:pt x="12486" y="12486"/>
                    </a:cubicBezTo>
                    <a:cubicBezTo>
                      <a:pt x="20480" y="4491"/>
                      <a:pt x="31323" y="0"/>
                      <a:pt x="42628" y="0"/>
                    </a:cubicBezTo>
                    <a:close/>
                  </a:path>
                </a:pathLst>
              </a:custGeom>
              <a:gradFill rotWithShape="true">
                <a:gsLst>
                  <a:gs pos="0">
                    <a:srgbClr val="85200C">
                      <a:alpha val="30000"/>
                    </a:srgbClr>
                  </a:gs>
                  <a:gs pos="100000">
                    <a:srgbClr val="DC4B0F">
                      <a:alpha val="100000"/>
                    </a:srgbClr>
                  </a:gs>
                </a:gsLst>
                <a:lin ang="0"/>
              </a:gradFill>
            </p:spPr>
          </p:sp>
          <p:sp>
            <p:nvSpPr>
              <p:cNvPr name="TextBox 21" id="21"/>
              <p:cNvSpPr txBox="true"/>
              <p:nvPr/>
            </p:nvSpPr>
            <p:spPr>
              <a:xfrm>
                <a:off x="0" y="28575"/>
                <a:ext cx="1135704" cy="175919"/>
              </a:xfrm>
              <a:prstGeom prst="rect">
                <a:avLst/>
              </a:prstGeom>
            </p:spPr>
            <p:txBody>
              <a:bodyPr anchor="ctr" rtlCol="false" tIns="50800" lIns="50800" bIns="50800" rIns="50800"/>
              <a:lstStyle/>
              <a:p>
                <a:pPr algn="ctr">
                  <a:lnSpc>
                    <a:spcPts val="1919"/>
                  </a:lnSpc>
                </a:pPr>
              </a:p>
            </p:txBody>
          </p:sp>
        </p:grpSp>
        <p:sp>
          <p:nvSpPr>
            <p:cNvPr name="TextBox 22" id="22"/>
            <p:cNvSpPr txBox="true"/>
            <p:nvPr/>
          </p:nvSpPr>
          <p:spPr>
            <a:xfrm rot="0">
              <a:off x="558221" y="522043"/>
              <a:ext cx="17739037" cy="2290137"/>
            </a:xfrm>
            <a:prstGeom prst="rect">
              <a:avLst/>
            </a:prstGeom>
          </p:spPr>
          <p:txBody>
            <a:bodyPr anchor="t" rtlCol="false" tIns="0" lIns="0" bIns="0" rIns="0">
              <a:spAutoFit/>
            </a:bodyPr>
            <a:lstStyle/>
            <a:p>
              <a:pPr algn="ctr">
                <a:lnSpc>
                  <a:spcPts val="3227"/>
                </a:lnSpc>
              </a:pPr>
              <a:r>
                <a:rPr lang="en-US" sz="3397" b="true">
                  <a:solidFill>
                    <a:srgbClr val="FFFFFF"/>
                  </a:solidFill>
                  <a:latin typeface="Poppins Semi-Bold"/>
                  <a:ea typeface="Poppins Semi-Bold"/>
                  <a:cs typeface="Poppins Semi-Bold"/>
                  <a:sym typeface="Poppins Semi-Bold"/>
                </a:rPr>
                <a:t>Priya joins every meeting with the brief already open. When the group spent twenty minutes going in circles in week 3, she said “we’ve got two real options, let’s list the pros of each and decide today.” They decided.</a:t>
              </a:r>
            </a:p>
          </p:txBody>
        </p:sp>
      </p:grpSp>
      <p:grpSp>
        <p:nvGrpSpPr>
          <p:cNvPr name="Group 23" id="23"/>
          <p:cNvGrpSpPr/>
          <p:nvPr/>
        </p:nvGrpSpPr>
        <p:grpSpPr>
          <a:xfrm rot="0">
            <a:off x="2086942" y="5524148"/>
            <a:ext cx="6705133" cy="2864363"/>
            <a:chOff x="0" y="0"/>
            <a:chExt cx="542123" cy="231589"/>
          </a:xfrm>
        </p:grpSpPr>
        <p:sp>
          <p:nvSpPr>
            <p:cNvPr name="Freeform 24" id="24"/>
            <p:cNvSpPr/>
            <p:nvPr/>
          </p:nvSpPr>
          <p:spPr>
            <a:xfrm flipH="false" flipV="false" rot="0">
              <a:off x="0" y="0"/>
              <a:ext cx="542123" cy="231589"/>
            </a:xfrm>
            <a:custGeom>
              <a:avLst/>
              <a:gdLst/>
              <a:ahLst/>
              <a:cxnLst/>
              <a:rect r="r" b="b" t="t" l="l"/>
              <a:pathLst>
                <a:path h="231589" w="542123">
                  <a:moveTo>
                    <a:pt x="68556" y="0"/>
                  </a:moveTo>
                  <a:lnTo>
                    <a:pt x="473567" y="0"/>
                  </a:lnTo>
                  <a:cubicBezTo>
                    <a:pt x="511429" y="0"/>
                    <a:pt x="542123" y="30694"/>
                    <a:pt x="542123" y="68556"/>
                  </a:cubicBezTo>
                  <a:lnTo>
                    <a:pt x="542123" y="163033"/>
                  </a:lnTo>
                  <a:cubicBezTo>
                    <a:pt x="542123" y="181215"/>
                    <a:pt x="534900" y="198653"/>
                    <a:pt x="522043" y="211510"/>
                  </a:cubicBezTo>
                  <a:cubicBezTo>
                    <a:pt x="509187" y="224366"/>
                    <a:pt x="491749" y="231589"/>
                    <a:pt x="473567" y="231589"/>
                  </a:cubicBezTo>
                  <a:lnTo>
                    <a:pt x="68556" y="231589"/>
                  </a:lnTo>
                  <a:cubicBezTo>
                    <a:pt x="50374" y="231589"/>
                    <a:pt x="32936" y="224366"/>
                    <a:pt x="20080" y="211510"/>
                  </a:cubicBezTo>
                  <a:cubicBezTo>
                    <a:pt x="7223" y="198653"/>
                    <a:pt x="0" y="181215"/>
                    <a:pt x="0" y="163033"/>
                  </a:cubicBezTo>
                  <a:lnTo>
                    <a:pt x="0" y="68556"/>
                  </a:lnTo>
                  <a:cubicBezTo>
                    <a:pt x="0" y="50374"/>
                    <a:pt x="7223" y="32936"/>
                    <a:pt x="20080" y="20080"/>
                  </a:cubicBezTo>
                  <a:cubicBezTo>
                    <a:pt x="32936" y="7223"/>
                    <a:pt x="50374" y="0"/>
                    <a:pt x="68556" y="0"/>
                  </a:cubicBezTo>
                  <a:close/>
                </a:path>
              </a:pathLst>
            </a:custGeom>
            <a:gradFill rotWithShape="true">
              <a:gsLst>
                <a:gs pos="0">
                  <a:srgbClr val="85200C">
                    <a:alpha val="30000"/>
                  </a:srgbClr>
                </a:gs>
                <a:gs pos="100000">
                  <a:srgbClr val="940000">
                    <a:alpha val="100000"/>
                  </a:srgbClr>
                </a:gs>
              </a:gsLst>
              <a:lin ang="0"/>
            </a:gradFill>
          </p:spPr>
        </p:sp>
        <p:sp>
          <p:nvSpPr>
            <p:cNvPr name="TextBox 25" id="25"/>
            <p:cNvSpPr txBox="true"/>
            <p:nvPr/>
          </p:nvSpPr>
          <p:spPr>
            <a:xfrm>
              <a:off x="0" y="28575"/>
              <a:ext cx="542123" cy="203014"/>
            </a:xfrm>
            <a:prstGeom prst="rect">
              <a:avLst/>
            </a:prstGeom>
          </p:spPr>
          <p:txBody>
            <a:bodyPr anchor="ctr" rtlCol="false" tIns="50800" lIns="50800" bIns="50800" rIns="50800"/>
            <a:lstStyle/>
            <a:p>
              <a:pPr algn="ctr">
                <a:lnSpc>
                  <a:spcPts val="1919"/>
                </a:lnSpc>
              </a:pPr>
            </a:p>
          </p:txBody>
        </p:sp>
      </p:grpSp>
      <p:grpSp>
        <p:nvGrpSpPr>
          <p:cNvPr name="Group 26" id="26"/>
          <p:cNvGrpSpPr/>
          <p:nvPr/>
        </p:nvGrpSpPr>
        <p:grpSpPr>
          <a:xfrm rot="0">
            <a:off x="9036459" y="5554638"/>
            <a:ext cx="6857760" cy="2864363"/>
            <a:chOff x="0" y="0"/>
            <a:chExt cx="9143680" cy="3819150"/>
          </a:xfrm>
        </p:grpSpPr>
        <p:grpSp>
          <p:nvGrpSpPr>
            <p:cNvPr name="Group 27" id="27"/>
            <p:cNvGrpSpPr/>
            <p:nvPr/>
          </p:nvGrpSpPr>
          <p:grpSpPr>
            <a:xfrm rot="0">
              <a:off x="50565" y="0"/>
              <a:ext cx="8869518" cy="3819150"/>
              <a:chOff x="0" y="0"/>
              <a:chExt cx="537838" cy="231589"/>
            </a:xfrm>
          </p:grpSpPr>
          <p:sp>
            <p:nvSpPr>
              <p:cNvPr name="Freeform 28" id="28"/>
              <p:cNvSpPr/>
              <p:nvPr/>
            </p:nvSpPr>
            <p:spPr>
              <a:xfrm flipH="false" flipV="false" rot="0">
                <a:off x="0" y="0"/>
                <a:ext cx="537838" cy="231589"/>
              </a:xfrm>
              <a:custGeom>
                <a:avLst/>
                <a:gdLst/>
                <a:ahLst/>
                <a:cxnLst/>
                <a:rect r="r" b="b" t="t" l="l"/>
                <a:pathLst>
                  <a:path h="231589" w="537838">
                    <a:moveTo>
                      <a:pt x="35130" y="0"/>
                    </a:moveTo>
                    <a:lnTo>
                      <a:pt x="502708" y="0"/>
                    </a:lnTo>
                    <a:cubicBezTo>
                      <a:pt x="512025" y="0"/>
                      <a:pt x="520961" y="3701"/>
                      <a:pt x="527549" y="10289"/>
                    </a:cubicBezTo>
                    <a:cubicBezTo>
                      <a:pt x="534137" y="16878"/>
                      <a:pt x="537838" y="25813"/>
                      <a:pt x="537838" y="35130"/>
                    </a:cubicBezTo>
                    <a:lnTo>
                      <a:pt x="537838" y="196459"/>
                    </a:lnTo>
                    <a:cubicBezTo>
                      <a:pt x="537838" y="205776"/>
                      <a:pt x="534137" y="214712"/>
                      <a:pt x="527549" y="221300"/>
                    </a:cubicBezTo>
                    <a:cubicBezTo>
                      <a:pt x="520961" y="227888"/>
                      <a:pt x="512025" y="231589"/>
                      <a:pt x="502708" y="231589"/>
                    </a:cubicBezTo>
                    <a:lnTo>
                      <a:pt x="35130" y="231589"/>
                    </a:lnTo>
                    <a:cubicBezTo>
                      <a:pt x="25813" y="231589"/>
                      <a:pt x="16878" y="227888"/>
                      <a:pt x="10289" y="221300"/>
                    </a:cubicBezTo>
                    <a:cubicBezTo>
                      <a:pt x="3701" y="214712"/>
                      <a:pt x="0" y="205776"/>
                      <a:pt x="0" y="196459"/>
                    </a:cubicBezTo>
                    <a:lnTo>
                      <a:pt x="0" y="35130"/>
                    </a:lnTo>
                    <a:cubicBezTo>
                      <a:pt x="0" y="25813"/>
                      <a:pt x="3701" y="16878"/>
                      <a:pt x="10289" y="10289"/>
                    </a:cubicBezTo>
                    <a:cubicBezTo>
                      <a:pt x="16878" y="3701"/>
                      <a:pt x="25813" y="0"/>
                      <a:pt x="35130" y="0"/>
                    </a:cubicBezTo>
                    <a:close/>
                  </a:path>
                </a:pathLst>
              </a:custGeom>
              <a:gradFill rotWithShape="true">
                <a:gsLst>
                  <a:gs pos="0">
                    <a:srgbClr val="85200C">
                      <a:alpha val="30000"/>
                    </a:srgbClr>
                  </a:gs>
                  <a:gs pos="100000">
                    <a:srgbClr val="008601">
                      <a:alpha val="100000"/>
                    </a:srgbClr>
                  </a:gs>
                </a:gsLst>
                <a:lin ang="0"/>
              </a:gradFill>
            </p:spPr>
          </p:sp>
          <p:sp>
            <p:nvSpPr>
              <p:cNvPr name="TextBox 29" id="29"/>
              <p:cNvSpPr txBox="true"/>
              <p:nvPr/>
            </p:nvSpPr>
            <p:spPr>
              <a:xfrm>
                <a:off x="0" y="28575"/>
                <a:ext cx="537838" cy="203014"/>
              </a:xfrm>
              <a:prstGeom prst="rect">
                <a:avLst/>
              </a:prstGeom>
            </p:spPr>
            <p:txBody>
              <a:bodyPr anchor="ctr" rtlCol="false" tIns="99925" lIns="99925" bIns="99925" rIns="99925"/>
              <a:lstStyle/>
              <a:p>
                <a:pPr algn="ctr">
                  <a:lnSpc>
                    <a:spcPts val="1919"/>
                  </a:lnSpc>
                </a:pPr>
              </a:p>
            </p:txBody>
          </p:sp>
        </p:grpSp>
        <p:sp>
          <p:nvSpPr>
            <p:cNvPr name="TextBox 30" id="30"/>
            <p:cNvSpPr txBox="true"/>
            <p:nvPr/>
          </p:nvSpPr>
          <p:spPr>
            <a:xfrm rot="0">
              <a:off x="0" y="656138"/>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GreenFlag</a:t>
              </a:r>
            </a:p>
          </p:txBody>
        </p:sp>
        <p:sp>
          <p:nvSpPr>
            <p:cNvPr name="TextBox 31" id="31"/>
            <p:cNvSpPr txBox="true"/>
            <p:nvPr/>
          </p:nvSpPr>
          <p:spPr>
            <a:xfrm rot="0">
              <a:off x="415950" y="506572"/>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Green Flag</a:t>
              </a:r>
            </a:p>
          </p:txBody>
        </p:sp>
      </p:grpSp>
      <p:sp>
        <p:nvSpPr>
          <p:cNvPr name="TextBox 32" id="32"/>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06</a:t>
            </a:r>
          </a:p>
        </p:txBody>
      </p:sp>
      <p:sp>
        <p:nvSpPr>
          <p:cNvPr name="TextBox 33" id="33"/>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34" id="34"/>
          <p:cNvSpPr txBox="true"/>
          <p:nvPr/>
        </p:nvSpPr>
        <p:spPr>
          <a:xfrm rot="0">
            <a:off x="415994" y="1409082"/>
            <a:ext cx="5981225" cy="591425"/>
          </a:xfrm>
          <a:prstGeom prst="rect">
            <a:avLst/>
          </a:prstGeom>
        </p:spPr>
        <p:txBody>
          <a:bodyPr anchor="t" rtlCol="false" tIns="0" lIns="0" bIns="0" rIns="0">
            <a:spAutoFit/>
          </a:bodyPr>
          <a:lstStyle/>
          <a:p>
            <a:pPr algn="l">
              <a:lnSpc>
                <a:spcPts val="4119"/>
              </a:lnSpc>
            </a:pPr>
            <a:r>
              <a:rPr lang="en-US" sz="4336" b="true">
                <a:solidFill>
                  <a:srgbClr val="FFFFFF"/>
                </a:solidFill>
                <a:latin typeface="Poppins Heavy"/>
                <a:ea typeface="Poppins Heavy"/>
                <a:cs typeface="Poppins Heavy"/>
                <a:sym typeface="Poppins Heavy"/>
              </a:rPr>
              <a:t>SCENARIO 1: PRIYA</a:t>
            </a:r>
          </a:p>
        </p:txBody>
      </p:sp>
      <p:grpSp>
        <p:nvGrpSpPr>
          <p:cNvPr name="Group 35" id="35"/>
          <p:cNvGrpSpPr/>
          <p:nvPr/>
        </p:nvGrpSpPr>
        <p:grpSpPr>
          <a:xfrm rot="0">
            <a:off x="2001030" y="6106016"/>
            <a:ext cx="6857760" cy="1869997"/>
            <a:chOff x="0" y="0"/>
            <a:chExt cx="9143680" cy="2493329"/>
          </a:xfrm>
        </p:grpSpPr>
        <p:sp>
          <p:nvSpPr>
            <p:cNvPr name="TextBox 36" id="36"/>
            <p:cNvSpPr txBox="true"/>
            <p:nvPr/>
          </p:nvSpPr>
          <p:spPr>
            <a:xfrm rot="0">
              <a:off x="0" y="-79033"/>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Red Flag</a:t>
              </a:r>
            </a:p>
          </p:txBody>
        </p:sp>
        <p:sp>
          <p:nvSpPr>
            <p:cNvPr name="TextBox 37" id="37"/>
            <p:cNvSpPr txBox="true"/>
            <p:nvPr/>
          </p:nvSpPr>
          <p:spPr>
            <a:xfrm rot="0">
              <a:off x="415950" y="-228600"/>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Red Flag</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761809" y="1287870"/>
            <a:ext cx="15278418" cy="1758535"/>
            <a:chOff x="0" y="0"/>
            <a:chExt cx="20371224" cy="2344713"/>
          </a:xfrm>
        </p:grpSpPr>
        <p:grpSp>
          <p:nvGrpSpPr>
            <p:cNvPr name="Group 16" id="16"/>
            <p:cNvGrpSpPr/>
            <p:nvPr/>
          </p:nvGrpSpPr>
          <p:grpSpPr>
            <a:xfrm rot="0">
              <a:off x="0" y="0"/>
              <a:ext cx="20371224" cy="2344713"/>
              <a:chOff x="0" y="0"/>
              <a:chExt cx="1488968" cy="171379"/>
            </a:xfrm>
          </p:grpSpPr>
          <p:sp>
            <p:nvSpPr>
              <p:cNvPr name="Freeform 17" id="17"/>
              <p:cNvSpPr/>
              <p:nvPr/>
            </p:nvSpPr>
            <p:spPr>
              <a:xfrm flipH="false" flipV="false" rot="0">
                <a:off x="0" y="0"/>
                <a:ext cx="1488968" cy="171379"/>
              </a:xfrm>
              <a:custGeom>
                <a:avLst/>
                <a:gdLst/>
                <a:ahLst/>
                <a:cxnLst/>
                <a:rect r="r" b="b" t="t" l="l"/>
                <a:pathLst>
                  <a:path h="171379" w="1488968">
                    <a:moveTo>
                      <a:pt x="32515" y="0"/>
                    </a:moveTo>
                    <a:lnTo>
                      <a:pt x="1456454" y="0"/>
                    </a:lnTo>
                    <a:cubicBezTo>
                      <a:pt x="1465077" y="0"/>
                      <a:pt x="1473347" y="3426"/>
                      <a:pt x="1479445" y="9523"/>
                    </a:cubicBezTo>
                    <a:cubicBezTo>
                      <a:pt x="1485543" y="15621"/>
                      <a:pt x="1488968" y="23891"/>
                      <a:pt x="1488968" y="32515"/>
                    </a:cubicBezTo>
                    <a:lnTo>
                      <a:pt x="1488968" y="138865"/>
                    </a:lnTo>
                    <a:cubicBezTo>
                      <a:pt x="1488968" y="156822"/>
                      <a:pt x="1474411" y="171379"/>
                      <a:pt x="1456454" y="171379"/>
                    </a:cubicBezTo>
                    <a:lnTo>
                      <a:pt x="32515" y="171379"/>
                    </a:lnTo>
                    <a:cubicBezTo>
                      <a:pt x="14557" y="171379"/>
                      <a:pt x="0" y="156822"/>
                      <a:pt x="0" y="138865"/>
                    </a:cubicBezTo>
                    <a:lnTo>
                      <a:pt x="0" y="32515"/>
                    </a:lnTo>
                    <a:cubicBezTo>
                      <a:pt x="0" y="23891"/>
                      <a:pt x="3426" y="15621"/>
                      <a:pt x="9523" y="9523"/>
                    </a:cubicBezTo>
                    <a:cubicBezTo>
                      <a:pt x="15621" y="3426"/>
                      <a:pt x="23891" y="0"/>
                      <a:pt x="32515" y="0"/>
                    </a:cubicBezTo>
                    <a:close/>
                  </a:path>
                </a:pathLst>
              </a:custGeom>
              <a:gradFill rotWithShape="true">
                <a:gsLst>
                  <a:gs pos="0">
                    <a:srgbClr val="85200C">
                      <a:alpha val="100000"/>
                    </a:srgbClr>
                  </a:gs>
                  <a:gs pos="100000">
                    <a:srgbClr val="DC4B0F">
                      <a:alpha val="100000"/>
                    </a:srgbClr>
                  </a:gs>
                </a:gsLst>
                <a:lin ang="0"/>
              </a:gradFill>
            </p:spPr>
          </p:sp>
          <p:sp>
            <p:nvSpPr>
              <p:cNvPr name="TextBox 18" id="18"/>
              <p:cNvSpPr txBox="true"/>
              <p:nvPr/>
            </p:nvSpPr>
            <p:spPr>
              <a:xfrm>
                <a:off x="0" y="28575"/>
                <a:ext cx="1488968" cy="142804"/>
              </a:xfrm>
              <a:prstGeom prst="rect">
                <a:avLst/>
              </a:prstGeom>
            </p:spPr>
            <p:txBody>
              <a:bodyPr anchor="ctr" rtlCol="false" tIns="50800" lIns="50800" bIns="50800" rIns="50800"/>
              <a:lstStyle/>
              <a:p>
                <a:pPr algn="ctr">
                  <a:lnSpc>
                    <a:spcPts val="1919"/>
                  </a:lnSpc>
                </a:pPr>
              </a:p>
            </p:txBody>
          </p:sp>
        </p:grpSp>
        <p:sp>
          <p:nvSpPr>
            <p:cNvPr name="TextBox 19" id="19"/>
            <p:cNvSpPr txBox="true"/>
            <p:nvPr/>
          </p:nvSpPr>
          <p:spPr>
            <a:xfrm rot="0">
              <a:off x="607170" y="439593"/>
              <a:ext cx="19294509" cy="1440410"/>
            </a:xfrm>
            <a:prstGeom prst="rect">
              <a:avLst/>
            </a:prstGeom>
          </p:spPr>
          <p:txBody>
            <a:bodyPr anchor="t" rtlCol="false" tIns="0" lIns="0" bIns="0" rIns="0">
              <a:spAutoFit/>
            </a:bodyPr>
            <a:lstStyle/>
            <a:p>
              <a:pPr algn="ctr">
                <a:lnSpc>
                  <a:spcPts val="2677"/>
                </a:lnSpc>
              </a:pPr>
              <a:r>
                <a:rPr lang="en-US" sz="2818" b="true">
                  <a:solidFill>
                    <a:srgbClr val="FFFFFF"/>
                  </a:solidFill>
                  <a:latin typeface="Poppins Semi-Bold"/>
                  <a:ea typeface="Poppins Semi-Bold"/>
                  <a:cs typeface="Poppins Semi-Bold"/>
                  <a:sym typeface="Poppins Semi-Bold"/>
                </a:rPr>
                <a:t>Priya joins every meeting with the brief already open. When the group spent twenty minutes going in circles in week 3, she said “we’ve got two real options, let’s list the pros of each and decide today.” They decided.</a:t>
              </a:r>
            </a:p>
          </p:txBody>
        </p:sp>
      </p:grpSp>
      <p:grpSp>
        <p:nvGrpSpPr>
          <p:cNvPr name="Group 20" id="20"/>
          <p:cNvGrpSpPr/>
          <p:nvPr/>
        </p:nvGrpSpPr>
        <p:grpSpPr>
          <a:xfrm rot="0">
            <a:off x="1848619" y="3267658"/>
            <a:ext cx="5070623" cy="2864363"/>
            <a:chOff x="0" y="0"/>
            <a:chExt cx="409970" cy="231589"/>
          </a:xfrm>
        </p:grpSpPr>
        <p:sp>
          <p:nvSpPr>
            <p:cNvPr name="Freeform 21" id="21"/>
            <p:cNvSpPr/>
            <p:nvPr/>
          </p:nvSpPr>
          <p:spPr>
            <a:xfrm flipH="false" flipV="false" rot="0">
              <a:off x="0" y="0"/>
              <a:ext cx="409970" cy="231589"/>
            </a:xfrm>
            <a:custGeom>
              <a:avLst/>
              <a:gdLst/>
              <a:ahLst/>
              <a:cxnLst/>
              <a:rect r="r" b="b" t="t" l="l"/>
              <a:pathLst>
                <a:path h="231589" w="409970">
                  <a:moveTo>
                    <a:pt x="90655" y="0"/>
                  </a:moveTo>
                  <a:lnTo>
                    <a:pt x="319315" y="0"/>
                  </a:lnTo>
                  <a:cubicBezTo>
                    <a:pt x="343358" y="0"/>
                    <a:pt x="366416" y="9551"/>
                    <a:pt x="383417" y="26552"/>
                  </a:cubicBezTo>
                  <a:cubicBezTo>
                    <a:pt x="400418" y="43553"/>
                    <a:pt x="409970" y="66612"/>
                    <a:pt x="409970" y="90655"/>
                  </a:cubicBezTo>
                  <a:lnTo>
                    <a:pt x="409970" y="140934"/>
                  </a:lnTo>
                  <a:cubicBezTo>
                    <a:pt x="409970" y="164978"/>
                    <a:pt x="400418" y="188036"/>
                    <a:pt x="383417" y="205037"/>
                  </a:cubicBezTo>
                  <a:cubicBezTo>
                    <a:pt x="366416" y="222038"/>
                    <a:pt x="343358" y="231589"/>
                    <a:pt x="319315" y="231589"/>
                  </a:cubicBezTo>
                  <a:lnTo>
                    <a:pt x="90655" y="231589"/>
                  </a:lnTo>
                  <a:cubicBezTo>
                    <a:pt x="40588" y="231589"/>
                    <a:pt x="0" y="191002"/>
                    <a:pt x="0" y="140934"/>
                  </a:cubicBezTo>
                  <a:lnTo>
                    <a:pt x="0" y="90655"/>
                  </a:lnTo>
                  <a:cubicBezTo>
                    <a:pt x="0" y="66612"/>
                    <a:pt x="9551" y="43553"/>
                    <a:pt x="26552" y="26552"/>
                  </a:cubicBezTo>
                  <a:cubicBezTo>
                    <a:pt x="43553" y="9551"/>
                    <a:pt x="66612" y="0"/>
                    <a:pt x="90655" y="0"/>
                  </a:cubicBezTo>
                  <a:close/>
                </a:path>
              </a:pathLst>
            </a:custGeom>
            <a:gradFill rotWithShape="true">
              <a:gsLst>
                <a:gs pos="0">
                  <a:srgbClr val="85200C">
                    <a:alpha val="30000"/>
                  </a:srgbClr>
                </a:gs>
                <a:gs pos="100000">
                  <a:srgbClr val="008601">
                    <a:alpha val="100000"/>
                  </a:srgbClr>
                </a:gs>
              </a:gsLst>
              <a:lin ang="0"/>
            </a:gradFill>
          </p:spPr>
        </p:sp>
        <p:sp>
          <p:nvSpPr>
            <p:cNvPr name="TextBox 22" id="22"/>
            <p:cNvSpPr txBox="true"/>
            <p:nvPr/>
          </p:nvSpPr>
          <p:spPr>
            <a:xfrm>
              <a:off x="0" y="28575"/>
              <a:ext cx="409970" cy="203014"/>
            </a:xfrm>
            <a:prstGeom prst="rect">
              <a:avLst/>
            </a:prstGeom>
          </p:spPr>
          <p:txBody>
            <a:bodyPr anchor="ctr" rtlCol="false" tIns="50800" lIns="50800" bIns="50800" rIns="50800"/>
            <a:lstStyle/>
            <a:p>
              <a:pPr algn="ctr">
                <a:lnSpc>
                  <a:spcPts val="1919"/>
                </a:lnSpc>
              </a:pPr>
            </a:p>
          </p:txBody>
        </p:sp>
      </p:grpSp>
      <p:grpSp>
        <p:nvGrpSpPr>
          <p:cNvPr name="Group 23" id="23"/>
          <p:cNvGrpSpPr/>
          <p:nvPr/>
        </p:nvGrpSpPr>
        <p:grpSpPr>
          <a:xfrm rot="0">
            <a:off x="7218350" y="3300359"/>
            <a:ext cx="9821878" cy="2715306"/>
            <a:chOff x="0" y="0"/>
            <a:chExt cx="957198" cy="264622"/>
          </a:xfrm>
        </p:grpSpPr>
        <p:sp>
          <p:nvSpPr>
            <p:cNvPr name="Freeform 24" id="24"/>
            <p:cNvSpPr/>
            <p:nvPr/>
          </p:nvSpPr>
          <p:spPr>
            <a:xfrm flipH="false" flipV="false" rot="0">
              <a:off x="0" y="0"/>
              <a:ext cx="957198" cy="264622"/>
            </a:xfrm>
            <a:custGeom>
              <a:avLst/>
              <a:gdLst/>
              <a:ahLst/>
              <a:cxnLst/>
              <a:rect r="r" b="b" t="t" l="l"/>
              <a:pathLst>
                <a:path h="264622" w="957198">
                  <a:moveTo>
                    <a:pt x="60965" y="0"/>
                  </a:moveTo>
                  <a:lnTo>
                    <a:pt x="896233" y="0"/>
                  </a:lnTo>
                  <a:cubicBezTo>
                    <a:pt x="912402" y="0"/>
                    <a:pt x="927908" y="6423"/>
                    <a:pt x="939341" y="17856"/>
                  </a:cubicBezTo>
                  <a:cubicBezTo>
                    <a:pt x="950775" y="29289"/>
                    <a:pt x="957198" y="44796"/>
                    <a:pt x="957198" y="60965"/>
                  </a:cubicBezTo>
                  <a:lnTo>
                    <a:pt x="957198" y="203657"/>
                  </a:lnTo>
                  <a:cubicBezTo>
                    <a:pt x="957198" y="237327"/>
                    <a:pt x="929903" y="264622"/>
                    <a:pt x="896233" y="264622"/>
                  </a:cubicBezTo>
                  <a:lnTo>
                    <a:pt x="60965" y="264622"/>
                  </a:lnTo>
                  <a:cubicBezTo>
                    <a:pt x="27295" y="264622"/>
                    <a:pt x="0" y="237327"/>
                    <a:pt x="0" y="203657"/>
                  </a:cubicBezTo>
                  <a:lnTo>
                    <a:pt x="0" y="60965"/>
                  </a:lnTo>
                  <a:cubicBezTo>
                    <a:pt x="0" y="27295"/>
                    <a:pt x="27295" y="0"/>
                    <a:pt x="60965" y="0"/>
                  </a:cubicBezTo>
                  <a:close/>
                </a:path>
              </a:pathLst>
            </a:custGeom>
            <a:gradFill rotWithShape="true">
              <a:gsLst>
                <a:gs pos="0">
                  <a:srgbClr val="85200C">
                    <a:alpha val="30000"/>
                  </a:srgbClr>
                </a:gs>
                <a:gs pos="100000">
                  <a:srgbClr val="DC4B0F">
                    <a:alpha val="100000"/>
                  </a:srgbClr>
                </a:gs>
              </a:gsLst>
              <a:lin ang="0"/>
            </a:gradFill>
          </p:spPr>
        </p:sp>
        <p:sp>
          <p:nvSpPr>
            <p:cNvPr name="TextBox 25" id="25"/>
            <p:cNvSpPr txBox="true"/>
            <p:nvPr/>
          </p:nvSpPr>
          <p:spPr>
            <a:xfrm>
              <a:off x="0" y="28575"/>
              <a:ext cx="957198" cy="236047"/>
            </a:xfrm>
            <a:prstGeom prst="rect">
              <a:avLst/>
            </a:prstGeom>
          </p:spPr>
          <p:txBody>
            <a:bodyPr anchor="ctr" rtlCol="false" tIns="42145" lIns="42145" bIns="42145" rIns="42145"/>
            <a:lstStyle/>
            <a:p>
              <a:pPr algn="ctr">
                <a:lnSpc>
                  <a:spcPts val="1919"/>
                </a:lnSpc>
              </a:pPr>
            </a:p>
          </p:txBody>
        </p:sp>
      </p:grpSp>
      <p:sp>
        <p:nvSpPr>
          <p:cNvPr name="TextBox 26" id="26"/>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07</a:t>
            </a:r>
          </a:p>
        </p:txBody>
      </p:sp>
      <p:sp>
        <p:nvSpPr>
          <p:cNvPr name="TextBox 27" id="27"/>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28" id="28"/>
          <p:cNvSpPr txBox="true"/>
          <p:nvPr/>
        </p:nvSpPr>
        <p:spPr>
          <a:xfrm rot="0">
            <a:off x="11797590" y="3651238"/>
            <a:ext cx="4440334" cy="2051648"/>
          </a:xfrm>
          <a:prstGeom prst="rect">
            <a:avLst/>
          </a:prstGeom>
        </p:spPr>
        <p:txBody>
          <a:bodyPr anchor="t" rtlCol="false" tIns="0" lIns="0" bIns="0" rIns="0">
            <a:spAutoFit/>
          </a:bodyPr>
          <a:lstStyle/>
          <a:p>
            <a:pPr algn="l">
              <a:lnSpc>
                <a:spcPts val="2677"/>
              </a:lnSpc>
            </a:pPr>
            <a:r>
              <a:rPr lang="en-US" sz="2818" b="true">
                <a:solidFill>
                  <a:srgbClr val="FFFFFF"/>
                </a:solidFill>
                <a:latin typeface="Poppins Semi-Bold"/>
                <a:ea typeface="Poppins Semi-Bold"/>
                <a:cs typeface="Poppins Semi-Bold"/>
                <a:sym typeface="Poppins Semi-Bold"/>
              </a:rPr>
              <a:t>She doesn’t just turn up, she moves the group forward. Preparation plus a willingness to force a decision is what stops meetings drifting.</a:t>
            </a:r>
          </a:p>
        </p:txBody>
      </p:sp>
      <p:grpSp>
        <p:nvGrpSpPr>
          <p:cNvPr name="Group 29" id="29"/>
          <p:cNvGrpSpPr/>
          <p:nvPr/>
        </p:nvGrpSpPr>
        <p:grpSpPr>
          <a:xfrm rot="0">
            <a:off x="7098242" y="3722679"/>
            <a:ext cx="4796052" cy="2152728"/>
            <a:chOff x="0" y="0"/>
            <a:chExt cx="6394736" cy="2870304"/>
          </a:xfrm>
        </p:grpSpPr>
        <p:sp>
          <p:nvSpPr>
            <p:cNvPr name="TextBox 30" id="30"/>
            <p:cNvSpPr txBox="true"/>
            <p:nvPr/>
          </p:nvSpPr>
          <p:spPr>
            <a:xfrm rot="0">
              <a:off x="370530" y="-94520"/>
              <a:ext cx="6024207" cy="2964824"/>
            </a:xfrm>
            <a:prstGeom prst="rect">
              <a:avLst/>
            </a:prstGeom>
          </p:spPr>
          <p:txBody>
            <a:bodyPr anchor="t" rtlCol="false" tIns="0" lIns="0" bIns="0" rIns="0">
              <a:spAutoFit/>
            </a:bodyPr>
            <a:lstStyle/>
            <a:p>
              <a:pPr algn="ctr">
                <a:lnSpc>
                  <a:spcPts val="18648"/>
                </a:lnSpc>
              </a:pPr>
              <a:r>
                <a:rPr lang="en-US" sz="13320" spc="39">
                  <a:solidFill>
                    <a:srgbClr val="000000">
                      <a:alpha val="30980"/>
                    </a:srgbClr>
                  </a:solidFill>
                  <a:latin typeface="Milestone Script"/>
                  <a:ea typeface="Milestone Script"/>
                  <a:cs typeface="Milestone Script"/>
                  <a:sym typeface="Milestone Script"/>
                </a:rPr>
                <a:t>Why?</a:t>
              </a:r>
            </a:p>
          </p:txBody>
        </p:sp>
        <p:sp>
          <p:nvSpPr>
            <p:cNvPr name="TextBox 31" id="31"/>
            <p:cNvSpPr txBox="true"/>
            <p:nvPr/>
          </p:nvSpPr>
          <p:spPr>
            <a:xfrm rot="0">
              <a:off x="0" y="-266700"/>
              <a:ext cx="6263643" cy="2964824"/>
            </a:xfrm>
            <a:prstGeom prst="rect">
              <a:avLst/>
            </a:prstGeom>
          </p:spPr>
          <p:txBody>
            <a:bodyPr anchor="t" rtlCol="false" tIns="0" lIns="0" bIns="0" rIns="0">
              <a:spAutoFit/>
            </a:bodyPr>
            <a:lstStyle/>
            <a:p>
              <a:pPr algn="ctr">
                <a:lnSpc>
                  <a:spcPts val="18648"/>
                </a:lnSpc>
              </a:pPr>
              <a:r>
                <a:rPr lang="en-US" sz="13320" spc="39">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Why?</a:t>
              </a:r>
            </a:p>
          </p:txBody>
        </p:sp>
      </p:grpSp>
      <p:sp>
        <p:nvSpPr>
          <p:cNvPr name="TextBox 32" id="32"/>
          <p:cNvSpPr txBox="true"/>
          <p:nvPr/>
        </p:nvSpPr>
        <p:spPr>
          <a:xfrm rot="0">
            <a:off x="2626674" y="3906961"/>
            <a:ext cx="3514512" cy="1690531"/>
          </a:xfrm>
          <a:prstGeom prst="rect">
            <a:avLst/>
          </a:prstGeom>
        </p:spPr>
        <p:txBody>
          <a:bodyPr anchor="t" rtlCol="false" tIns="0" lIns="0" bIns="0" rIns="0">
            <a:spAutoFit/>
          </a:bodyPr>
          <a:lstStyle/>
          <a:p>
            <a:pPr algn="ctr">
              <a:lnSpc>
                <a:spcPts val="6252"/>
              </a:lnSpc>
            </a:pPr>
            <a:r>
              <a:rPr lang="en-US" sz="6582" b="true">
                <a:solidFill>
                  <a:srgbClr val="FFFFFF"/>
                </a:solidFill>
                <a:latin typeface="Poppins Heavy"/>
                <a:ea typeface="Poppins Heavy"/>
                <a:cs typeface="Poppins Heavy"/>
                <a:sym typeface="Poppins Heavy"/>
              </a:rPr>
              <a:t>GREEN FLAG</a:t>
            </a:r>
          </a:p>
        </p:txBody>
      </p:sp>
      <p:grpSp>
        <p:nvGrpSpPr>
          <p:cNvPr name="Group 33" id="33"/>
          <p:cNvGrpSpPr/>
          <p:nvPr/>
        </p:nvGrpSpPr>
        <p:grpSpPr>
          <a:xfrm rot="0">
            <a:off x="3857803" y="6559486"/>
            <a:ext cx="11086429" cy="2036826"/>
            <a:chOff x="0" y="0"/>
            <a:chExt cx="14781906" cy="2715768"/>
          </a:xfrm>
        </p:grpSpPr>
        <p:grpSp>
          <p:nvGrpSpPr>
            <p:cNvPr name="Group 34" id="34"/>
            <p:cNvGrpSpPr/>
            <p:nvPr/>
          </p:nvGrpSpPr>
          <p:grpSpPr>
            <a:xfrm rot="0">
              <a:off x="168625" y="12700"/>
              <a:ext cx="14173532" cy="2665787"/>
              <a:chOff x="0" y="0"/>
              <a:chExt cx="1280731" cy="240883"/>
            </a:xfrm>
          </p:grpSpPr>
          <p:sp>
            <p:nvSpPr>
              <p:cNvPr name="Freeform 35" id="35"/>
              <p:cNvSpPr/>
              <p:nvPr/>
            </p:nvSpPr>
            <p:spPr>
              <a:xfrm flipH="false" flipV="false" rot="0">
                <a:off x="0" y="0"/>
                <a:ext cx="1280731" cy="240883"/>
              </a:xfrm>
              <a:custGeom>
                <a:avLst/>
                <a:gdLst/>
                <a:ahLst/>
                <a:cxnLst/>
                <a:rect r="r" b="b" t="t" l="l"/>
                <a:pathLst>
                  <a:path h="240883" w="1280731">
                    <a:moveTo>
                      <a:pt x="6828" y="0"/>
                    </a:moveTo>
                    <a:lnTo>
                      <a:pt x="1273903" y="0"/>
                    </a:lnTo>
                    <a:cubicBezTo>
                      <a:pt x="1275714" y="0"/>
                      <a:pt x="1277451" y="719"/>
                      <a:pt x="1278731" y="2000"/>
                    </a:cubicBezTo>
                    <a:cubicBezTo>
                      <a:pt x="1280012" y="3280"/>
                      <a:pt x="1280731" y="5017"/>
                      <a:pt x="1280731" y="6828"/>
                    </a:cubicBezTo>
                    <a:lnTo>
                      <a:pt x="1280731" y="234055"/>
                    </a:lnTo>
                    <a:cubicBezTo>
                      <a:pt x="1280731" y="235866"/>
                      <a:pt x="1280012" y="237602"/>
                      <a:pt x="1278731" y="238883"/>
                    </a:cubicBezTo>
                    <a:cubicBezTo>
                      <a:pt x="1277451" y="240163"/>
                      <a:pt x="1275714" y="240883"/>
                      <a:pt x="1273903" y="240883"/>
                    </a:cubicBezTo>
                    <a:lnTo>
                      <a:pt x="6828" y="240883"/>
                    </a:lnTo>
                    <a:cubicBezTo>
                      <a:pt x="5017" y="240883"/>
                      <a:pt x="3280" y="240163"/>
                      <a:pt x="2000" y="238883"/>
                    </a:cubicBezTo>
                    <a:cubicBezTo>
                      <a:pt x="719" y="237602"/>
                      <a:pt x="0" y="235866"/>
                      <a:pt x="0" y="234055"/>
                    </a:cubicBezTo>
                    <a:lnTo>
                      <a:pt x="0" y="6828"/>
                    </a:lnTo>
                    <a:cubicBezTo>
                      <a:pt x="0" y="5017"/>
                      <a:pt x="719" y="3280"/>
                      <a:pt x="2000" y="2000"/>
                    </a:cubicBezTo>
                    <a:cubicBezTo>
                      <a:pt x="3280" y="719"/>
                      <a:pt x="5017" y="0"/>
                      <a:pt x="6828" y="0"/>
                    </a:cubicBezTo>
                    <a:close/>
                  </a:path>
                </a:pathLst>
              </a:custGeom>
              <a:gradFill rotWithShape="true">
                <a:gsLst>
                  <a:gs pos="0">
                    <a:srgbClr val="FFFFFF">
                      <a:alpha val="100000"/>
                    </a:srgbClr>
                  </a:gs>
                  <a:gs pos="100000">
                    <a:srgbClr val="FFFFFF">
                      <a:alpha val="0"/>
                    </a:srgbClr>
                  </a:gs>
                </a:gsLst>
                <a:lin ang="0"/>
              </a:gradFill>
            </p:spPr>
          </p:sp>
          <p:sp>
            <p:nvSpPr>
              <p:cNvPr name="TextBox 36" id="36"/>
              <p:cNvSpPr txBox="true"/>
              <p:nvPr/>
            </p:nvSpPr>
            <p:spPr>
              <a:xfrm>
                <a:off x="0" y="28575"/>
                <a:ext cx="1280731" cy="212308"/>
              </a:xfrm>
              <a:prstGeom prst="rect">
                <a:avLst/>
              </a:prstGeom>
            </p:spPr>
            <p:txBody>
              <a:bodyPr anchor="ctr" rtlCol="false" tIns="42145" lIns="42145" bIns="42145" rIns="42145"/>
              <a:lstStyle/>
              <a:p>
                <a:pPr algn="ctr">
                  <a:lnSpc>
                    <a:spcPts val="1919"/>
                  </a:lnSpc>
                </a:pPr>
              </a:p>
            </p:txBody>
          </p:sp>
        </p:grpSp>
        <p:grpSp>
          <p:nvGrpSpPr>
            <p:cNvPr name="Group 37" id="37"/>
            <p:cNvGrpSpPr/>
            <p:nvPr/>
          </p:nvGrpSpPr>
          <p:grpSpPr>
            <a:xfrm rot="0">
              <a:off x="0" y="0"/>
              <a:ext cx="299496" cy="2715768"/>
              <a:chOff x="0" y="0"/>
              <a:chExt cx="46219" cy="419100"/>
            </a:xfrm>
          </p:grpSpPr>
          <p:sp>
            <p:nvSpPr>
              <p:cNvPr name="Freeform 38" id="38"/>
              <p:cNvSpPr/>
              <p:nvPr/>
            </p:nvSpPr>
            <p:spPr>
              <a:xfrm flipH="false" flipV="false" rot="0">
                <a:off x="0" y="0"/>
                <a:ext cx="46219" cy="419100"/>
              </a:xfrm>
              <a:custGeom>
                <a:avLst/>
                <a:gdLst/>
                <a:ahLst/>
                <a:cxnLst/>
                <a:rect r="r" b="b" t="t" l="l"/>
                <a:pathLst>
                  <a:path h="419100" w="46219">
                    <a:moveTo>
                      <a:pt x="23109" y="0"/>
                    </a:moveTo>
                    <a:lnTo>
                      <a:pt x="23109" y="0"/>
                    </a:lnTo>
                    <a:cubicBezTo>
                      <a:pt x="29238" y="0"/>
                      <a:pt x="35116" y="2435"/>
                      <a:pt x="39450" y="6769"/>
                    </a:cubicBezTo>
                    <a:cubicBezTo>
                      <a:pt x="43784" y="11102"/>
                      <a:pt x="46219" y="16980"/>
                      <a:pt x="46219" y="23109"/>
                    </a:cubicBezTo>
                    <a:lnTo>
                      <a:pt x="46219" y="395991"/>
                    </a:lnTo>
                    <a:cubicBezTo>
                      <a:pt x="46219" y="402120"/>
                      <a:pt x="43784" y="407998"/>
                      <a:pt x="39450" y="412331"/>
                    </a:cubicBezTo>
                    <a:cubicBezTo>
                      <a:pt x="35116" y="416665"/>
                      <a:pt x="29238" y="419100"/>
                      <a:pt x="23109" y="419100"/>
                    </a:cubicBezTo>
                    <a:lnTo>
                      <a:pt x="23109" y="419100"/>
                    </a:lnTo>
                    <a:cubicBezTo>
                      <a:pt x="16980" y="419100"/>
                      <a:pt x="11102" y="416665"/>
                      <a:pt x="6769" y="412331"/>
                    </a:cubicBezTo>
                    <a:cubicBezTo>
                      <a:pt x="2435" y="407998"/>
                      <a:pt x="0" y="402120"/>
                      <a:pt x="0" y="395991"/>
                    </a:cubicBezTo>
                    <a:lnTo>
                      <a:pt x="0" y="23109"/>
                    </a:lnTo>
                    <a:cubicBezTo>
                      <a:pt x="0" y="16980"/>
                      <a:pt x="2435" y="11102"/>
                      <a:pt x="6769" y="6769"/>
                    </a:cubicBezTo>
                    <a:cubicBezTo>
                      <a:pt x="11102" y="2435"/>
                      <a:pt x="16980" y="0"/>
                      <a:pt x="23109" y="0"/>
                    </a:cubicBezTo>
                    <a:close/>
                  </a:path>
                </a:pathLst>
              </a:custGeom>
              <a:solidFill>
                <a:srgbClr val="6E3125"/>
              </a:solidFill>
            </p:spPr>
          </p:sp>
          <p:sp>
            <p:nvSpPr>
              <p:cNvPr name="TextBox 39" id="39"/>
              <p:cNvSpPr txBox="true"/>
              <p:nvPr/>
            </p:nvSpPr>
            <p:spPr>
              <a:xfrm>
                <a:off x="0" y="28575"/>
                <a:ext cx="46219" cy="390525"/>
              </a:xfrm>
              <a:prstGeom prst="rect">
                <a:avLst/>
              </a:prstGeom>
            </p:spPr>
            <p:txBody>
              <a:bodyPr anchor="ctr" rtlCol="false" tIns="50800" lIns="50800" bIns="50800" rIns="50800"/>
              <a:lstStyle/>
              <a:p>
                <a:pPr algn="ctr">
                  <a:lnSpc>
                    <a:spcPts val="1919"/>
                  </a:lnSpc>
                </a:pPr>
              </a:p>
            </p:txBody>
          </p:sp>
        </p:grpSp>
        <p:sp>
          <p:nvSpPr>
            <p:cNvPr name="TextBox 40" id="40"/>
            <p:cNvSpPr txBox="true"/>
            <p:nvPr/>
          </p:nvSpPr>
          <p:spPr>
            <a:xfrm rot="0">
              <a:off x="552475" y="60008"/>
              <a:ext cx="14229430" cy="2529077"/>
            </a:xfrm>
            <a:prstGeom prst="rect">
              <a:avLst/>
            </a:prstGeom>
          </p:spPr>
          <p:txBody>
            <a:bodyPr anchor="t" rtlCol="false" tIns="0" lIns="0" bIns="0" rIns="0">
              <a:spAutoFit/>
            </a:bodyPr>
            <a:lstStyle/>
            <a:p>
              <a:pPr algn="l">
                <a:lnSpc>
                  <a:spcPts val="4870"/>
                </a:lnSpc>
              </a:pPr>
              <a:r>
                <a:rPr lang="en-US" sz="4551" b="true">
                  <a:solidFill>
                    <a:srgbClr val="6E3125"/>
                  </a:solidFill>
                  <a:latin typeface="Poppins Heavy"/>
                  <a:ea typeface="Poppins Heavy"/>
                  <a:cs typeface="Poppins Heavy"/>
                  <a:sym typeface="Poppins Heavy"/>
                </a:rPr>
                <a:t>Who plays this role in your group? What happens in a group where nobody does?</a:t>
              </a:r>
            </a:p>
          </p:txBody>
        </p:sp>
      </p:gr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271343" y="1105777"/>
            <a:ext cx="7487927" cy="1140886"/>
            <a:chOff x="0" y="0"/>
            <a:chExt cx="605413" cy="92243"/>
          </a:xfrm>
        </p:grpSpPr>
        <p:sp>
          <p:nvSpPr>
            <p:cNvPr name="Freeform 16" id="16"/>
            <p:cNvSpPr/>
            <p:nvPr/>
          </p:nvSpPr>
          <p:spPr>
            <a:xfrm flipH="false" flipV="false" rot="0">
              <a:off x="0" y="0"/>
              <a:ext cx="605413" cy="92243"/>
            </a:xfrm>
            <a:custGeom>
              <a:avLst/>
              <a:gdLst/>
              <a:ahLst/>
              <a:cxnLst/>
              <a:rect r="r" b="b" t="t" l="l"/>
              <a:pathLst>
                <a:path h="92243" w="605413">
                  <a:moveTo>
                    <a:pt x="46121" y="0"/>
                  </a:moveTo>
                  <a:lnTo>
                    <a:pt x="559292" y="0"/>
                  </a:lnTo>
                  <a:cubicBezTo>
                    <a:pt x="571524" y="0"/>
                    <a:pt x="583255" y="4859"/>
                    <a:pt x="591905" y="13509"/>
                  </a:cubicBezTo>
                  <a:cubicBezTo>
                    <a:pt x="600554" y="22158"/>
                    <a:pt x="605413" y="33889"/>
                    <a:pt x="605413" y="46121"/>
                  </a:cubicBezTo>
                  <a:lnTo>
                    <a:pt x="605413" y="46121"/>
                  </a:lnTo>
                  <a:cubicBezTo>
                    <a:pt x="605413" y="58354"/>
                    <a:pt x="600554" y="70085"/>
                    <a:pt x="591905" y="78734"/>
                  </a:cubicBezTo>
                  <a:cubicBezTo>
                    <a:pt x="583255" y="87384"/>
                    <a:pt x="571524" y="92243"/>
                    <a:pt x="559292" y="92243"/>
                  </a:cubicBezTo>
                  <a:lnTo>
                    <a:pt x="46121" y="92243"/>
                  </a:lnTo>
                  <a:cubicBezTo>
                    <a:pt x="33889" y="92243"/>
                    <a:pt x="22158" y="87384"/>
                    <a:pt x="13509" y="78734"/>
                  </a:cubicBezTo>
                  <a:cubicBezTo>
                    <a:pt x="4859" y="70085"/>
                    <a:pt x="0" y="58354"/>
                    <a:pt x="0" y="46121"/>
                  </a:cubicBezTo>
                  <a:lnTo>
                    <a:pt x="0" y="46121"/>
                  </a:lnTo>
                  <a:cubicBezTo>
                    <a:pt x="0" y="33889"/>
                    <a:pt x="4859" y="22158"/>
                    <a:pt x="13509" y="13509"/>
                  </a:cubicBezTo>
                  <a:cubicBezTo>
                    <a:pt x="22158" y="4859"/>
                    <a:pt x="33889" y="0"/>
                    <a:pt x="46121" y="0"/>
                  </a:cubicBezTo>
                  <a:close/>
                </a:path>
              </a:pathLst>
            </a:custGeom>
            <a:gradFill rotWithShape="true">
              <a:gsLst>
                <a:gs pos="0">
                  <a:srgbClr val="85200C">
                    <a:alpha val="100000"/>
                  </a:srgbClr>
                </a:gs>
                <a:gs pos="100000">
                  <a:srgbClr val="DC4B0F">
                    <a:alpha val="100000"/>
                  </a:srgbClr>
                </a:gs>
              </a:gsLst>
              <a:lin ang="0"/>
            </a:gradFill>
          </p:spPr>
        </p:sp>
        <p:sp>
          <p:nvSpPr>
            <p:cNvPr name="TextBox 17" id="17"/>
            <p:cNvSpPr txBox="true"/>
            <p:nvPr/>
          </p:nvSpPr>
          <p:spPr>
            <a:xfrm>
              <a:off x="0" y="28575"/>
              <a:ext cx="605413" cy="63668"/>
            </a:xfrm>
            <a:prstGeom prst="rect">
              <a:avLst/>
            </a:prstGeom>
          </p:spPr>
          <p:txBody>
            <a:bodyPr anchor="ctr" rtlCol="false" tIns="50800" lIns="50800" bIns="50800" rIns="50800"/>
            <a:lstStyle/>
            <a:p>
              <a:pPr algn="ctr">
                <a:lnSpc>
                  <a:spcPts val="1919"/>
                </a:lnSpc>
              </a:pPr>
            </a:p>
          </p:txBody>
        </p:sp>
      </p:grpSp>
      <p:grpSp>
        <p:nvGrpSpPr>
          <p:cNvPr name="Group 18" id="18"/>
          <p:cNvGrpSpPr/>
          <p:nvPr/>
        </p:nvGrpSpPr>
        <p:grpSpPr>
          <a:xfrm rot="0">
            <a:off x="2003578" y="2757065"/>
            <a:ext cx="14046712" cy="2529242"/>
            <a:chOff x="0" y="0"/>
            <a:chExt cx="18728950" cy="3372323"/>
          </a:xfrm>
        </p:grpSpPr>
        <p:grpSp>
          <p:nvGrpSpPr>
            <p:cNvPr name="Group 19" id="19"/>
            <p:cNvGrpSpPr/>
            <p:nvPr/>
          </p:nvGrpSpPr>
          <p:grpSpPr>
            <a:xfrm rot="0">
              <a:off x="0" y="0"/>
              <a:ext cx="18728950" cy="3372323"/>
              <a:chOff x="0" y="0"/>
              <a:chExt cx="1135704" cy="204494"/>
            </a:xfrm>
          </p:grpSpPr>
          <p:sp>
            <p:nvSpPr>
              <p:cNvPr name="Freeform 20" id="20"/>
              <p:cNvSpPr/>
              <p:nvPr/>
            </p:nvSpPr>
            <p:spPr>
              <a:xfrm flipH="false" flipV="false" rot="0">
                <a:off x="0" y="0"/>
                <a:ext cx="1135704" cy="204494"/>
              </a:xfrm>
              <a:custGeom>
                <a:avLst/>
                <a:gdLst/>
                <a:ahLst/>
                <a:cxnLst/>
                <a:rect r="r" b="b" t="t" l="l"/>
                <a:pathLst>
                  <a:path h="204494" w="1135704">
                    <a:moveTo>
                      <a:pt x="42628" y="0"/>
                    </a:moveTo>
                    <a:lnTo>
                      <a:pt x="1093075" y="0"/>
                    </a:lnTo>
                    <a:cubicBezTo>
                      <a:pt x="1104381" y="0"/>
                      <a:pt x="1115224" y="4491"/>
                      <a:pt x="1123218" y="12486"/>
                    </a:cubicBezTo>
                    <a:cubicBezTo>
                      <a:pt x="1131212" y="20480"/>
                      <a:pt x="1135704" y="31323"/>
                      <a:pt x="1135704" y="42628"/>
                    </a:cubicBezTo>
                    <a:lnTo>
                      <a:pt x="1135704" y="161866"/>
                    </a:lnTo>
                    <a:cubicBezTo>
                      <a:pt x="1135704" y="173171"/>
                      <a:pt x="1131212" y="184014"/>
                      <a:pt x="1123218" y="192009"/>
                    </a:cubicBezTo>
                    <a:cubicBezTo>
                      <a:pt x="1115224" y="200003"/>
                      <a:pt x="1104381" y="204494"/>
                      <a:pt x="1093075" y="204494"/>
                    </a:cubicBezTo>
                    <a:lnTo>
                      <a:pt x="42628" y="204494"/>
                    </a:lnTo>
                    <a:cubicBezTo>
                      <a:pt x="31323" y="204494"/>
                      <a:pt x="20480" y="200003"/>
                      <a:pt x="12486" y="192009"/>
                    </a:cubicBezTo>
                    <a:cubicBezTo>
                      <a:pt x="4491" y="184014"/>
                      <a:pt x="0" y="173171"/>
                      <a:pt x="0" y="161866"/>
                    </a:cubicBezTo>
                    <a:lnTo>
                      <a:pt x="0" y="42628"/>
                    </a:lnTo>
                    <a:cubicBezTo>
                      <a:pt x="0" y="31323"/>
                      <a:pt x="4491" y="20480"/>
                      <a:pt x="12486" y="12486"/>
                    </a:cubicBezTo>
                    <a:cubicBezTo>
                      <a:pt x="20480" y="4491"/>
                      <a:pt x="31323" y="0"/>
                      <a:pt x="42628" y="0"/>
                    </a:cubicBezTo>
                    <a:close/>
                  </a:path>
                </a:pathLst>
              </a:custGeom>
              <a:gradFill rotWithShape="true">
                <a:gsLst>
                  <a:gs pos="0">
                    <a:srgbClr val="85200C">
                      <a:alpha val="30000"/>
                    </a:srgbClr>
                  </a:gs>
                  <a:gs pos="100000">
                    <a:srgbClr val="DC4B0F">
                      <a:alpha val="100000"/>
                    </a:srgbClr>
                  </a:gs>
                </a:gsLst>
                <a:lin ang="0"/>
              </a:gradFill>
            </p:spPr>
          </p:sp>
          <p:sp>
            <p:nvSpPr>
              <p:cNvPr name="TextBox 21" id="21"/>
              <p:cNvSpPr txBox="true"/>
              <p:nvPr/>
            </p:nvSpPr>
            <p:spPr>
              <a:xfrm>
                <a:off x="0" y="28575"/>
                <a:ext cx="1135704" cy="175919"/>
              </a:xfrm>
              <a:prstGeom prst="rect">
                <a:avLst/>
              </a:prstGeom>
            </p:spPr>
            <p:txBody>
              <a:bodyPr anchor="ctr" rtlCol="false" tIns="50800" lIns="50800" bIns="50800" rIns="50800"/>
              <a:lstStyle/>
              <a:p>
                <a:pPr algn="ctr">
                  <a:lnSpc>
                    <a:spcPts val="1919"/>
                  </a:lnSpc>
                </a:pPr>
              </a:p>
            </p:txBody>
          </p:sp>
        </p:grpSp>
        <p:sp>
          <p:nvSpPr>
            <p:cNvPr name="TextBox 22" id="22"/>
            <p:cNvSpPr txBox="true"/>
            <p:nvPr/>
          </p:nvSpPr>
          <p:spPr>
            <a:xfrm rot="0">
              <a:off x="558221" y="522043"/>
              <a:ext cx="17739037" cy="2290137"/>
            </a:xfrm>
            <a:prstGeom prst="rect">
              <a:avLst/>
            </a:prstGeom>
          </p:spPr>
          <p:txBody>
            <a:bodyPr anchor="t" rtlCol="false" tIns="0" lIns="0" bIns="0" rIns="0">
              <a:spAutoFit/>
            </a:bodyPr>
            <a:lstStyle/>
            <a:p>
              <a:pPr algn="ctr">
                <a:lnSpc>
                  <a:spcPts val="3227"/>
                </a:lnSpc>
              </a:pPr>
              <a:r>
                <a:rPr lang="en-US" sz="3397" b="true">
                  <a:solidFill>
                    <a:srgbClr val="FFFFFF"/>
                  </a:solidFill>
                  <a:latin typeface="Poppins Semi-Bold"/>
                  <a:ea typeface="Poppins Semi-Bold"/>
                  <a:cs typeface="Poppins Semi-Bold"/>
                  <a:sym typeface="Poppins Semi-Bold"/>
                </a:rPr>
                <a:t>Sam volunteered for the market analysis in week 4. Between weeks 6 and 9 he didn’t reply to six messages. The group reallocated his section with a fortnight left, and neither of the two who picked it up had done the reading.</a:t>
              </a:r>
            </a:p>
          </p:txBody>
        </p:sp>
      </p:grpSp>
      <p:grpSp>
        <p:nvGrpSpPr>
          <p:cNvPr name="Group 23" id="23"/>
          <p:cNvGrpSpPr/>
          <p:nvPr/>
        </p:nvGrpSpPr>
        <p:grpSpPr>
          <a:xfrm rot="0">
            <a:off x="2086942" y="5524148"/>
            <a:ext cx="6705133" cy="2864363"/>
            <a:chOff x="0" y="0"/>
            <a:chExt cx="542123" cy="231589"/>
          </a:xfrm>
        </p:grpSpPr>
        <p:sp>
          <p:nvSpPr>
            <p:cNvPr name="Freeform 24" id="24"/>
            <p:cNvSpPr/>
            <p:nvPr/>
          </p:nvSpPr>
          <p:spPr>
            <a:xfrm flipH="false" flipV="false" rot="0">
              <a:off x="0" y="0"/>
              <a:ext cx="542123" cy="231589"/>
            </a:xfrm>
            <a:custGeom>
              <a:avLst/>
              <a:gdLst/>
              <a:ahLst/>
              <a:cxnLst/>
              <a:rect r="r" b="b" t="t" l="l"/>
              <a:pathLst>
                <a:path h="231589" w="542123">
                  <a:moveTo>
                    <a:pt x="68556" y="0"/>
                  </a:moveTo>
                  <a:lnTo>
                    <a:pt x="473567" y="0"/>
                  </a:lnTo>
                  <a:cubicBezTo>
                    <a:pt x="511429" y="0"/>
                    <a:pt x="542123" y="30694"/>
                    <a:pt x="542123" y="68556"/>
                  </a:cubicBezTo>
                  <a:lnTo>
                    <a:pt x="542123" y="163033"/>
                  </a:lnTo>
                  <a:cubicBezTo>
                    <a:pt x="542123" y="181215"/>
                    <a:pt x="534900" y="198653"/>
                    <a:pt x="522043" y="211510"/>
                  </a:cubicBezTo>
                  <a:cubicBezTo>
                    <a:pt x="509187" y="224366"/>
                    <a:pt x="491749" y="231589"/>
                    <a:pt x="473567" y="231589"/>
                  </a:cubicBezTo>
                  <a:lnTo>
                    <a:pt x="68556" y="231589"/>
                  </a:lnTo>
                  <a:cubicBezTo>
                    <a:pt x="50374" y="231589"/>
                    <a:pt x="32936" y="224366"/>
                    <a:pt x="20080" y="211510"/>
                  </a:cubicBezTo>
                  <a:cubicBezTo>
                    <a:pt x="7223" y="198653"/>
                    <a:pt x="0" y="181215"/>
                    <a:pt x="0" y="163033"/>
                  </a:cubicBezTo>
                  <a:lnTo>
                    <a:pt x="0" y="68556"/>
                  </a:lnTo>
                  <a:cubicBezTo>
                    <a:pt x="0" y="50374"/>
                    <a:pt x="7223" y="32936"/>
                    <a:pt x="20080" y="20080"/>
                  </a:cubicBezTo>
                  <a:cubicBezTo>
                    <a:pt x="32936" y="7223"/>
                    <a:pt x="50374" y="0"/>
                    <a:pt x="68556" y="0"/>
                  </a:cubicBezTo>
                  <a:close/>
                </a:path>
              </a:pathLst>
            </a:custGeom>
            <a:gradFill rotWithShape="true">
              <a:gsLst>
                <a:gs pos="0">
                  <a:srgbClr val="85200C">
                    <a:alpha val="30000"/>
                  </a:srgbClr>
                </a:gs>
                <a:gs pos="100000">
                  <a:srgbClr val="940000">
                    <a:alpha val="100000"/>
                  </a:srgbClr>
                </a:gs>
              </a:gsLst>
              <a:lin ang="0"/>
            </a:gradFill>
          </p:spPr>
        </p:sp>
        <p:sp>
          <p:nvSpPr>
            <p:cNvPr name="TextBox 25" id="25"/>
            <p:cNvSpPr txBox="true"/>
            <p:nvPr/>
          </p:nvSpPr>
          <p:spPr>
            <a:xfrm>
              <a:off x="0" y="28575"/>
              <a:ext cx="542123" cy="203014"/>
            </a:xfrm>
            <a:prstGeom prst="rect">
              <a:avLst/>
            </a:prstGeom>
          </p:spPr>
          <p:txBody>
            <a:bodyPr anchor="ctr" rtlCol="false" tIns="50800" lIns="50800" bIns="50800" rIns="50800"/>
            <a:lstStyle/>
            <a:p>
              <a:pPr algn="ctr">
                <a:lnSpc>
                  <a:spcPts val="1919"/>
                </a:lnSpc>
              </a:pPr>
            </a:p>
          </p:txBody>
        </p:sp>
      </p:grpSp>
      <p:grpSp>
        <p:nvGrpSpPr>
          <p:cNvPr name="Group 26" id="26"/>
          <p:cNvGrpSpPr/>
          <p:nvPr/>
        </p:nvGrpSpPr>
        <p:grpSpPr>
          <a:xfrm rot="0">
            <a:off x="9036459" y="5554638"/>
            <a:ext cx="6857760" cy="2864363"/>
            <a:chOff x="0" y="0"/>
            <a:chExt cx="9143680" cy="3819150"/>
          </a:xfrm>
        </p:grpSpPr>
        <p:grpSp>
          <p:nvGrpSpPr>
            <p:cNvPr name="Group 27" id="27"/>
            <p:cNvGrpSpPr/>
            <p:nvPr/>
          </p:nvGrpSpPr>
          <p:grpSpPr>
            <a:xfrm rot="0">
              <a:off x="50565" y="0"/>
              <a:ext cx="8869518" cy="3819150"/>
              <a:chOff x="0" y="0"/>
              <a:chExt cx="537838" cy="231589"/>
            </a:xfrm>
          </p:grpSpPr>
          <p:sp>
            <p:nvSpPr>
              <p:cNvPr name="Freeform 28" id="28"/>
              <p:cNvSpPr/>
              <p:nvPr/>
            </p:nvSpPr>
            <p:spPr>
              <a:xfrm flipH="false" flipV="false" rot="0">
                <a:off x="0" y="0"/>
                <a:ext cx="537838" cy="231589"/>
              </a:xfrm>
              <a:custGeom>
                <a:avLst/>
                <a:gdLst/>
                <a:ahLst/>
                <a:cxnLst/>
                <a:rect r="r" b="b" t="t" l="l"/>
                <a:pathLst>
                  <a:path h="231589" w="537838">
                    <a:moveTo>
                      <a:pt x="35130" y="0"/>
                    </a:moveTo>
                    <a:lnTo>
                      <a:pt x="502708" y="0"/>
                    </a:lnTo>
                    <a:cubicBezTo>
                      <a:pt x="512025" y="0"/>
                      <a:pt x="520961" y="3701"/>
                      <a:pt x="527549" y="10289"/>
                    </a:cubicBezTo>
                    <a:cubicBezTo>
                      <a:pt x="534137" y="16878"/>
                      <a:pt x="537838" y="25813"/>
                      <a:pt x="537838" y="35130"/>
                    </a:cubicBezTo>
                    <a:lnTo>
                      <a:pt x="537838" y="196459"/>
                    </a:lnTo>
                    <a:cubicBezTo>
                      <a:pt x="537838" y="205776"/>
                      <a:pt x="534137" y="214712"/>
                      <a:pt x="527549" y="221300"/>
                    </a:cubicBezTo>
                    <a:cubicBezTo>
                      <a:pt x="520961" y="227888"/>
                      <a:pt x="512025" y="231589"/>
                      <a:pt x="502708" y="231589"/>
                    </a:cubicBezTo>
                    <a:lnTo>
                      <a:pt x="35130" y="231589"/>
                    </a:lnTo>
                    <a:cubicBezTo>
                      <a:pt x="25813" y="231589"/>
                      <a:pt x="16878" y="227888"/>
                      <a:pt x="10289" y="221300"/>
                    </a:cubicBezTo>
                    <a:cubicBezTo>
                      <a:pt x="3701" y="214712"/>
                      <a:pt x="0" y="205776"/>
                      <a:pt x="0" y="196459"/>
                    </a:cubicBezTo>
                    <a:lnTo>
                      <a:pt x="0" y="35130"/>
                    </a:lnTo>
                    <a:cubicBezTo>
                      <a:pt x="0" y="25813"/>
                      <a:pt x="3701" y="16878"/>
                      <a:pt x="10289" y="10289"/>
                    </a:cubicBezTo>
                    <a:cubicBezTo>
                      <a:pt x="16878" y="3701"/>
                      <a:pt x="25813" y="0"/>
                      <a:pt x="35130" y="0"/>
                    </a:cubicBezTo>
                    <a:close/>
                  </a:path>
                </a:pathLst>
              </a:custGeom>
              <a:gradFill rotWithShape="true">
                <a:gsLst>
                  <a:gs pos="0">
                    <a:srgbClr val="85200C">
                      <a:alpha val="30000"/>
                    </a:srgbClr>
                  </a:gs>
                  <a:gs pos="100000">
                    <a:srgbClr val="008601">
                      <a:alpha val="100000"/>
                    </a:srgbClr>
                  </a:gs>
                </a:gsLst>
                <a:lin ang="0"/>
              </a:gradFill>
            </p:spPr>
          </p:sp>
          <p:sp>
            <p:nvSpPr>
              <p:cNvPr name="TextBox 29" id="29"/>
              <p:cNvSpPr txBox="true"/>
              <p:nvPr/>
            </p:nvSpPr>
            <p:spPr>
              <a:xfrm>
                <a:off x="0" y="28575"/>
                <a:ext cx="537838" cy="203014"/>
              </a:xfrm>
              <a:prstGeom prst="rect">
                <a:avLst/>
              </a:prstGeom>
            </p:spPr>
            <p:txBody>
              <a:bodyPr anchor="ctr" rtlCol="false" tIns="99925" lIns="99925" bIns="99925" rIns="99925"/>
              <a:lstStyle/>
              <a:p>
                <a:pPr algn="ctr">
                  <a:lnSpc>
                    <a:spcPts val="1919"/>
                  </a:lnSpc>
                </a:pPr>
              </a:p>
            </p:txBody>
          </p:sp>
        </p:grpSp>
        <p:sp>
          <p:nvSpPr>
            <p:cNvPr name="TextBox 30" id="30"/>
            <p:cNvSpPr txBox="true"/>
            <p:nvPr/>
          </p:nvSpPr>
          <p:spPr>
            <a:xfrm rot="0">
              <a:off x="0" y="656138"/>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GreenFlag</a:t>
              </a:r>
            </a:p>
          </p:txBody>
        </p:sp>
        <p:sp>
          <p:nvSpPr>
            <p:cNvPr name="TextBox 31" id="31"/>
            <p:cNvSpPr txBox="true"/>
            <p:nvPr/>
          </p:nvSpPr>
          <p:spPr>
            <a:xfrm rot="0">
              <a:off x="415950" y="506572"/>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Green Flag</a:t>
              </a:r>
            </a:p>
          </p:txBody>
        </p:sp>
      </p:grpSp>
      <p:sp>
        <p:nvSpPr>
          <p:cNvPr name="TextBox 32" id="32"/>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08</a:t>
            </a:r>
          </a:p>
        </p:txBody>
      </p:sp>
      <p:sp>
        <p:nvSpPr>
          <p:cNvPr name="TextBox 33" id="33"/>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34" id="34"/>
          <p:cNvSpPr txBox="true"/>
          <p:nvPr/>
        </p:nvSpPr>
        <p:spPr>
          <a:xfrm rot="0">
            <a:off x="415994" y="1409082"/>
            <a:ext cx="5981225" cy="591425"/>
          </a:xfrm>
          <a:prstGeom prst="rect">
            <a:avLst/>
          </a:prstGeom>
        </p:spPr>
        <p:txBody>
          <a:bodyPr anchor="t" rtlCol="false" tIns="0" lIns="0" bIns="0" rIns="0">
            <a:spAutoFit/>
          </a:bodyPr>
          <a:lstStyle/>
          <a:p>
            <a:pPr algn="l">
              <a:lnSpc>
                <a:spcPts val="4119"/>
              </a:lnSpc>
            </a:pPr>
            <a:r>
              <a:rPr lang="en-US" sz="4336" b="true">
                <a:solidFill>
                  <a:srgbClr val="FFFFFF"/>
                </a:solidFill>
                <a:latin typeface="Poppins Heavy"/>
                <a:ea typeface="Poppins Heavy"/>
                <a:cs typeface="Poppins Heavy"/>
                <a:sym typeface="Poppins Heavy"/>
              </a:rPr>
              <a:t>SCENARIO 2: SAM</a:t>
            </a:r>
          </a:p>
        </p:txBody>
      </p:sp>
      <p:grpSp>
        <p:nvGrpSpPr>
          <p:cNvPr name="Group 35" id="35"/>
          <p:cNvGrpSpPr/>
          <p:nvPr/>
        </p:nvGrpSpPr>
        <p:grpSpPr>
          <a:xfrm rot="0">
            <a:off x="2001030" y="6106016"/>
            <a:ext cx="6857760" cy="1869997"/>
            <a:chOff x="0" y="0"/>
            <a:chExt cx="9143680" cy="2493329"/>
          </a:xfrm>
        </p:grpSpPr>
        <p:sp>
          <p:nvSpPr>
            <p:cNvPr name="TextBox 36" id="36"/>
            <p:cNvSpPr txBox="true"/>
            <p:nvPr/>
          </p:nvSpPr>
          <p:spPr>
            <a:xfrm rot="0">
              <a:off x="0" y="-79033"/>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Red Flag</a:t>
              </a:r>
            </a:p>
          </p:txBody>
        </p:sp>
        <p:sp>
          <p:nvSpPr>
            <p:cNvPr name="TextBox 37" id="37"/>
            <p:cNvSpPr txBox="true"/>
            <p:nvPr/>
          </p:nvSpPr>
          <p:spPr>
            <a:xfrm rot="0">
              <a:off x="415950" y="-228600"/>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Red Flag</a:t>
              </a:r>
            </a:p>
          </p:txBody>
        </p:sp>
      </p:gr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761809" y="1287870"/>
            <a:ext cx="15278418" cy="1739275"/>
            <a:chOff x="0" y="0"/>
            <a:chExt cx="20371224" cy="2319034"/>
          </a:xfrm>
        </p:grpSpPr>
        <p:grpSp>
          <p:nvGrpSpPr>
            <p:cNvPr name="Group 16" id="16"/>
            <p:cNvGrpSpPr/>
            <p:nvPr/>
          </p:nvGrpSpPr>
          <p:grpSpPr>
            <a:xfrm rot="0">
              <a:off x="0" y="0"/>
              <a:ext cx="20371224" cy="2319034"/>
              <a:chOff x="0" y="0"/>
              <a:chExt cx="1488968" cy="169502"/>
            </a:xfrm>
          </p:grpSpPr>
          <p:sp>
            <p:nvSpPr>
              <p:cNvPr name="Freeform 17" id="17"/>
              <p:cNvSpPr/>
              <p:nvPr/>
            </p:nvSpPr>
            <p:spPr>
              <a:xfrm flipH="false" flipV="false" rot="0">
                <a:off x="0" y="0"/>
                <a:ext cx="1488968" cy="169502"/>
              </a:xfrm>
              <a:custGeom>
                <a:avLst/>
                <a:gdLst/>
                <a:ahLst/>
                <a:cxnLst/>
                <a:rect r="r" b="b" t="t" l="l"/>
                <a:pathLst>
                  <a:path h="169502" w="1488968">
                    <a:moveTo>
                      <a:pt x="32515" y="0"/>
                    </a:moveTo>
                    <a:lnTo>
                      <a:pt x="1456454" y="0"/>
                    </a:lnTo>
                    <a:cubicBezTo>
                      <a:pt x="1465077" y="0"/>
                      <a:pt x="1473347" y="3426"/>
                      <a:pt x="1479445" y="9523"/>
                    </a:cubicBezTo>
                    <a:cubicBezTo>
                      <a:pt x="1485543" y="15621"/>
                      <a:pt x="1488968" y="23891"/>
                      <a:pt x="1488968" y="32515"/>
                    </a:cubicBezTo>
                    <a:lnTo>
                      <a:pt x="1488968" y="136988"/>
                    </a:lnTo>
                    <a:cubicBezTo>
                      <a:pt x="1488968" y="154945"/>
                      <a:pt x="1474411" y="169502"/>
                      <a:pt x="1456454" y="169502"/>
                    </a:cubicBezTo>
                    <a:lnTo>
                      <a:pt x="32515" y="169502"/>
                    </a:lnTo>
                    <a:cubicBezTo>
                      <a:pt x="23891" y="169502"/>
                      <a:pt x="15621" y="166077"/>
                      <a:pt x="9523" y="159979"/>
                    </a:cubicBezTo>
                    <a:cubicBezTo>
                      <a:pt x="3426" y="153881"/>
                      <a:pt x="0" y="145611"/>
                      <a:pt x="0" y="136988"/>
                    </a:cubicBezTo>
                    <a:lnTo>
                      <a:pt x="0" y="32515"/>
                    </a:lnTo>
                    <a:cubicBezTo>
                      <a:pt x="0" y="23891"/>
                      <a:pt x="3426" y="15621"/>
                      <a:pt x="9523" y="9523"/>
                    </a:cubicBezTo>
                    <a:cubicBezTo>
                      <a:pt x="15621" y="3426"/>
                      <a:pt x="23891" y="0"/>
                      <a:pt x="32515" y="0"/>
                    </a:cubicBezTo>
                    <a:close/>
                  </a:path>
                </a:pathLst>
              </a:custGeom>
              <a:gradFill rotWithShape="true">
                <a:gsLst>
                  <a:gs pos="0">
                    <a:srgbClr val="85200C">
                      <a:alpha val="100000"/>
                    </a:srgbClr>
                  </a:gs>
                  <a:gs pos="100000">
                    <a:srgbClr val="DC4B0F">
                      <a:alpha val="100000"/>
                    </a:srgbClr>
                  </a:gs>
                </a:gsLst>
                <a:lin ang="0"/>
              </a:gradFill>
            </p:spPr>
          </p:sp>
          <p:sp>
            <p:nvSpPr>
              <p:cNvPr name="TextBox 18" id="18"/>
              <p:cNvSpPr txBox="true"/>
              <p:nvPr/>
            </p:nvSpPr>
            <p:spPr>
              <a:xfrm>
                <a:off x="0" y="28575"/>
                <a:ext cx="1488968" cy="140927"/>
              </a:xfrm>
              <a:prstGeom prst="rect">
                <a:avLst/>
              </a:prstGeom>
            </p:spPr>
            <p:txBody>
              <a:bodyPr anchor="ctr" rtlCol="false" tIns="50800" lIns="50800" bIns="50800" rIns="50800"/>
              <a:lstStyle/>
              <a:p>
                <a:pPr algn="ctr">
                  <a:lnSpc>
                    <a:spcPts val="1919"/>
                  </a:lnSpc>
                </a:pPr>
              </a:p>
            </p:txBody>
          </p:sp>
        </p:grpSp>
        <p:sp>
          <p:nvSpPr>
            <p:cNvPr name="TextBox 19" id="19"/>
            <p:cNvSpPr txBox="true"/>
            <p:nvPr/>
          </p:nvSpPr>
          <p:spPr>
            <a:xfrm rot="0">
              <a:off x="607170" y="439593"/>
              <a:ext cx="19294509" cy="1414731"/>
            </a:xfrm>
            <a:prstGeom prst="rect">
              <a:avLst/>
            </a:prstGeom>
          </p:spPr>
          <p:txBody>
            <a:bodyPr anchor="t" rtlCol="false" tIns="0" lIns="0" bIns="0" rIns="0">
              <a:spAutoFit/>
            </a:bodyPr>
            <a:lstStyle/>
            <a:p>
              <a:pPr algn="ctr">
                <a:lnSpc>
                  <a:spcPts val="2677"/>
                </a:lnSpc>
              </a:pPr>
              <a:r>
                <a:rPr lang="en-US" sz="2818" b="true">
                  <a:solidFill>
                    <a:srgbClr val="FFFFFF"/>
                  </a:solidFill>
                  <a:latin typeface="Poppins Semi-Bold"/>
                  <a:ea typeface="Poppins Semi-Bold"/>
                  <a:cs typeface="Poppins Semi-Bold"/>
                  <a:sym typeface="Poppins Semi-Bold"/>
                </a:rPr>
                <a:t>Sam volunteered for the market analysis in week 4. Between weeks 6 and 9 he didn’t reply to six messages. The group reallocated his section with a fortnight left, and neither of the two who picked it up had done the reading. </a:t>
              </a:r>
            </a:p>
          </p:txBody>
        </p:sp>
      </p:grpSp>
      <p:grpSp>
        <p:nvGrpSpPr>
          <p:cNvPr name="Group 20" id="20"/>
          <p:cNvGrpSpPr/>
          <p:nvPr/>
        </p:nvGrpSpPr>
        <p:grpSpPr>
          <a:xfrm rot="0">
            <a:off x="1848619" y="3267658"/>
            <a:ext cx="5070623" cy="2864363"/>
            <a:chOff x="0" y="0"/>
            <a:chExt cx="409970" cy="231589"/>
          </a:xfrm>
        </p:grpSpPr>
        <p:sp>
          <p:nvSpPr>
            <p:cNvPr name="Freeform 21" id="21"/>
            <p:cNvSpPr/>
            <p:nvPr/>
          </p:nvSpPr>
          <p:spPr>
            <a:xfrm flipH="false" flipV="false" rot="0">
              <a:off x="0" y="0"/>
              <a:ext cx="409970" cy="231589"/>
            </a:xfrm>
            <a:custGeom>
              <a:avLst/>
              <a:gdLst/>
              <a:ahLst/>
              <a:cxnLst/>
              <a:rect r="r" b="b" t="t" l="l"/>
              <a:pathLst>
                <a:path h="231589" w="409970">
                  <a:moveTo>
                    <a:pt x="90655" y="0"/>
                  </a:moveTo>
                  <a:lnTo>
                    <a:pt x="319315" y="0"/>
                  </a:lnTo>
                  <a:cubicBezTo>
                    <a:pt x="343358" y="0"/>
                    <a:pt x="366416" y="9551"/>
                    <a:pt x="383417" y="26552"/>
                  </a:cubicBezTo>
                  <a:cubicBezTo>
                    <a:pt x="400418" y="43553"/>
                    <a:pt x="409970" y="66612"/>
                    <a:pt x="409970" y="90655"/>
                  </a:cubicBezTo>
                  <a:lnTo>
                    <a:pt x="409970" y="140934"/>
                  </a:lnTo>
                  <a:cubicBezTo>
                    <a:pt x="409970" y="164978"/>
                    <a:pt x="400418" y="188036"/>
                    <a:pt x="383417" y="205037"/>
                  </a:cubicBezTo>
                  <a:cubicBezTo>
                    <a:pt x="366416" y="222038"/>
                    <a:pt x="343358" y="231589"/>
                    <a:pt x="319315" y="231589"/>
                  </a:cubicBezTo>
                  <a:lnTo>
                    <a:pt x="90655" y="231589"/>
                  </a:lnTo>
                  <a:cubicBezTo>
                    <a:pt x="40588" y="231589"/>
                    <a:pt x="0" y="191002"/>
                    <a:pt x="0" y="140934"/>
                  </a:cubicBezTo>
                  <a:lnTo>
                    <a:pt x="0" y="90655"/>
                  </a:lnTo>
                  <a:cubicBezTo>
                    <a:pt x="0" y="66612"/>
                    <a:pt x="9551" y="43553"/>
                    <a:pt x="26552" y="26552"/>
                  </a:cubicBezTo>
                  <a:cubicBezTo>
                    <a:pt x="43553" y="9551"/>
                    <a:pt x="66612" y="0"/>
                    <a:pt x="90655" y="0"/>
                  </a:cubicBezTo>
                  <a:close/>
                </a:path>
              </a:pathLst>
            </a:custGeom>
            <a:gradFill rotWithShape="true">
              <a:gsLst>
                <a:gs pos="0">
                  <a:srgbClr val="85200C">
                    <a:alpha val="30000"/>
                  </a:srgbClr>
                </a:gs>
                <a:gs pos="100000">
                  <a:srgbClr val="940000">
                    <a:alpha val="100000"/>
                  </a:srgbClr>
                </a:gs>
              </a:gsLst>
              <a:lin ang="0"/>
            </a:gradFill>
          </p:spPr>
        </p:sp>
        <p:sp>
          <p:nvSpPr>
            <p:cNvPr name="TextBox 22" id="22"/>
            <p:cNvSpPr txBox="true"/>
            <p:nvPr/>
          </p:nvSpPr>
          <p:spPr>
            <a:xfrm>
              <a:off x="0" y="28575"/>
              <a:ext cx="409970" cy="203014"/>
            </a:xfrm>
            <a:prstGeom prst="rect">
              <a:avLst/>
            </a:prstGeom>
          </p:spPr>
          <p:txBody>
            <a:bodyPr anchor="ctr" rtlCol="false" tIns="50800" lIns="50800" bIns="50800" rIns="50800"/>
            <a:lstStyle/>
            <a:p>
              <a:pPr algn="ctr">
                <a:lnSpc>
                  <a:spcPts val="1919"/>
                </a:lnSpc>
              </a:pPr>
            </a:p>
          </p:txBody>
        </p:sp>
      </p:grpSp>
      <p:grpSp>
        <p:nvGrpSpPr>
          <p:cNvPr name="Group 23" id="23"/>
          <p:cNvGrpSpPr/>
          <p:nvPr/>
        </p:nvGrpSpPr>
        <p:grpSpPr>
          <a:xfrm rot="0">
            <a:off x="7218350" y="3300359"/>
            <a:ext cx="9821878" cy="2715306"/>
            <a:chOff x="0" y="0"/>
            <a:chExt cx="957198" cy="264622"/>
          </a:xfrm>
        </p:grpSpPr>
        <p:sp>
          <p:nvSpPr>
            <p:cNvPr name="Freeform 24" id="24"/>
            <p:cNvSpPr/>
            <p:nvPr/>
          </p:nvSpPr>
          <p:spPr>
            <a:xfrm flipH="false" flipV="false" rot="0">
              <a:off x="0" y="0"/>
              <a:ext cx="957198" cy="264622"/>
            </a:xfrm>
            <a:custGeom>
              <a:avLst/>
              <a:gdLst/>
              <a:ahLst/>
              <a:cxnLst/>
              <a:rect r="r" b="b" t="t" l="l"/>
              <a:pathLst>
                <a:path h="264622" w="957198">
                  <a:moveTo>
                    <a:pt x="60965" y="0"/>
                  </a:moveTo>
                  <a:lnTo>
                    <a:pt x="896233" y="0"/>
                  </a:lnTo>
                  <a:cubicBezTo>
                    <a:pt x="912402" y="0"/>
                    <a:pt x="927908" y="6423"/>
                    <a:pt x="939341" y="17856"/>
                  </a:cubicBezTo>
                  <a:cubicBezTo>
                    <a:pt x="950775" y="29289"/>
                    <a:pt x="957198" y="44796"/>
                    <a:pt x="957198" y="60965"/>
                  </a:cubicBezTo>
                  <a:lnTo>
                    <a:pt x="957198" y="203657"/>
                  </a:lnTo>
                  <a:cubicBezTo>
                    <a:pt x="957198" y="237327"/>
                    <a:pt x="929903" y="264622"/>
                    <a:pt x="896233" y="264622"/>
                  </a:cubicBezTo>
                  <a:lnTo>
                    <a:pt x="60965" y="264622"/>
                  </a:lnTo>
                  <a:cubicBezTo>
                    <a:pt x="27295" y="264622"/>
                    <a:pt x="0" y="237327"/>
                    <a:pt x="0" y="203657"/>
                  </a:cubicBezTo>
                  <a:lnTo>
                    <a:pt x="0" y="60965"/>
                  </a:lnTo>
                  <a:cubicBezTo>
                    <a:pt x="0" y="27295"/>
                    <a:pt x="27295" y="0"/>
                    <a:pt x="60965" y="0"/>
                  </a:cubicBezTo>
                  <a:close/>
                </a:path>
              </a:pathLst>
            </a:custGeom>
            <a:gradFill rotWithShape="true">
              <a:gsLst>
                <a:gs pos="0">
                  <a:srgbClr val="85200C">
                    <a:alpha val="30000"/>
                  </a:srgbClr>
                </a:gs>
                <a:gs pos="100000">
                  <a:srgbClr val="DC4B0F">
                    <a:alpha val="100000"/>
                  </a:srgbClr>
                </a:gs>
              </a:gsLst>
              <a:lin ang="0"/>
            </a:gradFill>
          </p:spPr>
        </p:sp>
        <p:sp>
          <p:nvSpPr>
            <p:cNvPr name="TextBox 25" id="25"/>
            <p:cNvSpPr txBox="true"/>
            <p:nvPr/>
          </p:nvSpPr>
          <p:spPr>
            <a:xfrm>
              <a:off x="0" y="28575"/>
              <a:ext cx="957198" cy="236047"/>
            </a:xfrm>
            <a:prstGeom prst="rect">
              <a:avLst/>
            </a:prstGeom>
          </p:spPr>
          <p:txBody>
            <a:bodyPr anchor="ctr" rtlCol="false" tIns="42145" lIns="42145" bIns="42145" rIns="42145"/>
            <a:lstStyle/>
            <a:p>
              <a:pPr algn="ctr">
                <a:lnSpc>
                  <a:spcPts val="1919"/>
                </a:lnSpc>
              </a:pPr>
            </a:p>
          </p:txBody>
        </p:sp>
      </p:grpSp>
      <p:sp>
        <p:nvSpPr>
          <p:cNvPr name="TextBox 26" id="26"/>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09</a:t>
            </a:r>
          </a:p>
        </p:txBody>
      </p:sp>
      <p:sp>
        <p:nvSpPr>
          <p:cNvPr name="TextBox 27" id="27"/>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28" id="28"/>
          <p:cNvSpPr txBox="true"/>
          <p:nvPr/>
        </p:nvSpPr>
        <p:spPr>
          <a:xfrm rot="0">
            <a:off x="11797590" y="3849811"/>
            <a:ext cx="4921364" cy="1576019"/>
          </a:xfrm>
          <a:prstGeom prst="rect">
            <a:avLst/>
          </a:prstGeom>
        </p:spPr>
        <p:txBody>
          <a:bodyPr anchor="t" rtlCol="false" tIns="0" lIns="0" bIns="0" rIns="0">
            <a:spAutoFit/>
          </a:bodyPr>
          <a:lstStyle/>
          <a:p>
            <a:pPr algn="l">
              <a:lnSpc>
                <a:spcPts val="2475"/>
              </a:lnSpc>
            </a:pPr>
            <a:r>
              <a:rPr lang="en-US" sz="2605" b="true">
                <a:solidFill>
                  <a:srgbClr val="FFFFFF"/>
                </a:solidFill>
                <a:latin typeface="Poppins Semi-Bold"/>
                <a:ea typeface="Poppins Semi-Bold"/>
                <a:cs typeface="Poppins Semi-Bold"/>
                <a:sym typeface="Poppins Semi-Bold"/>
              </a:rPr>
              <a:t>The problem isn’t that he fell behind. It’s the silence. Three weeks of no contact turned a manageable problem into a crisis for two other people.</a:t>
            </a:r>
          </a:p>
        </p:txBody>
      </p:sp>
      <p:grpSp>
        <p:nvGrpSpPr>
          <p:cNvPr name="Group 29" id="29"/>
          <p:cNvGrpSpPr/>
          <p:nvPr/>
        </p:nvGrpSpPr>
        <p:grpSpPr>
          <a:xfrm rot="0">
            <a:off x="7098242" y="3722679"/>
            <a:ext cx="4796052" cy="2152728"/>
            <a:chOff x="0" y="0"/>
            <a:chExt cx="6394736" cy="2870304"/>
          </a:xfrm>
        </p:grpSpPr>
        <p:sp>
          <p:nvSpPr>
            <p:cNvPr name="TextBox 30" id="30"/>
            <p:cNvSpPr txBox="true"/>
            <p:nvPr/>
          </p:nvSpPr>
          <p:spPr>
            <a:xfrm rot="0">
              <a:off x="370530" y="-94520"/>
              <a:ext cx="6024207" cy="2964824"/>
            </a:xfrm>
            <a:prstGeom prst="rect">
              <a:avLst/>
            </a:prstGeom>
          </p:spPr>
          <p:txBody>
            <a:bodyPr anchor="t" rtlCol="false" tIns="0" lIns="0" bIns="0" rIns="0">
              <a:spAutoFit/>
            </a:bodyPr>
            <a:lstStyle/>
            <a:p>
              <a:pPr algn="ctr">
                <a:lnSpc>
                  <a:spcPts val="18648"/>
                </a:lnSpc>
              </a:pPr>
              <a:r>
                <a:rPr lang="en-US" sz="13320" spc="39">
                  <a:solidFill>
                    <a:srgbClr val="000000">
                      <a:alpha val="30980"/>
                    </a:srgbClr>
                  </a:solidFill>
                  <a:latin typeface="Milestone Script"/>
                  <a:ea typeface="Milestone Script"/>
                  <a:cs typeface="Milestone Script"/>
                  <a:sym typeface="Milestone Script"/>
                </a:rPr>
                <a:t>Why?</a:t>
              </a:r>
            </a:p>
          </p:txBody>
        </p:sp>
        <p:sp>
          <p:nvSpPr>
            <p:cNvPr name="TextBox 31" id="31"/>
            <p:cNvSpPr txBox="true"/>
            <p:nvPr/>
          </p:nvSpPr>
          <p:spPr>
            <a:xfrm rot="0">
              <a:off x="0" y="-266700"/>
              <a:ext cx="6263643" cy="2964824"/>
            </a:xfrm>
            <a:prstGeom prst="rect">
              <a:avLst/>
            </a:prstGeom>
          </p:spPr>
          <p:txBody>
            <a:bodyPr anchor="t" rtlCol="false" tIns="0" lIns="0" bIns="0" rIns="0">
              <a:spAutoFit/>
            </a:bodyPr>
            <a:lstStyle/>
            <a:p>
              <a:pPr algn="ctr">
                <a:lnSpc>
                  <a:spcPts val="18648"/>
                </a:lnSpc>
              </a:pPr>
              <a:r>
                <a:rPr lang="en-US" sz="13320" spc="39">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Why?</a:t>
              </a:r>
            </a:p>
          </p:txBody>
        </p:sp>
      </p:grpSp>
      <p:sp>
        <p:nvSpPr>
          <p:cNvPr name="TextBox 32" id="32"/>
          <p:cNvSpPr txBox="true"/>
          <p:nvPr/>
        </p:nvSpPr>
        <p:spPr>
          <a:xfrm rot="0">
            <a:off x="2626674" y="3906961"/>
            <a:ext cx="3514512" cy="1690531"/>
          </a:xfrm>
          <a:prstGeom prst="rect">
            <a:avLst/>
          </a:prstGeom>
        </p:spPr>
        <p:txBody>
          <a:bodyPr anchor="t" rtlCol="false" tIns="0" lIns="0" bIns="0" rIns="0">
            <a:spAutoFit/>
          </a:bodyPr>
          <a:lstStyle/>
          <a:p>
            <a:pPr algn="ctr">
              <a:lnSpc>
                <a:spcPts val="6252"/>
              </a:lnSpc>
            </a:pPr>
            <a:r>
              <a:rPr lang="en-US" sz="6582" b="true">
                <a:solidFill>
                  <a:srgbClr val="FFFFFF"/>
                </a:solidFill>
                <a:latin typeface="Poppins Heavy"/>
                <a:ea typeface="Poppins Heavy"/>
                <a:cs typeface="Poppins Heavy"/>
                <a:sym typeface="Poppins Heavy"/>
              </a:rPr>
              <a:t>RED FLAG</a:t>
            </a:r>
          </a:p>
        </p:txBody>
      </p:sp>
      <p:grpSp>
        <p:nvGrpSpPr>
          <p:cNvPr name="Group 33" id="33"/>
          <p:cNvGrpSpPr/>
          <p:nvPr/>
        </p:nvGrpSpPr>
        <p:grpSpPr>
          <a:xfrm rot="0">
            <a:off x="3857803" y="6559486"/>
            <a:ext cx="10756617" cy="2036826"/>
            <a:chOff x="0" y="0"/>
            <a:chExt cx="14342157" cy="2715768"/>
          </a:xfrm>
        </p:grpSpPr>
        <p:grpSp>
          <p:nvGrpSpPr>
            <p:cNvPr name="Group 34" id="34"/>
            <p:cNvGrpSpPr/>
            <p:nvPr/>
          </p:nvGrpSpPr>
          <p:grpSpPr>
            <a:xfrm rot="0">
              <a:off x="168625" y="12700"/>
              <a:ext cx="14173532" cy="2665787"/>
              <a:chOff x="0" y="0"/>
              <a:chExt cx="1280731" cy="240883"/>
            </a:xfrm>
          </p:grpSpPr>
          <p:sp>
            <p:nvSpPr>
              <p:cNvPr name="Freeform 35" id="35"/>
              <p:cNvSpPr/>
              <p:nvPr/>
            </p:nvSpPr>
            <p:spPr>
              <a:xfrm flipH="false" flipV="false" rot="0">
                <a:off x="0" y="0"/>
                <a:ext cx="1280731" cy="240883"/>
              </a:xfrm>
              <a:custGeom>
                <a:avLst/>
                <a:gdLst/>
                <a:ahLst/>
                <a:cxnLst/>
                <a:rect r="r" b="b" t="t" l="l"/>
                <a:pathLst>
                  <a:path h="240883" w="1280731">
                    <a:moveTo>
                      <a:pt x="6828" y="0"/>
                    </a:moveTo>
                    <a:lnTo>
                      <a:pt x="1273903" y="0"/>
                    </a:lnTo>
                    <a:cubicBezTo>
                      <a:pt x="1275714" y="0"/>
                      <a:pt x="1277451" y="719"/>
                      <a:pt x="1278731" y="2000"/>
                    </a:cubicBezTo>
                    <a:cubicBezTo>
                      <a:pt x="1280012" y="3280"/>
                      <a:pt x="1280731" y="5017"/>
                      <a:pt x="1280731" y="6828"/>
                    </a:cubicBezTo>
                    <a:lnTo>
                      <a:pt x="1280731" y="234055"/>
                    </a:lnTo>
                    <a:cubicBezTo>
                      <a:pt x="1280731" y="235866"/>
                      <a:pt x="1280012" y="237602"/>
                      <a:pt x="1278731" y="238883"/>
                    </a:cubicBezTo>
                    <a:cubicBezTo>
                      <a:pt x="1277451" y="240163"/>
                      <a:pt x="1275714" y="240883"/>
                      <a:pt x="1273903" y="240883"/>
                    </a:cubicBezTo>
                    <a:lnTo>
                      <a:pt x="6828" y="240883"/>
                    </a:lnTo>
                    <a:cubicBezTo>
                      <a:pt x="5017" y="240883"/>
                      <a:pt x="3280" y="240163"/>
                      <a:pt x="2000" y="238883"/>
                    </a:cubicBezTo>
                    <a:cubicBezTo>
                      <a:pt x="719" y="237602"/>
                      <a:pt x="0" y="235866"/>
                      <a:pt x="0" y="234055"/>
                    </a:cubicBezTo>
                    <a:lnTo>
                      <a:pt x="0" y="6828"/>
                    </a:lnTo>
                    <a:cubicBezTo>
                      <a:pt x="0" y="5017"/>
                      <a:pt x="719" y="3280"/>
                      <a:pt x="2000" y="2000"/>
                    </a:cubicBezTo>
                    <a:cubicBezTo>
                      <a:pt x="3280" y="719"/>
                      <a:pt x="5017" y="0"/>
                      <a:pt x="6828" y="0"/>
                    </a:cubicBezTo>
                    <a:close/>
                  </a:path>
                </a:pathLst>
              </a:custGeom>
              <a:gradFill rotWithShape="true">
                <a:gsLst>
                  <a:gs pos="0">
                    <a:srgbClr val="FFFFFF">
                      <a:alpha val="100000"/>
                    </a:srgbClr>
                  </a:gs>
                  <a:gs pos="100000">
                    <a:srgbClr val="FFFFFF">
                      <a:alpha val="0"/>
                    </a:srgbClr>
                  </a:gs>
                </a:gsLst>
                <a:lin ang="0"/>
              </a:gradFill>
            </p:spPr>
          </p:sp>
          <p:sp>
            <p:nvSpPr>
              <p:cNvPr name="TextBox 36" id="36"/>
              <p:cNvSpPr txBox="true"/>
              <p:nvPr/>
            </p:nvSpPr>
            <p:spPr>
              <a:xfrm>
                <a:off x="0" y="28575"/>
                <a:ext cx="1280731" cy="212308"/>
              </a:xfrm>
              <a:prstGeom prst="rect">
                <a:avLst/>
              </a:prstGeom>
            </p:spPr>
            <p:txBody>
              <a:bodyPr anchor="ctr" rtlCol="false" tIns="42145" lIns="42145" bIns="42145" rIns="42145"/>
              <a:lstStyle/>
              <a:p>
                <a:pPr algn="ctr">
                  <a:lnSpc>
                    <a:spcPts val="1919"/>
                  </a:lnSpc>
                </a:pPr>
              </a:p>
            </p:txBody>
          </p:sp>
        </p:grpSp>
        <p:grpSp>
          <p:nvGrpSpPr>
            <p:cNvPr name="Group 37" id="37"/>
            <p:cNvGrpSpPr/>
            <p:nvPr/>
          </p:nvGrpSpPr>
          <p:grpSpPr>
            <a:xfrm rot="0">
              <a:off x="0" y="0"/>
              <a:ext cx="299496" cy="2715768"/>
              <a:chOff x="0" y="0"/>
              <a:chExt cx="46219" cy="419100"/>
            </a:xfrm>
          </p:grpSpPr>
          <p:sp>
            <p:nvSpPr>
              <p:cNvPr name="Freeform 38" id="38"/>
              <p:cNvSpPr/>
              <p:nvPr/>
            </p:nvSpPr>
            <p:spPr>
              <a:xfrm flipH="false" flipV="false" rot="0">
                <a:off x="0" y="0"/>
                <a:ext cx="46219" cy="419100"/>
              </a:xfrm>
              <a:custGeom>
                <a:avLst/>
                <a:gdLst/>
                <a:ahLst/>
                <a:cxnLst/>
                <a:rect r="r" b="b" t="t" l="l"/>
                <a:pathLst>
                  <a:path h="419100" w="46219">
                    <a:moveTo>
                      <a:pt x="23109" y="0"/>
                    </a:moveTo>
                    <a:lnTo>
                      <a:pt x="23109" y="0"/>
                    </a:lnTo>
                    <a:cubicBezTo>
                      <a:pt x="29238" y="0"/>
                      <a:pt x="35116" y="2435"/>
                      <a:pt x="39450" y="6769"/>
                    </a:cubicBezTo>
                    <a:cubicBezTo>
                      <a:pt x="43784" y="11102"/>
                      <a:pt x="46219" y="16980"/>
                      <a:pt x="46219" y="23109"/>
                    </a:cubicBezTo>
                    <a:lnTo>
                      <a:pt x="46219" y="395991"/>
                    </a:lnTo>
                    <a:cubicBezTo>
                      <a:pt x="46219" y="402120"/>
                      <a:pt x="43784" y="407998"/>
                      <a:pt x="39450" y="412331"/>
                    </a:cubicBezTo>
                    <a:cubicBezTo>
                      <a:pt x="35116" y="416665"/>
                      <a:pt x="29238" y="419100"/>
                      <a:pt x="23109" y="419100"/>
                    </a:cubicBezTo>
                    <a:lnTo>
                      <a:pt x="23109" y="419100"/>
                    </a:lnTo>
                    <a:cubicBezTo>
                      <a:pt x="16980" y="419100"/>
                      <a:pt x="11102" y="416665"/>
                      <a:pt x="6769" y="412331"/>
                    </a:cubicBezTo>
                    <a:cubicBezTo>
                      <a:pt x="2435" y="407998"/>
                      <a:pt x="0" y="402120"/>
                      <a:pt x="0" y="395991"/>
                    </a:cubicBezTo>
                    <a:lnTo>
                      <a:pt x="0" y="23109"/>
                    </a:lnTo>
                    <a:cubicBezTo>
                      <a:pt x="0" y="16980"/>
                      <a:pt x="2435" y="11102"/>
                      <a:pt x="6769" y="6769"/>
                    </a:cubicBezTo>
                    <a:cubicBezTo>
                      <a:pt x="11102" y="2435"/>
                      <a:pt x="16980" y="0"/>
                      <a:pt x="23109" y="0"/>
                    </a:cubicBezTo>
                    <a:close/>
                  </a:path>
                </a:pathLst>
              </a:custGeom>
              <a:solidFill>
                <a:srgbClr val="6E3125"/>
              </a:solidFill>
            </p:spPr>
          </p:sp>
          <p:sp>
            <p:nvSpPr>
              <p:cNvPr name="TextBox 39" id="39"/>
              <p:cNvSpPr txBox="true"/>
              <p:nvPr/>
            </p:nvSpPr>
            <p:spPr>
              <a:xfrm>
                <a:off x="0" y="28575"/>
                <a:ext cx="46219" cy="390525"/>
              </a:xfrm>
              <a:prstGeom prst="rect">
                <a:avLst/>
              </a:prstGeom>
            </p:spPr>
            <p:txBody>
              <a:bodyPr anchor="ctr" rtlCol="false" tIns="50800" lIns="50800" bIns="50800" rIns="50800"/>
              <a:lstStyle/>
              <a:p>
                <a:pPr algn="ctr">
                  <a:lnSpc>
                    <a:spcPts val="1919"/>
                  </a:lnSpc>
                </a:pPr>
              </a:p>
            </p:txBody>
          </p:sp>
        </p:grpSp>
        <p:sp>
          <p:nvSpPr>
            <p:cNvPr name="TextBox 40" id="40"/>
            <p:cNvSpPr txBox="true"/>
            <p:nvPr/>
          </p:nvSpPr>
          <p:spPr>
            <a:xfrm rot="0">
              <a:off x="653927" y="280261"/>
              <a:ext cx="12187416" cy="2164772"/>
            </a:xfrm>
            <a:prstGeom prst="rect">
              <a:avLst/>
            </a:prstGeom>
          </p:spPr>
          <p:txBody>
            <a:bodyPr anchor="t" rtlCol="false" tIns="0" lIns="0" bIns="0" rIns="0">
              <a:spAutoFit/>
            </a:bodyPr>
            <a:lstStyle/>
            <a:p>
              <a:pPr algn="l">
                <a:lnSpc>
                  <a:spcPts val="4171"/>
                </a:lnSpc>
              </a:pPr>
              <a:r>
                <a:rPr lang="en-US" sz="3898" b="true">
                  <a:solidFill>
                    <a:srgbClr val="6E3125"/>
                  </a:solidFill>
                  <a:latin typeface="Poppins Heavy"/>
                  <a:ea typeface="Poppins Heavy"/>
                  <a:cs typeface="Poppins Heavy"/>
                  <a:sym typeface="Poppins Heavy"/>
                </a:rPr>
                <a:t>What percentage of effort would you give Sam, and what would you write in the explanation box?</a:t>
              </a:r>
            </a:p>
          </p:txBody>
        </p:sp>
      </p:gr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271343" y="1105777"/>
            <a:ext cx="7487927" cy="1140886"/>
            <a:chOff x="0" y="0"/>
            <a:chExt cx="605413" cy="92243"/>
          </a:xfrm>
        </p:grpSpPr>
        <p:sp>
          <p:nvSpPr>
            <p:cNvPr name="Freeform 16" id="16"/>
            <p:cNvSpPr/>
            <p:nvPr/>
          </p:nvSpPr>
          <p:spPr>
            <a:xfrm flipH="false" flipV="false" rot="0">
              <a:off x="0" y="0"/>
              <a:ext cx="605413" cy="92243"/>
            </a:xfrm>
            <a:custGeom>
              <a:avLst/>
              <a:gdLst/>
              <a:ahLst/>
              <a:cxnLst/>
              <a:rect r="r" b="b" t="t" l="l"/>
              <a:pathLst>
                <a:path h="92243" w="605413">
                  <a:moveTo>
                    <a:pt x="46121" y="0"/>
                  </a:moveTo>
                  <a:lnTo>
                    <a:pt x="559292" y="0"/>
                  </a:lnTo>
                  <a:cubicBezTo>
                    <a:pt x="571524" y="0"/>
                    <a:pt x="583255" y="4859"/>
                    <a:pt x="591905" y="13509"/>
                  </a:cubicBezTo>
                  <a:cubicBezTo>
                    <a:pt x="600554" y="22158"/>
                    <a:pt x="605413" y="33889"/>
                    <a:pt x="605413" y="46121"/>
                  </a:cubicBezTo>
                  <a:lnTo>
                    <a:pt x="605413" y="46121"/>
                  </a:lnTo>
                  <a:cubicBezTo>
                    <a:pt x="605413" y="58354"/>
                    <a:pt x="600554" y="70085"/>
                    <a:pt x="591905" y="78734"/>
                  </a:cubicBezTo>
                  <a:cubicBezTo>
                    <a:pt x="583255" y="87384"/>
                    <a:pt x="571524" y="92243"/>
                    <a:pt x="559292" y="92243"/>
                  </a:cubicBezTo>
                  <a:lnTo>
                    <a:pt x="46121" y="92243"/>
                  </a:lnTo>
                  <a:cubicBezTo>
                    <a:pt x="33889" y="92243"/>
                    <a:pt x="22158" y="87384"/>
                    <a:pt x="13509" y="78734"/>
                  </a:cubicBezTo>
                  <a:cubicBezTo>
                    <a:pt x="4859" y="70085"/>
                    <a:pt x="0" y="58354"/>
                    <a:pt x="0" y="46121"/>
                  </a:cubicBezTo>
                  <a:lnTo>
                    <a:pt x="0" y="46121"/>
                  </a:lnTo>
                  <a:cubicBezTo>
                    <a:pt x="0" y="33889"/>
                    <a:pt x="4859" y="22158"/>
                    <a:pt x="13509" y="13509"/>
                  </a:cubicBezTo>
                  <a:cubicBezTo>
                    <a:pt x="22158" y="4859"/>
                    <a:pt x="33889" y="0"/>
                    <a:pt x="46121" y="0"/>
                  </a:cubicBezTo>
                  <a:close/>
                </a:path>
              </a:pathLst>
            </a:custGeom>
            <a:gradFill rotWithShape="true">
              <a:gsLst>
                <a:gs pos="0">
                  <a:srgbClr val="85200C">
                    <a:alpha val="100000"/>
                  </a:srgbClr>
                </a:gs>
                <a:gs pos="100000">
                  <a:srgbClr val="DC4B0F">
                    <a:alpha val="100000"/>
                  </a:srgbClr>
                </a:gs>
              </a:gsLst>
              <a:lin ang="0"/>
            </a:gradFill>
          </p:spPr>
        </p:sp>
        <p:sp>
          <p:nvSpPr>
            <p:cNvPr name="TextBox 17" id="17"/>
            <p:cNvSpPr txBox="true"/>
            <p:nvPr/>
          </p:nvSpPr>
          <p:spPr>
            <a:xfrm>
              <a:off x="0" y="28575"/>
              <a:ext cx="605413" cy="63668"/>
            </a:xfrm>
            <a:prstGeom prst="rect">
              <a:avLst/>
            </a:prstGeom>
          </p:spPr>
          <p:txBody>
            <a:bodyPr anchor="ctr" rtlCol="false" tIns="50800" lIns="50800" bIns="50800" rIns="50800"/>
            <a:lstStyle/>
            <a:p>
              <a:pPr algn="ctr">
                <a:lnSpc>
                  <a:spcPts val="1919"/>
                </a:lnSpc>
              </a:pPr>
            </a:p>
          </p:txBody>
        </p:sp>
      </p:grpSp>
      <p:grpSp>
        <p:nvGrpSpPr>
          <p:cNvPr name="Group 18" id="18"/>
          <p:cNvGrpSpPr/>
          <p:nvPr/>
        </p:nvGrpSpPr>
        <p:grpSpPr>
          <a:xfrm rot="0">
            <a:off x="2003578" y="3008663"/>
            <a:ext cx="14046712" cy="2119667"/>
            <a:chOff x="0" y="0"/>
            <a:chExt cx="18728950" cy="2826223"/>
          </a:xfrm>
        </p:grpSpPr>
        <p:grpSp>
          <p:nvGrpSpPr>
            <p:cNvPr name="Group 19" id="19"/>
            <p:cNvGrpSpPr/>
            <p:nvPr/>
          </p:nvGrpSpPr>
          <p:grpSpPr>
            <a:xfrm rot="0">
              <a:off x="0" y="0"/>
              <a:ext cx="18728950" cy="2826223"/>
              <a:chOff x="0" y="0"/>
              <a:chExt cx="1135704" cy="171379"/>
            </a:xfrm>
          </p:grpSpPr>
          <p:sp>
            <p:nvSpPr>
              <p:cNvPr name="Freeform 20" id="20"/>
              <p:cNvSpPr/>
              <p:nvPr/>
            </p:nvSpPr>
            <p:spPr>
              <a:xfrm flipH="false" flipV="false" rot="0">
                <a:off x="0" y="0"/>
                <a:ext cx="1135704" cy="171379"/>
              </a:xfrm>
              <a:custGeom>
                <a:avLst/>
                <a:gdLst/>
                <a:ahLst/>
                <a:cxnLst/>
                <a:rect r="r" b="b" t="t" l="l"/>
                <a:pathLst>
                  <a:path h="171379" w="1135704">
                    <a:moveTo>
                      <a:pt x="42628" y="0"/>
                    </a:moveTo>
                    <a:lnTo>
                      <a:pt x="1093075" y="0"/>
                    </a:lnTo>
                    <a:cubicBezTo>
                      <a:pt x="1104381" y="0"/>
                      <a:pt x="1115224" y="4491"/>
                      <a:pt x="1123218" y="12486"/>
                    </a:cubicBezTo>
                    <a:cubicBezTo>
                      <a:pt x="1131212" y="20480"/>
                      <a:pt x="1135704" y="31323"/>
                      <a:pt x="1135704" y="42628"/>
                    </a:cubicBezTo>
                    <a:lnTo>
                      <a:pt x="1135704" y="128751"/>
                    </a:lnTo>
                    <a:cubicBezTo>
                      <a:pt x="1135704" y="140056"/>
                      <a:pt x="1131212" y="150899"/>
                      <a:pt x="1123218" y="158894"/>
                    </a:cubicBezTo>
                    <a:cubicBezTo>
                      <a:pt x="1115224" y="166888"/>
                      <a:pt x="1104381" y="171379"/>
                      <a:pt x="1093075" y="171379"/>
                    </a:cubicBezTo>
                    <a:lnTo>
                      <a:pt x="42628" y="171379"/>
                    </a:lnTo>
                    <a:cubicBezTo>
                      <a:pt x="31323" y="171379"/>
                      <a:pt x="20480" y="166888"/>
                      <a:pt x="12486" y="158894"/>
                    </a:cubicBezTo>
                    <a:cubicBezTo>
                      <a:pt x="4491" y="150899"/>
                      <a:pt x="0" y="140056"/>
                      <a:pt x="0" y="128751"/>
                    </a:cubicBezTo>
                    <a:lnTo>
                      <a:pt x="0" y="42628"/>
                    </a:lnTo>
                    <a:cubicBezTo>
                      <a:pt x="0" y="31323"/>
                      <a:pt x="4491" y="20480"/>
                      <a:pt x="12486" y="12486"/>
                    </a:cubicBezTo>
                    <a:cubicBezTo>
                      <a:pt x="20480" y="4491"/>
                      <a:pt x="31323" y="0"/>
                      <a:pt x="42628" y="0"/>
                    </a:cubicBezTo>
                    <a:close/>
                  </a:path>
                </a:pathLst>
              </a:custGeom>
              <a:gradFill rotWithShape="true">
                <a:gsLst>
                  <a:gs pos="0">
                    <a:srgbClr val="85200C">
                      <a:alpha val="30000"/>
                    </a:srgbClr>
                  </a:gs>
                  <a:gs pos="100000">
                    <a:srgbClr val="DC4B0F">
                      <a:alpha val="100000"/>
                    </a:srgbClr>
                  </a:gs>
                </a:gsLst>
                <a:lin ang="0"/>
              </a:gradFill>
            </p:spPr>
          </p:sp>
          <p:sp>
            <p:nvSpPr>
              <p:cNvPr name="TextBox 21" id="21"/>
              <p:cNvSpPr txBox="true"/>
              <p:nvPr/>
            </p:nvSpPr>
            <p:spPr>
              <a:xfrm>
                <a:off x="0" y="28575"/>
                <a:ext cx="1135704" cy="142804"/>
              </a:xfrm>
              <a:prstGeom prst="rect">
                <a:avLst/>
              </a:prstGeom>
            </p:spPr>
            <p:txBody>
              <a:bodyPr anchor="ctr" rtlCol="false" tIns="50800" lIns="50800" bIns="50800" rIns="50800"/>
              <a:lstStyle/>
              <a:p>
                <a:pPr algn="ctr">
                  <a:lnSpc>
                    <a:spcPts val="1919"/>
                  </a:lnSpc>
                </a:pPr>
              </a:p>
            </p:txBody>
          </p:sp>
        </p:grpSp>
        <p:sp>
          <p:nvSpPr>
            <p:cNvPr name="TextBox 22" id="22"/>
            <p:cNvSpPr txBox="true"/>
            <p:nvPr/>
          </p:nvSpPr>
          <p:spPr>
            <a:xfrm rot="0">
              <a:off x="558221" y="522043"/>
              <a:ext cx="17739037" cy="1744037"/>
            </a:xfrm>
            <a:prstGeom prst="rect">
              <a:avLst/>
            </a:prstGeom>
          </p:spPr>
          <p:txBody>
            <a:bodyPr anchor="t" rtlCol="false" tIns="0" lIns="0" bIns="0" rIns="0">
              <a:spAutoFit/>
            </a:bodyPr>
            <a:lstStyle/>
            <a:p>
              <a:pPr algn="ctr">
                <a:lnSpc>
                  <a:spcPts val="3227"/>
                </a:lnSpc>
              </a:pPr>
              <a:r>
                <a:rPr lang="en-US" sz="3397" b="true">
                  <a:solidFill>
                    <a:srgbClr val="FFFFFF"/>
                  </a:solidFill>
                  <a:latin typeface="Poppins Semi-Bold"/>
                  <a:ea typeface="Poppins Semi-Bold"/>
                  <a:cs typeface="Poppins Semi-Bold"/>
                  <a:sym typeface="Poppins Semi-Bold"/>
                </a:rPr>
                <a:t>Jack’s section is 800 words summarising the case study, with no analysis, no unit frameworks, and no sources. Asked to add analysis, he said the word count was already met. </a:t>
              </a:r>
            </a:p>
          </p:txBody>
        </p:sp>
      </p:grpSp>
      <p:grpSp>
        <p:nvGrpSpPr>
          <p:cNvPr name="Group 23" id="23"/>
          <p:cNvGrpSpPr/>
          <p:nvPr/>
        </p:nvGrpSpPr>
        <p:grpSpPr>
          <a:xfrm rot="0">
            <a:off x="2086942" y="5524148"/>
            <a:ext cx="6705133" cy="2864363"/>
            <a:chOff x="0" y="0"/>
            <a:chExt cx="542123" cy="231589"/>
          </a:xfrm>
        </p:grpSpPr>
        <p:sp>
          <p:nvSpPr>
            <p:cNvPr name="Freeform 24" id="24"/>
            <p:cNvSpPr/>
            <p:nvPr/>
          </p:nvSpPr>
          <p:spPr>
            <a:xfrm flipH="false" flipV="false" rot="0">
              <a:off x="0" y="0"/>
              <a:ext cx="542123" cy="231589"/>
            </a:xfrm>
            <a:custGeom>
              <a:avLst/>
              <a:gdLst/>
              <a:ahLst/>
              <a:cxnLst/>
              <a:rect r="r" b="b" t="t" l="l"/>
              <a:pathLst>
                <a:path h="231589" w="542123">
                  <a:moveTo>
                    <a:pt x="68556" y="0"/>
                  </a:moveTo>
                  <a:lnTo>
                    <a:pt x="473567" y="0"/>
                  </a:lnTo>
                  <a:cubicBezTo>
                    <a:pt x="511429" y="0"/>
                    <a:pt x="542123" y="30694"/>
                    <a:pt x="542123" y="68556"/>
                  </a:cubicBezTo>
                  <a:lnTo>
                    <a:pt x="542123" y="163033"/>
                  </a:lnTo>
                  <a:cubicBezTo>
                    <a:pt x="542123" y="181215"/>
                    <a:pt x="534900" y="198653"/>
                    <a:pt x="522043" y="211510"/>
                  </a:cubicBezTo>
                  <a:cubicBezTo>
                    <a:pt x="509187" y="224366"/>
                    <a:pt x="491749" y="231589"/>
                    <a:pt x="473567" y="231589"/>
                  </a:cubicBezTo>
                  <a:lnTo>
                    <a:pt x="68556" y="231589"/>
                  </a:lnTo>
                  <a:cubicBezTo>
                    <a:pt x="50374" y="231589"/>
                    <a:pt x="32936" y="224366"/>
                    <a:pt x="20080" y="211510"/>
                  </a:cubicBezTo>
                  <a:cubicBezTo>
                    <a:pt x="7223" y="198653"/>
                    <a:pt x="0" y="181215"/>
                    <a:pt x="0" y="163033"/>
                  </a:cubicBezTo>
                  <a:lnTo>
                    <a:pt x="0" y="68556"/>
                  </a:lnTo>
                  <a:cubicBezTo>
                    <a:pt x="0" y="50374"/>
                    <a:pt x="7223" y="32936"/>
                    <a:pt x="20080" y="20080"/>
                  </a:cubicBezTo>
                  <a:cubicBezTo>
                    <a:pt x="32936" y="7223"/>
                    <a:pt x="50374" y="0"/>
                    <a:pt x="68556" y="0"/>
                  </a:cubicBezTo>
                  <a:close/>
                </a:path>
              </a:pathLst>
            </a:custGeom>
            <a:gradFill rotWithShape="true">
              <a:gsLst>
                <a:gs pos="0">
                  <a:srgbClr val="85200C">
                    <a:alpha val="30000"/>
                  </a:srgbClr>
                </a:gs>
                <a:gs pos="100000">
                  <a:srgbClr val="940000">
                    <a:alpha val="100000"/>
                  </a:srgbClr>
                </a:gs>
              </a:gsLst>
              <a:lin ang="0"/>
            </a:gradFill>
          </p:spPr>
        </p:sp>
        <p:sp>
          <p:nvSpPr>
            <p:cNvPr name="TextBox 25" id="25"/>
            <p:cNvSpPr txBox="true"/>
            <p:nvPr/>
          </p:nvSpPr>
          <p:spPr>
            <a:xfrm>
              <a:off x="0" y="28575"/>
              <a:ext cx="542123" cy="203014"/>
            </a:xfrm>
            <a:prstGeom prst="rect">
              <a:avLst/>
            </a:prstGeom>
          </p:spPr>
          <p:txBody>
            <a:bodyPr anchor="ctr" rtlCol="false" tIns="50800" lIns="50800" bIns="50800" rIns="50800"/>
            <a:lstStyle/>
            <a:p>
              <a:pPr algn="ctr">
                <a:lnSpc>
                  <a:spcPts val="1919"/>
                </a:lnSpc>
              </a:pPr>
            </a:p>
          </p:txBody>
        </p:sp>
      </p:grpSp>
      <p:grpSp>
        <p:nvGrpSpPr>
          <p:cNvPr name="Group 26" id="26"/>
          <p:cNvGrpSpPr/>
          <p:nvPr/>
        </p:nvGrpSpPr>
        <p:grpSpPr>
          <a:xfrm rot="0">
            <a:off x="9036459" y="5554638"/>
            <a:ext cx="6857760" cy="2864363"/>
            <a:chOff x="0" y="0"/>
            <a:chExt cx="9143680" cy="3819150"/>
          </a:xfrm>
        </p:grpSpPr>
        <p:grpSp>
          <p:nvGrpSpPr>
            <p:cNvPr name="Group 27" id="27"/>
            <p:cNvGrpSpPr/>
            <p:nvPr/>
          </p:nvGrpSpPr>
          <p:grpSpPr>
            <a:xfrm rot="0">
              <a:off x="50565" y="0"/>
              <a:ext cx="8869518" cy="3819150"/>
              <a:chOff x="0" y="0"/>
              <a:chExt cx="537838" cy="231589"/>
            </a:xfrm>
          </p:grpSpPr>
          <p:sp>
            <p:nvSpPr>
              <p:cNvPr name="Freeform 28" id="28"/>
              <p:cNvSpPr/>
              <p:nvPr/>
            </p:nvSpPr>
            <p:spPr>
              <a:xfrm flipH="false" flipV="false" rot="0">
                <a:off x="0" y="0"/>
                <a:ext cx="537838" cy="231589"/>
              </a:xfrm>
              <a:custGeom>
                <a:avLst/>
                <a:gdLst/>
                <a:ahLst/>
                <a:cxnLst/>
                <a:rect r="r" b="b" t="t" l="l"/>
                <a:pathLst>
                  <a:path h="231589" w="537838">
                    <a:moveTo>
                      <a:pt x="35130" y="0"/>
                    </a:moveTo>
                    <a:lnTo>
                      <a:pt x="502708" y="0"/>
                    </a:lnTo>
                    <a:cubicBezTo>
                      <a:pt x="512025" y="0"/>
                      <a:pt x="520961" y="3701"/>
                      <a:pt x="527549" y="10289"/>
                    </a:cubicBezTo>
                    <a:cubicBezTo>
                      <a:pt x="534137" y="16878"/>
                      <a:pt x="537838" y="25813"/>
                      <a:pt x="537838" y="35130"/>
                    </a:cubicBezTo>
                    <a:lnTo>
                      <a:pt x="537838" y="196459"/>
                    </a:lnTo>
                    <a:cubicBezTo>
                      <a:pt x="537838" y="205776"/>
                      <a:pt x="534137" y="214712"/>
                      <a:pt x="527549" y="221300"/>
                    </a:cubicBezTo>
                    <a:cubicBezTo>
                      <a:pt x="520961" y="227888"/>
                      <a:pt x="512025" y="231589"/>
                      <a:pt x="502708" y="231589"/>
                    </a:cubicBezTo>
                    <a:lnTo>
                      <a:pt x="35130" y="231589"/>
                    </a:lnTo>
                    <a:cubicBezTo>
                      <a:pt x="25813" y="231589"/>
                      <a:pt x="16878" y="227888"/>
                      <a:pt x="10289" y="221300"/>
                    </a:cubicBezTo>
                    <a:cubicBezTo>
                      <a:pt x="3701" y="214712"/>
                      <a:pt x="0" y="205776"/>
                      <a:pt x="0" y="196459"/>
                    </a:cubicBezTo>
                    <a:lnTo>
                      <a:pt x="0" y="35130"/>
                    </a:lnTo>
                    <a:cubicBezTo>
                      <a:pt x="0" y="25813"/>
                      <a:pt x="3701" y="16878"/>
                      <a:pt x="10289" y="10289"/>
                    </a:cubicBezTo>
                    <a:cubicBezTo>
                      <a:pt x="16878" y="3701"/>
                      <a:pt x="25813" y="0"/>
                      <a:pt x="35130" y="0"/>
                    </a:cubicBezTo>
                    <a:close/>
                  </a:path>
                </a:pathLst>
              </a:custGeom>
              <a:gradFill rotWithShape="true">
                <a:gsLst>
                  <a:gs pos="0">
                    <a:srgbClr val="85200C">
                      <a:alpha val="30000"/>
                    </a:srgbClr>
                  </a:gs>
                  <a:gs pos="100000">
                    <a:srgbClr val="008601">
                      <a:alpha val="100000"/>
                    </a:srgbClr>
                  </a:gs>
                </a:gsLst>
                <a:lin ang="0"/>
              </a:gradFill>
            </p:spPr>
          </p:sp>
          <p:sp>
            <p:nvSpPr>
              <p:cNvPr name="TextBox 29" id="29"/>
              <p:cNvSpPr txBox="true"/>
              <p:nvPr/>
            </p:nvSpPr>
            <p:spPr>
              <a:xfrm>
                <a:off x="0" y="28575"/>
                <a:ext cx="537838" cy="203014"/>
              </a:xfrm>
              <a:prstGeom prst="rect">
                <a:avLst/>
              </a:prstGeom>
            </p:spPr>
            <p:txBody>
              <a:bodyPr anchor="ctr" rtlCol="false" tIns="99925" lIns="99925" bIns="99925" rIns="99925"/>
              <a:lstStyle/>
              <a:p>
                <a:pPr algn="ctr">
                  <a:lnSpc>
                    <a:spcPts val="1919"/>
                  </a:lnSpc>
                </a:pPr>
              </a:p>
            </p:txBody>
          </p:sp>
        </p:grpSp>
        <p:sp>
          <p:nvSpPr>
            <p:cNvPr name="TextBox 30" id="30"/>
            <p:cNvSpPr txBox="true"/>
            <p:nvPr/>
          </p:nvSpPr>
          <p:spPr>
            <a:xfrm rot="0">
              <a:off x="0" y="656138"/>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GreenFlag</a:t>
              </a:r>
            </a:p>
          </p:txBody>
        </p:sp>
        <p:sp>
          <p:nvSpPr>
            <p:cNvPr name="TextBox 31" id="31"/>
            <p:cNvSpPr txBox="true"/>
            <p:nvPr/>
          </p:nvSpPr>
          <p:spPr>
            <a:xfrm rot="0">
              <a:off x="415950" y="506572"/>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Green Flag</a:t>
              </a:r>
            </a:p>
          </p:txBody>
        </p:sp>
      </p:grpSp>
      <p:sp>
        <p:nvSpPr>
          <p:cNvPr name="TextBox 32" id="32"/>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10</a:t>
            </a:r>
          </a:p>
        </p:txBody>
      </p:sp>
      <p:sp>
        <p:nvSpPr>
          <p:cNvPr name="TextBox 33" id="33"/>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34" id="34"/>
          <p:cNvSpPr txBox="true"/>
          <p:nvPr/>
        </p:nvSpPr>
        <p:spPr>
          <a:xfrm rot="0">
            <a:off x="415994" y="1409082"/>
            <a:ext cx="5981225" cy="591425"/>
          </a:xfrm>
          <a:prstGeom prst="rect">
            <a:avLst/>
          </a:prstGeom>
        </p:spPr>
        <p:txBody>
          <a:bodyPr anchor="t" rtlCol="false" tIns="0" lIns="0" bIns="0" rIns="0">
            <a:spAutoFit/>
          </a:bodyPr>
          <a:lstStyle/>
          <a:p>
            <a:pPr algn="l">
              <a:lnSpc>
                <a:spcPts val="4119"/>
              </a:lnSpc>
            </a:pPr>
            <a:r>
              <a:rPr lang="en-US" sz="4336" b="true">
                <a:solidFill>
                  <a:srgbClr val="FFFFFF"/>
                </a:solidFill>
                <a:latin typeface="Poppins Heavy"/>
                <a:ea typeface="Poppins Heavy"/>
                <a:cs typeface="Poppins Heavy"/>
                <a:sym typeface="Poppins Heavy"/>
              </a:rPr>
              <a:t>SCENARIO 3: JACK</a:t>
            </a:r>
          </a:p>
        </p:txBody>
      </p:sp>
      <p:grpSp>
        <p:nvGrpSpPr>
          <p:cNvPr name="Group 35" id="35"/>
          <p:cNvGrpSpPr/>
          <p:nvPr/>
        </p:nvGrpSpPr>
        <p:grpSpPr>
          <a:xfrm rot="0">
            <a:off x="2001030" y="6106016"/>
            <a:ext cx="6857760" cy="1869997"/>
            <a:chOff x="0" y="0"/>
            <a:chExt cx="9143680" cy="2493329"/>
          </a:xfrm>
        </p:grpSpPr>
        <p:sp>
          <p:nvSpPr>
            <p:cNvPr name="TextBox 36" id="36"/>
            <p:cNvSpPr txBox="true"/>
            <p:nvPr/>
          </p:nvSpPr>
          <p:spPr>
            <a:xfrm rot="0">
              <a:off x="0" y="-79033"/>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Red Flag</a:t>
              </a:r>
            </a:p>
          </p:txBody>
        </p:sp>
        <p:sp>
          <p:nvSpPr>
            <p:cNvPr name="TextBox 37" id="37"/>
            <p:cNvSpPr txBox="true"/>
            <p:nvPr/>
          </p:nvSpPr>
          <p:spPr>
            <a:xfrm rot="0">
              <a:off x="415950" y="-228600"/>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Red Flag</a:t>
              </a:r>
            </a:p>
          </p:txBody>
        </p:sp>
      </p:gr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761809" y="1287870"/>
            <a:ext cx="15278418" cy="1739275"/>
            <a:chOff x="0" y="0"/>
            <a:chExt cx="20371224" cy="2319034"/>
          </a:xfrm>
        </p:grpSpPr>
        <p:grpSp>
          <p:nvGrpSpPr>
            <p:cNvPr name="Group 16" id="16"/>
            <p:cNvGrpSpPr/>
            <p:nvPr/>
          </p:nvGrpSpPr>
          <p:grpSpPr>
            <a:xfrm rot="0">
              <a:off x="0" y="0"/>
              <a:ext cx="20371224" cy="2319034"/>
              <a:chOff x="0" y="0"/>
              <a:chExt cx="1488968" cy="169502"/>
            </a:xfrm>
          </p:grpSpPr>
          <p:sp>
            <p:nvSpPr>
              <p:cNvPr name="Freeform 17" id="17"/>
              <p:cNvSpPr/>
              <p:nvPr/>
            </p:nvSpPr>
            <p:spPr>
              <a:xfrm flipH="false" flipV="false" rot="0">
                <a:off x="0" y="0"/>
                <a:ext cx="1488968" cy="169502"/>
              </a:xfrm>
              <a:custGeom>
                <a:avLst/>
                <a:gdLst/>
                <a:ahLst/>
                <a:cxnLst/>
                <a:rect r="r" b="b" t="t" l="l"/>
                <a:pathLst>
                  <a:path h="169502" w="1488968">
                    <a:moveTo>
                      <a:pt x="32515" y="0"/>
                    </a:moveTo>
                    <a:lnTo>
                      <a:pt x="1456454" y="0"/>
                    </a:lnTo>
                    <a:cubicBezTo>
                      <a:pt x="1465077" y="0"/>
                      <a:pt x="1473347" y="3426"/>
                      <a:pt x="1479445" y="9523"/>
                    </a:cubicBezTo>
                    <a:cubicBezTo>
                      <a:pt x="1485543" y="15621"/>
                      <a:pt x="1488968" y="23891"/>
                      <a:pt x="1488968" y="32515"/>
                    </a:cubicBezTo>
                    <a:lnTo>
                      <a:pt x="1488968" y="136988"/>
                    </a:lnTo>
                    <a:cubicBezTo>
                      <a:pt x="1488968" y="154945"/>
                      <a:pt x="1474411" y="169502"/>
                      <a:pt x="1456454" y="169502"/>
                    </a:cubicBezTo>
                    <a:lnTo>
                      <a:pt x="32515" y="169502"/>
                    </a:lnTo>
                    <a:cubicBezTo>
                      <a:pt x="23891" y="169502"/>
                      <a:pt x="15621" y="166077"/>
                      <a:pt x="9523" y="159979"/>
                    </a:cubicBezTo>
                    <a:cubicBezTo>
                      <a:pt x="3426" y="153881"/>
                      <a:pt x="0" y="145611"/>
                      <a:pt x="0" y="136988"/>
                    </a:cubicBezTo>
                    <a:lnTo>
                      <a:pt x="0" y="32515"/>
                    </a:lnTo>
                    <a:cubicBezTo>
                      <a:pt x="0" y="23891"/>
                      <a:pt x="3426" y="15621"/>
                      <a:pt x="9523" y="9523"/>
                    </a:cubicBezTo>
                    <a:cubicBezTo>
                      <a:pt x="15621" y="3426"/>
                      <a:pt x="23891" y="0"/>
                      <a:pt x="32515" y="0"/>
                    </a:cubicBezTo>
                    <a:close/>
                  </a:path>
                </a:pathLst>
              </a:custGeom>
              <a:gradFill rotWithShape="true">
                <a:gsLst>
                  <a:gs pos="0">
                    <a:srgbClr val="85200C">
                      <a:alpha val="100000"/>
                    </a:srgbClr>
                  </a:gs>
                  <a:gs pos="100000">
                    <a:srgbClr val="DC4B0F">
                      <a:alpha val="100000"/>
                    </a:srgbClr>
                  </a:gs>
                </a:gsLst>
                <a:lin ang="0"/>
              </a:gradFill>
            </p:spPr>
          </p:sp>
          <p:sp>
            <p:nvSpPr>
              <p:cNvPr name="TextBox 18" id="18"/>
              <p:cNvSpPr txBox="true"/>
              <p:nvPr/>
            </p:nvSpPr>
            <p:spPr>
              <a:xfrm>
                <a:off x="0" y="28575"/>
                <a:ext cx="1488968" cy="140927"/>
              </a:xfrm>
              <a:prstGeom prst="rect">
                <a:avLst/>
              </a:prstGeom>
            </p:spPr>
            <p:txBody>
              <a:bodyPr anchor="ctr" rtlCol="false" tIns="50800" lIns="50800" bIns="50800" rIns="50800"/>
              <a:lstStyle/>
              <a:p>
                <a:pPr algn="ctr">
                  <a:lnSpc>
                    <a:spcPts val="1919"/>
                  </a:lnSpc>
                </a:pPr>
              </a:p>
            </p:txBody>
          </p:sp>
        </p:grpSp>
        <p:sp>
          <p:nvSpPr>
            <p:cNvPr name="TextBox 19" id="19"/>
            <p:cNvSpPr txBox="true"/>
            <p:nvPr/>
          </p:nvSpPr>
          <p:spPr>
            <a:xfrm rot="0">
              <a:off x="607170" y="439593"/>
              <a:ext cx="19294509" cy="1414731"/>
            </a:xfrm>
            <a:prstGeom prst="rect">
              <a:avLst/>
            </a:prstGeom>
          </p:spPr>
          <p:txBody>
            <a:bodyPr anchor="t" rtlCol="false" tIns="0" lIns="0" bIns="0" rIns="0">
              <a:spAutoFit/>
            </a:bodyPr>
            <a:lstStyle/>
            <a:p>
              <a:pPr algn="ctr">
                <a:lnSpc>
                  <a:spcPts val="2677"/>
                </a:lnSpc>
              </a:pPr>
              <a:r>
                <a:rPr lang="en-US" sz="2818" b="true">
                  <a:solidFill>
                    <a:srgbClr val="FFFFFF"/>
                  </a:solidFill>
                  <a:latin typeface="Poppins Semi-Bold"/>
                  <a:ea typeface="Poppins Semi-Bold"/>
                  <a:cs typeface="Poppins Semi-Bold"/>
                  <a:sym typeface="Poppins Semi-Bold"/>
                </a:rPr>
                <a:t>Jack’s section is 800 words summarising the case study, with no analysis, no unit frameworks, and no sources. Asked to add analysis, he said the word count was already met. </a:t>
              </a:r>
            </a:p>
          </p:txBody>
        </p:sp>
      </p:grpSp>
      <p:grpSp>
        <p:nvGrpSpPr>
          <p:cNvPr name="Group 20" id="20"/>
          <p:cNvGrpSpPr/>
          <p:nvPr/>
        </p:nvGrpSpPr>
        <p:grpSpPr>
          <a:xfrm rot="0">
            <a:off x="1848619" y="3267658"/>
            <a:ext cx="5070623" cy="2864363"/>
            <a:chOff x="0" y="0"/>
            <a:chExt cx="409970" cy="231589"/>
          </a:xfrm>
        </p:grpSpPr>
        <p:sp>
          <p:nvSpPr>
            <p:cNvPr name="Freeform 21" id="21"/>
            <p:cNvSpPr/>
            <p:nvPr/>
          </p:nvSpPr>
          <p:spPr>
            <a:xfrm flipH="false" flipV="false" rot="0">
              <a:off x="0" y="0"/>
              <a:ext cx="409970" cy="231589"/>
            </a:xfrm>
            <a:custGeom>
              <a:avLst/>
              <a:gdLst/>
              <a:ahLst/>
              <a:cxnLst/>
              <a:rect r="r" b="b" t="t" l="l"/>
              <a:pathLst>
                <a:path h="231589" w="409970">
                  <a:moveTo>
                    <a:pt x="90655" y="0"/>
                  </a:moveTo>
                  <a:lnTo>
                    <a:pt x="319315" y="0"/>
                  </a:lnTo>
                  <a:cubicBezTo>
                    <a:pt x="343358" y="0"/>
                    <a:pt x="366416" y="9551"/>
                    <a:pt x="383417" y="26552"/>
                  </a:cubicBezTo>
                  <a:cubicBezTo>
                    <a:pt x="400418" y="43553"/>
                    <a:pt x="409970" y="66612"/>
                    <a:pt x="409970" y="90655"/>
                  </a:cubicBezTo>
                  <a:lnTo>
                    <a:pt x="409970" y="140934"/>
                  </a:lnTo>
                  <a:cubicBezTo>
                    <a:pt x="409970" y="164978"/>
                    <a:pt x="400418" y="188036"/>
                    <a:pt x="383417" y="205037"/>
                  </a:cubicBezTo>
                  <a:cubicBezTo>
                    <a:pt x="366416" y="222038"/>
                    <a:pt x="343358" y="231589"/>
                    <a:pt x="319315" y="231589"/>
                  </a:cubicBezTo>
                  <a:lnTo>
                    <a:pt x="90655" y="231589"/>
                  </a:lnTo>
                  <a:cubicBezTo>
                    <a:pt x="40588" y="231589"/>
                    <a:pt x="0" y="191002"/>
                    <a:pt x="0" y="140934"/>
                  </a:cubicBezTo>
                  <a:lnTo>
                    <a:pt x="0" y="90655"/>
                  </a:lnTo>
                  <a:cubicBezTo>
                    <a:pt x="0" y="66612"/>
                    <a:pt x="9551" y="43553"/>
                    <a:pt x="26552" y="26552"/>
                  </a:cubicBezTo>
                  <a:cubicBezTo>
                    <a:pt x="43553" y="9551"/>
                    <a:pt x="66612" y="0"/>
                    <a:pt x="90655" y="0"/>
                  </a:cubicBezTo>
                  <a:close/>
                </a:path>
              </a:pathLst>
            </a:custGeom>
            <a:gradFill rotWithShape="true">
              <a:gsLst>
                <a:gs pos="0">
                  <a:srgbClr val="85200C">
                    <a:alpha val="30000"/>
                  </a:srgbClr>
                </a:gs>
                <a:gs pos="100000">
                  <a:srgbClr val="940000">
                    <a:alpha val="100000"/>
                  </a:srgbClr>
                </a:gs>
              </a:gsLst>
              <a:lin ang="0"/>
            </a:gradFill>
          </p:spPr>
        </p:sp>
        <p:sp>
          <p:nvSpPr>
            <p:cNvPr name="TextBox 22" id="22"/>
            <p:cNvSpPr txBox="true"/>
            <p:nvPr/>
          </p:nvSpPr>
          <p:spPr>
            <a:xfrm>
              <a:off x="0" y="28575"/>
              <a:ext cx="409970" cy="203014"/>
            </a:xfrm>
            <a:prstGeom prst="rect">
              <a:avLst/>
            </a:prstGeom>
          </p:spPr>
          <p:txBody>
            <a:bodyPr anchor="ctr" rtlCol="false" tIns="50800" lIns="50800" bIns="50800" rIns="50800"/>
            <a:lstStyle/>
            <a:p>
              <a:pPr algn="ctr">
                <a:lnSpc>
                  <a:spcPts val="1919"/>
                </a:lnSpc>
              </a:pPr>
            </a:p>
          </p:txBody>
        </p:sp>
      </p:grpSp>
      <p:grpSp>
        <p:nvGrpSpPr>
          <p:cNvPr name="Group 23" id="23"/>
          <p:cNvGrpSpPr/>
          <p:nvPr/>
        </p:nvGrpSpPr>
        <p:grpSpPr>
          <a:xfrm rot="0">
            <a:off x="7218350" y="3300359"/>
            <a:ext cx="9821878" cy="2715306"/>
            <a:chOff x="0" y="0"/>
            <a:chExt cx="957198" cy="264622"/>
          </a:xfrm>
        </p:grpSpPr>
        <p:sp>
          <p:nvSpPr>
            <p:cNvPr name="Freeform 24" id="24"/>
            <p:cNvSpPr/>
            <p:nvPr/>
          </p:nvSpPr>
          <p:spPr>
            <a:xfrm flipH="false" flipV="false" rot="0">
              <a:off x="0" y="0"/>
              <a:ext cx="957198" cy="264622"/>
            </a:xfrm>
            <a:custGeom>
              <a:avLst/>
              <a:gdLst/>
              <a:ahLst/>
              <a:cxnLst/>
              <a:rect r="r" b="b" t="t" l="l"/>
              <a:pathLst>
                <a:path h="264622" w="957198">
                  <a:moveTo>
                    <a:pt x="60965" y="0"/>
                  </a:moveTo>
                  <a:lnTo>
                    <a:pt x="896233" y="0"/>
                  </a:lnTo>
                  <a:cubicBezTo>
                    <a:pt x="912402" y="0"/>
                    <a:pt x="927908" y="6423"/>
                    <a:pt x="939341" y="17856"/>
                  </a:cubicBezTo>
                  <a:cubicBezTo>
                    <a:pt x="950775" y="29289"/>
                    <a:pt x="957198" y="44796"/>
                    <a:pt x="957198" y="60965"/>
                  </a:cubicBezTo>
                  <a:lnTo>
                    <a:pt x="957198" y="203657"/>
                  </a:lnTo>
                  <a:cubicBezTo>
                    <a:pt x="957198" y="237327"/>
                    <a:pt x="929903" y="264622"/>
                    <a:pt x="896233" y="264622"/>
                  </a:cubicBezTo>
                  <a:lnTo>
                    <a:pt x="60965" y="264622"/>
                  </a:lnTo>
                  <a:cubicBezTo>
                    <a:pt x="27295" y="264622"/>
                    <a:pt x="0" y="237327"/>
                    <a:pt x="0" y="203657"/>
                  </a:cubicBezTo>
                  <a:lnTo>
                    <a:pt x="0" y="60965"/>
                  </a:lnTo>
                  <a:cubicBezTo>
                    <a:pt x="0" y="27295"/>
                    <a:pt x="27295" y="0"/>
                    <a:pt x="60965" y="0"/>
                  </a:cubicBezTo>
                  <a:close/>
                </a:path>
              </a:pathLst>
            </a:custGeom>
            <a:gradFill rotWithShape="true">
              <a:gsLst>
                <a:gs pos="0">
                  <a:srgbClr val="85200C">
                    <a:alpha val="30000"/>
                  </a:srgbClr>
                </a:gs>
                <a:gs pos="100000">
                  <a:srgbClr val="DC4B0F">
                    <a:alpha val="100000"/>
                  </a:srgbClr>
                </a:gs>
              </a:gsLst>
              <a:lin ang="0"/>
            </a:gradFill>
          </p:spPr>
        </p:sp>
        <p:sp>
          <p:nvSpPr>
            <p:cNvPr name="TextBox 25" id="25"/>
            <p:cNvSpPr txBox="true"/>
            <p:nvPr/>
          </p:nvSpPr>
          <p:spPr>
            <a:xfrm>
              <a:off x="0" y="28575"/>
              <a:ext cx="957198" cy="236047"/>
            </a:xfrm>
            <a:prstGeom prst="rect">
              <a:avLst/>
            </a:prstGeom>
          </p:spPr>
          <p:txBody>
            <a:bodyPr anchor="ctr" rtlCol="false" tIns="42145" lIns="42145" bIns="42145" rIns="42145"/>
            <a:lstStyle/>
            <a:p>
              <a:pPr algn="ctr">
                <a:lnSpc>
                  <a:spcPts val="1919"/>
                </a:lnSpc>
              </a:pPr>
            </a:p>
          </p:txBody>
        </p:sp>
      </p:grpSp>
      <p:sp>
        <p:nvSpPr>
          <p:cNvPr name="TextBox 26" id="26"/>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11</a:t>
            </a:r>
          </a:p>
        </p:txBody>
      </p:sp>
      <p:sp>
        <p:nvSpPr>
          <p:cNvPr name="TextBox 27" id="27"/>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28" id="28"/>
          <p:cNvSpPr txBox="true"/>
          <p:nvPr/>
        </p:nvSpPr>
        <p:spPr>
          <a:xfrm rot="0">
            <a:off x="11797590" y="3849811"/>
            <a:ext cx="4921364" cy="1884201"/>
          </a:xfrm>
          <a:prstGeom prst="rect">
            <a:avLst/>
          </a:prstGeom>
        </p:spPr>
        <p:txBody>
          <a:bodyPr anchor="t" rtlCol="false" tIns="0" lIns="0" bIns="0" rIns="0">
            <a:spAutoFit/>
          </a:bodyPr>
          <a:lstStyle/>
          <a:p>
            <a:pPr algn="l">
              <a:lnSpc>
                <a:spcPts val="2475"/>
              </a:lnSpc>
            </a:pPr>
            <a:r>
              <a:rPr lang="en-US" sz="2605" b="true">
                <a:solidFill>
                  <a:srgbClr val="FFFFFF"/>
                </a:solidFill>
                <a:latin typeface="Poppins Semi-Bold"/>
                <a:ea typeface="Poppins Semi-Bold"/>
                <a:cs typeface="Poppins Semi-Bold"/>
                <a:sym typeface="Poppins Semi-Bold"/>
              </a:rPr>
              <a:t>He met the letter of the commitment and none of the point of it. Someone else now has to rewrite it, which is unpaid work created by a teammate.</a:t>
            </a:r>
          </a:p>
        </p:txBody>
      </p:sp>
      <p:grpSp>
        <p:nvGrpSpPr>
          <p:cNvPr name="Group 29" id="29"/>
          <p:cNvGrpSpPr/>
          <p:nvPr/>
        </p:nvGrpSpPr>
        <p:grpSpPr>
          <a:xfrm rot="0">
            <a:off x="7098242" y="3722679"/>
            <a:ext cx="4796052" cy="2152728"/>
            <a:chOff x="0" y="0"/>
            <a:chExt cx="6394736" cy="2870304"/>
          </a:xfrm>
        </p:grpSpPr>
        <p:sp>
          <p:nvSpPr>
            <p:cNvPr name="TextBox 30" id="30"/>
            <p:cNvSpPr txBox="true"/>
            <p:nvPr/>
          </p:nvSpPr>
          <p:spPr>
            <a:xfrm rot="0">
              <a:off x="370530" y="-94520"/>
              <a:ext cx="6024207" cy="2964824"/>
            </a:xfrm>
            <a:prstGeom prst="rect">
              <a:avLst/>
            </a:prstGeom>
          </p:spPr>
          <p:txBody>
            <a:bodyPr anchor="t" rtlCol="false" tIns="0" lIns="0" bIns="0" rIns="0">
              <a:spAutoFit/>
            </a:bodyPr>
            <a:lstStyle/>
            <a:p>
              <a:pPr algn="ctr">
                <a:lnSpc>
                  <a:spcPts val="18648"/>
                </a:lnSpc>
              </a:pPr>
              <a:r>
                <a:rPr lang="en-US" sz="13320" spc="39">
                  <a:solidFill>
                    <a:srgbClr val="000000">
                      <a:alpha val="30980"/>
                    </a:srgbClr>
                  </a:solidFill>
                  <a:latin typeface="Milestone Script"/>
                  <a:ea typeface="Milestone Script"/>
                  <a:cs typeface="Milestone Script"/>
                  <a:sym typeface="Milestone Script"/>
                </a:rPr>
                <a:t>Why?</a:t>
              </a:r>
            </a:p>
          </p:txBody>
        </p:sp>
        <p:sp>
          <p:nvSpPr>
            <p:cNvPr name="TextBox 31" id="31"/>
            <p:cNvSpPr txBox="true"/>
            <p:nvPr/>
          </p:nvSpPr>
          <p:spPr>
            <a:xfrm rot="0">
              <a:off x="0" y="-266700"/>
              <a:ext cx="6263643" cy="2964824"/>
            </a:xfrm>
            <a:prstGeom prst="rect">
              <a:avLst/>
            </a:prstGeom>
          </p:spPr>
          <p:txBody>
            <a:bodyPr anchor="t" rtlCol="false" tIns="0" lIns="0" bIns="0" rIns="0">
              <a:spAutoFit/>
            </a:bodyPr>
            <a:lstStyle/>
            <a:p>
              <a:pPr algn="ctr">
                <a:lnSpc>
                  <a:spcPts val="18648"/>
                </a:lnSpc>
              </a:pPr>
              <a:r>
                <a:rPr lang="en-US" sz="13320" spc="39">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Why?</a:t>
              </a:r>
            </a:p>
          </p:txBody>
        </p:sp>
      </p:grpSp>
      <p:sp>
        <p:nvSpPr>
          <p:cNvPr name="TextBox 32" id="32"/>
          <p:cNvSpPr txBox="true"/>
          <p:nvPr/>
        </p:nvSpPr>
        <p:spPr>
          <a:xfrm rot="0">
            <a:off x="2626674" y="3906961"/>
            <a:ext cx="3514512" cy="1690531"/>
          </a:xfrm>
          <a:prstGeom prst="rect">
            <a:avLst/>
          </a:prstGeom>
        </p:spPr>
        <p:txBody>
          <a:bodyPr anchor="t" rtlCol="false" tIns="0" lIns="0" bIns="0" rIns="0">
            <a:spAutoFit/>
          </a:bodyPr>
          <a:lstStyle/>
          <a:p>
            <a:pPr algn="ctr">
              <a:lnSpc>
                <a:spcPts val="6252"/>
              </a:lnSpc>
            </a:pPr>
            <a:r>
              <a:rPr lang="en-US" sz="6582" b="true">
                <a:solidFill>
                  <a:srgbClr val="FFFFFF"/>
                </a:solidFill>
                <a:latin typeface="Poppins Heavy"/>
                <a:ea typeface="Poppins Heavy"/>
                <a:cs typeface="Poppins Heavy"/>
                <a:sym typeface="Poppins Heavy"/>
              </a:rPr>
              <a:t>RED FLAG</a:t>
            </a:r>
          </a:p>
        </p:txBody>
      </p:sp>
      <p:grpSp>
        <p:nvGrpSpPr>
          <p:cNvPr name="Group 33" id="33"/>
          <p:cNvGrpSpPr/>
          <p:nvPr/>
        </p:nvGrpSpPr>
        <p:grpSpPr>
          <a:xfrm rot="0">
            <a:off x="3857803" y="6559486"/>
            <a:ext cx="10947117" cy="2036826"/>
            <a:chOff x="0" y="0"/>
            <a:chExt cx="14596157" cy="2715768"/>
          </a:xfrm>
        </p:grpSpPr>
        <p:grpSp>
          <p:nvGrpSpPr>
            <p:cNvPr name="Group 34" id="34"/>
            <p:cNvGrpSpPr/>
            <p:nvPr/>
          </p:nvGrpSpPr>
          <p:grpSpPr>
            <a:xfrm rot="0">
              <a:off x="168625" y="12700"/>
              <a:ext cx="14173532" cy="2665787"/>
              <a:chOff x="0" y="0"/>
              <a:chExt cx="1280731" cy="240883"/>
            </a:xfrm>
          </p:grpSpPr>
          <p:sp>
            <p:nvSpPr>
              <p:cNvPr name="Freeform 35" id="35"/>
              <p:cNvSpPr/>
              <p:nvPr/>
            </p:nvSpPr>
            <p:spPr>
              <a:xfrm flipH="false" flipV="false" rot="0">
                <a:off x="0" y="0"/>
                <a:ext cx="1280731" cy="240883"/>
              </a:xfrm>
              <a:custGeom>
                <a:avLst/>
                <a:gdLst/>
                <a:ahLst/>
                <a:cxnLst/>
                <a:rect r="r" b="b" t="t" l="l"/>
                <a:pathLst>
                  <a:path h="240883" w="1280731">
                    <a:moveTo>
                      <a:pt x="6828" y="0"/>
                    </a:moveTo>
                    <a:lnTo>
                      <a:pt x="1273903" y="0"/>
                    </a:lnTo>
                    <a:cubicBezTo>
                      <a:pt x="1275714" y="0"/>
                      <a:pt x="1277451" y="719"/>
                      <a:pt x="1278731" y="2000"/>
                    </a:cubicBezTo>
                    <a:cubicBezTo>
                      <a:pt x="1280012" y="3280"/>
                      <a:pt x="1280731" y="5017"/>
                      <a:pt x="1280731" y="6828"/>
                    </a:cubicBezTo>
                    <a:lnTo>
                      <a:pt x="1280731" y="234055"/>
                    </a:lnTo>
                    <a:cubicBezTo>
                      <a:pt x="1280731" y="235866"/>
                      <a:pt x="1280012" y="237602"/>
                      <a:pt x="1278731" y="238883"/>
                    </a:cubicBezTo>
                    <a:cubicBezTo>
                      <a:pt x="1277451" y="240163"/>
                      <a:pt x="1275714" y="240883"/>
                      <a:pt x="1273903" y="240883"/>
                    </a:cubicBezTo>
                    <a:lnTo>
                      <a:pt x="6828" y="240883"/>
                    </a:lnTo>
                    <a:cubicBezTo>
                      <a:pt x="5017" y="240883"/>
                      <a:pt x="3280" y="240163"/>
                      <a:pt x="2000" y="238883"/>
                    </a:cubicBezTo>
                    <a:cubicBezTo>
                      <a:pt x="719" y="237602"/>
                      <a:pt x="0" y="235866"/>
                      <a:pt x="0" y="234055"/>
                    </a:cubicBezTo>
                    <a:lnTo>
                      <a:pt x="0" y="6828"/>
                    </a:lnTo>
                    <a:cubicBezTo>
                      <a:pt x="0" y="5017"/>
                      <a:pt x="719" y="3280"/>
                      <a:pt x="2000" y="2000"/>
                    </a:cubicBezTo>
                    <a:cubicBezTo>
                      <a:pt x="3280" y="719"/>
                      <a:pt x="5017" y="0"/>
                      <a:pt x="6828" y="0"/>
                    </a:cubicBezTo>
                    <a:close/>
                  </a:path>
                </a:pathLst>
              </a:custGeom>
              <a:gradFill rotWithShape="true">
                <a:gsLst>
                  <a:gs pos="0">
                    <a:srgbClr val="FFFFFF">
                      <a:alpha val="100000"/>
                    </a:srgbClr>
                  </a:gs>
                  <a:gs pos="100000">
                    <a:srgbClr val="FFFFFF">
                      <a:alpha val="0"/>
                    </a:srgbClr>
                  </a:gs>
                </a:gsLst>
                <a:lin ang="0"/>
              </a:gradFill>
            </p:spPr>
          </p:sp>
          <p:sp>
            <p:nvSpPr>
              <p:cNvPr name="TextBox 36" id="36"/>
              <p:cNvSpPr txBox="true"/>
              <p:nvPr/>
            </p:nvSpPr>
            <p:spPr>
              <a:xfrm>
                <a:off x="0" y="28575"/>
                <a:ext cx="1280731" cy="212308"/>
              </a:xfrm>
              <a:prstGeom prst="rect">
                <a:avLst/>
              </a:prstGeom>
            </p:spPr>
            <p:txBody>
              <a:bodyPr anchor="ctr" rtlCol="false" tIns="42145" lIns="42145" bIns="42145" rIns="42145"/>
              <a:lstStyle/>
              <a:p>
                <a:pPr algn="ctr">
                  <a:lnSpc>
                    <a:spcPts val="1919"/>
                  </a:lnSpc>
                </a:pPr>
              </a:p>
            </p:txBody>
          </p:sp>
        </p:grpSp>
        <p:grpSp>
          <p:nvGrpSpPr>
            <p:cNvPr name="Group 37" id="37"/>
            <p:cNvGrpSpPr/>
            <p:nvPr/>
          </p:nvGrpSpPr>
          <p:grpSpPr>
            <a:xfrm rot="0">
              <a:off x="0" y="0"/>
              <a:ext cx="299496" cy="2715768"/>
              <a:chOff x="0" y="0"/>
              <a:chExt cx="46219" cy="419100"/>
            </a:xfrm>
          </p:grpSpPr>
          <p:sp>
            <p:nvSpPr>
              <p:cNvPr name="Freeform 38" id="38"/>
              <p:cNvSpPr/>
              <p:nvPr/>
            </p:nvSpPr>
            <p:spPr>
              <a:xfrm flipH="false" flipV="false" rot="0">
                <a:off x="0" y="0"/>
                <a:ext cx="46219" cy="419100"/>
              </a:xfrm>
              <a:custGeom>
                <a:avLst/>
                <a:gdLst/>
                <a:ahLst/>
                <a:cxnLst/>
                <a:rect r="r" b="b" t="t" l="l"/>
                <a:pathLst>
                  <a:path h="419100" w="46219">
                    <a:moveTo>
                      <a:pt x="23109" y="0"/>
                    </a:moveTo>
                    <a:lnTo>
                      <a:pt x="23109" y="0"/>
                    </a:lnTo>
                    <a:cubicBezTo>
                      <a:pt x="29238" y="0"/>
                      <a:pt x="35116" y="2435"/>
                      <a:pt x="39450" y="6769"/>
                    </a:cubicBezTo>
                    <a:cubicBezTo>
                      <a:pt x="43784" y="11102"/>
                      <a:pt x="46219" y="16980"/>
                      <a:pt x="46219" y="23109"/>
                    </a:cubicBezTo>
                    <a:lnTo>
                      <a:pt x="46219" y="395991"/>
                    </a:lnTo>
                    <a:cubicBezTo>
                      <a:pt x="46219" y="402120"/>
                      <a:pt x="43784" y="407998"/>
                      <a:pt x="39450" y="412331"/>
                    </a:cubicBezTo>
                    <a:cubicBezTo>
                      <a:pt x="35116" y="416665"/>
                      <a:pt x="29238" y="419100"/>
                      <a:pt x="23109" y="419100"/>
                    </a:cubicBezTo>
                    <a:lnTo>
                      <a:pt x="23109" y="419100"/>
                    </a:lnTo>
                    <a:cubicBezTo>
                      <a:pt x="16980" y="419100"/>
                      <a:pt x="11102" y="416665"/>
                      <a:pt x="6769" y="412331"/>
                    </a:cubicBezTo>
                    <a:cubicBezTo>
                      <a:pt x="2435" y="407998"/>
                      <a:pt x="0" y="402120"/>
                      <a:pt x="0" y="395991"/>
                    </a:cubicBezTo>
                    <a:lnTo>
                      <a:pt x="0" y="23109"/>
                    </a:lnTo>
                    <a:cubicBezTo>
                      <a:pt x="0" y="16980"/>
                      <a:pt x="2435" y="11102"/>
                      <a:pt x="6769" y="6769"/>
                    </a:cubicBezTo>
                    <a:cubicBezTo>
                      <a:pt x="11102" y="2435"/>
                      <a:pt x="16980" y="0"/>
                      <a:pt x="23109" y="0"/>
                    </a:cubicBezTo>
                    <a:close/>
                  </a:path>
                </a:pathLst>
              </a:custGeom>
              <a:solidFill>
                <a:srgbClr val="6E3125"/>
              </a:solidFill>
            </p:spPr>
          </p:sp>
          <p:sp>
            <p:nvSpPr>
              <p:cNvPr name="TextBox 39" id="39"/>
              <p:cNvSpPr txBox="true"/>
              <p:nvPr/>
            </p:nvSpPr>
            <p:spPr>
              <a:xfrm>
                <a:off x="0" y="28575"/>
                <a:ext cx="46219" cy="390525"/>
              </a:xfrm>
              <a:prstGeom prst="rect">
                <a:avLst/>
              </a:prstGeom>
            </p:spPr>
            <p:txBody>
              <a:bodyPr anchor="ctr" rtlCol="false" tIns="50800" lIns="50800" bIns="50800" rIns="50800"/>
              <a:lstStyle/>
              <a:p>
                <a:pPr algn="ctr">
                  <a:lnSpc>
                    <a:spcPts val="1919"/>
                  </a:lnSpc>
                </a:pPr>
              </a:p>
            </p:txBody>
          </p:sp>
        </p:grpSp>
        <p:sp>
          <p:nvSpPr>
            <p:cNvPr name="TextBox 40" id="40"/>
            <p:cNvSpPr txBox="true"/>
            <p:nvPr/>
          </p:nvSpPr>
          <p:spPr>
            <a:xfrm rot="0">
              <a:off x="635691" y="365040"/>
              <a:ext cx="13960466" cy="1910307"/>
            </a:xfrm>
            <a:prstGeom prst="rect">
              <a:avLst/>
            </a:prstGeom>
          </p:spPr>
          <p:txBody>
            <a:bodyPr anchor="t" rtlCol="false" tIns="0" lIns="0" bIns="0" rIns="0">
              <a:spAutoFit/>
            </a:bodyPr>
            <a:lstStyle/>
            <a:p>
              <a:pPr algn="l">
                <a:lnSpc>
                  <a:spcPts val="3665"/>
                </a:lnSpc>
              </a:pPr>
              <a:r>
                <a:rPr lang="en-US" sz="3425" b="true">
                  <a:solidFill>
                    <a:srgbClr val="6E3125"/>
                  </a:solidFill>
                  <a:latin typeface="Poppins Heavy"/>
                  <a:ea typeface="Poppins Heavy"/>
                  <a:cs typeface="Poppins Heavy"/>
                  <a:sym typeface="Poppins Heavy"/>
                </a:rPr>
                <a:t>Is submit</a:t>
              </a:r>
              <a:r>
                <a:rPr lang="en-US" sz="3425" b="true">
                  <a:solidFill>
                    <a:srgbClr val="6E3125"/>
                  </a:solidFill>
                  <a:latin typeface="Poppins Heavy"/>
                  <a:ea typeface="Poppins Heavy"/>
                  <a:cs typeface="Poppins Heavy"/>
                  <a:sym typeface="Poppins Heavy"/>
                </a:rPr>
                <a:t>ting something on time enough? What is the difference between contributing and contributing thoughtfully?</a:t>
              </a:r>
            </a:p>
          </p:txBody>
        </p:sp>
      </p:gr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false" rot="0">
            <a:off x="-352703" y="-2563023"/>
            <a:ext cx="3679495" cy="14717982"/>
          </a:xfrm>
          <a:custGeom>
            <a:avLst/>
            <a:gdLst/>
            <a:ahLst/>
            <a:cxnLst/>
            <a:rect r="r" b="b" t="t" l="l"/>
            <a:pathLst>
              <a:path h="14717982" w="3679495">
                <a:moveTo>
                  <a:pt x="3679495" y="0"/>
                </a:moveTo>
                <a:lnTo>
                  <a:pt x="0" y="0"/>
                </a:lnTo>
                <a:lnTo>
                  <a:pt x="0" y="14717982"/>
                </a:lnTo>
                <a:lnTo>
                  <a:pt x="3679495" y="14717982"/>
                </a:lnTo>
                <a:lnTo>
                  <a:pt x="3679495" y="0"/>
                </a:lnTo>
                <a:close/>
              </a:path>
            </a:pathLst>
          </a:custGeom>
          <a:blipFill>
            <a:blip r:embed="rId4"/>
            <a:stretch>
              <a:fillRect l="0" t="0" r="0" b="0"/>
            </a:stretch>
          </a:blipFill>
        </p:spPr>
      </p:sp>
      <p:sp>
        <p:nvSpPr>
          <p:cNvPr name="Freeform 4" id="4"/>
          <p:cNvSpPr/>
          <p:nvPr/>
        </p:nvSpPr>
        <p:spPr>
          <a:xfrm flipH="false" flipV="false" rot="0">
            <a:off x="15006105" y="-3002669"/>
            <a:ext cx="3679495" cy="14717982"/>
          </a:xfrm>
          <a:custGeom>
            <a:avLst/>
            <a:gdLst/>
            <a:ahLst/>
            <a:cxnLst/>
            <a:rect r="r" b="b" t="t" l="l"/>
            <a:pathLst>
              <a:path h="14717982" w="3679495">
                <a:moveTo>
                  <a:pt x="0" y="0"/>
                </a:moveTo>
                <a:lnTo>
                  <a:pt x="3679495" y="0"/>
                </a:lnTo>
                <a:lnTo>
                  <a:pt x="3679495" y="14717982"/>
                </a:lnTo>
                <a:lnTo>
                  <a:pt x="0" y="14717982"/>
                </a:lnTo>
                <a:lnTo>
                  <a:pt x="0" y="0"/>
                </a:lnTo>
                <a:close/>
              </a:path>
            </a:pathLst>
          </a:custGeom>
          <a:blipFill>
            <a:blip r:embed="rId4"/>
            <a:stretch>
              <a:fillRect l="0" t="0" r="0" b="0"/>
            </a:stretch>
          </a:blipFill>
        </p:spPr>
      </p:sp>
      <p:sp>
        <p:nvSpPr>
          <p:cNvPr name="Freeform 5" id="5"/>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6" id="6"/>
          <p:cNvGrpSpPr/>
          <p:nvPr/>
        </p:nvGrpSpPr>
        <p:grpSpPr>
          <a:xfrm rot="0">
            <a:off x="415994" y="9258300"/>
            <a:ext cx="4387595" cy="2093523"/>
            <a:chOff x="0" y="0"/>
            <a:chExt cx="5850127" cy="2791364"/>
          </a:xfrm>
        </p:grpSpPr>
        <p:grpSp>
          <p:nvGrpSpPr>
            <p:cNvPr name="Group 7" id="7"/>
            <p:cNvGrpSpPr/>
            <p:nvPr/>
          </p:nvGrpSpPr>
          <p:grpSpPr>
            <a:xfrm rot="0">
              <a:off x="0" y="0"/>
              <a:ext cx="5850127" cy="2791364"/>
              <a:chOff x="0" y="0"/>
              <a:chExt cx="902797" cy="430766"/>
            </a:xfrm>
          </p:grpSpPr>
          <p:sp>
            <p:nvSpPr>
              <p:cNvPr name="Freeform 8" id="8"/>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9" id="9"/>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10" id="10"/>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7"/>
              <a:stretch>
                <a:fillRect l="0" t="-15579" r="0" b="0"/>
              </a:stretch>
            </a:blipFill>
          </p:spPr>
        </p:sp>
      </p:grpSp>
      <p:grpSp>
        <p:nvGrpSpPr>
          <p:cNvPr name="Group 11" id="11"/>
          <p:cNvGrpSpPr/>
          <p:nvPr/>
        </p:nvGrpSpPr>
        <p:grpSpPr>
          <a:xfrm rot="0">
            <a:off x="3162265" y="9258300"/>
            <a:ext cx="11963470" cy="4031369"/>
            <a:chOff x="0" y="0"/>
            <a:chExt cx="1057797" cy="356449"/>
          </a:xfrm>
        </p:grpSpPr>
        <p:sp>
          <p:nvSpPr>
            <p:cNvPr name="Freeform 12" id="12"/>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3" id="13"/>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4" id="14"/>
          <p:cNvGrpSpPr/>
          <p:nvPr/>
        </p:nvGrpSpPr>
        <p:grpSpPr>
          <a:xfrm rot="0">
            <a:off x="13874565" y="9023776"/>
            <a:ext cx="2263079" cy="2785329"/>
            <a:chOff x="0" y="0"/>
            <a:chExt cx="660400" cy="812800"/>
          </a:xfrm>
        </p:grpSpPr>
        <p:sp>
          <p:nvSpPr>
            <p:cNvPr name="Freeform 15" id="15"/>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6" id="16"/>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7" id="17"/>
          <p:cNvGrpSpPr/>
          <p:nvPr/>
        </p:nvGrpSpPr>
        <p:grpSpPr>
          <a:xfrm rot="0">
            <a:off x="6180582" y="2356488"/>
            <a:ext cx="7345219" cy="1916442"/>
            <a:chOff x="0" y="0"/>
            <a:chExt cx="9793625" cy="2555256"/>
          </a:xfrm>
        </p:grpSpPr>
        <p:sp>
          <p:nvSpPr>
            <p:cNvPr name="TextBox 18" id="18"/>
            <p:cNvSpPr txBox="true"/>
            <p:nvPr/>
          </p:nvSpPr>
          <p:spPr>
            <a:xfrm rot="0">
              <a:off x="103840" y="-177615"/>
              <a:ext cx="9689785" cy="2732871"/>
            </a:xfrm>
            <a:prstGeom prst="rect">
              <a:avLst/>
            </a:prstGeom>
          </p:spPr>
          <p:txBody>
            <a:bodyPr anchor="t" rtlCol="false" tIns="0" lIns="0" bIns="0" rIns="0">
              <a:spAutoFit/>
            </a:bodyPr>
            <a:lstStyle/>
            <a:p>
              <a:pPr algn="ctr">
                <a:lnSpc>
                  <a:spcPts val="16537"/>
                </a:lnSpc>
              </a:pPr>
              <a:r>
                <a:rPr lang="en-US" sz="11812">
                  <a:solidFill>
                    <a:srgbClr val="000000">
                      <a:alpha val="34902"/>
                    </a:srgbClr>
                  </a:solidFill>
                  <a:latin typeface="Jack in the Box"/>
                  <a:ea typeface="Jack in the Box"/>
                  <a:cs typeface="Jack in the Box"/>
                  <a:sym typeface="Jack in the Box"/>
                </a:rPr>
                <a:t>Level 2:</a:t>
              </a:r>
            </a:p>
          </p:txBody>
        </p:sp>
        <p:sp>
          <p:nvSpPr>
            <p:cNvPr name="TextBox 19" id="19"/>
            <p:cNvSpPr txBox="true"/>
            <p:nvPr/>
          </p:nvSpPr>
          <p:spPr>
            <a:xfrm rot="0">
              <a:off x="0" y="-333375"/>
              <a:ext cx="9689785" cy="2732871"/>
            </a:xfrm>
            <a:prstGeom prst="rect">
              <a:avLst/>
            </a:prstGeom>
          </p:spPr>
          <p:txBody>
            <a:bodyPr anchor="t" rtlCol="false" tIns="0" lIns="0" bIns="0" rIns="0">
              <a:spAutoFit/>
            </a:bodyPr>
            <a:lstStyle/>
            <a:p>
              <a:pPr algn="ctr">
                <a:lnSpc>
                  <a:spcPts val="16537"/>
                </a:lnSpc>
              </a:pPr>
              <a:r>
                <a:rPr lang="en-US" sz="11812">
                  <a:gradFill>
                    <a:gsLst>
                      <a:gs pos="0">
                        <a:srgbClr val="841F0B">
                          <a:alpha val="100000"/>
                        </a:srgbClr>
                      </a:gs>
                      <a:gs pos="100000">
                        <a:srgbClr val="DA4610">
                          <a:alpha val="100000"/>
                        </a:srgbClr>
                      </a:gs>
                    </a:gsLst>
                    <a:lin ang="0"/>
                  </a:gradFill>
                  <a:latin typeface="Jack in the Box"/>
                  <a:ea typeface="Jack in the Box"/>
                  <a:cs typeface="Jack in the Box"/>
                  <a:sym typeface="Jack in the Box"/>
                </a:rPr>
                <a:t>Level 2:</a:t>
              </a:r>
            </a:p>
          </p:txBody>
        </p:sp>
      </p:grpSp>
      <p:sp>
        <p:nvSpPr>
          <p:cNvPr name="Freeform 20" id="20"/>
          <p:cNvSpPr/>
          <p:nvPr/>
        </p:nvSpPr>
        <p:spPr>
          <a:xfrm flipH="false" flipV="false" rot="0">
            <a:off x="1937844" y="152400"/>
            <a:ext cx="6456978" cy="7450349"/>
          </a:xfrm>
          <a:custGeom>
            <a:avLst/>
            <a:gdLst/>
            <a:ahLst/>
            <a:cxnLst/>
            <a:rect r="r" b="b" t="t" l="l"/>
            <a:pathLst>
              <a:path h="7450349" w="6456978">
                <a:moveTo>
                  <a:pt x="0" y="0"/>
                </a:moveTo>
                <a:lnTo>
                  <a:pt x="6456978" y="0"/>
                </a:lnTo>
                <a:lnTo>
                  <a:pt x="6456978" y="7450349"/>
                </a:lnTo>
                <a:lnTo>
                  <a:pt x="0" y="7450349"/>
                </a:lnTo>
                <a:lnTo>
                  <a:pt x="0" y="0"/>
                </a:lnTo>
                <a:close/>
              </a:path>
            </a:pathLst>
          </a:custGeom>
          <a:blipFill>
            <a:blip r:embed="rId8">
              <a:alphaModFix amt="30000"/>
            </a:blip>
            <a:stretch>
              <a:fillRect l="0" t="0" r="0" b="-30326"/>
            </a:stretch>
          </a:blipFill>
        </p:spPr>
      </p:sp>
      <p:sp>
        <p:nvSpPr>
          <p:cNvPr name="Freeform 21" id="21"/>
          <p:cNvSpPr/>
          <p:nvPr/>
        </p:nvSpPr>
        <p:spPr>
          <a:xfrm flipH="false" flipV="false" rot="0">
            <a:off x="1756869" y="0"/>
            <a:ext cx="6456978" cy="7450349"/>
          </a:xfrm>
          <a:custGeom>
            <a:avLst/>
            <a:gdLst/>
            <a:ahLst/>
            <a:cxnLst/>
            <a:rect r="r" b="b" t="t" l="l"/>
            <a:pathLst>
              <a:path h="7450349" w="6456978">
                <a:moveTo>
                  <a:pt x="0" y="0"/>
                </a:moveTo>
                <a:lnTo>
                  <a:pt x="6456978" y="0"/>
                </a:lnTo>
                <a:lnTo>
                  <a:pt x="6456978" y="7450349"/>
                </a:lnTo>
                <a:lnTo>
                  <a:pt x="0" y="7450349"/>
                </a:lnTo>
                <a:lnTo>
                  <a:pt x="0" y="0"/>
                </a:lnTo>
                <a:close/>
              </a:path>
            </a:pathLst>
          </a:custGeom>
          <a:blipFill>
            <a:blip r:embed="rId9"/>
            <a:stretch>
              <a:fillRect l="0" t="0" r="0" b="-30326"/>
            </a:stretch>
          </a:blipFill>
        </p:spPr>
      </p:sp>
      <p:grpSp>
        <p:nvGrpSpPr>
          <p:cNvPr name="Group 22" id="22"/>
          <p:cNvGrpSpPr/>
          <p:nvPr/>
        </p:nvGrpSpPr>
        <p:grpSpPr>
          <a:xfrm rot="0">
            <a:off x="2484870" y="6854349"/>
            <a:ext cx="13318260" cy="1191999"/>
            <a:chOff x="0" y="0"/>
            <a:chExt cx="2740383" cy="245267"/>
          </a:xfrm>
        </p:grpSpPr>
        <p:sp>
          <p:nvSpPr>
            <p:cNvPr name="Freeform 23" id="23"/>
            <p:cNvSpPr/>
            <p:nvPr/>
          </p:nvSpPr>
          <p:spPr>
            <a:xfrm flipH="false" flipV="false" rot="0">
              <a:off x="0" y="0"/>
              <a:ext cx="2740383" cy="245267"/>
            </a:xfrm>
            <a:custGeom>
              <a:avLst/>
              <a:gdLst/>
              <a:ahLst/>
              <a:cxnLst/>
              <a:rect r="r" b="b" t="t" l="l"/>
              <a:pathLst>
                <a:path h="245267" w="2740383">
                  <a:moveTo>
                    <a:pt x="17712" y="0"/>
                  </a:moveTo>
                  <a:lnTo>
                    <a:pt x="2722671" y="0"/>
                  </a:lnTo>
                  <a:cubicBezTo>
                    <a:pt x="2732453" y="0"/>
                    <a:pt x="2740383" y="7930"/>
                    <a:pt x="2740383" y="17712"/>
                  </a:cubicBezTo>
                  <a:lnTo>
                    <a:pt x="2740383" y="227556"/>
                  </a:lnTo>
                  <a:cubicBezTo>
                    <a:pt x="2740383" y="237338"/>
                    <a:pt x="2732453" y="245267"/>
                    <a:pt x="2722671" y="245267"/>
                  </a:cubicBezTo>
                  <a:lnTo>
                    <a:pt x="17712" y="245267"/>
                  </a:lnTo>
                  <a:cubicBezTo>
                    <a:pt x="13014" y="245267"/>
                    <a:pt x="8509" y="243401"/>
                    <a:pt x="5188" y="240080"/>
                  </a:cubicBezTo>
                  <a:cubicBezTo>
                    <a:pt x="1866" y="236758"/>
                    <a:pt x="0" y="232253"/>
                    <a:pt x="0" y="227556"/>
                  </a:cubicBezTo>
                  <a:lnTo>
                    <a:pt x="0" y="17712"/>
                  </a:lnTo>
                  <a:cubicBezTo>
                    <a:pt x="0" y="7930"/>
                    <a:pt x="7930" y="0"/>
                    <a:pt x="17712" y="0"/>
                  </a:cubicBezTo>
                  <a:close/>
                </a:path>
              </a:pathLst>
            </a:custGeom>
            <a:gradFill rotWithShape="true">
              <a:gsLst>
                <a:gs pos="0">
                  <a:srgbClr val="85200C">
                    <a:alpha val="100000"/>
                  </a:srgbClr>
                </a:gs>
                <a:gs pos="100000">
                  <a:srgbClr val="DC4B0F">
                    <a:alpha val="100000"/>
                  </a:srgbClr>
                </a:gs>
              </a:gsLst>
              <a:lin ang="0"/>
            </a:gradFill>
          </p:spPr>
        </p:sp>
        <p:sp>
          <p:nvSpPr>
            <p:cNvPr name="TextBox 24" id="24"/>
            <p:cNvSpPr txBox="true"/>
            <p:nvPr/>
          </p:nvSpPr>
          <p:spPr>
            <a:xfrm>
              <a:off x="0" y="28575"/>
              <a:ext cx="2740383" cy="216692"/>
            </a:xfrm>
            <a:prstGeom prst="rect">
              <a:avLst/>
            </a:prstGeom>
          </p:spPr>
          <p:txBody>
            <a:bodyPr anchor="ctr" rtlCol="false" tIns="50800" lIns="50800" bIns="50800" rIns="50800"/>
            <a:lstStyle/>
            <a:p>
              <a:pPr algn="ctr">
                <a:lnSpc>
                  <a:spcPts val="1919"/>
                </a:lnSpc>
              </a:pPr>
            </a:p>
          </p:txBody>
        </p:sp>
      </p:grpSp>
      <p:grpSp>
        <p:nvGrpSpPr>
          <p:cNvPr name="Group 25" id="25"/>
          <p:cNvGrpSpPr/>
          <p:nvPr/>
        </p:nvGrpSpPr>
        <p:grpSpPr>
          <a:xfrm rot="481108">
            <a:off x="5590904" y="4481403"/>
            <a:ext cx="3650792" cy="1648059"/>
            <a:chOff x="0" y="0"/>
            <a:chExt cx="1053899" cy="475757"/>
          </a:xfrm>
        </p:grpSpPr>
        <p:sp>
          <p:nvSpPr>
            <p:cNvPr name="Freeform 26" id="26"/>
            <p:cNvSpPr/>
            <p:nvPr/>
          </p:nvSpPr>
          <p:spPr>
            <a:xfrm flipH="false" flipV="false" rot="0">
              <a:off x="0" y="0"/>
              <a:ext cx="1053899" cy="475757"/>
            </a:xfrm>
            <a:custGeom>
              <a:avLst/>
              <a:gdLst/>
              <a:ahLst/>
              <a:cxnLst/>
              <a:rect r="r" b="b" t="t" l="l"/>
              <a:pathLst>
                <a:path h="475757" w="1053899">
                  <a:moveTo>
                    <a:pt x="36448" y="0"/>
                  </a:moveTo>
                  <a:lnTo>
                    <a:pt x="1017451" y="0"/>
                  </a:lnTo>
                  <a:cubicBezTo>
                    <a:pt x="1037581" y="0"/>
                    <a:pt x="1053899" y="16318"/>
                    <a:pt x="1053899" y="36448"/>
                  </a:cubicBezTo>
                  <a:lnTo>
                    <a:pt x="1053899" y="439309"/>
                  </a:lnTo>
                  <a:cubicBezTo>
                    <a:pt x="1053899" y="448975"/>
                    <a:pt x="1050059" y="458246"/>
                    <a:pt x="1043224" y="465081"/>
                  </a:cubicBezTo>
                  <a:cubicBezTo>
                    <a:pt x="1036389" y="471917"/>
                    <a:pt x="1027118" y="475757"/>
                    <a:pt x="1017451" y="475757"/>
                  </a:cubicBezTo>
                  <a:lnTo>
                    <a:pt x="36448" y="475757"/>
                  </a:lnTo>
                  <a:cubicBezTo>
                    <a:pt x="26781" y="475757"/>
                    <a:pt x="17511" y="471917"/>
                    <a:pt x="10675" y="465081"/>
                  </a:cubicBezTo>
                  <a:cubicBezTo>
                    <a:pt x="3840" y="458246"/>
                    <a:pt x="0" y="448975"/>
                    <a:pt x="0" y="439309"/>
                  </a:cubicBezTo>
                  <a:lnTo>
                    <a:pt x="0" y="36448"/>
                  </a:lnTo>
                  <a:cubicBezTo>
                    <a:pt x="0" y="26781"/>
                    <a:pt x="3840" y="17511"/>
                    <a:pt x="10675" y="10675"/>
                  </a:cubicBezTo>
                  <a:cubicBezTo>
                    <a:pt x="17511" y="3840"/>
                    <a:pt x="26781" y="0"/>
                    <a:pt x="36448" y="0"/>
                  </a:cubicBezTo>
                  <a:close/>
                </a:path>
              </a:pathLst>
            </a:custGeom>
            <a:gradFill rotWithShape="true">
              <a:gsLst>
                <a:gs pos="0">
                  <a:srgbClr val="85200C">
                    <a:alpha val="100000"/>
                  </a:srgbClr>
                </a:gs>
                <a:gs pos="100000">
                  <a:srgbClr val="DC4B0F">
                    <a:alpha val="100000"/>
                  </a:srgbClr>
                </a:gs>
              </a:gsLst>
              <a:lin ang="0"/>
            </a:gradFill>
          </p:spPr>
        </p:sp>
        <p:sp>
          <p:nvSpPr>
            <p:cNvPr name="TextBox 27" id="27"/>
            <p:cNvSpPr txBox="true"/>
            <p:nvPr/>
          </p:nvSpPr>
          <p:spPr>
            <a:xfrm>
              <a:off x="0" y="28575"/>
              <a:ext cx="1053899" cy="447182"/>
            </a:xfrm>
            <a:prstGeom prst="rect">
              <a:avLst/>
            </a:prstGeom>
          </p:spPr>
          <p:txBody>
            <a:bodyPr anchor="ctr" rtlCol="false" tIns="50800" lIns="50800" bIns="50800" rIns="50800"/>
            <a:lstStyle/>
            <a:p>
              <a:pPr algn="ctr">
                <a:lnSpc>
                  <a:spcPts val="1919"/>
                </a:lnSpc>
              </a:pPr>
            </a:p>
          </p:txBody>
        </p:sp>
      </p:grpSp>
      <p:sp>
        <p:nvSpPr>
          <p:cNvPr name="TextBox 28" id="28"/>
          <p:cNvSpPr txBox="true"/>
          <p:nvPr/>
        </p:nvSpPr>
        <p:spPr>
          <a:xfrm rot="0">
            <a:off x="2598080" y="7024935"/>
            <a:ext cx="13205050" cy="888928"/>
          </a:xfrm>
          <a:prstGeom prst="rect">
            <a:avLst/>
          </a:prstGeom>
        </p:spPr>
        <p:txBody>
          <a:bodyPr anchor="t" rtlCol="false" tIns="0" lIns="0" bIns="0" rIns="0">
            <a:spAutoFit/>
          </a:bodyPr>
          <a:lstStyle/>
          <a:p>
            <a:pPr algn="ctr">
              <a:lnSpc>
                <a:spcPts val="3227"/>
              </a:lnSpc>
            </a:pPr>
            <a:r>
              <a:rPr lang="en-US" sz="3397" b="true">
                <a:solidFill>
                  <a:srgbClr val="FFFFFF"/>
                </a:solidFill>
                <a:latin typeface="Poppins Semi-Bold"/>
                <a:ea typeface="Poppins Semi-Bold"/>
                <a:cs typeface="Poppins Semi-Bold"/>
                <a:sym typeface="Poppins Semi-Bold"/>
              </a:rPr>
              <a:t>The first real disagreement. Behaviours that look harmless, or look unhelpful, until you think about the effect.</a:t>
            </a:r>
          </a:p>
        </p:txBody>
      </p:sp>
      <p:sp>
        <p:nvSpPr>
          <p:cNvPr name="TextBox 29" id="29"/>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12</a:t>
            </a:r>
          </a:p>
        </p:txBody>
      </p:sp>
      <p:sp>
        <p:nvSpPr>
          <p:cNvPr name="TextBox 30" id="30"/>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grpSp>
        <p:nvGrpSpPr>
          <p:cNvPr name="Group 31" id="31"/>
          <p:cNvGrpSpPr/>
          <p:nvPr/>
        </p:nvGrpSpPr>
        <p:grpSpPr>
          <a:xfrm rot="0">
            <a:off x="9344402" y="4281983"/>
            <a:ext cx="6627717" cy="1663306"/>
            <a:chOff x="0" y="0"/>
            <a:chExt cx="8836956" cy="2217741"/>
          </a:xfrm>
        </p:grpSpPr>
        <p:sp>
          <p:nvSpPr>
            <p:cNvPr name="TextBox 32" id="32"/>
            <p:cNvSpPr txBox="true"/>
            <p:nvPr/>
          </p:nvSpPr>
          <p:spPr>
            <a:xfrm rot="0">
              <a:off x="92084" y="268175"/>
              <a:ext cx="8744872" cy="1949566"/>
            </a:xfrm>
            <a:prstGeom prst="rect">
              <a:avLst/>
            </a:prstGeom>
          </p:spPr>
          <p:txBody>
            <a:bodyPr anchor="t" rtlCol="false" tIns="0" lIns="0" bIns="0" rIns="0">
              <a:spAutoFit/>
            </a:bodyPr>
            <a:lstStyle/>
            <a:p>
              <a:pPr algn="l">
                <a:lnSpc>
                  <a:spcPts val="10058"/>
                </a:lnSpc>
              </a:pPr>
              <a:r>
                <a:rPr lang="en-US" sz="10587" b="true">
                  <a:solidFill>
                    <a:srgbClr val="000000">
                      <a:alpha val="29804"/>
                    </a:srgbClr>
                  </a:solidFill>
                  <a:latin typeface="Poppins Heavy"/>
                  <a:ea typeface="Poppins Heavy"/>
                  <a:cs typeface="Poppins Heavy"/>
                  <a:sym typeface="Poppins Heavy"/>
                </a:rPr>
                <a:t>OBVIOUS</a:t>
              </a:r>
            </a:p>
          </p:txBody>
        </p:sp>
        <p:sp>
          <p:nvSpPr>
            <p:cNvPr name="TextBox 33" id="33"/>
            <p:cNvSpPr txBox="true"/>
            <p:nvPr/>
          </p:nvSpPr>
          <p:spPr>
            <a:xfrm rot="0">
              <a:off x="0" y="161925"/>
              <a:ext cx="8744872" cy="1949566"/>
            </a:xfrm>
            <a:prstGeom prst="rect">
              <a:avLst/>
            </a:prstGeom>
          </p:spPr>
          <p:txBody>
            <a:bodyPr anchor="t" rtlCol="false" tIns="0" lIns="0" bIns="0" rIns="0">
              <a:spAutoFit/>
            </a:bodyPr>
            <a:lstStyle/>
            <a:p>
              <a:pPr algn="l">
                <a:lnSpc>
                  <a:spcPts val="10058"/>
                </a:lnSpc>
              </a:pPr>
              <a:r>
                <a:rPr lang="en-US" sz="10587" b="true">
                  <a:gradFill>
                    <a:gsLst>
                      <a:gs pos="0">
                        <a:srgbClr val="85200C">
                          <a:alpha val="100000"/>
                        </a:srgbClr>
                      </a:gs>
                      <a:gs pos="100000">
                        <a:srgbClr val="DC4B0F">
                          <a:alpha val="100000"/>
                        </a:srgbClr>
                      </a:gs>
                    </a:gsLst>
                    <a:lin ang="0"/>
                  </a:gradFill>
                  <a:latin typeface="Poppins Heavy"/>
                  <a:ea typeface="Poppins Heavy"/>
                  <a:cs typeface="Poppins Heavy"/>
                  <a:sym typeface="Poppins Heavy"/>
                </a:rPr>
                <a:t>OBVIOUS</a:t>
              </a:r>
            </a:p>
          </p:txBody>
        </p:sp>
      </p:grpSp>
      <p:grpSp>
        <p:nvGrpSpPr>
          <p:cNvPr name="Group 34" id="34"/>
          <p:cNvGrpSpPr/>
          <p:nvPr/>
        </p:nvGrpSpPr>
        <p:grpSpPr>
          <a:xfrm rot="546509">
            <a:off x="5830142" y="4796094"/>
            <a:ext cx="6627717" cy="1663306"/>
            <a:chOff x="0" y="0"/>
            <a:chExt cx="8836956" cy="2217741"/>
          </a:xfrm>
        </p:grpSpPr>
        <p:sp>
          <p:nvSpPr>
            <p:cNvPr name="TextBox 35" id="35"/>
            <p:cNvSpPr txBox="true"/>
            <p:nvPr/>
          </p:nvSpPr>
          <p:spPr>
            <a:xfrm rot="0">
              <a:off x="92084" y="268175"/>
              <a:ext cx="8744872" cy="1949566"/>
            </a:xfrm>
            <a:prstGeom prst="rect">
              <a:avLst/>
            </a:prstGeom>
          </p:spPr>
          <p:txBody>
            <a:bodyPr anchor="t" rtlCol="false" tIns="0" lIns="0" bIns="0" rIns="0">
              <a:spAutoFit/>
            </a:bodyPr>
            <a:lstStyle/>
            <a:p>
              <a:pPr algn="l">
                <a:lnSpc>
                  <a:spcPts val="10058"/>
                </a:lnSpc>
              </a:pPr>
              <a:r>
                <a:rPr lang="en-US" sz="10587" b="true">
                  <a:solidFill>
                    <a:srgbClr val="000000">
                      <a:alpha val="29804"/>
                    </a:srgbClr>
                  </a:solidFill>
                  <a:latin typeface="Poppins Heavy"/>
                  <a:ea typeface="Poppins Heavy"/>
                  <a:cs typeface="Poppins Heavy"/>
                  <a:sym typeface="Poppins Heavy"/>
                </a:rPr>
                <a:t>LESS</a:t>
              </a:r>
            </a:p>
          </p:txBody>
        </p:sp>
        <p:sp>
          <p:nvSpPr>
            <p:cNvPr name="TextBox 36" id="36"/>
            <p:cNvSpPr txBox="true"/>
            <p:nvPr/>
          </p:nvSpPr>
          <p:spPr>
            <a:xfrm rot="0">
              <a:off x="0" y="161925"/>
              <a:ext cx="5170254" cy="1949566"/>
            </a:xfrm>
            <a:prstGeom prst="rect">
              <a:avLst/>
            </a:prstGeom>
          </p:spPr>
          <p:txBody>
            <a:bodyPr anchor="t" rtlCol="false" tIns="0" lIns="0" bIns="0" rIns="0">
              <a:spAutoFit/>
            </a:bodyPr>
            <a:lstStyle/>
            <a:p>
              <a:pPr algn="l">
                <a:lnSpc>
                  <a:spcPts val="10058"/>
                </a:lnSpc>
              </a:pPr>
              <a:r>
                <a:rPr lang="en-US" sz="10587" b="true">
                  <a:gradFill>
                    <a:gsLst>
                      <a:gs pos="0">
                        <a:srgbClr val="85200C">
                          <a:alpha val="100000"/>
                        </a:srgbClr>
                      </a:gs>
                      <a:gs pos="100000">
                        <a:srgbClr val="DC4B0F">
                          <a:alpha val="100000"/>
                        </a:srgbClr>
                      </a:gs>
                    </a:gsLst>
                    <a:lin ang="0"/>
                  </a:gradFill>
                  <a:latin typeface="Poppins Heavy"/>
                  <a:ea typeface="Poppins Heavy"/>
                  <a:cs typeface="Poppins Heavy"/>
                  <a:sym typeface="Poppins Heavy"/>
                </a:rPr>
                <a:t>LESS</a:t>
              </a:r>
            </a:p>
          </p:txBody>
        </p:sp>
      </p:grpSp>
      <p:sp>
        <p:nvSpPr>
          <p:cNvPr name="Freeform 37" id="37"/>
          <p:cNvSpPr/>
          <p:nvPr/>
        </p:nvSpPr>
        <p:spPr>
          <a:xfrm flipH="false" flipV="false" rot="0">
            <a:off x="-1291529" y="-3353118"/>
            <a:ext cx="20440189" cy="20440189"/>
          </a:xfrm>
          <a:custGeom>
            <a:avLst/>
            <a:gdLst/>
            <a:ahLst/>
            <a:cxnLst/>
            <a:rect r="r" b="b" t="t" l="l"/>
            <a:pathLst>
              <a:path h="20440189" w="20440189">
                <a:moveTo>
                  <a:pt x="0" y="0"/>
                </a:moveTo>
                <a:lnTo>
                  <a:pt x="20440189" y="0"/>
                </a:lnTo>
                <a:lnTo>
                  <a:pt x="20440189" y="20440189"/>
                </a:lnTo>
                <a:lnTo>
                  <a:pt x="0" y="20440189"/>
                </a:lnTo>
                <a:lnTo>
                  <a:pt x="0" y="0"/>
                </a:lnTo>
                <a:close/>
              </a:path>
            </a:pathLst>
          </a:custGeom>
          <a:blipFill>
            <a:blip r:embed="rId10">
              <a:alphaModFix amt="50000"/>
            </a:blip>
            <a:stretch>
              <a:fillRect l="0" t="0" r="0" b="0"/>
            </a:stretch>
          </a:blipFill>
        </p:spPr>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271343" y="1105777"/>
            <a:ext cx="7487927" cy="1140886"/>
            <a:chOff x="0" y="0"/>
            <a:chExt cx="605413" cy="92243"/>
          </a:xfrm>
        </p:grpSpPr>
        <p:sp>
          <p:nvSpPr>
            <p:cNvPr name="Freeform 16" id="16"/>
            <p:cNvSpPr/>
            <p:nvPr/>
          </p:nvSpPr>
          <p:spPr>
            <a:xfrm flipH="false" flipV="false" rot="0">
              <a:off x="0" y="0"/>
              <a:ext cx="605413" cy="92243"/>
            </a:xfrm>
            <a:custGeom>
              <a:avLst/>
              <a:gdLst/>
              <a:ahLst/>
              <a:cxnLst/>
              <a:rect r="r" b="b" t="t" l="l"/>
              <a:pathLst>
                <a:path h="92243" w="605413">
                  <a:moveTo>
                    <a:pt x="46121" y="0"/>
                  </a:moveTo>
                  <a:lnTo>
                    <a:pt x="559292" y="0"/>
                  </a:lnTo>
                  <a:cubicBezTo>
                    <a:pt x="571524" y="0"/>
                    <a:pt x="583255" y="4859"/>
                    <a:pt x="591905" y="13509"/>
                  </a:cubicBezTo>
                  <a:cubicBezTo>
                    <a:pt x="600554" y="22158"/>
                    <a:pt x="605413" y="33889"/>
                    <a:pt x="605413" y="46121"/>
                  </a:cubicBezTo>
                  <a:lnTo>
                    <a:pt x="605413" y="46121"/>
                  </a:lnTo>
                  <a:cubicBezTo>
                    <a:pt x="605413" y="58354"/>
                    <a:pt x="600554" y="70085"/>
                    <a:pt x="591905" y="78734"/>
                  </a:cubicBezTo>
                  <a:cubicBezTo>
                    <a:pt x="583255" y="87384"/>
                    <a:pt x="571524" y="92243"/>
                    <a:pt x="559292" y="92243"/>
                  </a:cubicBezTo>
                  <a:lnTo>
                    <a:pt x="46121" y="92243"/>
                  </a:lnTo>
                  <a:cubicBezTo>
                    <a:pt x="33889" y="92243"/>
                    <a:pt x="22158" y="87384"/>
                    <a:pt x="13509" y="78734"/>
                  </a:cubicBezTo>
                  <a:cubicBezTo>
                    <a:pt x="4859" y="70085"/>
                    <a:pt x="0" y="58354"/>
                    <a:pt x="0" y="46121"/>
                  </a:cubicBezTo>
                  <a:lnTo>
                    <a:pt x="0" y="46121"/>
                  </a:lnTo>
                  <a:cubicBezTo>
                    <a:pt x="0" y="33889"/>
                    <a:pt x="4859" y="22158"/>
                    <a:pt x="13509" y="13509"/>
                  </a:cubicBezTo>
                  <a:cubicBezTo>
                    <a:pt x="22158" y="4859"/>
                    <a:pt x="33889" y="0"/>
                    <a:pt x="46121" y="0"/>
                  </a:cubicBezTo>
                  <a:close/>
                </a:path>
              </a:pathLst>
            </a:custGeom>
            <a:gradFill rotWithShape="true">
              <a:gsLst>
                <a:gs pos="0">
                  <a:srgbClr val="85200C">
                    <a:alpha val="100000"/>
                  </a:srgbClr>
                </a:gs>
                <a:gs pos="100000">
                  <a:srgbClr val="DC4B0F">
                    <a:alpha val="100000"/>
                  </a:srgbClr>
                </a:gs>
              </a:gsLst>
              <a:lin ang="0"/>
            </a:gradFill>
          </p:spPr>
        </p:sp>
        <p:sp>
          <p:nvSpPr>
            <p:cNvPr name="TextBox 17" id="17"/>
            <p:cNvSpPr txBox="true"/>
            <p:nvPr/>
          </p:nvSpPr>
          <p:spPr>
            <a:xfrm>
              <a:off x="0" y="28575"/>
              <a:ext cx="605413" cy="63668"/>
            </a:xfrm>
            <a:prstGeom prst="rect">
              <a:avLst/>
            </a:prstGeom>
          </p:spPr>
          <p:txBody>
            <a:bodyPr anchor="ctr" rtlCol="false" tIns="50800" lIns="50800" bIns="50800" rIns="50800"/>
            <a:lstStyle/>
            <a:p>
              <a:pPr algn="ctr">
                <a:lnSpc>
                  <a:spcPts val="1919"/>
                </a:lnSpc>
              </a:pPr>
            </a:p>
          </p:txBody>
        </p:sp>
      </p:grpSp>
      <p:grpSp>
        <p:nvGrpSpPr>
          <p:cNvPr name="Group 18" id="18"/>
          <p:cNvGrpSpPr/>
          <p:nvPr/>
        </p:nvGrpSpPr>
        <p:grpSpPr>
          <a:xfrm rot="0">
            <a:off x="2051027" y="2707540"/>
            <a:ext cx="14046712" cy="2529242"/>
            <a:chOff x="0" y="0"/>
            <a:chExt cx="18728950" cy="3372323"/>
          </a:xfrm>
        </p:grpSpPr>
        <p:grpSp>
          <p:nvGrpSpPr>
            <p:cNvPr name="Group 19" id="19"/>
            <p:cNvGrpSpPr/>
            <p:nvPr/>
          </p:nvGrpSpPr>
          <p:grpSpPr>
            <a:xfrm rot="0">
              <a:off x="0" y="0"/>
              <a:ext cx="18728950" cy="3372323"/>
              <a:chOff x="0" y="0"/>
              <a:chExt cx="1135704" cy="204494"/>
            </a:xfrm>
          </p:grpSpPr>
          <p:sp>
            <p:nvSpPr>
              <p:cNvPr name="Freeform 20" id="20"/>
              <p:cNvSpPr/>
              <p:nvPr/>
            </p:nvSpPr>
            <p:spPr>
              <a:xfrm flipH="false" flipV="false" rot="0">
                <a:off x="0" y="0"/>
                <a:ext cx="1135704" cy="204494"/>
              </a:xfrm>
              <a:custGeom>
                <a:avLst/>
                <a:gdLst/>
                <a:ahLst/>
                <a:cxnLst/>
                <a:rect r="r" b="b" t="t" l="l"/>
                <a:pathLst>
                  <a:path h="204494" w="1135704">
                    <a:moveTo>
                      <a:pt x="42628" y="0"/>
                    </a:moveTo>
                    <a:lnTo>
                      <a:pt x="1093075" y="0"/>
                    </a:lnTo>
                    <a:cubicBezTo>
                      <a:pt x="1104381" y="0"/>
                      <a:pt x="1115224" y="4491"/>
                      <a:pt x="1123218" y="12486"/>
                    </a:cubicBezTo>
                    <a:cubicBezTo>
                      <a:pt x="1131212" y="20480"/>
                      <a:pt x="1135704" y="31323"/>
                      <a:pt x="1135704" y="42628"/>
                    </a:cubicBezTo>
                    <a:lnTo>
                      <a:pt x="1135704" y="161866"/>
                    </a:lnTo>
                    <a:cubicBezTo>
                      <a:pt x="1135704" y="173171"/>
                      <a:pt x="1131212" y="184014"/>
                      <a:pt x="1123218" y="192009"/>
                    </a:cubicBezTo>
                    <a:cubicBezTo>
                      <a:pt x="1115224" y="200003"/>
                      <a:pt x="1104381" y="204494"/>
                      <a:pt x="1093075" y="204494"/>
                    </a:cubicBezTo>
                    <a:lnTo>
                      <a:pt x="42628" y="204494"/>
                    </a:lnTo>
                    <a:cubicBezTo>
                      <a:pt x="31323" y="204494"/>
                      <a:pt x="20480" y="200003"/>
                      <a:pt x="12486" y="192009"/>
                    </a:cubicBezTo>
                    <a:cubicBezTo>
                      <a:pt x="4491" y="184014"/>
                      <a:pt x="0" y="173171"/>
                      <a:pt x="0" y="161866"/>
                    </a:cubicBezTo>
                    <a:lnTo>
                      <a:pt x="0" y="42628"/>
                    </a:lnTo>
                    <a:cubicBezTo>
                      <a:pt x="0" y="31323"/>
                      <a:pt x="4491" y="20480"/>
                      <a:pt x="12486" y="12486"/>
                    </a:cubicBezTo>
                    <a:cubicBezTo>
                      <a:pt x="20480" y="4491"/>
                      <a:pt x="31323" y="0"/>
                      <a:pt x="42628" y="0"/>
                    </a:cubicBezTo>
                    <a:close/>
                  </a:path>
                </a:pathLst>
              </a:custGeom>
              <a:gradFill rotWithShape="true">
                <a:gsLst>
                  <a:gs pos="0">
                    <a:srgbClr val="85200C">
                      <a:alpha val="30000"/>
                    </a:srgbClr>
                  </a:gs>
                  <a:gs pos="100000">
                    <a:srgbClr val="DC4B0F">
                      <a:alpha val="100000"/>
                    </a:srgbClr>
                  </a:gs>
                </a:gsLst>
                <a:lin ang="0"/>
              </a:gradFill>
            </p:spPr>
          </p:sp>
          <p:sp>
            <p:nvSpPr>
              <p:cNvPr name="TextBox 21" id="21"/>
              <p:cNvSpPr txBox="true"/>
              <p:nvPr/>
            </p:nvSpPr>
            <p:spPr>
              <a:xfrm>
                <a:off x="0" y="28575"/>
                <a:ext cx="1135704" cy="175919"/>
              </a:xfrm>
              <a:prstGeom prst="rect">
                <a:avLst/>
              </a:prstGeom>
            </p:spPr>
            <p:txBody>
              <a:bodyPr anchor="ctr" rtlCol="false" tIns="50800" lIns="50800" bIns="50800" rIns="50800"/>
              <a:lstStyle/>
              <a:p>
                <a:pPr algn="ctr">
                  <a:lnSpc>
                    <a:spcPts val="1919"/>
                  </a:lnSpc>
                </a:pPr>
              </a:p>
            </p:txBody>
          </p:sp>
        </p:grpSp>
        <p:sp>
          <p:nvSpPr>
            <p:cNvPr name="TextBox 22" id="22"/>
            <p:cNvSpPr txBox="true"/>
            <p:nvPr/>
          </p:nvSpPr>
          <p:spPr>
            <a:xfrm rot="0">
              <a:off x="558221" y="522043"/>
              <a:ext cx="17739037" cy="2290137"/>
            </a:xfrm>
            <a:prstGeom prst="rect">
              <a:avLst/>
            </a:prstGeom>
          </p:spPr>
          <p:txBody>
            <a:bodyPr anchor="t" rtlCol="false" tIns="0" lIns="0" bIns="0" rIns="0">
              <a:spAutoFit/>
            </a:bodyPr>
            <a:lstStyle/>
            <a:p>
              <a:pPr algn="ctr">
                <a:lnSpc>
                  <a:spcPts val="3227"/>
                </a:lnSpc>
              </a:pPr>
              <a:r>
                <a:rPr lang="en-US" sz="3397" b="true">
                  <a:solidFill>
                    <a:srgbClr val="FFFFFF"/>
                  </a:solidFill>
                  <a:latin typeface="Poppins Semi-Bold"/>
                  <a:ea typeface="Poppins Semi-Bold"/>
                  <a:cs typeface="Poppins Semi-Bold"/>
                  <a:sym typeface="Poppins Semi-Bold"/>
                </a:rPr>
                <a:t>Tom has never missed a meeting. He stays muted with his camera off, and when asked directly he says “happy with whatever you all think.” He’s never blocked anything. His section, when it arrives, is fine.</a:t>
              </a:r>
            </a:p>
          </p:txBody>
        </p:sp>
      </p:grpSp>
      <p:grpSp>
        <p:nvGrpSpPr>
          <p:cNvPr name="Group 23" id="23"/>
          <p:cNvGrpSpPr/>
          <p:nvPr/>
        </p:nvGrpSpPr>
        <p:grpSpPr>
          <a:xfrm rot="0">
            <a:off x="2086942" y="5524148"/>
            <a:ext cx="6705133" cy="2864363"/>
            <a:chOff x="0" y="0"/>
            <a:chExt cx="542123" cy="231589"/>
          </a:xfrm>
        </p:grpSpPr>
        <p:sp>
          <p:nvSpPr>
            <p:cNvPr name="Freeform 24" id="24"/>
            <p:cNvSpPr/>
            <p:nvPr/>
          </p:nvSpPr>
          <p:spPr>
            <a:xfrm flipH="false" flipV="false" rot="0">
              <a:off x="0" y="0"/>
              <a:ext cx="542123" cy="231589"/>
            </a:xfrm>
            <a:custGeom>
              <a:avLst/>
              <a:gdLst/>
              <a:ahLst/>
              <a:cxnLst/>
              <a:rect r="r" b="b" t="t" l="l"/>
              <a:pathLst>
                <a:path h="231589" w="542123">
                  <a:moveTo>
                    <a:pt x="68556" y="0"/>
                  </a:moveTo>
                  <a:lnTo>
                    <a:pt x="473567" y="0"/>
                  </a:lnTo>
                  <a:cubicBezTo>
                    <a:pt x="511429" y="0"/>
                    <a:pt x="542123" y="30694"/>
                    <a:pt x="542123" y="68556"/>
                  </a:cubicBezTo>
                  <a:lnTo>
                    <a:pt x="542123" y="163033"/>
                  </a:lnTo>
                  <a:cubicBezTo>
                    <a:pt x="542123" y="181215"/>
                    <a:pt x="534900" y="198653"/>
                    <a:pt x="522043" y="211510"/>
                  </a:cubicBezTo>
                  <a:cubicBezTo>
                    <a:pt x="509187" y="224366"/>
                    <a:pt x="491749" y="231589"/>
                    <a:pt x="473567" y="231589"/>
                  </a:cubicBezTo>
                  <a:lnTo>
                    <a:pt x="68556" y="231589"/>
                  </a:lnTo>
                  <a:cubicBezTo>
                    <a:pt x="50374" y="231589"/>
                    <a:pt x="32936" y="224366"/>
                    <a:pt x="20080" y="211510"/>
                  </a:cubicBezTo>
                  <a:cubicBezTo>
                    <a:pt x="7223" y="198653"/>
                    <a:pt x="0" y="181215"/>
                    <a:pt x="0" y="163033"/>
                  </a:cubicBezTo>
                  <a:lnTo>
                    <a:pt x="0" y="68556"/>
                  </a:lnTo>
                  <a:cubicBezTo>
                    <a:pt x="0" y="50374"/>
                    <a:pt x="7223" y="32936"/>
                    <a:pt x="20080" y="20080"/>
                  </a:cubicBezTo>
                  <a:cubicBezTo>
                    <a:pt x="32936" y="7223"/>
                    <a:pt x="50374" y="0"/>
                    <a:pt x="68556" y="0"/>
                  </a:cubicBezTo>
                  <a:close/>
                </a:path>
              </a:pathLst>
            </a:custGeom>
            <a:gradFill rotWithShape="true">
              <a:gsLst>
                <a:gs pos="0">
                  <a:srgbClr val="85200C">
                    <a:alpha val="30000"/>
                  </a:srgbClr>
                </a:gs>
                <a:gs pos="100000">
                  <a:srgbClr val="940000">
                    <a:alpha val="100000"/>
                  </a:srgbClr>
                </a:gs>
              </a:gsLst>
              <a:lin ang="0"/>
            </a:gradFill>
          </p:spPr>
        </p:sp>
        <p:sp>
          <p:nvSpPr>
            <p:cNvPr name="TextBox 25" id="25"/>
            <p:cNvSpPr txBox="true"/>
            <p:nvPr/>
          </p:nvSpPr>
          <p:spPr>
            <a:xfrm>
              <a:off x="0" y="28575"/>
              <a:ext cx="542123" cy="203014"/>
            </a:xfrm>
            <a:prstGeom prst="rect">
              <a:avLst/>
            </a:prstGeom>
          </p:spPr>
          <p:txBody>
            <a:bodyPr anchor="ctr" rtlCol="false" tIns="50800" lIns="50800" bIns="50800" rIns="50800"/>
            <a:lstStyle/>
            <a:p>
              <a:pPr algn="ctr">
                <a:lnSpc>
                  <a:spcPts val="1919"/>
                </a:lnSpc>
              </a:pPr>
            </a:p>
          </p:txBody>
        </p:sp>
      </p:grpSp>
      <p:grpSp>
        <p:nvGrpSpPr>
          <p:cNvPr name="Group 26" id="26"/>
          <p:cNvGrpSpPr/>
          <p:nvPr/>
        </p:nvGrpSpPr>
        <p:grpSpPr>
          <a:xfrm rot="0">
            <a:off x="9036459" y="5554638"/>
            <a:ext cx="6857760" cy="2864363"/>
            <a:chOff x="0" y="0"/>
            <a:chExt cx="9143680" cy="3819150"/>
          </a:xfrm>
        </p:grpSpPr>
        <p:grpSp>
          <p:nvGrpSpPr>
            <p:cNvPr name="Group 27" id="27"/>
            <p:cNvGrpSpPr/>
            <p:nvPr/>
          </p:nvGrpSpPr>
          <p:grpSpPr>
            <a:xfrm rot="0">
              <a:off x="50565" y="0"/>
              <a:ext cx="8869518" cy="3819150"/>
              <a:chOff x="0" y="0"/>
              <a:chExt cx="537838" cy="231589"/>
            </a:xfrm>
          </p:grpSpPr>
          <p:sp>
            <p:nvSpPr>
              <p:cNvPr name="Freeform 28" id="28"/>
              <p:cNvSpPr/>
              <p:nvPr/>
            </p:nvSpPr>
            <p:spPr>
              <a:xfrm flipH="false" flipV="false" rot="0">
                <a:off x="0" y="0"/>
                <a:ext cx="537838" cy="231589"/>
              </a:xfrm>
              <a:custGeom>
                <a:avLst/>
                <a:gdLst/>
                <a:ahLst/>
                <a:cxnLst/>
                <a:rect r="r" b="b" t="t" l="l"/>
                <a:pathLst>
                  <a:path h="231589" w="537838">
                    <a:moveTo>
                      <a:pt x="35130" y="0"/>
                    </a:moveTo>
                    <a:lnTo>
                      <a:pt x="502708" y="0"/>
                    </a:lnTo>
                    <a:cubicBezTo>
                      <a:pt x="512025" y="0"/>
                      <a:pt x="520961" y="3701"/>
                      <a:pt x="527549" y="10289"/>
                    </a:cubicBezTo>
                    <a:cubicBezTo>
                      <a:pt x="534137" y="16878"/>
                      <a:pt x="537838" y="25813"/>
                      <a:pt x="537838" y="35130"/>
                    </a:cubicBezTo>
                    <a:lnTo>
                      <a:pt x="537838" y="196459"/>
                    </a:lnTo>
                    <a:cubicBezTo>
                      <a:pt x="537838" y="205776"/>
                      <a:pt x="534137" y="214712"/>
                      <a:pt x="527549" y="221300"/>
                    </a:cubicBezTo>
                    <a:cubicBezTo>
                      <a:pt x="520961" y="227888"/>
                      <a:pt x="512025" y="231589"/>
                      <a:pt x="502708" y="231589"/>
                    </a:cubicBezTo>
                    <a:lnTo>
                      <a:pt x="35130" y="231589"/>
                    </a:lnTo>
                    <a:cubicBezTo>
                      <a:pt x="25813" y="231589"/>
                      <a:pt x="16878" y="227888"/>
                      <a:pt x="10289" y="221300"/>
                    </a:cubicBezTo>
                    <a:cubicBezTo>
                      <a:pt x="3701" y="214712"/>
                      <a:pt x="0" y="205776"/>
                      <a:pt x="0" y="196459"/>
                    </a:cubicBezTo>
                    <a:lnTo>
                      <a:pt x="0" y="35130"/>
                    </a:lnTo>
                    <a:cubicBezTo>
                      <a:pt x="0" y="25813"/>
                      <a:pt x="3701" y="16878"/>
                      <a:pt x="10289" y="10289"/>
                    </a:cubicBezTo>
                    <a:cubicBezTo>
                      <a:pt x="16878" y="3701"/>
                      <a:pt x="25813" y="0"/>
                      <a:pt x="35130" y="0"/>
                    </a:cubicBezTo>
                    <a:close/>
                  </a:path>
                </a:pathLst>
              </a:custGeom>
              <a:gradFill rotWithShape="true">
                <a:gsLst>
                  <a:gs pos="0">
                    <a:srgbClr val="85200C">
                      <a:alpha val="30000"/>
                    </a:srgbClr>
                  </a:gs>
                  <a:gs pos="100000">
                    <a:srgbClr val="008601">
                      <a:alpha val="100000"/>
                    </a:srgbClr>
                  </a:gs>
                </a:gsLst>
                <a:lin ang="0"/>
              </a:gradFill>
            </p:spPr>
          </p:sp>
          <p:sp>
            <p:nvSpPr>
              <p:cNvPr name="TextBox 29" id="29"/>
              <p:cNvSpPr txBox="true"/>
              <p:nvPr/>
            </p:nvSpPr>
            <p:spPr>
              <a:xfrm>
                <a:off x="0" y="28575"/>
                <a:ext cx="537838" cy="203014"/>
              </a:xfrm>
              <a:prstGeom prst="rect">
                <a:avLst/>
              </a:prstGeom>
            </p:spPr>
            <p:txBody>
              <a:bodyPr anchor="ctr" rtlCol="false" tIns="99925" lIns="99925" bIns="99925" rIns="99925"/>
              <a:lstStyle/>
              <a:p>
                <a:pPr algn="ctr">
                  <a:lnSpc>
                    <a:spcPts val="1919"/>
                  </a:lnSpc>
                </a:pPr>
              </a:p>
            </p:txBody>
          </p:sp>
        </p:grpSp>
        <p:sp>
          <p:nvSpPr>
            <p:cNvPr name="TextBox 30" id="30"/>
            <p:cNvSpPr txBox="true"/>
            <p:nvPr/>
          </p:nvSpPr>
          <p:spPr>
            <a:xfrm rot="0">
              <a:off x="0" y="656138"/>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GreenFlag</a:t>
              </a:r>
            </a:p>
          </p:txBody>
        </p:sp>
        <p:sp>
          <p:nvSpPr>
            <p:cNvPr name="TextBox 31" id="31"/>
            <p:cNvSpPr txBox="true"/>
            <p:nvPr/>
          </p:nvSpPr>
          <p:spPr>
            <a:xfrm rot="0">
              <a:off x="415950" y="506572"/>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Green Flag</a:t>
              </a:r>
            </a:p>
          </p:txBody>
        </p:sp>
      </p:grpSp>
      <p:sp>
        <p:nvSpPr>
          <p:cNvPr name="TextBox 32" id="32"/>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13</a:t>
            </a:r>
          </a:p>
        </p:txBody>
      </p:sp>
      <p:sp>
        <p:nvSpPr>
          <p:cNvPr name="TextBox 33" id="33"/>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34" id="34"/>
          <p:cNvSpPr txBox="true"/>
          <p:nvPr/>
        </p:nvSpPr>
        <p:spPr>
          <a:xfrm rot="0">
            <a:off x="415994" y="1409082"/>
            <a:ext cx="5981225" cy="591425"/>
          </a:xfrm>
          <a:prstGeom prst="rect">
            <a:avLst/>
          </a:prstGeom>
        </p:spPr>
        <p:txBody>
          <a:bodyPr anchor="t" rtlCol="false" tIns="0" lIns="0" bIns="0" rIns="0">
            <a:spAutoFit/>
          </a:bodyPr>
          <a:lstStyle/>
          <a:p>
            <a:pPr algn="l">
              <a:lnSpc>
                <a:spcPts val="4119"/>
              </a:lnSpc>
            </a:pPr>
            <a:r>
              <a:rPr lang="en-US" sz="4336" b="true">
                <a:solidFill>
                  <a:srgbClr val="FFFFFF"/>
                </a:solidFill>
                <a:latin typeface="Poppins Heavy"/>
                <a:ea typeface="Poppins Heavy"/>
                <a:cs typeface="Poppins Heavy"/>
                <a:sym typeface="Poppins Heavy"/>
              </a:rPr>
              <a:t>SCENARIO 4: TOM </a:t>
            </a:r>
          </a:p>
        </p:txBody>
      </p:sp>
      <p:grpSp>
        <p:nvGrpSpPr>
          <p:cNvPr name="Group 35" id="35"/>
          <p:cNvGrpSpPr/>
          <p:nvPr/>
        </p:nvGrpSpPr>
        <p:grpSpPr>
          <a:xfrm rot="0">
            <a:off x="2001030" y="6106016"/>
            <a:ext cx="6857760" cy="1869997"/>
            <a:chOff x="0" y="0"/>
            <a:chExt cx="9143680" cy="2493329"/>
          </a:xfrm>
        </p:grpSpPr>
        <p:sp>
          <p:nvSpPr>
            <p:cNvPr name="TextBox 36" id="36"/>
            <p:cNvSpPr txBox="true"/>
            <p:nvPr/>
          </p:nvSpPr>
          <p:spPr>
            <a:xfrm rot="0">
              <a:off x="0" y="-79033"/>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Red Flag</a:t>
              </a:r>
            </a:p>
          </p:txBody>
        </p:sp>
        <p:sp>
          <p:nvSpPr>
            <p:cNvPr name="TextBox 37" id="37"/>
            <p:cNvSpPr txBox="true"/>
            <p:nvPr/>
          </p:nvSpPr>
          <p:spPr>
            <a:xfrm rot="0">
              <a:off x="415950" y="-228600"/>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Red Flag</a:t>
              </a:r>
            </a:p>
          </p:txBody>
        </p:sp>
      </p:gr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761809" y="1287870"/>
            <a:ext cx="15278418" cy="1739275"/>
            <a:chOff x="0" y="0"/>
            <a:chExt cx="20371224" cy="2319034"/>
          </a:xfrm>
        </p:grpSpPr>
        <p:grpSp>
          <p:nvGrpSpPr>
            <p:cNvPr name="Group 16" id="16"/>
            <p:cNvGrpSpPr/>
            <p:nvPr/>
          </p:nvGrpSpPr>
          <p:grpSpPr>
            <a:xfrm rot="0">
              <a:off x="0" y="0"/>
              <a:ext cx="20371224" cy="2319034"/>
              <a:chOff x="0" y="0"/>
              <a:chExt cx="1488968" cy="169502"/>
            </a:xfrm>
          </p:grpSpPr>
          <p:sp>
            <p:nvSpPr>
              <p:cNvPr name="Freeform 17" id="17"/>
              <p:cNvSpPr/>
              <p:nvPr/>
            </p:nvSpPr>
            <p:spPr>
              <a:xfrm flipH="false" flipV="false" rot="0">
                <a:off x="0" y="0"/>
                <a:ext cx="1488968" cy="169502"/>
              </a:xfrm>
              <a:custGeom>
                <a:avLst/>
                <a:gdLst/>
                <a:ahLst/>
                <a:cxnLst/>
                <a:rect r="r" b="b" t="t" l="l"/>
                <a:pathLst>
                  <a:path h="169502" w="1488968">
                    <a:moveTo>
                      <a:pt x="32515" y="0"/>
                    </a:moveTo>
                    <a:lnTo>
                      <a:pt x="1456454" y="0"/>
                    </a:lnTo>
                    <a:cubicBezTo>
                      <a:pt x="1465077" y="0"/>
                      <a:pt x="1473347" y="3426"/>
                      <a:pt x="1479445" y="9523"/>
                    </a:cubicBezTo>
                    <a:cubicBezTo>
                      <a:pt x="1485543" y="15621"/>
                      <a:pt x="1488968" y="23891"/>
                      <a:pt x="1488968" y="32515"/>
                    </a:cubicBezTo>
                    <a:lnTo>
                      <a:pt x="1488968" y="136988"/>
                    </a:lnTo>
                    <a:cubicBezTo>
                      <a:pt x="1488968" y="154945"/>
                      <a:pt x="1474411" y="169502"/>
                      <a:pt x="1456454" y="169502"/>
                    </a:cubicBezTo>
                    <a:lnTo>
                      <a:pt x="32515" y="169502"/>
                    </a:lnTo>
                    <a:cubicBezTo>
                      <a:pt x="23891" y="169502"/>
                      <a:pt x="15621" y="166077"/>
                      <a:pt x="9523" y="159979"/>
                    </a:cubicBezTo>
                    <a:cubicBezTo>
                      <a:pt x="3426" y="153881"/>
                      <a:pt x="0" y="145611"/>
                      <a:pt x="0" y="136988"/>
                    </a:cubicBezTo>
                    <a:lnTo>
                      <a:pt x="0" y="32515"/>
                    </a:lnTo>
                    <a:cubicBezTo>
                      <a:pt x="0" y="23891"/>
                      <a:pt x="3426" y="15621"/>
                      <a:pt x="9523" y="9523"/>
                    </a:cubicBezTo>
                    <a:cubicBezTo>
                      <a:pt x="15621" y="3426"/>
                      <a:pt x="23891" y="0"/>
                      <a:pt x="32515" y="0"/>
                    </a:cubicBezTo>
                    <a:close/>
                  </a:path>
                </a:pathLst>
              </a:custGeom>
              <a:gradFill rotWithShape="true">
                <a:gsLst>
                  <a:gs pos="0">
                    <a:srgbClr val="85200C">
                      <a:alpha val="100000"/>
                    </a:srgbClr>
                  </a:gs>
                  <a:gs pos="100000">
                    <a:srgbClr val="DC4B0F">
                      <a:alpha val="100000"/>
                    </a:srgbClr>
                  </a:gs>
                </a:gsLst>
                <a:lin ang="0"/>
              </a:gradFill>
            </p:spPr>
          </p:sp>
          <p:sp>
            <p:nvSpPr>
              <p:cNvPr name="TextBox 18" id="18"/>
              <p:cNvSpPr txBox="true"/>
              <p:nvPr/>
            </p:nvSpPr>
            <p:spPr>
              <a:xfrm>
                <a:off x="0" y="28575"/>
                <a:ext cx="1488968" cy="140927"/>
              </a:xfrm>
              <a:prstGeom prst="rect">
                <a:avLst/>
              </a:prstGeom>
            </p:spPr>
            <p:txBody>
              <a:bodyPr anchor="ctr" rtlCol="false" tIns="50800" lIns="50800" bIns="50800" rIns="50800"/>
              <a:lstStyle/>
              <a:p>
                <a:pPr algn="ctr">
                  <a:lnSpc>
                    <a:spcPts val="1919"/>
                  </a:lnSpc>
                </a:pPr>
              </a:p>
            </p:txBody>
          </p:sp>
        </p:grpSp>
        <p:sp>
          <p:nvSpPr>
            <p:cNvPr name="TextBox 19" id="19"/>
            <p:cNvSpPr txBox="true"/>
            <p:nvPr/>
          </p:nvSpPr>
          <p:spPr>
            <a:xfrm rot="0">
              <a:off x="607170" y="439593"/>
              <a:ext cx="19294509" cy="1414731"/>
            </a:xfrm>
            <a:prstGeom prst="rect">
              <a:avLst/>
            </a:prstGeom>
          </p:spPr>
          <p:txBody>
            <a:bodyPr anchor="t" rtlCol="false" tIns="0" lIns="0" bIns="0" rIns="0">
              <a:spAutoFit/>
            </a:bodyPr>
            <a:lstStyle/>
            <a:p>
              <a:pPr algn="ctr">
                <a:lnSpc>
                  <a:spcPts val="2677"/>
                </a:lnSpc>
              </a:pPr>
              <a:r>
                <a:rPr lang="en-US" sz="2818" b="true">
                  <a:solidFill>
                    <a:srgbClr val="FFFFFF"/>
                  </a:solidFill>
                  <a:latin typeface="Poppins Semi-Bold"/>
                  <a:ea typeface="Poppins Semi-Bold"/>
                  <a:cs typeface="Poppins Semi-Bold"/>
                  <a:sym typeface="Poppins Semi-Bold"/>
                </a:rPr>
                <a:t>Tom has never missed a meeting. He stays muted with his camera off, and when asked directly he says “happy with whatever you all think.” He’s never blocked anything. His section, when it arrives, is fine.</a:t>
              </a:r>
            </a:p>
          </p:txBody>
        </p:sp>
      </p:grpSp>
      <p:grpSp>
        <p:nvGrpSpPr>
          <p:cNvPr name="Group 20" id="20"/>
          <p:cNvGrpSpPr/>
          <p:nvPr/>
        </p:nvGrpSpPr>
        <p:grpSpPr>
          <a:xfrm rot="0">
            <a:off x="1848619" y="3267658"/>
            <a:ext cx="5070623" cy="2864363"/>
            <a:chOff x="0" y="0"/>
            <a:chExt cx="409970" cy="231589"/>
          </a:xfrm>
        </p:grpSpPr>
        <p:sp>
          <p:nvSpPr>
            <p:cNvPr name="Freeform 21" id="21"/>
            <p:cNvSpPr/>
            <p:nvPr/>
          </p:nvSpPr>
          <p:spPr>
            <a:xfrm flipH="false" flipV="false" rot="0">
              <a:off x="0" y="0"/>
              <a:ext cx="409970" cy="231589"/>
            </a:xfrm>
            <a:custGeom>
              <a:avLst/>
              <a:gdLst/>
              <a:ahLst/>
              <a:cxnLst/>
              <a:rect r="r" b="b" t="t" l="l"/>
              <a:pathLst>
                <a:path h="231589" w="409970">
                  <a:moveTo>
                    <a:pt x="90655" y="0"/>
                  </a:moveTo>
                  <a:lnTo>
                    <a:pt x="319315" y="0"/>
                  </a:lnTo>
                  <a:cubicBezTo>
                    <a:pt x="343358" y="0"/>
                    <a:pt x="366416" y="9551"/>
                    <a:pt x="383417" y="26552"/>
                  </a:cubicBezTo>
                  <a:cubicBezTo>
                    <a:pt x="400418" y="43553"/>
                    <a:pt x="409970" y="66612"/>
                    <a:pt x="409970" y="90655"/>
                  </a:cubicBezTo>
                  <a:lnTo>
                    <a:pt x="409970" y="140934"/>
                  </a:lnTo>
                  <a:cubicBezTo>
                    <a:pt x="409970" y="164978"/>
                    <a:pt x="400418" y="188036"/>
                    <a:pt x="383417" y="205037"/>
                  </a:cubicBezTo>
                  <a:cubicBezTo>
                    <a:pt x="366416" y="222038"/>
                    <a:pt x="343358" y="231589"/>
                    <a:pt x="319315" y="231589"/>
                  </a:cubicBezTo>
                  <a:lnTo>
                    <a:pt x="90655" y="231589"/>
                  </a:lnTo>
                  <a:cubicBezTo>
                    <a:pt x="40588" y="231589"/>
                    <a:pt x="0" y="191002"/>
                    <a:pt x="0" y="140934"/>
                  </a:cubicBezTo>
                  <a:lnTo>
                    <a:pt x="0" y="90655"/>
                  </a:lnTo>
                  <a:cubicBezTo>
                    <a:pt x="0" y="66612"/>
                    <a:pt x="9551" y="43553"/>
                    <a:pt x="26552" y="26552"/>
                  </a:cubicBezTo>
                  <a:cubicBezTo>
                    <a:pt x="43553" y="9551"/>
                    <a:pt x="66612" y="0"/>
                    <a:pt x="90655" y="0"/>
                  </a:cubicBezTo>
                  <a:close/>
                </a:path>
              </a:pathLst>
            </a:custGeom>
            <a:gradFill rotWithShape="true">
              <a:gsLst>
                <a:gs pos="0">
                  <a:srgbClr val="85200C">
                    <a:alpha val="30000"/>
                  </a:srgbClr>
                </a:gs>
                <a:gs pos="100000">
                  <a:srgbClr val="940000">
                    <a:alpha val="100000"/>
                  </a:srgbClr>
                </a:gs>
              </a:gsLst>
              <a:lin ang="0"/>
            </a:gradFill>
          </p:spPr>
        </p:sp>
        <p:sp>
          <p:nvSpPr>
            <p:cNvPr name="TextBox 22" id="22"/>
            <p:cNvSpPr txBox="true"/>
            <p:nvPr/>
          </p:nvSpPr>
          <p:spPr>
            <a:xfrm>
              <a:off x="0" y="28575"/>
              <a:ext cx="409970" cy="203014"/>
            </a:xfrm>
            <a:prstGeom prst="rect">
              <a:avLst/>
            </a:prstGeom>
          </p:spPr>
          <p:txBody>
            <a:bodyPr anchor="ctr" rtlCol="false" tIns="50800" lIns="50800" bIns="50800" rIns="50800"/>
            <a:lstStyle/>
            <a:p>
              <a:pPr algn="ctr">
                <a:lnSpc>
                  <a:spcPts val="1919"/>
                </a:lnSpc>
              </a:pPr>
            </a:p>
          </p:txBody>
        </p:sp>
      </p:grpSp>
      <p:grpSp>
        <p:nvGrpSpPr>
          <p:cNvPr name="Group 23" id="23"/>
          <p:cNvGrpSpPr/>
          <p:nvPr/>
        </p:nvGrpSpPr>
        <p:grpSpPr>
          <a:xfrm rot="0">
            <a:off x="7218350" y="3300359"/>
            <a:ext cx="9821878" cy="2715306"/>
            <a:chOff x="0" y="0"/>
            <a:chExt cx="957198" cy="264622"/>
          </a:xfrm>
        </p:grpSpPr>
        <p:sp>
          <p:nvSpPr>
            <p:cNvPr name="Freeform 24" id="24"/>
            <p:cNvSpPr/>
            <p:nvPr/>
          </p:nvSpPr>
          <p:spPr>
            <a:xfrm flipH="false" flipV="false" rot="0">
              <a:off x="0" y="0"/>
              <a:ext cx="957198" cy="264622"/>
            </a:xfrm>
            <a:custGeom>
              <a:avLst/>
              <a:gdLst/>
              <a:ahLst/>
              <a:cxnLst/>
              <a:rect r="r" b="b" t="t" l="l"/>
              <a:pathLst>
                <a:path h="264622" w="957198">
                  <a:moveTo>
                    <a:pt x="60965" y="0"/>
                  </a:moveTo>
                  <a:lnTo>
                    <a:pt x="896233" y="0"/>
                  </a:lnTo>
                  <a:cubicBezTo>
                    <a:pt x="912402" y="0"/>
                    <a:pt x="927908" y="6423"/>
                    <a:pt x="939341" y="17856"/>
                  </a:cubicBezTo>
                  <a:cubicBezTo>
                    <a:pt x="950775" y="29289"/>
                    <a:pt x="957198" y="44796"/>
                    <a:pt x="957198" y="60965"/>
                  </a:cubicBezTo>
                  <a:lnTo>
                    <a:pt x="957198" y="203657"/>
                  </a:lnTo>
                  <a:cubicBezTo>
                    <a:pt x="957198" y="237327"/>
                    <a:pt x="929903" y="264622"/>
                    <a:pt x="896233" y="264622"/>
                  </a:cubicBezTo>
                  <a:lnTo>
                    <a:pt x="60965" y="264622"/>
                  </a:lnTo>
                  <a:cubicBezTo>
                    <a:pt x="27295" y="264622"/>
                    <a:pt x="0" y="237327"/>
                    <a:pt x="0" y="203657"/>
                  </a:cubicBezTo>
                  <a:lnTo>
                    <a:pt x="0" y="60965"/>
                  </a:lnTo>
                  <a:cubicBezTo>
                    <a:pt x="0" y="27295"/>
                    <a:pt x="27295" y="0"/>
                    <a:pt x="60965" y="0"/>
                  </a:cubicBezTo>
                  <a:close/>
                </a:path>
              </a:pathLst>
            </a:custGeom>
            <a:gradFill rotWithShape="true">
              <a:gsLst>
                <a:gs pos="0">
                  <a:srgbClr val="85200C">
                    <a:alpha val="30000"/>
                  </a:srgbClr>
                </a:gs>
                <a:gs pos="100000">
                  <a:srgbClr val="DC4B0F">
                    <a:alpha val="100000"/>
                  </a:srgbClr>
                </a:gs>
              </a:gsLst>
              <a:lin ang="0"/>
            </a:gradFill>
          </p:spPr>
        </p:sp>
        <p:sp>
          <p:nvSpPr>
            <p:cNvPr name="TextBox 25" id="25"/>
            <p:cNvSpPr txBox="true"/>
            <p:nvPr/>
          </p:nvSpPr>
          <p:spPr>
            <a:xfrm>
              <a:off x="0" y="28575"/>
              <a:ext cx="957198" cy="236047"/>
            </a:xfrm>
            <a:prstGeom prst="rect">
              <a:avLst/>
            </a:prstGeom>
          </p:spPr>
          <p:txBody>
            <a:bodyPr anchor="ctr" rtlCol="false" tIns="42145" lIns="42145" bIns="42145" rIns="42145"/>
            <a:lstStyle/>
            <a:p>
              <a:pPr algn="ctr">
                <a:lnSpc>
                  <a:spcPts val="1919"/>
                </a:lnSpc>
              </a:pPr>
            </a:p>
          </p:txBody>
        </p:sp>
      </p:grpSp>
      <p:sp>
        <p:nvSpPr>
          <p:cNvPr name="TextBox 26" id="26"/>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14</a:t>
            </a:r>
          </a:p>
        </p:txBody>
      </p:sp>
      <p:sp>
        <p:nvSpPr>
          <p:cNvPr name="TextBox 27" id="27"/>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28" id="28"/>
          <p:cNvSpPr txBox="true"/>
          <p:nvPr/>
        </p:nvSpPr>
        <p:spPr>
          <a:xfrm rot="0">
            <a:off x="11797590" y="3849811"/>
            <a:ext cx="4921364" cy="1884201"/>
          </a:xfrm>
          <a:prstGeom prst="rect">
            <a:avLst/>
          </a:prstGeom>
        </p:spPr>
        <p:txBody>
          <a:bodyPr anchor="t" rtlCol="false" tIns="0" lIns="0" bIns="0" rIns="0">
            <a:spAutoFit/>
          </a:bodyPr>
          <a:lstStyle/>
          <a:p>
            <a:pPr algn="l">
              <a:lnSpc>
                <a:spcPts val="2475"/>
              </a:lnSpc>
            </a:pPr>
            <a:r>
              <a:rPr lang="en-US" sz="2605" b="true">
                <a:solidFill>
                  <a:srgbClr val="FFFFFF"/>
                </a:solidFill>
                <a:latin typeface="Poppins Semi-Bold"/>
                <a:ea typeface="Poppins Semi-Bold"/>
                <a:cs typeface="Poppins Semi-Bold"/>
                <a:sym typeface="Poppins Semi-Bold"/>
              </a:rPr>
              <a:t>Attendance is not engagement. The group never gets his judgement, so decisions go unchallenged and he can’t be held to a view he never gave.</a:t>
            </a:r>
          </a:p>
        </p:txBody>
      </p:sp>
      <p:grpSp>
        <p:nvGrpSpPr>
          <p:cNvPr name="Group 29" id="29"/>
          <p:cNvGrpSpPr/>
          <p:nvPr/>
        </p:nvGrpSpPr>
        <p:grpSpPr>
          <a:xfrm rot="0">
            <a:off x="7098242" y="3722679"/>
            <a:ext cx="4796052" cy="2152728"/>
            <a:chOff x="0" y="0"/>
            <a:chExt cx="6394736" cy="2870304"/>
          </a:xfrm>
        </p:grpSpPr>
        <p:sp>
          <p:nvSpPr>
            <p:cNvPr name="TextBox 30" id="30"/>
            <p:cNvSpPr txBox="true"/>
            <p:nvPr/>
          </p:nvSpPr>
          <p:spPr>
            <a:xfrm rot="0">
              <a:off x="370530" y="-94520"/>
              <a:ext cx="6024207" cy="2964824"/>
            </a:xfrm>
            <a:prstGeom prst="rect">
              <a:avLst/>
            </a:prstGeom>
          </p:spPr>
          <p:txBody>
            <a:bodyPr anchor="t" rtlCol="false" tIns="0" lIns="0" bIns="0" rIns="0">
              <a:spAutoFit/>
            </a:bodyPr>
            <a:lstStyle/>
            <a:p>
              <a:pPr algn="ctr">
                <a:lnSpc>
                  <a:spcPts val="18648"/>
                </a:lnSpc>
              </a:pPr>
              <a:r>
                <a:rPr lang="en-US" sz="13320" spc="39">
                  <a:solidFill>
                    <a:srgbClr val="000000">
                      <a:alpha val="30980"/>
                    </a:srgbClr>
                  </a:solidFill>
                  <a:latin typeface="Milestone Script"/>
                  <a:ea typeface="Milestone Script"/>
                  <a:cs typeface="Milestone Script"/>
                  <a:sym typeface="Milestone Script"/>
                </a:rPr>
                <a:t>Why?</a:t>
              </a:r>
            </a:p>
          </p:txBody>
        </p:sp>
        <p:sp>
          <p:nvSpPr>
            <p:cNvPr name="TextBox 31" id="31"/>
            <p:cNvSpPr txBox="true"/>
            <p:nvPr/>
          </p:nvSpPr>
          <p:spPr>
            <a:xfrm rot="0">
              <a:off x="0" y="-266700"/>
              <a:ext cx="6263643" cy="2964824"/>
            </a:xfrm>
            <a:prstGeom prst="rect">
              <a:avLst/>
            </a:prstGeom>
          </p:spPr>
          <p:txBody>
            <a:bodyPr anchor="t" rtlCol="false" tIns="0" lIns="0" bIns="0" rIns="0">
              <a:spAutoFit/>
            </a:bodyPr>
            <a:lstStyle/>
            <a:p>
              <a:pPr algn="ctr">
                <a:lnSpc>
                  <a:spcPts val="18648"/>
                </a:lnSpc>
              </a:pPr>
              <a:r>
                <a:rPr lang="en-US" sz="13320" spc="39">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Why?</a:t>
              </a:r>
            </a:p>
          </p:txBody>
        </p:sp>
      </p:grpSp>
      <p:sp>
        <p:nvSpPr>
          <p:cNvPr name="TextBox 32" id="32"/>
          <p:cNvSpPr txBox="true"/>
          <p:nvPr/>
        </p:nvSpPr>
        <p:spPr>
          <a:xfrm rot="0">
            <a:off x="2626674" y="3906961"/>
            <a:ext cx="3514512" cy="1690531"/>
          </a:xfrm>
          <a:prstGeom prst="rect">
            <a:avLst/>
          </a:prstGeom>
        </p:spPr>
        <p:txBody>
          <a:bodyPr anchor="t" rtlCol="false" tIns="0" lIns="0" bIns="0" rIns="0">
            <a:spAutoFit/>
          </a:bodyPr>
          <a:lstStyle/>
          <a:p>
            <a:pPr algn="ctr">
              <a:lnSpc>
                <a:spcPts val="6252"/>
              </a:lnSpc>
            </a:pPr>
            <a:r>
              <a:rPr lang="en-US" sz="6582" b="true">
                <a:solidFill>
                  <a:srgbClr val="FFFFFF"/>
                </a:solidFill>
                <a:latin typeface="Poppins Heavy"/>
                <a:ea typeface="Poppins Heavy"/>
                <a:cs typeface="Poppins Heavy"/>
                <a:sym typeface="Poppins Heavy"/>
              </a:rPr>
              <a:t>RED FLAG</a:t>
            </a:r>
          </a:p>
        </p:txBody>
      </p:sp>
      <p:grpSp>
        <p:nvGrpSpPr>
          <p:cNvPr name="Group 33" id="33"/>
          <p:cNvGrpSpPr/>
          <p:nvPr/>
        </p:nvGrpSpPr>
        <p:grpSpPr>
          <a:xfrm rot="0">
            <a:off x="3857803" y="6559486"/>
            <a:ext cx="10756617" cy="2036826"/>
            <a:chOff x="0" y="0"/>
            <a:chExt cx="14342157" cy="2715768"/>
          </a:xfrm>
        </p:grpSpPr>
        <p:grpSp>
          <p:nvGrpSpPr>
            <p:cNvPr name="Group 34" id="34"/>
            <p:cNvGrpSpPr/>
            <p:nvPr/>
          </p:nvGrpSpPr>
          <p:grpSpPr>
            <a:xfrm rot="0">
              <a:off x="168625" y="12700"/>
              <a:ext cx="14173532" cy="2665787"/>
              <a:chOff x="0" y="0"/>
              <a:chExt cx="1280731" cy="240883"/>
            </a:xfrm>
          </p:grpSpPr>
          <p:sp>
            <p:nvSpPr>
              <p:cNvPr name="Freeform 35" id="35"/>
              <p:cNvSpPr/>
              <p:nvPr/>
            </p:nvSpPr>
            <p:spPr>
              <a:xfrm flipH="false" flipV="false" rot="0">
                <a:off x="0" y="0"/>
                <a:ext cx="1280731" cy="240883"/>
              </a:xfrm>
              <a:custGeom>
                <a:avLst/>
                <a:gdLst/>
                <a:ahLst/>
                <a:cxnLst/>
                <a:rect r="r" b="b" t="t" l="l"/>
                <a:pathLst>
                  <a:path h="240883" w="1280731">
                    <a:moveTo>
                      <a:pt x="6828" y="0"/>
                    </a:moveTo>
                    <a:lnTo>
                      <a:pt x="1273903" y="0"/>
                    </a:lnTo>
                    <a:cubicBezTo>
                      <a:pt x="1275714" y="0"/>
                      <a:pt x="1277451" y="719"/>
                      <a:pt x="1278731" y="2000"/>
                    </a:cubicBezTo>
                    <a:cubicBezTo>
                      <a:pt x="1280012" y="3280"/>
                      <a:pt x="1280731" y="5017"/>
                      <a:pt x="1280731" y="6828"/>
                    </a:cubicBezTo>
                    <a:lnTo>
                      <a:pt x="1280731" y="234055"/>
                    </a:lnTo>
                    <a:cubicBezTo>
                      <a:pt x="1280731" y="235866"/>
                      <a:pt x="1280012" y="237602"/>
                      <a:pt x="1278731" y="238883"/>
                    </a:cubicBezTo>
                    <a:cubicBezTo>
                      <a:pt x="1277451" y="240163"/>
                      <a:pt x="1275714" y="240883"/>
                      <a:pt x="1273903" y="240883"/>
                    </a:cubicBezTo>
                    <a:lnTo>
                      <a:pt x="6828" y="240883"/>
                    </a:lnTo>
                    <a:cubicBezTo>
                      <a:pt x="5017" y="240883"/>
                      <a:pt x="3280" y="240163"/>
                      <a:pt x="2000" y="238883"/>
                    </a:cubicBezTo>
                    <a:cubicBezTo>
                      <a:pt x="719" y="237602"/>
                      <a:pt x="0" y="235866"/>
                      <a:pt x="0" y="234055"/>
                    </a:cubicBezTo>
                    <a:lnTo>
                      <a:pt x="0" y="6828"/>
                    </a:lnTo>
                    <a:cubicBezTo>
                      <a:pt x="0" y="5017"/>
                      <a:pt x="719" y="3280"/>
                      <a:pt x="2000" y="2000"/>
                    </a:cubicBezTo>
                    <a:cubicBezTo>
                      <a:pt x="3280" y="719"/>
                      <a:pt x="5017" y="0"/>
                      <a:pt x="6828" y="0"/>
                    </a:cubicBezTo>
                    <a:close/>
                  </a:path>
                </a:pathLst>
              </a:custGeom>
              <a:gradFill rotWithShape="true">
                <a:gsLst>
                  <a:gs pos="0">
                    <a:srgbClr val="FFFFFF">
                      <a:alpha val="100000"/>
                    </a:srgbClr>
                  </a:gs>
                  <a:gs pos="100000">
                    <a:srgbClr val="FFFFFF">
                      <a:alpha val="0"/>
                    </a:srgbClr>
                  </a:gs>
                </a:gsLst>
                <a:lin ang="0"/>
              </a:gradFill>
            </p:spPr>
          </p:sp>
          <p:sp>
            <p:nvSpPr>
              <p:cNvPr name="TextBox 36" id="36"/>
              <p:cNvSpPr txBox="true"/>
              <p:nvPr/>
            </p:nvSpPr>
            <p:spPr>
              <a:xfrm>
                <a:off x="0" y="28575"/>
                <a:ext cx="1280731" cy="212308"/>
              </a:xfrm>
              <a:prstGeom prst="rect">
                <a:avLst/>
              </a:prstGeom>
            </p:spPr>
            <p:txBody>
              <a:bodyPr anchor="ctr" rtlCol="false" tIns="42145" lIns="42145" bIns="42145" rIns="42145"/>
              <a:lstStyle/>
              <a:p>
                <a:pPr algn="ctr">
                  <a:lnSpc>
                    <a:spcPts val="1919"/>
                  </a:lnSpc>
                </a:pPr>
              </a:p>
            </p:txBody>
          </p:sp>
        </p:grpSp>
        <p:grpSp>
          <p:nvGrpSpPr>
            <p:cNvPr name="Group 37" id="37"/>
            <p:cNvGrpSpPr/>
            <p:nvPr/>
          </p:nvGrpSpPr>
          <p:grpSpPr>
            <a:xfrm rot="0">
              <a:off x="0" y="0"/>
              <a:ext cx="299496" cy="2715768"/>
              <a:chOff x="0" y="0"/>
              <a:chExt cx="46219" cy="419100"/>
            </a:xfrm>
          </p:grpSpPr>
          <p:sp>
            <p:nvSpPr>
              <p:cNvPr name="Freeform 38" id="38"/>
              <p:cNvSpPr/>
              <p:nvPr/>
            </p:nvSpPr>
            <p:spPr>
              <a:xfrm flipH="false" flipV="false" rot="0">
                <a:off x="0" y="0"/>
                <a:ext cx="46219" cy="419100"/>
              </a:xfrm>
              <a:custGeom>
                <a:avLst/>
                <a:gdLst/>
                <a:ahLst/>
                <a:cxnLst/>
                <a:rect r="r" b="b" t="t" l="l"/>
                <a:pathLst>
                  <a:path h="419100" w="46219">
                    <a:moveTo>
                      <a:pt x="23109" y="0"/>
                    </a:moveTo>
                    <a:lnTo>
                      <a:pt x="23109" y="0"/>
                    </a:lnTo>
                    <a:cubicBezTo>
                      <a:pt x="29238" y="0"/>
                      <a:pt x="35116" y="2435"/>
                      <a:pt x="39450" y="6769"/>
                    </a:cubicBezTo>
                    <a:cubicBezTo>
                      <a:pt x="43784" y="11102"/>
                      <a:pt x="46219" y="16980"/>
                      <a:pt x="46219" y="23109"/>
                    </a:cubicBezTo>
                    <a:lnTo>
                      <a:pt x="46219" y="395991"/>
                    </a:lnTo>
                    <a:cubicBezTo>
                      <a:pt x="46219" y="402120"/>
                      <a:pt x="43784" y="407998"/>
                      <a:pt x="39450" y="412331"/>
                    </a:cubicBezTo>
                    <a:cubicBezTo>
                      <a:pt x="35116" y="416665"/>
                      <a:pt x="29238" y="419100"/>
                      <a:pt x="23109" y="419100"/>
                    </a:cubicBezTo>
                    <a:lnTo>
                      <a:pt x="23109" y="419100"/>
                    </a:lnTo>
                    <a:cubicBezTo>
                      <a:pt x="16980" y="419100"/>
                      <a:pt x="11102" y="416665"/>
                      <a:pt x="6769" y="412331"/>
                    </a:cubicBezTo>
                    <a:cubicBezTo>
                      <a:pt x="2435" y="407998"/>
                      <a:pt x="0" y="402120"/>
                      <a:pt x="0" y="395991"/>
                    </a:cubicBezTo>
                    <a:lnTo>
                      <a:pt x="0" y="23109"/>
                    </a:lnTo>
                    <a:cubicBezTo>
                      <a:pt x="0" y="16980"/>
                      <a:pt x="2435" y="11102"/>
                      <a:pt x="6769" y="6769"/>
                    </a:cubicBezTo>
                    <a:cubicBezTo>
                      <a:pt x="11102" y="2435"/>
                      <a:pt x="16980" y="0"/>
                      <a:pt x="23109" y="0"/>
                    </a:cubicBezTo>
                    <a:close/>
                  </a:path>
                </a:pathLst>
              </a:custGeom>
              <a:solidFill>
                <a:srgbClr val="6E3125"/>
              </a:solidFill>
            </p:spPr>
          </p:sp>
          <p:sp>
            <p:nvSpPr>
              <p:cNvPr name="TextBox 39" id="39"/>
              <p:cNvSpPr txBox="true"/>
              <p:nvPr/>
            </p:nvSpPr>
            <p:spPr>
              <a:xfrm>
                <a:off x="0" y="28575"/>
                <a:ext cx="46219" cy="390525"/>
              </a:xfrm>
              <a:prstGeom prst="rect">
                <a:avLst/>
              </a:prstGeom>
            </p:spPr>
            <p:txBody>
              <a:bodyPr anchor="ctr" rtlCol="false" tIns="50800" lIns="50800" bIns="50800" rIns="50800"/>
              <a:lstStyle/>
              <a:p>
                <a:pPr algn="ctr">
                  <a:lnSpc>
                    <a:spcPts val="1919"/>
                  </a:lnSpc>
                </a:pPr>
              </a:p>
            </p:txBody>
          </p:sp>
        </p:grpSp>
        <p:sp>
          <p:nvSpPr>
            <p:cNvPr name="TextBox 40" id="40"/>
            <p:cNvSpPr txBox="true"/>
            <p:nvPr/>
          </p:nvSpPr>
          <p:spPr>
            <a:xfrm rot="0">
              <a:off x="638754" y="588973"/>
              <a:ext cx="13233272" cy="1522767"/>
            </a:xfrm>
            <a:prstGeom prst="rect">
              <a:avLst/>
            </a:prstGeom>
          </p:spPr>
          <p:txBody>
            <a:bodyPr anchor="t" rtlCol="false" tIns="0" lIns="0" bIns="0" rIns="0">
              <a:spAutoFit/>
            </a:bodyPr>
            <a:lstStyle/>
            <a:p>
              <a:pPr algn="l">
                <a:lnSpc>
                  <a:spcPts val="4324"/>
                </a:lnSpc>
              </a:pPr>
              <a:r>
                <a:rPr lang="en-US" sz="4041" b="true">
                  <a:solidFill>
                    <a:srgbClr val="6E3125"/>
                  </a:solidFill>
                  <a:latin typeface="Poppins Heavy"/>
                  <a:ea typeface="Poppins Heavy"/>
                  <a:cs typeface="Poppins Heavy"/>
                  <a:sym typeface="Poppins Heavy"/>
                </a:rPr>
                <a:t>He is easy to</a:t>
              </a:r>
              <a:r>
                <a:rPr lang="en-US" sz="4041" b="true">
                  <a:solidFill>
                    <a:srgbClr val="6E3125"/>
                  </a:solidFill>
                  <a:latin typeface="Poppins Heavy"/>
                  <a:ea typeface="Poppins Heavy"/>
                  <a:cs typeface="Poppins Heavy"/>
                  <a:sym typeface="Poppins Heavy"/>
                </a:rPr>
                <a:t> work with and causes no trouble. Why is that not enough?</a:t>
              </a:r>
            </a:p>
          </p:txBody>
        </p:sp>
      </p:gr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271343" y="1105777"/>
            <a:ext cx="7487927" cy="1140886"/>
            <a:chOff x="0" y="0"/>
            <a:chExt cx="605413" cy="92243"/>
          </a:xfrm>
        </p:grpSpPr>
        <p:sp>
          <p:nvSpPr>
            <p:cNvPr name="Freeform 16" id="16"/>
            <p:cNvSpPr/>
            <p:nvPr/>
          </p:nvSpPr>
          <p:spPr>
            <a:xfrm flipH="false" flipV="false" rot="0">
              <a:off x="0" y="0"/>
              <a:ext cx="605413" cy="92243"/>
            </a:xfrm>
            <a:custGeom>
              <a:avLst/>
              <a:gdLst/>
              <a:ahLst/>
              <a:cxnLst/>
              <a:rect r="r" b="b" t="t" l="l"/>
              <a:pathLst>
                <a:path h="92243" w="605413">
                  <a:moveTo>
                    <a:pt x="46121" y="0"/>
                  </a:moveTo>
                  <a:lnTo>
                    <a:pt x="559292" y="0"/>
                  </a:lnTo>
                  <a:cubicBezTo>
                    <a:pt x="571524" y="0"/>
                    <a:pt x="583255" y="4859"/>
                    <a:pt x="591905" y="13509"/>
                  </a:cubicBezTo>
                  <a:cubicBezTo>
                    <a:pt x="600554" y="22158"/>
                    <a:pt x="605413" y="33889"/>
                    <a:pt x="605413" y="46121"/>
                  </a:cubicBezTo>
                  <a:lnTo>
                    <a:pt x="605413" y="46121"/>
                  </a:lnTo>
                  <a:cubicBezTo>
                    <a:pt x="605413" y="58354"/>
                    <a:pt x="600554" y="70085"/>
                    <a:pt x="591905" y="78734"/>
                  </a:cubicBezTo>
                  <a:cubicBezTo>
                    <a:pt x="583255" y="87384"/>
                    <a:pt x="571524" y="92243"/>
                    <a:pt x="559292" y="92243"/>
                  </a:cubicBezTo>
                  <a:lnTo>
                    <a:pt x="46121" y="92243"/>
                  </a:lnTo>
                  <a:cubicBezTo>
                    <a:pt x="33889" y="92243"/>
                    <a:pt x="22158" y="87384"/>
                    <a:pt x="13509" y="78734"/>
                  </a:cubicBezTo>
                  <a:cubicBezTo>
                    <a:pt x="4859" y="70085"/>
                    <a:pt x="0" y="58354"/>
                    <a:pt x="0" y="46121"/>
                  </a:cubicBezTo>
                  <a:lnTo>
                    <a:pt x="0" y="46121"/>
                  </a:lnTo>
                  <a:cubicBezTo>
                    <a:pt x="0" y="33889"/>
                    <a:pt x="4859" y="22158"/>
                    <a:pt x="13509" y="13509"/>
                  </a:cubicBezTo>
                  <a:cubicBezTo>
                    <a:pt x="22158" y="4859"/>
                    <a:pt x="33889" y="0"/>
                    <a:pt x="46121" y="0"/>
                  </a:cubicBezTo>
                  <a:close/>
                </a:path>
              </a:pathLst>
            </a:custGeom>
            <a:gradFill rotWithShape="true">
              <a:gsLst>
                <a:gs pos="0">
                  <a:srgbClr val="85200C">
                    <a:alpha val="100000"/>
                  </a:srgbClr>
                </a:gs>
                <a:gs pos="100000">
                  <a:srgbClr val="DC4B0F">
                    <a:alpha val="100000"/>
                  </a:srgbClr>
                </a:gs>
              </a:gsLst>
              <a:lin ang="0"/>
            </a:gradFill>
          </p:spPr>
        </p:sp>
        <p:sp>
          <p:nvSpPr>
            <p:cNvPr name="TextBox 17" id="17"/>
            <p:cNvSpPr txBox="true"/>
            <p:nvPr/>
          </p:nvSpPr>
          <p:spPr>
            <a:xfrm>
              <a:off x="0" y="28575"/>
              <a:ext cx="605413" cy="63668"/>
            </a:xfrm>
            <a:prstGeom prst="rect">
              <a:avLst/>
            </a:prstGeom>
          </p:spPr>
          <p:txBody>
            <a:bodyPr anchor="ctr" rtlCol="false" tIns="50800" lIns="50800" bIns="50800" rIns="50800"/>
            <a:lstStyle/>
            <a:p>
              <a:pPr algn="ctr">
                <a:lnSpc>
                  <a:spcPts val="1919"/>
                </a:lnSpc>
              </a:pPr>
            </a:p>
          </p:txBody>
        </p:sp>
      </p:grpSp>
      <p:grpSp>
        <p:nvGrpSpPr>
          <p:cNvPr name="Group 18" id="18"/>
          <p:cNvGrpSpPr/>
          <p:nvPr/>
        </p:nvGrpSpPr>
        <p:grpSpPr>
          <a:xfrm rot="0">
            <a:off x="2051027" y="2707540"/>
            <a:ext cx="14046712" cy="2529242"/>
            <a:chOff x="0" y="0"/>
            <a:chExt cx="18728950" cy="3372323"/>
          </a:xfrm>
        </p:grpSpPr>
        <p:grpSp>
          <p:nvGrpSpPr>
            <p:cNvPr name="Group 19" id="19"/>
            <p:cNvGrpSpPr/>
            <p:nvPr/>
          </p:nvGrpSpPr>
          <p:grpSpPr>
            <a:xfrm rot="0">
              <a:off x="0" y="0"/>
              <a:ext cx="18728950" cy="3372323"/>
              <a:chOff x="0" y="0"/>
              <a:chExt cx="1135704" cy="204494"/>
            </a:xfrm>
          </p:grpSpPr>
          <p:sp>
            <p:nvSpPr>
              <p:cNvPr name="Freeform 20" id="20"/>
              <p:cNvSpPr/>
              <p:nvPr/>
            </p:nvSpPr>
            <p:spPr>
              <a:xfrm flipH="false" flipV="false" rot="0">
                <a:off x="0" y="0"/>
                <a:ext cx="1135704" cy="204494"/>
              </a:xfrm>
              <a:custGeom>
                <a:avLst/>
                <a:gdLst/>
                <a:ahLst/>
                <a:cxnLst/>
                <a:rect r="r" b="b" t="t" l="l"/>
                <a:pathLst>
                  <a:path h="204494" w="1135704">
                    <a:moveTo>
                      <a:pt x="42628" y="0"/>
                    </a:moveTo>
                    <a:lnTo>
                      <a:pt x="1093075" y="0"/>
                    </a:lnTo>
                    <a:cubicBezTo>
                      <a:pt x="1104381" y="0"/>
                      <a:pt x="1115224" y="4491"/>
                      <a:pt x="1123218" y="12486"/>
                    </a:cubicBezTo>
                    <a:cubicBezTo>
                      <a:pt x="1131212" y="20480"/>
                      <a:pt x="1135704" y="31323"/>
                      <a:pt x="1135704" y="42628"/>
                    </a:cubicBezTo>
                    <a:lnTo>
                      <a:pt x="1135704" y="161866"/>
                    </a:lnTo>
                    <a:cubicBezTo>
                      <a:pt x="1135704" y="173171"/>
                      <a:pt x="1131212" y="184014"/>
                      <a:pt x="1123218" y="192009"/>
                    </a:cubicBezTo>
                    <a:cubicBezTo>
                      <a:pt x="1115224" y="200003"/>
                      <a:pt x="1104381" y="204494"/>
                      <a:pt x="1093075" y="204494"/>
                    </a:cubicBezTo>
                    <a:lnTo>
                      <a:pt x="42628" y="204494"/>
                    </a:lnTo>
                    <a:cubicBezTo>
                      <a:pt x="31323" y="204494"/>
                      <a:pt x="20480" y="200003"/>
                      <a:pt x="12486" y="192009"/>
                    </a:cubicBezTo>
                    <a:cubicBezTo>
                      <a:pt x="4491" y="184014"/>
                      <a:pt x="0" y="173171"/>
                      <a:pt x="0" y="161866"/>
                    </a:cubicBezTo>
                    <a:lnTo>
                      <a:pt x="0" y="42628"/>
                    </a:lnTo>
                    <a:cubicBezTo>
                      <a:pt x="0" y="31323"/>
                      <a:pt x="4491" y="20480"/>
                      <a:pt x="12486" y="12486"/>
                    </a:cubicBezTo>
                    <a:cubicBezTo>
                      <a:pt x="20480" y="4491"/>
                      <a:pt x="31323" y="0"/>
                      <a:pt x="42628" y="0"/>
                    </a:cubicBezTo>
                    <a:close/>
                  </a:path>
                </a:pathLst>
              </a:custGeom>
              <a:gradFill rotWithShape="true">
                <a:gsLst>
                  <a:gs pos="0">
                    <a:srgbClr val="85200C">
                      <a:alpha val="30000"/>
                    </a:srgbClr>
                  </a:gs>
                  <a:gs pos="100000">
                    <a:srgbClr val="DC4B0F">
                      <a:alpha val="100000"/>
                    </a:srgbClr>
                  </a:gs>
                </a:gsLst>
                <a:lin ang="0"/>
              </a:gradFill>
            </p:spPr>
          </p:sp>
          <p:sp>
            <p:nvSpPr>
              <p:cNvPr name="TextBox 21" id="21"/>
              <p:cNvSpPr txBox="true"/>
              <p:nvPr/>
            </p:nvSpPr>
            <p:spPr>
              <a:xfrm>
                <a:off x="0" y="28575"/>
                <a:ext cx="1135704" cy="175919"/>
              </a:xfrm>
              <a:prstGeom prst="rect">
                <a:avLst/>
              </a:prstGeom>
            </p:spPr>
            <p:txBody>
              <a:bodyPr anchor="ctr" rtlCol="false" tIns="50800" lIns="50800" bIns="50800" rIns="50800"/>
              <a:lstStyle/>
              <a:p>
                <a:pPr algn="ctr">
                  <a:lnSpc>
                    <a:spcPts val="1919"/>
                  </a:lnSpc>
                </a:pPr>
              </a:p>
            </p:txBody>
          </p:sp>
        </p:grpSp>
        <p:sp>
          <p:nvSpPr>
            <p:cNvPr name="TextBox 22" id="22"/>
            <p:cNvSpPr txBox="true"/>
            <p:nvPr/>
          </p:nvSpPr>
          <p:spPr>
            <a:xfrm rot="0">
              <a:off x="558221" y="522043"/>
              <a:ext cx="17739037" cy="2290137"/>
            </a:xfrm>
            <a:prstGeom prst="rect">
              <a:avLst/>
            </a:prstGeom>
          </p:spPr>
          <p:txBody>
            <a:bodyPr anchor="t" rtlCol="false" tIns="0" lIns="0" bIns="0" rIns="0">
              <a:spAutoFit/>
            </a:bodyPr>
            <a:lstStyle/>
            <a:p>
              <a:pPr algn="ctr">
                <a:lnSpc>
                  <a:spcPts val="3227"/>
                </a:lnSpc>
              </a:pPr>
              <a:r>
                <a:rPr lang="en-US" sz="3397" b="true">
                  <a:solidFill>
                    <a:srgbClr val="FFFFFF"/>
                  </a:solidFill>
                  <a:latin typeface="Poppins Semi-Bold"/>
                  <a:ea typeface="Poppins Semi-Bold"/>
                  <a:cs typeface="Poppins Semi-Bold"/>
                  <a:sym typeface="Poppins Semi-Bold"/>
                </a:rPr>
                <a:t>Chloe replies three or four days later, usually with a thumbs up reaction rather than words. When someone suggested her section needed a stronger link to the recommendation, she read it, didn’t respond, and submitted the original.</a:t>
              </a:r>
            </a:p>
          </p:txBody>
        </p:sp>
      </p:grpSp>
      <p:grpSp>
        <p:nvGrpSpPr>
          <p:cNvPr name="Group 23" id="23"/>
          <p:cNvGrpSpPr/>
          <p:nvPr/>
        </p:nvGrpSpPr>
        <p:grpSpPr>
          <a:xfrm rot="0">
            <a:off x="2086942" y="5524148"/>
            <a:ext cx="6705133" cy="2864363"/>
            <a:chOff x="0" y="0"/>
            <a:chExt cx="542123" cy="231589"/>
          </a:xfrm>
        </p:grpSpPr>
        <p:sp>
          <p:nvSpPr>
            <p:cNvPr name="Freeform 24" id="24"/>
            <p:cNvSpPr/>
            <p:nvPr/>
          </p:nvSpPr>
          <p:spPr>
            <a:xfrm flipH="false" flipV="false" rot="0">
              <a:off x="0" y="0"/>
              <a:ext cx="542123" cy="231589"/>
            </a:xfrm>
            <a:custGeom>
              <a:avLst/>
              <a:gdLst/>
              <a:ahLst/>
              <a:cxnLst/>
              <a:rect r="r" b="b" t="t" l="l"/>
              <a:pathLst>
                <a:path h="231589" w="542123">
                  <a:moveTo>
                    <a:pt x="68556" y="0"/>
                  </a:moveTo>
                  <a:lnTo>
                    <a:pt x="473567" y="0"/>
                  </a:lnTo>
                  <a:cubicBezTo>
                    <a:pt x="511429" y="0"/>
                    <a:pt x="542123" y="30694"/>
                    <a:pt x="542123" y="68556"/>
                  </a:cubicBezTo>
                  <a:lnTo>
                    <a:pt x="542123" y="163033"/>
                  </a:lnTo>
                  <a:cubicBezTo>
                    <a:pt x="542123" y="181215"/>
                    <a:pt x="534900" y="198653"/>
                    <a:pt x="522043" y="211510"/>
                  </a:cubicBezTo>
                  <a:cubicBezTo>
                    <a:pt x="509187" y="224366"/>
                    <a:pt x="491749" y="231589"/>
                    <a:pt x="473567" y="231589"/>
                  </a:cubicBezTo>
                  <a:lnTo>
                    <a:pt x="68556" y="231589"/>
                  </a:lnTo>
                  <a:cubicBezTo>
                    <a:pt x="50374" y="231589"/>
                    <a:pt x="32936" y="224366"/>
                    <a:pt x="20080" y="211510"/>
                  </a:cubicBezTo>
                  <a:cubicBezTo>
                    <a:pt x="7223" y="198653"/>
                    <a:pt x="0" y="181215"/>
                    <a:pt x="0" y="163033"/>
                  </a:cubicBezTo>
                  <a:lnTo>
                    <a:pt x="0" y="68556"/>
                  </a:lnTo>
                  <a:cubicBezTo>
                    <a:pt x="0" y="50374"/>
                    <a:pt x="7223" y="32936"/>
                    <a:pt x="20080" y="20080"/>
                  </a:cubicBezTo>
                  <a:cubicBezTo>
                    <a:pt x="32936" y="7223"/>
                    <a:pt x="50374" y="0"/>
                    <a:pt x="68556" y="0"/>
                  </a:cubicBezTo>
                  <a:close/>
                </a:path>
              </a:pathLst>
            </a:custGeom>
            <a:gradFill rotWithShape="true">
              <a:gsLst>
                <a:gs pos="0">
                  <a:srgbClr val="85200C">
                    <a:alpha val="30000"/>
                  </a:srgbClr>
                </a:gs>
                <a:gs pos="100000">
                  <a:srgbClr val="940000">
                    <a:alpha val="100000"/>
                  </a:srgbClr>
                </a:gs>
              </a:gsLst>
              <a:lin ang="0"/>
            </a:gradFill>
          </p:spPr>
        </p:sp>
        <p:sp>
          <p:nvSpPr>
            <p:cNvPr name="TextBox 25" id="25"/>
            <p:cNvSpPr txBox="true"/>
            <p:nvPr/>
          </p:nvSpPr>
          <p:spPr>
            <a:xfrm>
              <a:off x="0" y="28575"/>
              <a:ext cx="542123" cy="203014"/>
            </a:xfrm>
            <a:prstGeom prst="rect">
              <a:avLst/>
            </a:prstGeom>
          </p:spPr>
          <p:txBody>
            <a:bodyPr anchor="ctr" rtlCol="false" tIns="50800" lIns="50800" bIns="50800" rIns="50800"/>
            <a:lstStyle/>
            <a:p>
              <a:pPr algn="ctr">
                <a:lnSpc>
                  <a:spcPts val="1919"/>
                </a:lnSpc>
              </a:pPr>
            </a:p>
          </p:txBody>
        </p:sp>
      </p:grpSp>
      <p:grpSp>
        <p:nvGrpSpPr>
          <p:cNvPr name="Group 26" id="26"/>
          <p:cNvGrpSpPr/>
          <p:nvPr/>
        </p:nvGrpSpPr>
        <p:grpSpPr>
          <a:xfrm rot="0">
            <a:off x="9036459" y="5554638"/>
            <a:ext cx="6857760" cy="2864363"/>
            <a:chOff x="0" y="0"/>
            <a:chExt cx="9143680" cy="3819150"/>
          </a:xfrm>
        </p:grpSpPr>
        <p:grpSp>
          <p:nvGrpSpPr>
            <p:cNvPr name="Group 27" id="27"/>
            <p:cNvGrpSpPr/>
            <p:nvPr/>
          </p:nvGrpSpPr>
          <p:grpSpPr>
            <a:xfrm rot="0">
              <a:off x="50565" y="0"/>
              <a:ext cx="8869518" cy="3819150"/>
              <a:chOff x="0" y="0"/>
              <a:chExt cx="537838" cy="231589"/>
            </a:xfrm>
          </p:grpSpPr>
          <p:sp>
            <p:nvSpPr>
              <p:cNvPr name="Freeform 28" id="28"/>
              <p:cNvSpPr/>
              <p:nvPr/>
            </p:nvSpPr>
            <p:spPr>
              <a:xfrm flipH="false" flipV="false" rot="0">
                <a:off x="0" y="0"/>
                <a:ext cx="537838" cy="231589"/>
              </a:xfrm>
              <a:custGeom>
                <a:avLst/>
                <a:gdLst/>
                <a:ahLst/>
                <a:cxnLst/>
                <a:rect r="r" b="b" t="t" l="l"/>
                <a:pathLst>
                  <a:path h="231589" w="537838">
                    <a:moveTo>
                      <a:pt x="35130" y="0"/>
                    </a:moveTo>
                    <a:lnTo>
                      <a:pt x="502708" y="0"/>
                    </a:lnTo>
                    <a:cubicBezTo>
                      <a:pt x="512025" y="0"/>
                      <a:pt x="520961" y="3701"/>
                      <a:pt x="527549" y="10289"/>
                    </a:cubicBezTo>
                    <a:cubicBezTo>
                      <a:pt x="534137" y="16878"/>
                      <a:pt x="537838" y="25813"/>
                      <a:pt x="537838" y="35130"/>
                    </a:cubicBezTo>
                    <a:lnTo>
                      <a:pt x="537838" y="196459"/>
                    </a:lnTo>
                    <a:cubicBezTo>
                      <a:pt x="537838" y="205776"/>
                      <a:pt x="534137" y="214712"/>
                      <a:pt x="527549" y="221300"/>
                    </a:cubicBezTo>
                    <a:cubicBezTo>
                      <a:pt x="520961" y="227888"/>
                      <a:pt x="512025" y="231589"/>
                      <a:pt x="502708" y="231589"/>
                    </a:cubicBezTo>
                    <a:lnTo>
                      <a:pt x="35130" y="231589"/>
                    </a:lnTo>
                    <a:cubicBezTo>
                      <a:pt x="25813" y="231589"/>
                      <a:pt x="16878" y="227888"/>
                      <a:pt x="10289" y="221300"/>
                    </a:cubicBezTo>
                    <a:cubicBezTo>
                      <a:pt x="3701" y="214712"/>
                      <a:pt x="0" y="205776"/>
                      <a:pt x="0" y="196459"/>
                    </a:cubicBezTo>
                    <a:lnTo>
                      <a:pt x="0" y="35130"/>
                    </a:lnTo>
                    <a:cubicBezTo>
                      <a:pt x="0" y="25813"/>
                      <a:pt x="3701" y="16878"/>
                      <a:pt x="10289" y="10289"/>
                    </a:cubicBezTo>
                    <a:cubicBezTo>
                      <a:pt x="16878" y="3701"/>
                      <a:pt x="25813" y="0"/>
                      <a:pt x="35130" y="0"/>
                    </a:cubicBezTo>
                    <a:close/>
                  </a:path>
                </a:pathLst>
              </a:custGeom>
              <a:gradFill rotWithShape="true">
                <a:gsLst>
                  <a:gs pos="0">
                    <a:srgbClr val="85200C">
                      <a:alpha val="30000"/>
                    </a:srgbClr>
                  </a:gs>
                  <a:gs pos="100000">
                    <a:srgbClr val="008601">
                      <a:alpha val="100000"/>
                    </a:srgbClr>
                  </a:gs>
                </a:gsLst>
                <a:lin ang="0"/>
              </a:gradFill>
            </p:spPr>
          </p:sp>
          <p:sp>
            <p:nvSpPr>
              <p:cNvPr name="TextBox 29" id="29"/>
              <p:cNvSpPr txBox="true"/>
              <p:nvPr/>
            </p:nvSpPr>
            <p:spPr>
              <a:xfrm>
                <a:off x="0" y="28575"/>
                <a:ext cx="537838" cy="203014"/>
              </a:xfrm>
              <a:prstGeom prst="rect">
                <a:avLst/>
              </a:prstGeom>
            </p:spPr>
            <p:txBody>
              <a:bodyPr anchor="ctr" rtlCol="false" tIns="99925" lIns="99925" bIns="99925" rIns="99925"/>
              <a:lstStyle/>
              <a:p>
                <a:pPr algn="ctr">
                  <a:lnSpc>
                    <a:spcPts val="1919"/>
                  </a:lnSpc>
                </a:pPr>
              </a:p>
            </p:txBody>
          </p:sp>
        </p:grpSp>
        <p:sp>
          <p:nvSpPr>
            <p:cNvPr name="TextBox 30" id="30"/>
            <p:cNvSpPr txBox="true"/>
            <p:nvPr/>
          </p:nvSpPr>
          <p:spPr>
            <a:xfrm rot="0">
              <a:off x="0" y="656138"/>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GreenFlag</a:t>
              </a:r>
            </a:p>
          </p:txBody>
        </p:sp>
        <p:sp>
          <p:nvSpPr>
            <p:cNvPr name="TextBox 31" id="31"/>
            <p:cNvSpPr txBox="true"/>
            <p:nvPr/>
          </p:nvSpPr>
          <p:spPr>
            <a:xfrm rot="0">
              <a:off x="415950" y="506572"/>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Green Flag</a:t>
              </a:r>
            </a:p>
          </p:txBody>
        </p:sp>
      </p:grpSp>
      <p:sp>
        <p:nvSpPr>
          <p:cNvPr name="TextBox 32" id="32"/>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15</a:t>
            </a:r>
          </a:p>
        </p:txBody>
      </p:sp>
      <p:sp>
        <p:nvSpPr>
          <p:cNvPr name="TextBox 33" id="33"/>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34" id="34"/>
          <p:cNvSpPr txBox="true"/>
          <p:nvPr/>
        </p:nvSpPr>
        <p:spPr>
          <a:xfrm rot="0">
            <a:off x="415994" y="1409082"/>
            <a:ext cx="5981225" cy="591425"/>
          </a:xfrm>
          <a:prstGeom prst="rect">
            <a:avLst/>
          </a:prstGeom>
        </p:spPr>
        <p:txBody>
          <a:bodyPr anchor="t" rtlCol="false" tIns="0" lIns="0" bIns="0" rIns="0">
            <a:spAutoFit/>
          </a:bodyPr>
          <a:lstStyle/>
          <a:p>
            <a:pPr algn="l">
              <a:lnSpc>
                <a:spcPts val="4119"/>
              </a:lnSpc>
            </a:pPr>
            <a:r>
              <a:rPr lang="en-US" sz="4336" b="true">
                <a:solidFill>
                  <a:srgbClr val="FFFFFF"/>
                </a:solidFill>
                <a:latin typeface="Poppins Heavy"/>
                <a:ea typeface="Poppins Heavy"/>
                <a:cs typeface="Poppins Heavy"/>
                <a:sym typeface="Poppins Heavy"/>
              </a:rPr>
              <a:t>SCENARIO 5: CHLOE </a:t>
            </a:r>
          </a:p>
        </p:txBody>
      </p:sp>
      <p:grpSp>
        <p:nvGrpSpPr>
          <p:cNvPr name="Group 35" id="35"/>
          <p:cNvGrpSpPr/>
          <p:nvPr/>
        </p:nvGrpSpPr>
        <p:grpSpPr>
          <a:xfrm rot="0">
            <a:off x="2001030" y="6106016"/>
            <a:ext cx="6857760" cy="1869997"/>
            <a:chOff x="0" y="0"/>
            <a:chExt cx="9143680" cy="2493329"/>
          </a:xfrm>
        </p:grpSpPr>
        <p:sp>
          <p:nvSpPr>
            <p:cNvPr name="TextBox 36" id="36"/>
            <p:cNvSpPr txBox="true"/>
            <p:nvPr/>
          </p:nvSpPr>
          <p:spPr>
            <a:xfrm rot="0">
              <a:off x="0" y="-79033"/>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Red Flag</a:t>
              </a:r>
            </a:p>
          </p:txBody>
        </p:sp>
        <p:sp>
          <p:nvSpPr>
            <p:cNvPr name="TextBox 37" id="37"/>
            <p:cNvSpPr txBox="true"/>
            <p:nvPr/>
          </p:nvSpPr>
          <p:spPr>
            <a:xfrm rot="0">
              <a:off x="415950" y="-228600"/>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Red Flag</a:t>
              </a:r>
            </a:p>
          </p:txBody>
        </p:sp>
      </p:gr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761809" y="1287870"/>
            <a:ext cx="15278418" cy="1739275"/>
            <a:chOff x="0" y="0"/>
            <a:chExt cx="20371224" cy="2319034"/>
          </a:xfrm>
        </p:grpSpPr>
        <p:grpSp>
          <p:nvGrpSpPr>
            <p:cNvPr name="Group 16" id="16"/>
            <p:cNvGrpSpPr/>
            <p:nvPr/>
          </p:nvGrpSpPr>
          <p:grpSpPr>
            <a:xfrm rot="0">
              <a:off x="0" y="0"/>
              <a:ext cx="20371224" cy="2319034"/>
              <a:chOff x="0" y="0"/>
              <a:chExt cx="1488968" cy="169502"/>
            </a:xfrm>
          </p:grpSpPr>
          <p:sp>
            <p:nvSpPr>
              <p:cNvPr name="Freeform 17" id="17"/>
              <p:cNvSpPr/>
              <p:nvPr/>
            </p:nvSpPr>
            <p:spPr>
              <a:xfrm flipH="false" flipV="false" rot="0">
                <a:off x="0" y="0"/>
                <a:ext cx="1488968" cy="169502"/>
              </a:xfrm>
              <a:custGeom>
                <a:avLst/>
                <a:gdLst/>
                <a:ahLst/>
                <a:cxnLst/>
                <a:rect r="r" b="b" t="t" l="l"/>
                <a:pathLst>
                  <a:path h="169502" w="1488968">
                    <a:moveTo>
                      <a:pt x="32515" y="0"/>
                    </a:moveTo>
                    <a:lnTo>
                      <a:pt x="1456454" y="0"/>
                    </a:lnTo>
                    <a:cubicBezTo>
                      <a:pt x="1465077" y="0"/>
                      <a:pt x="1473347" y="3426"/>
                      <a:pt x="1479445" y="9523"/>
                    </a:cubicBezTo>
                    <a:cubicBezTo>
                      <a:pt x="1485543" y="15621"/>
                      <a:pt x="1488968" y="23891"/>
                      <a:pt x="1488968" y="32515"/>
                    </a:cubicBezTo>
                    <a:lnTo>
                      <a:pt x="1488968" y="136988"/>
                    </a:lnTo>
                    <a:cubicBezTo>
                      <a:pt x="1488968" y="154945"/>
                      <a:pt x="1474411" y="169502"/>
                      <a:pt x="1456454" y="169502"/>
                    </a:cubicBezTo>
                    <a:lnTo>
                      <a:pt x="32515" y="169502"/>
                    </a:lnTo>
                    <a:cubicBezTo>
                      <a:pt x="23891" y="169502"/>
                      <a:pt x="15621" y="166077"/>
                      <a:pt x="9523" y="159979"/>
                    </a:cubicBezTo>
                    <a:cubicBezTo>
                      <a:pt x="3426" y="153881"/>
                      <a:pt x="0" y="145611"/>
                      <a:pt x="0" y="136988"/>
                    </a:cubicBezTo>
                    <a:lnTo>
                      <a:pt x="0" y="32515"/>
                    </a:lnTo>
                    <a:cubicBezTo>
                      <a:pt x="0" y="23891"/>
                      <a:pt x="3426" y="15621"/>
                      <a:pt x="9523" y="9523"/>
                    </a:cubicBezTo>
                    <a:cubicBezTo>
                      <a:pt x="15621" y="3426"/>
                      <a:pt x="23891" y="0"/>
                      <a:pt x="32515" y="0"/>
                    </a:cubicBezTo>
                    <a:close/>
                  </a:path>
                </a:pathLst>
              </a:custGeom>
              <a:gradFill rotWithShape="true">
                <a:gsLst>
                  <a:gs pos="0">
                    <a:srgbClr val="85200C">
                      <a:alpha val="100000"/>
                    </a:srgbClr>
                  </a:gs>
                  <a:gs pos="100000">
                    <a:srgbClr val="DC4B0F">
                      <a:alpha val="100000"/>
                    </a:srgbClr>
                  </a:gs>
                </a:gsLst>
                <a:lin ang="0"/>
              </a:gradFill>
            </p:spPr>
          </p:sp>
          <p:sp>
            <p:nvSpPr>
              <p:cNvPr name="TextBox 18" id="18"/>
              <p:cNvSpPr txBox="true"/>
              <p:nvPr/>
            </p:nvSpPr>
            <p:spPr>
              <a:xfrm>
                <a:off x="0" y="28575"/>
                <a:ext cx="1488968" cy="140927"/>
              </a:xfrm>
              <a:prstGeom prst="rect">
                <a:avLst/>
              </a:prstGeom>
            </p:spPr>
            <p:txBody>
              <a:bodyPr anchor="ctr" rtlCol="false" tIns="50800" lIns="50800" bIns="50800" rIns="50800"/>
              <a:lstStyle/>
              <a:p>
                <a:pPr algn="ctr">
                  <a:lnSpc>
                    <a:spcPts val="1919"/>
                  </a:lnSpc>
                </a:pPr>
              </a:p>
            </p:txBody>
          </p:sp>
        </p:grpSp>
        <p:sp>
          <p:nvSpPr>
            <p:cNvPr name="TextBox 19" id="19"/>
            <p:cNvSpPr txBox="true"/>
            <p:nvPr/>
          </p:nvSpPr>
          <p:spPr>
            <a:xfrm rot="0">
              <a:off x="607170" y="439593"/>
              <a:ext cx="19294509" cy="1414731"/>
            </a:xfrm>
            <a:prstGeom prst="rect">
              <a:avLst/>
            </a:prstGeom>
          </p:spPr>
          <p:txBody>
            <a:bodyPr anchor="t" rtlCol="false" tIns="0" lIns="0" bIns="0" rIns="0">
              <a:spAutoFit/>
            </a:bodyPr>
            <a:lstStyle/>
            <a:p>
              <a:pPr algn="ctr">
                <a:lnSpc>
                  <a:spcPts val="2677"/>
                </a:lnSpc>
              </a:pPr>
              <a:r>
                <a:rPr lang="en-US" sz="2818" b="true">
                  <a:solidFill>
                    <a:srgbClr val="FFFFFF"/>
                  </a:solidFill>
                  <a:latin typeface="Poppins Semi-Bold"/>
                  <a:ea typeface="Poppins Semi-Bold"/>
                  <a:cs typeface="Poppins Semi-Bold"/>
                  <a:sym typeface="Poppins Semi-Bold"/>
                </a:rPr>
                <a:t>Chloe replies three or four days later, usually with a thumbs up reaction rather than words. When someone suggested her section needed a stronger link to the recommendation, she read it, didn’t respond, and submitted the original.</a:t>
              </a:r>
            </a:p>
          </p:txBody>
        </p:sp>
      </p:grpSp>
      <p:grpSp>
        <p:nvGrpSpPr>
          <p:cNvPr name="Group 20" id="20"/>
          <p:cNvGrpSpPr/>
          <p:nvPr/>
        </p:nvGrpSpPr>
        <p:grpSpPr>
          <a:xfrm rot="0">
            <a:off x="1848619" y="3267658"/>
            <a:ext cx="5070623" cy="2864363"/>
            <a:chOff x="0" y="0"/>
            <a:chExt cx="409970" cy="231589"/>
          </a:xfrm>
        </p:grpSpPr>
        <p:sp>
          <p:nvSpPr>
            <p:cNvPr name="Freeform 21" id="21"/>
            <p:cNvSpPr/>
            <p:nvPr/>
          </p:nvSpPr>
          <p:spPr>
            <a:xfrm flipH="false" flipV="false" rot="0">
              <a:off x="0" y="0"/>
              <a:ext cx="409970" cy="231589"/>
            </a:xfrm>
            <a:custGeom>
              <a:avLst/>
              <a:gdLst/>
              <a:ahLst/>
              <a:cxnLst/>
              <a:rect r="r" b="b" t="t" l="l"/>
              <a:pathLst>
                <a:path h="231589" w="409970">
                  <a:moveTo>
                    <a:pt x="90655" y="0"/>
                  </a:moveTo>
                  <a:lnTo>
                    <a:pt x="319315" y="0"/>
                  </a:lnTo>
                  <a:cubicBezTo>
                    <a:pt x="343358" y="0"/>
                    <a:pt x="366416" y="9551"/>
                    <a:pt x="383417" y="26552"/>
                  </a:cubicBezTo>
                  <a:cubicBezTo>
                    <a:pt x="400418" y="43553"/>
                    <a:pt x="409970" y="66612"/>
                    <a:pt x="409970" y="90655"/>
                  </a:cubicBezTo>
                  <a:lnTo>
                    <a:pt x="409970" y="140934"/>
                  </a:lnTo>
                  <a:cubicBezTo>
                    <a:pt x="409970" y="164978"/>
                    <a:pt x="400418" y="188036"/>
                    <a:pt x="383417" y="205037"/>
                  </a:cubicBezTo>
                  <a:cubicBezTo>
                    <a:pt x="366416" y="222038"/>
                    <a:pt x="343358" y="231589"/>
                    <a:pt x="319315" y="231589"/>
                  </a:cubicBezTo>
                  <a:lnTo>
                    <a:pt x="90655" y="231589"/>
                  </a:lnTo>
                  <a:cubicBezTo>
                    <a:pt x="40588" y="231589"/>
                    <a:pt x="0" y="191002"/>
                    <a:pt x="0" y="140934"/>
                  </a:cubicBezTo>
                  <a:lnTo>
                    <a:pt x="0" y="90655"/>
                  </a:lnTo>
                  <a:cubicBezTo>
                    <a:pt x="0" y="66612"/>
                    <a:pt x="9551" y="43553"/>
                    <a:pt x="26552" y="26552"/>
                  </a:cubicBezTo>
                  <a:cubicBezTo>
                    <a:pt x="43553" y="9551"/>
                    <a:pt x="66612" y="0"/>
                    <a:pt x="90655" y="0"/>
                  </a:cubicBezTo>
                  <a:close/>
                </a:path>
              </a:pathLst>
            </a:custGeom>
            <a:gradFill rotWithShape="true">
              <a:gsLst>
                <a:gs pos="0">
                  <a:srgbClr val="85200C">
                    <a:alpha val="30000"/>
                  </a:srgbClr>
                </a:gs>
                <a:gs pos="100000">
                  <a:srgbClr val="940000">
                    <a:alpha val="100000"/>
                  </a:srgbClr>
                </a:gs>
              </a:gsLst>
              <a:lin ang="0"/>
            </a:gradFill>
          </p:spPr>
        </p:sp>
        <p:sp>
          <p:nvSpPr>
            <p:cNvPr name="TextBox 22" id="22"/>
            <p:cNvSpPr txBox="true"/>
            <p:nvPr/>
          </p:nvSpPr>
          <p:spPr>
            <a:xfrm>
              <a:off x="0" y="28575"/>
              <a:ext cx="409970" cy="203014"/>
            </a:xfrm>
            <a:prstGeom prst="rect">
              <a:avLst/>
            </a:prstGeom>
          </p:spPr>
          <p:txBody>
            <a:bodyPr anchor="ctr" rtlCol="false" tIns="50800" lIns="50800" bIns="50800" rIns="50800"/>
            <a:lstStyle/>
            <a:p>
              <a:pPr algn="ctr">
                <a:lnSpc>
                  <a:spcPts val="1919"/>
                </a:lnSpc>
              </a:pPr>
            </a:p>
          </p:txBody>
        </p:sp>
      </p:grpSp>
      <p:grpSp>
        <p:nvGrpSpPr>
          <p:cNvPr name="Group 23" id="23"/>
          <p:cNvGrpSpPr/>
          <p:nvPr/>
        </p:nvGrpSpPr>
        <p:grpSpPr>
          <a:xfrm rot="0">
            <a:off x="7218350" y="3300359"/>
            <a:ext cx="9821878" cy="2715306"/>
            <a:chOff x="0" y="0"/>
            <a:chExt cx="957198" cy="264622"/>
          </a:xfrm>
        </p:grpSpPr>
        <p:sp>
          <p:nvSpPr>
            <p:cNvPr name="Freeform 24" id="24"/>
            <p:cNvSpPr/>
            <p:nvPr/>
          </p:nvSpPr>
          <p:spPr>
            <a:xfrm flipH="false" flipV="false" rot="0">
              <a:off x="0" y="0"/>
              <a:ext cx="957198" cy="264622"/>
            </a:xfrm>
            <a:custGeom>
              <a:avLst/>
              <a:gdLst/>
              <a:ahLst/>
              <a:cxnLst/>
              <a:rect r="r" b="b" t="t" l="l"/>
              <a:pathLst>
                <a:path h="264622" w="957198">
                  <a:moveTo>
                    <a:pt x="60965" y="0"/>
                  </a:moveTo>
                  <a:lnTo>
                    <a:pt x="896233" y="0"/>
                  </a:lnTo>
                  <a:cubicBezTo>
                    <a:pt x="912402" y="0"/>
                    <a:pt x="927908" y="6423"/>
                    <a:pt x="939341" y="17856"/>
                  </a:cubicBezTo>
                  <a:cubicBezTo>
                    <a:pt x="950775" y="29289"/>
                    <a:pt x="957198" y="44796"/>
                    <a:pt x="957198" y="60965"/>
                  </a:cubicBezTo>
                  <a:lnTo>
                    <a:pt x="957198" y="203657"/>
                  </a:lnTo>
                  <a:cubicBezTo>
                    <a:pt x="957198" y="237327"/>
                    <a:pt x="929903" y="264622"/>
                    <a:pt x="896233" y="264622"/>
                  </a:cubicBezTo>
                  <a:lnTo>
                    <a:pt x="60965" y="264622"/>
                  </a:lnTo>
                  <a:cubicBezTo>
                    <a:pt x="27295" y="264622"/>
                    <a:pt x="0" y="237327"/>
                    <a:pt x="0" y="203657"/>
                  </a:cubicBezTo>
                  <a:lnTo>
                    <a:pt x="0" y="60965"/>
                  </a:lnTo>
                  <a:cubicBezTo>
                    <a:pt x="0" y="27295"/>
                    <a:pt x="27295" y="0"/>
                    <a:pt x="60965" y="0"/>
                  </a:cubicBezTo>
                  <a:close/>
                </a:path>
              </a:pathLst>
            </a:custGeom>
            <a:gradFill rotWithShape="true">
              <a:gsLst>
                <a:gs pos="0">
                  <a:srgbClr val="85200C">
                    <a:alpha val="30000"/>
                  </a:srgbClr>
                </a:gs>
                <a:gs pos="100000">
                  <a:srgbClr val="DC4B0F">
                    <a:alpha val="100000"/>
                  </a:srgbClr>
                </a:gs>
              </a:gsLst>
              <a:lin ang="0"/>
            </a:gradFill>
          </p:spPr>
        </p:sp>
        <p:sp>
          <p:nvSpPr>
            <p:cNvPr name="TextBox 25" id="25"/>
            <p:cNvSpPr txBox="true"/>
            <p:nvPr/>
          </p:nvSpPr>
          <p:spPr>
            <a:xfrm>
              <a:off x="0" y="28575"/>
              <a:ext cx="957198" cy="236047"/>
            </a:xfrm>
            <a:prstGeom prst="rect">
              <a:avLst/>
            </a:prstGeom>
          </p:spPr>
          <p:txBody>
            <a:bodyPr anchor="ctr" rtlCol="false" tIns="42145" lIns="42145" bIns="42145" rIns="42145"/>
            <a:lstStyle/>
            <a:p>
              <a:pPr algn="ctr">
                <a:lnSpc>
                  <a:spcPts val="1919"/>
                </a:lnSpc>
              </a:pPr>
            </a:p>
          </p:txBody>
        </p:sp>
      </p:grpSp>
      <p:sp>
        <p:nvSpPr>
          <p:cNvPr name="TextBox 26" id="26"/>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16</a:t>
            </a:r>
          </a:p>
        </p:txBody>
      </p:sp>
      <p:sp>
        <p:nvSpPr>
          <p:cNvPr name="TextBox 27" id="27"/>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28" id="28"/>
          <p:cNvSpPr txBox="true"/>
          <p:nvPr/>
        </p:nvSpPr>
        <p:spPr>
          <a:xfrm rot="0">
            <a:off x="11797590" y="3849811"/>
            <a:ext cx="4921364" cy="1884201"/>
          </a:xfrm>
          <a:prstGeom prst="rect">
            <a:avLst/>
          </a:prstGeom>
        </p:spPr>
        <p:txBody>
          <a:bodyPr anchor="t" rtlCol="false" tIns="0" lIns="0" bIns="0" rIns="0">
            <a:spAutoFit/>
          </a:bodyPr>
          <a:lstStyle/>
          <a:p>
            <a:pPr algn="l">
              <a:lnSpc>
                <a:spcPts val="2475"/>
              </a:lnSpc>
            </a:pPr>
            <a:r>
              <a:rPr lang="en-US" sz="2605" b="true">
                <a:solidFill>
                  <a:srgbClr val="FFFFFF"/>
                </a:solidFill>
                <a:latin typeface="Poppins Semi-Bold"/>
                <a:ea typeface="Poppins Semi-Bold"/>
                <a:cs typeface="Poppins Semi-Bold"/>
                <a:sym typeface="Poppins Semi-Bold"/>
              </a:rPr>
              <a:t>The slow replies are annoying. Ignoring a suggestion and submitting anyway is the real issue, because it tells the group that feedback is optional.</a:t>
            </a:r>
          </a:p>
        </p:txBody>
      </p:sp>
      <p:grpSp>
        <p:nvGrpSpPr>
          <p:cNvPr name="Group 29" id="29"/>
          <p:cNvGrpSpPr/>
          <p:nvPr/>
        </p:nvGrpSpPr>
        <p:grpSpPr>
          <a:xfrm rot="0">
            <a:off x="7098242" y="3722679"/>
            <a:ext cx="4796052" cy="2152728"/>
            <a:chOff x="0" y="0"/>
            <a:chExt cx="6394736" cy="2870304"/>
          </a:xfrm>
        </p:grpSpPr>
        <p:sp>
          <p:nvSpPr>
            <p:cNvPr name="TextBox 30" id="30"/>
            <p:cNvSpPr txBox="true"/>
            <p:nvPr/>
          </p:nvSpPr>
          <p:spPr>
            <a:xfrm rot="0">
              <a:off x="370530" y="-94520"/>
              <a:ext cx="6024207" cy="2964824"/>
            </a:xfrm>
            <a:prstGeom prst="rect">
              <a:avLst/>
            </a:prstGeom>
          </p:spPr>
          <p:txBody>
            <a:bodyPr anchor="t" rtlCol="false" tIns="0" lIns="0" bIns="0" rIns="0">
              <a:spAutoFit/>
            </a:bodyPr>
            <a:lstStyle/>
            <a:p>
              <a:pPr algn="ctr">
                <a:lnSpc>
                  <a:spcPts val="18648"/>
                </a:lnSpc>
              </a:pPr>
              <a:r>
                <a:rPr lang="en-US" sz="13320" spc="39">
                  <a:solidFill>
                    <a:srgbClr val="000000">
                      <a:alpha val="30980"/>
                    </a:srgbClr>
                  </a:solidFill>
                  <a:latin typeface="Milestone Script"/>
                  <a:ea typeface="Milestone Script"/>
                  <a:cs typeface="Milestone Script"/>
                  <a:sym typeface="Milestone Script"/>
                </a:rPr>
                <a:t>Why?</a:t>
              </a:r>
            </a:p>
          </p:txBody>
        </p:sp>
        <p:sp>
          <p:nvSpPr>
            <p:cNvPr name="TextBox 31" id="31"/>
            <p:cNvSpPr txBox="true"/>
            <p:nvPr/>
          </p:nvSpPr>
          <p:spPr>
            <a:xfrm rot="0">
              <a:off x="0" y="-266700"/>
              <a:ext cx="6263643" cy="2964824"/>
            </a:xfrm>
            <a:prstGeom prst="rect">
              <a:avLst/>
            </a:prstGeom>
          </p:spPr>
          <p:txBody>
            <a:bodyPr anchor="t" rtlCol="false" tIns="0" lIns="0" bIns="0" rIns="0">
              <a:spAutoFit/>
            </a:bodyPr>
            <a:lstStyle/>
            <a:p>
              <a:pPr algn="ctr">
                <a:lnSpc>
                  <a:spcPts val="18648"/>
                </a:lnSpc>
              </a:pPr>
              <a:r>
                <a:rPr lang="en-US" sz="13320" spc="39">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Why?</a:t>
              </a:r>
            </a:p>
          </p:txBody>
        </p:sp>
      </p:grpSp>
      <p:sp>
        <p:nvSpPr>
          <p:cNvPr name="TextBox 32" id="32"/>
          <p:cNvSpPr txBox="true"/>
          <p:nvPr/>
        </p:nvSpPr>
        <p:spPr>
          <a:xfrm rot="0">
            <a:off x="2626674" y="3906961"/>
            <a:ext cx="3514512" cy="1690531"/>
          </a:xfrm>
          <a:prstGeom prst="rect">
            <a:avLst/>
          </a:prstGeom>
        </p:spPr>
        <p:txBody>
          <a:bodyPr anchor="t" rtlCol="false" tIns="0" lIns="0" bIns="0" rIns="0">
            <a:spAutoFit/>
          </a:bodyPr>
          <a:lstStyle/>
          <a:p>
            <a:pPr algn="ctr">
              <a:lnSpc>
                <a:spcPts val="6252"/>
              </a:lnSpc>
            </a:pPr>
            <a:r>
              <a:rPr lang="en-US" sz="6582" b="true">
                <a:solidFill>
                  <a:srgbClr val="FFFFFF"/>
                </a:solidFill>
                <a:latin typeface="Poppins Heavy"/>
                <a:ea typeface="Poppins Heavy"/>
                <a:cs typeface="Poppins Heavy"/>
                <a:sym typeface="Poppins Heavy"/>
              </a:rPr>
              <a:t>RED FLAG</a:t>
            </a:r>
          </a:p>
        </p:txBody>
      </p:sp>
      <p:grpSp>
        <p:nvGrpSpPr>
          <p:cNvPr name="Group 33" id="33"/>
          <p:cNvGrpSpPr/>
          <p:nvPr/>
        </p:nvGrpSpPr>
        <p:grpSpPr>
          <a:xfrm rot="0">
            <a:off x="3857803" y="6559486"/>
            <a:ext cx="10756617" cy="2036826"/>
            <a:chOff x="0" y="0"/>
            <a:chExt cx="14342157" cy="2715768"/>
          </a:xfrm>
        </p:grpSpPr>
        <p:grpSp>
          <p:nvGrpSpPr>
            <p:cNvPr name="Group 34" id="34"/>
            <p:cNvGrpSpPr/>
            <p:nvPr/>
          </p:nvGrpSpPr>
          <p:grpSpPr>
            <a:xfrm rot="0">
              <a:off x="168625" y="12700"/>
              <a:ext cx="14173532" cy="2665787"/>
              <a:chOff x="0" y="0"/>
              <a:chExt cx="1280731" cy="240883"/>
            </a:xfrm>
          </p:grpSpPr>
          <p:sp>
            <p:nvSpPr>
              <p:cNvPr name="Freeform 35" id="35"/>
              <p:cNvSpPr/>
              <p:nvPr/>
            </p:nvSpPr>
            <p:spPr>
              <a:xfrm flipH="false" flipV="false" rot="0">
                <a:off x="0" y="0"/>
                <a:ext cx="1280731" cy="240883"/>
              </a:xfrm>
              <a:custGeom>
                <a:avLst/>
                <a:gdLst/>
                <a:ahLst/>
                <a:cxnLst/>
                <a:rect r="r" b="b" t="t" l="l"/>
                <a:pathLst>
                  <a:path h="240883" w="1280731">
                    <a:moveTo>
                      <a:pt x="6828" y="0"/>
                    </a:moveTo>
                    <a:lnTo>
                      <a:pt x="1273903" y="0"/>
                    </a:lnTo>
                    <a:cubicBezTo>
                      <a:pt x="1275714" y="0"/>
                      <a:pt x="1277451" y="719"/>
                      <a:pt x="1278731" y="2000"/>
                    </a:cubicBezTo>
                    <a:cubicBezTo>
                      <a:pt x="1280012" y="3280"/>
                      <a:pt x="1280731" y="5017"/>
                      <a:pt x="1280731" y="6828"/>
                    </a:cubicBezTo>
                    <a:lnTo>
                      <a:pt x="1280731" y="234055"/>
                    </a:lnTo>
                    <a:cubicBezTo>
                      <a:pt x="1280731" y="235866"/>
                      <a:pt x="1280012" y="237602"/>
                      <a:pt x="1278731" y="238883"/>
                    </a:cubicBezTo>
                    <a:cubicBezTo>
                      <a:pt x="1277451" y="240163"/>
                      <a:pt x="1275714" y="240883"/>
                      <a:pt x="1273903" y="240883"/>
                    </a:cubicBezTo>
                    <a:lnTo>
                      <a:pt x="6828" y="240883"/>
                    </a:lnTo>
                    <a:cubicBezTo>
                      <a:pt x="5017" y="240883"/>
                      <a:pt x="3280" y="240163"/>
                      <a:pt x="2000" y="238883"/>
                    </a:cubicBezTo>
                    <a:cubicBezTo>
                      <a:pt x="719" y="237602"/>
                      <a:pt x="0" y="235866"/>
                      <a:pt x="0" y="234055"/>
                    </a:cubicBezTo>
                    <a:lnTo>
                      <a:pt x="0" y="6828"/>
                    </a:lnTo>
                    <a:cubicBezTo>
                      <a:pt x="0" y="5017"/>
                      <a:pt x="719" y="3280"/>
                      <a:pt x="2000" y="2000"/>
                    </a:cubicBezTo>
                    <a:cubicBezTo>
                      <a:pt x="3280" y="719"/>
                      <a:pt x="5017" y="0"/>
                      <a:pt x="6828" y="0"/>
                    </a:cubicBezTo>
                    <a:close/>
                  </a:path>
                </a:pathLst>
              </a:custGeom>
              <a:gradFill rotWithShape="true">
                <a:gsLst>
                  <a:gs pos="0">
                    <a:srgbClr val="FFFFFF">
                      <a:alpha val="100000"/>
                    </a:srgbClr>
                  </a:gs>
                  <a:gs pos="100000">
                    <a:srgbClr val="FFFFFF">
                      <a:alpha val="0"/>
                    </a:srgbClr>
                  </a:gs>
                </a:gsLst>
                <a:lin ang="0"/>
              </a:gradFill>
            </p:spPr>
          </p:sp>
          <p:sp>
            <p:nvSpPr>
              <p:cNvPr name="TextBox 36" id="36"/>
              <p:cNvSpPr txBox="true"/>
              <p:nvPr/>
            </p:nvSpPr>
            <p:spPr>
              <a:xfrm>
                <a:off x="0" y="28575"/>
                <a:ext cx="1280731" cy="212308"/>
              </a:xfrm>
              <a:prstGeom prst="rect">
                <a:avLst/>
              </a:prstGeom>
            </p:spPr>
            <p:txBody>
              <a:bodyPr anchor="ctr" rtlCol="false" tIns="42145" lIns="42145" bIns="42145" rIns="42145"/>
              <a:lstStyle/>
              <a:p>
                <a:pPr algn="ctr">
                  <a:lnSpc>
                    <a:spcPts val="1919"/>
                  </a:lnSpc>
                </a:pPr>
              </a:p>
            </p:txBody>
          </p:sp>
        </p:grpSp>
        <p:grpSp>
          <p:nvGrpSpPr>
            <p:cNvPr name="Group 37" id="37"/>
            <p:cNvGrpSpPr/>
            <p:nvPr/>
          </p:nvGrpSpPr>
          <p:grpSpPr>
            <a:xfrm rot="0">
              <a:off x="0" y="0"/>
              <a:ext cx="299496" cy="2715768"/>
              <a:chOff x="0" y="0"/>
              <a:chExt cx="46219" cy="419100"/>
            </a:xfrm>
          </p:grpSpPr>
          <p:sp>
            <p:nvSpPr>
              <p:cNvPr name="Freeform 38" id="38"/>
              <p:cNvSpPr/>
              <p:nvPr/>
            </p:nvSpPr>
            <p:spPr>
              <a:xfrm flipH="false" flipV="false" rot="0">
                <a:off x="0" y="0"/>
                <a:ext cx="46219" cy="419100"/>
              </a:xfrm>
              <a:custGeom>
                <a:avLst/>
                <a:gdLst/>
                <a:ahLst/>
                <a:cxnLst/>
                <a:rect r="r" b="b" t="t" l="l"/>
                <a:pathLst>
                  <a:path h="419100" w="46219">
                    <a:moveTo>
                      <a:pt x="23109" y="0"/>
                    </a:moveTo>
                    <a:lnTo>
                      <a:pt x="23109" y="0"/>
                    </a:lnTo>
                    <a:cubicBezTo>
                      <a:pt x="29238" y="0"/>
                      <a:pt x="35116" y="2435"/>
                      <a:pt x="39450" y="6769"/>
                    </a:cubicBezTo>
                    <a:cubicBezTo>
                      <a:pt x="43784" y="11102"/>
                      <a:pt x="46219" y="16980"/>
                      <a:pt x="46219" y="23109"/>
                    </a:cubicBezTo>
                    <a:lnTo>
                      <a:pt x="46219" y="395991"/>
                    </a:lnTo>
                    <a:cubicBezTo>
                      <a:pt x="46219" y="402120"/>
                      <a:pt x="43784" y="407998"/>
                      <a:pt x="39450" y="412331"/>
                    </a:cubicBezTo>
                    <a:cubicBezTo>
                      <a:pt x="35116" y="416665"/>
                      <a:pt x="29238" y="419100"/>
                      <a:pt x="23109" y="419100"/>
                    </a:cubicBezTo>
                    <a:lnTo>
                      <a:pt x="23109" y="419100"/>
                    </a:lnTo>
                    <a:cubicBezTo>
                      <a:pt x="16980" y="419100"/>
                      <a:pt x="11102" y="416665"/>
                      <a:pt x="6769" y="412331"/>
                    </a:cubicBezTo>
                    <a:cubicBezTo>
                      <a:pt x="2435" y="407998"/>
                      <a:pt x="0" y="402120"/>
                      <a:pt x="0" y="395991"/>
                    </a:cubicBezTo>
                    <a:lnTo>
                      <a:pt x="0" y="23109"/>
                    </a:lnTo>
                    <a:cubicBezTo>
                      <a:pt x="0" y="16980"/>
                      <a:pt x="2435" y="11102"/>
                      <a:pt x="6769" y="6769"/>
                    </a:cubicBezTo>
                    <a:cubicBezTo>
                      <a:pt x="11102" y="2435"/>
                      <a:pt x="16980" y="0"/>
                      <a:pt x="23109" y="0"/>
                    </a:cubicBezTo>
                    <a:close/>
                  </a:path>
                </a:pathLst>
              </a:custGeom>
              <a:solidFill>
                <a:srgbClr val="6E3125"/>
              </a:solidFill>
            </p:spPr>
          </p:sp>
          <p:sp>
            <p:nvSpPr>
              <p:cNvPr name="TextBox 39" id="39"/>
              <p:cNvSpPr txBox="true"/>
              <p:nvPr/>
            </p:nvSpPr>
            <p:spPr>
              <a:xfrm>
                <a:off x="0" y="28575"/>
                <a:ext cx="46219" cy="390525"/>
              </a:xfrm>
              <a:prstGeom prst="rect">
                <a:avLst/>
              </a:prstGeom>
            </p:spPr>
            <p:txBody>
              <a:bodyPr anchor="ctr" rtlCol="false" tIns="50800" lIns="50800" bIns="50800" rIns="50800"/>
              <a:lstStyle/>
              <a:p>
                <a:pPr algn="ctr">
                  <a:lnSpc>
                    <a:spcPts val="1919"/>
                  </a:lnSpc>
                </a:pPr>
              </a:p>
            </p:txBody>
          </p:sp>
        </p:grpSp>
        <p:sp>
          <p:nvSpPr>
            <p:cNvPr name="TextBox 40" id="40"/>
            <p:cNvSpPr txBox="true"/>
            <p:nvPr/>
          </p:nvSpPr>
          <p:spPr>
            <a:xfrm rot="0">
              <a:off x="638754" y="233373"/>
              <a:ext cx="13233272" cy="2244429"/>
            </a:xfrm>
            <a:prstGeom prst="rect">
              <a:avLst/>
            </a:prstGeom>
          </p:spPr>
          <p:txBody>
            <a:bodyPr anchor="t" rtlCol="false" tIns="0" lIns="0" bIns="0" rIns="0">
              <a:spAutoFit/>
            </a:bodyPr>
            <a:lstStyle/>
            <a:p>
              <a:pPr algn="l">
                <a:lnSpc>
                  <a:spcPts val="4324"/>
                </a:lnSpc>
              </a:pPr>
              <a:r>
                <a:rPr lang="en-US" sz="4041" b="true">
                  <a:solidFill>
                    <a:srgbClr val="6E3125"/>
                  </a:solidFill>
                  <a:latin typeface="Poppins Heavy"/>
                  <a:ea typeface="Poppins Heavy"/>
                  <a:cs typeface="Poppins Heavy"/>
                  <a:sym typeface="Poppins Heavy"/>
                </a:rPr>
                <a:t>What</a:t>
              </a:r>
              <a:r>
                <a:rPr lang="en-US" sz="4041" b="true">
                  <a:solidFill>
                    <a:srgbClr val="6E3125"/>
                  </a:solidFill>
                  <a:latin typeface="Poppins Heavy"/>
                  <a:ea typeface="Poppins Heavy"/>
                  <a:cs typeface="Poppins Heavy"/>
                  <a:sym typeface="Poppins Heavy"/>
                </a:rPr>
                <a:t> would you have done if you were the person who gave that suggestion?</a:t>
              </a:r>
            </a:p>
          </p:txBody>
        </p:sp>
      </p:gr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271343" y="1105777"/>
            <a:ext cx="7487927" cy="1140886"/>
            <a:chOff x="0" y="0"/>
            <a:chExt cx="605413" cy="92243"/>
          </a:xfrm>
        </p:grpSpPr>
        <p:sp>
          <p:nvSpPr>
            <p:cNvPr name="Freeform 16" id="16"/>
            <p:cNvSpPr/>
            <p:nvPr/>
          </p:nvSpPr>
          <p:spPr>
            <a:xfrm flipH="false" flipV="false" rot="0">
              <a:off x="0" y="0"/>
              <a:ext cx="605413" cy="92243"/>
            </a:xfrm>
            <a:custGeom>
              <a:avLst/>
              <a:gdLst/>
              <a:ahLst/>
              <a:cxnLst/>
              <a:rect r="r" b="b" t="t" l="l"/>
              <a:pathLst>
                <a:path h="92243" w="605413">
                  <a:moveTo>
                    <a:pt x="46121" y="0"/>
                  </a:moveTo>
                  <a:lnTo>
                    <a:pt x="559292" y="0"/>
                  </a:lnTo>
                  <a:cubicBezTo>
                    <a:pt x="571524" y="0"/>
                    <a:pt x="583255" y="4859"/>
                    <a:pt x="591905" y="13509"/>
                  </a:cubicBezTo>
                  <a:cubicBezTo>
                    <a:pt x="600554" y="22158"/>
                    <a:pt x="605413" y="33889"/>
                    <a:pt x="605413" y="46121"/>
                  </a:cubicBezTo>
                  <a:lnTo>
                    <a:pt x="605413" y="46121"/>
                  </a:lnTo>
                  <a:cubicBezTo>
                    <a:pt x="605413" y="58354"/>
                    <a:pt x="600554" y="70085"/>
                    <a:pt x="591905" y="78734"/>
                  </a:cubicBezTo>
                  <a:cubicBezTo>
                    <a:pt x="583255" y="87384"/>
                    <a:pt x="571524" y="92243"/>
                    <a:pt x="559292" y="92243"/>
                  </a:cubicBezTo>
                  <a:lnTo>
                    <a:pt x="46121" y="92243"/>
                  </a:lnTo>
                  <a:cubicBezTo>
                    <a:pt x="33889" y="92243"/>
                    <a:pt x="22158" y="87384"/>
                    <a:pt x="13509" y="78734"/>
                  </a:cubicBezTo>
                  <a:cubicBezTo>
                    <a:pt x="4859" y="70085"/>
                    <a:pt x="0" y="58354"/>
                    <a:pt x="0" y="46121"/>
                  </a:cubicBezTo>
                  <a:lnTo>
                    <a:pt x="0" y="46121"/>
                  </a:lnTo>
                  <a:cubicBezTo>
                    <a:pt x="0" y="33889"/>
                    <a:pt x="4859" y="22158"/>
                    <a:pt x="13509" y="13509"/>
                  </a:cubicBezTo>
                  <a:cubicBezTo>
                    <a:pt x="22158" y="4859"/>
                    <a:pt x="33889" y="0"/>
                    <a:pt x="46121" y="0"/>
                  </a:cubicBezTo>
                  <a:close/>
                </a:path>
              </a:pathLst>
            </a:custGeom>
            <a:gradFill rotWithShape="true">
              <a:gsLst>
                <a:gs pos="0">
                  <a:srgbClr val="85200C">
                    <a:alpha val="100000"/>
                  </a:srgbClr>
                </a:gs>
                <a:gs pos="100000">
                  <a:srgbClr val="DC4B0F">
                    <a:alpha val="100000"/>
                  </a:srgbClr>
                </a:gs>
              </a:gsLst>
              <a:lin ang="0"/>
            </a:gradFill>
          </p:spPr>
        </p:sp>
        <p:sp>
          <p:nvSpPr>
            <p:cNvPr name="TextBox 17" id="17"/>
            <p:cNvSpPr txBox="true"/>
            <p:nvPr/>
          </p:nvSpPr>
          <p:spPr>
            <a:xfrm>
              <a:off x="0" y="28575"/>
              <a:ext cx="605413" cy="63668"/>
            </a:xfrm>
            <a:prstGeom prst="rect">
              <a:avLst/>
            </a:prstGeom>
          </p:spPr>
          <p:txBody>
            <a:bodyPr anchor="ctr" rtlCol="false" tIns="50800" lIns="50800" bIns="50800" rIns="50800"/>
            <a:lstStyle/>
            <a:p>
              <a:pPr algn="ctr">
                <a:lnSpc>
                  <a:spcPts val="1919"/>
                </a:lnSpc>
              </a:pPr>
            </a:p>
          </p:txBody>
        </p:sp>
      </p:grpSp>
      <p:grpSp>
        <p:nvGrpSpPr>
          <p:cNvPr name="Group 18" id="18"/>
          <p:cNvGrpSpPr/>
          <p:nvPr/>
        </p:nvGrpSpPr>
        <p:grpSpPr>
          <a:xfrm rot="0">
            <a:off x="2051027" y="2707540"/>
            <a:ext cx="14046712" cy="2529242"/>
            <a:chOff x="0" y="0"/>
            <a:chExt cx="18728950" cy="3372323"/>
          </a:xfrm>
        </p:grpSpPr>
        <p:grpSp>
          <p:nvGrpSpPr>
            <p:cNvPr name="Group 19" id="19"/>
            <p:cNvGrpSpPr/>
            <p:nvPr/>
          </p:nvGrpSpPr>
          <p:grpSpPr>
            <a:xfrm rot="0">
              <a:off x="0" y="0"/>
              <a:ext cx="18728950" cy="3372323"/>
              <a:chOff x="0" y="0"/>
              <a:chExt cx="1135704" cy="204494"/>
            </a:xfrm>
          </p:grpSpPr>
          <p:sp>
            <p:nvSpPr>
              <p:cNvPr name="Freeform 20" id="20"/>
              <p:cNvSpPr/>
              <p:nvPr/>
            </p:nvSpPr>
            <p:spPr>
              <a:xfrm flipH="false" flipV="false" rot="0">
                <a:off x="0" y="0"/>
                <a:ext cx="1135704" cy="204494"/>
              </a:xfrm>
              <a:custGeom>
                <a:avLst/>
                <a:gdLst/>
                <a:ahLst/>
                <a:cxnLst/>
                <a:rect r="r" b="b" t="t" l="l"/>
                <a:pathLst>
                  <a:path h="204494" w="1135704">
                    <a:moveTo>
                      <a:pt x="42628" y="0"/>
                    </a:moveTo>
                    <a:lnTo>
                      <a:pt x="1093075" y="0"/>
                    </a:lnTo>
                    <a:cubicBezTo>
                      <a:pt x="1104381" y="0"/>
                      <a:pt x="1115224" y="4491"/>
                      <a:pt x="1123218" y="12486"/>
                    </a:cubicBezTo>
                    <a:cubicBezTo>
                      <a:pt x="1131212" y="20480"/>
                      <a:pt x="1135704" y="31323"/>
                      <a:pt x="1135704" y="42628"/>
                    </a:cubicBezTo>
                    <a:lnTo>
                      <a:pt x="1135704" y="161866"/>
                    </a:lnTo>
                    <a:cubicBezTo>
                      <a:pt x="1135704" y="173171"/>
                      <a:pt x="1131212" y="184014"/>
                      <a:pt x="1123218" y="192009"/>
                    </a:cubicBezTo>
                    <a:cubicBezTo>
                      <a:pt x="1115224" y="200003"/>
                      <a:pt x="1104381" y="204494"/>
                      <a:pt x="1093075" y="204494"/>
                    </a:cubicBezTo>
                    <a:lnTo>
                      <a:pt x="42628" y="204494"/>
                    </a:lnTo>
                    <a:cubicBezTo>
                      <a:pt x="31323" y="204494"/>
                      <a:pt x="20480" y="200003"/>
                      <a:pt x="12486" y="192009"/>
                    </a:cubicBezTo>
                    <a:cubicBezTo>
                      <a:pt x="4491" y="184014"/>
                      <a:pt x="0" y="173171"/>
                      <a:pt x="0" y="161866"/>
                    </a:cubicBezTo>
                    <a:lnTo>
                      <a:pt x="0" y="42628"/>
                    </a:lnTo>
                    <a:cubicBezTo>
                      <a:pt x="0" y="31323"/>
                      <a:pt x="4491" y="20480"/>
                      <a:pt x="12486" y="12486"/>
                    </a:cubicBezTo>
                    <a:cubicBezTo>
                      <a:pt x="20480" y="4491"/>
                      <a:pt x="31323" y="0"/>
                      <a:pt x="42628" y="0"/>
                    </a:cubicBezTo>
                    <a:close/>
                  </a:path>
                </a:pathLst>
              </a:custGeom>
              <a:gradFill rotWithShape="true">
                <a:gsLst>
                  <a:gs pos="0">
                    <a:srgbClr val="85200C">
                      <a:alpha val="30000"/>
                    </a:srgbClr>
                  </a:gs>
                  <a:gs pos="100000">
                    <a:srgbClr val="DC4B0F">
                      <a:alpha val="100000"/>
                    </a:srgbClr>
                  </a:gs>
                </a:gsLst>
                <a:lin ang="0"/>
              </a:gradFill>
            </p:spPr>
          </p:sp>
          <p:sp>
            <p:nvSpPr>
              <p:cNvPr name="TextBox 21" id="21"/>
              <p:cNvSpPr txBox="true"/>
              <p:nvPr/>
            </p:nvSpPr>
            <p:spPr>
              <a:xfrm>
                <a:off x="0" y="28575"/>
                <a:ext cx="1135704" cy="175919"/>
              </a:xfrm>
              <a:prstGeom prst="rect">
                <a:avLst/>
              </a:prstGeom>
            </p:spPr>
            <p:txBody>
              <a:bodyPr anchor="ctr" rtlCol="false" tIns="50800" lIns="50800" bIns="50800" rIns="50800"/>
              <a:lstStyle/>
              <a:p>
                <a:pPr algn="ctr">
                  <a:lnSpc>
                    <a:spcPts val="1919"/>
                  </a:lnSpc>
                </a:pPr>
              </a:p>
            </p:txBody>
          </p:sp>
        </p:grpSp>
        <p:sp>
          <p:nvSpPr>
            <p:cNvPr name="TextBox 22" id="22"/>
            <p:cNvSpPr txBox="true"/>
            <p:nvPr/>
          </p:nvSpPr>
          <p:spPr>
            <a:xfrm rot="0">
              <a:off x="558221" y="522043"/>
              <a:ext cx="17739037" cy="2290137"/>
            </a:xfrm>
            <a:prstGeom prst="rect">
              <a:avLst/>
            </a:prstGeom>
          </p:spPr>
          <p:txBody>
            <a:bodyPr anchor="t" rtlCol="false" tIns="0" lIns="0" bIns="0" rIns="0">
              <a:spAutoFit/>
            </a:bodyPr>
            <a:lstStyle/>
            <a:p>
              <a:pPr algn="ctr">
                <a:lnSpc>
                  <a:spcPts val="3227"/>
                </a:lnSpc>
              </a:pPr>
              <a:r>
                <a:rPr lang="en-US" sz="3397" b="true">
                  <a:solidFill>
                    <a:srgbClr val="FFFFFF"/>
                  </a:solidFill>
                  <a:latin typeface="Poppins Semi-Bold"/>
                  <a:ea typeface="Poppins Semi-Bold"/>
                  <a:cs typeface="Poppins Semi-Bold"/>
                  <a:sym typeface="Poppins Semi-Bold"/>
                </a:rPr>
                <a:t>Leo read Grace’s draft in week 8 and messaged her directly. He quoted the specific line from the rubric her paragraph missed, offered two ways to fix it, and said her opening was the strongest framing anyone had written.</a:t>
              </a:r>
            </a:p>
          </p:txBody>
        </p:sp>
      </p:grpSp>
      <p:grpSp>
        <p:nvGrpSpPr>
          <p:cNvPr name="Group 23" id="23"/>
          <p:cNvGrpSpPr/>
          <p:nvPr/>
        </p:nvGrpSpPr>
        <p:grpSpPr>
          <a:xfrm rot="0">
            <a:off x="2086942" y="5524148"/>
            <a:ext cx="6705133" cy="2864363"/>
            <a:chOff x="0" y="0"/>
            <a:chExt cx="542123" cy="231589"/>
          </a:xfrm>
        </p:grpSpPr>
        <p:sp>
          <p:nvSpPr>
            <p:cNvPr name="Freeform 24" id="24"/>
            <p:cNvSpPr/>
            <p:nvPr/>
          </p:nvSpPr>
          <p:spPr>
            <a:xfrm flipH="false" flipV="false" rot="0">
              <a:off x="0" y="0"/>
              <a:ext cx="542123" cy="231589"/>
            </a:xfrm>
            <a:custGeom>
              <a:avLst/>
              <a:gdLst/>
              <a:ahLst/>
              <a:cxnLst/>
              <a:rect r="r" b="b" t="t" l="l"/>
              <a:pathLst>
                <a:path h="231589" w="542123">
                  <a:moveTo>
                    <a:pt x="68556" y="0"/>
                  </a:moveTo>
                  <a:lnTo>
                    <a:pt x="473567" y="0"/>
                  </a:lnTo>
                  <a:cubicBezTo>
                    <a:pt x="511429" y="0"/>
                    <a:pt x="542123" y="30694"/>
                    <a:pt x="542123" y="68556"/>
                  </a:cubicBezTo>
                  <a:lnTo>
                    <a:pt x="542123" y="163033"/>
                  </a:lnTo>
                  <a:cubicBezTo>
                    <a:pt x="542123" y="181215"/>
                    <a:pt x="534900" y="198653"/>
                    <a:pt x="522043" y="211510"/>
                  </a:cubicBezTo>
                  <a:cubicBezTo>
                    <a:pt x="509187" y="224366"/>
                    <a:pt x="491749" y="231589"/>
                    <a:pt x="473567" y="231589"/>
                  </a:cubicBezTo>
                  <a:lnTo>
                    <a:pt x="68556" y="231589"/>
                  </a:lnTo>
                  <a:cubicBezTo>
                    <a:pt x="50374" y="231589"/>
                    <a:pt x="32936" y="224366"/>
                    <a:pt x="20080" y="211510"/>
                  </a:cubicBezTo>
                  <a:cubicBezTo>
                    <a:pt x="7223" y="198653"/>
                    <a:pt x="0" y="181215"/>
                    <a:pt x="0" y="163033"/>
                  </a:cubicBezTo>
                  <a:lnTo>
                    <a:pt x="0" y="68556"/>
                  </a:lnTo>
                  <a:cubicBezTo>
                    <a:pt x="0" y="50374"/>
                    <a:pt x="7223" y="32936"/>
                    <a:pt x="20080" y="20080"/>
                  </a:cubicBezTo>
                  <a:cubicBezTo>
                    <a:pt x="32936" y="7223"/>
                    <a:pt x="50374" y="0"/>
                    <a:pt x="68556" y="0"/>
                  </a:cubicBezTo>
                  <a:close/>
                </a:path>
              </a:pathLst>
            </a:custGeom>
            <a:gradFill rotWithShape="true">
              <a:gsLst>
                <a:gs pos="0">
                  <a:srgbClr val="85200C">
                    <a:alpha val="30000"/>
                  </a:srgbClr>
                </a:gs>
                <a:gs pos="100000">
                  <a:srgbClr val="940000">
                    <a:alpha val="100000"/>
                  </a:srgbClr>
                </a:gs>
              </a:gsLst>
              <a:lin ang="0"/>
            </a:gradFill>
          </p:spPr>
        </p:sp>
        <p:sp>
          <p:nvSpPr>
            <p:cNvPr name="TextBox 25" id="25"/>
            <p:cNvSpPr txBox="true"/>
            <p:nvPr/>
          </p:nvSpPr>
          <p:spPr>
            <a:xfrm>
              <a:off x="0" y="28575"/>
              <a:ext cx="542123" cy="203014"/>
            </a:xfrm>
            <a:prstGeom prst="rect">
              <a:avLst/>
            </a:prstGeom>
          </p:spPr>
          <p:txBody>
            <a:bodyPr anchor="ctr" rtlCol="false" tIns="50800" lIns="50800" bIns="50800" rIns="50800"/>
            <a:lstStyle/>
            <a:p>
              <a:pPr algn="ctr">
                <a:lnSpc>
                  <a:spcPts val="1919"/>
                </a:lnSpc>
              </a:pPr>
            </a:p>
          </p:txBody>
        </p:sp>
      </p:grpSp>
      <p:grpSp>
        <p:nvGrpSpPr>
          <p:cNvPr name="Group 26" id="26"/>
          <p:cNvGrpSpPr/>
          <p:nvPr/>
        </p:nvGrpSpPr>
        <p:grpSpPr>
          <a:xfrm rot="0">
            <a:off x="9036459" y="5554638"/>
            <a:ext cx="6857760" cy="2864363"/>
            <a:chOff x="0" y="0"/>
            <a:chExt cx="9143680" cy="3819150"/>
          </a:xfrm>
        </p:grpSpPr>
        <p:grpSp>
          <p:nvGrpSpPr>
            <p:cNvPr name="Group 27" id="27"/>
            <p:cNvGrpSpPr/>
            <p:nvPr/>
          </p:nvGrpSpPr>
          <p:grpSpPr>
            <a:xfrm rot="0">
              <a:off x="50565" y="0"/>
              <a:ext cx="8869518" cy="3819150"/>
              <a:chOff x="0" y="0"/>
              <a:chExt cx="537838" cy="231589"/>
            </a:xfrm>
          </p:grpSpPr>
          <p:sp>
            <p:nvSpPr>
              <p:cNvPr name="Freeform 28" id="28"/>
              <p:cNvSpPr/>
              <p:nvPr/>
            </p:nvSpPr>
            <p:spPr>
              <a:xfrm flipH="false" flipV="false" rot="0">
                <a:off x="0" y="0"/>
                <a:ext cx="537838" cy="231589"/>
              </a:xfrm>
              <a:custGeom>
                <a:avLst/>
                <a:gdLst/>
                <a:ahLst/>
                <a:cxnLst/>
                <a:rect r="r" b="b" t="t" l="l"/>
                <a:pathLst>
                  <a:path h="231589" w="537838">
                    <a:moveTo>
                      <a:pt x="35130" y="0"/>
                    </a:moveTo>
                    <a:lnTo>
                      <a:pt x="502708" y="0"/>
                    </a:lnTo>
                    <a:cubicBezTo>
                      <a:pt x="512025" y="0"/>
                      <a:pt x="520961" y="3701"/>
                      <a:pt x="527549" y="10289"/>
                    </a:cubicBezTo>
                    <a:cubicBezTo>
                      <a:pt x="534137" y="16878"/>
                      <a:pt x="537838" y="25813"/>
                      <a:pt x="537838" y="35130"/>
                    </a:cubicBezTo>
                    <a:lnTo>
                      <a:pt x="537838" y="196459"/>
                    </a:lnTo>
                    <a:cubicBezTo>
                      <a:pt x="537838" y="205776"/>
                      <a:pt x="534137" y="214712"/>
                      <a:pt x="527549" y="221300"/>
                    </a:cubicBezTo>
                    <a:cubicBezTo>
                      <a:pt x="520961" y="227888"/>
                      <a:pt x="512025" y="231589"/>
                      <a:pt x="502708" y="231589"/>
                    </a:cubicBezTo>
                    <a:lnTo>
                      <a:pt x="35130" y="231589"/>
                    </a:lnTo>
                    <a:cubicBezTo>
                      <a:pt x="25813" y="231589"/>
                      <a:pt x="16878" y="227888"/>
                      <a:pt x="10289" y="221300"/>
                    </a:cubicBezTo>
                    <a:cubicBezTo>
                      <a:pt x="3701" y="214712"/>
                      <a:pt x="0" y="205776"/>
                      <a:pt x="0" y="196459"/>
                    </a:cubicBezTo>
                    <a:lnTo>
                      <a:pt x="0" y="35130"/>
                    </a:lnTo>
                    <a:cubicBezTo>
                      <a:pt x="0" y="25813"/>
                      <a:pt x="3701" y="16878"/>
                      <a:pt x="10289" y="10289"/>
                    </a:cubicBezTo>
                    <a:cubicBezTo>
                      <a:pt x="16878" y="3701"/>
                      <a:pt x="25813" y="0"/>
                      <a:pt x="35130" y="0"/>
                    </a:cubicBezTo>
                    <a:close/>
                  </a:path>
                </a:pathLst>
              </a:custGeom>
              <a:gradFill rotWithShape="true">
                <a:gsLst>
                  <a:gs pos="0">
                    <a:srgbClr val="85200C">
                      <a:alpha val="30000"/>
                    </a:srgbClr>
                  </a:gs>
                  <a:gs pos="100000">
                    <a:srgbClr val="008601">
                      <a:alpha val="100000"/>
                    </a:srgbClr>
                  </a:gs>
                </a:gsLst>
                <a:lin ang="0"/>
              </a:gradFill>
            </p:spPr>
          </p:sp>
          <p:sp>
            <p:nvSpPr>
              <p:cNvPr name="TextBox 29" id="29"/>
              <p:cNvSpPr txBox="true"/>
              <p:nvPr/>
            </p:nvSpPr>
            <p:spPr>
              <a:xfrm>
                <a:off x="0" y="28575"/>
                <a:ext cx="537838" cy="203014"/>
              </a:xfrm>
              <a:prstGeom prst="rect">
                <a:avLst/>
              </a:prstGeom>
            </p:spPr>
            <p:txBody>
              <a:bodyPr anchor="ctr" rtlCol="false" tIns="99925" lIns="99925" bIns="99925" rIns="99925"/>
              <a:lstStyle/>
              <a:p>
                <a:pPr algn="ctr">
                  <a:lnSpc>
                    <a:spcPts val="1919"/>
                  </a:lnSpc>
                </a:pPr>
              </a:p>
            </p:txBody>
          </p:sp>
        </p:grpSp>
        <p:sp>
          <p:nvSpPr>
            <p:cNvPr name="TextBox 30" id="30"/>
            <p:cNvSpPr txBox="true"/>
            <p:nvPr/>
          </p:nvSpPr>
          <p:spPr>
            <a:xfrm rot="0">
              <a:off x="0" y="656138"/>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GreenFlag</a:t>
              </a:r>
            </a:p>
          </p:txBody>
        </p:sp>
        <p:sp>
          <p:nvSpPr>
            <p:cNvPr name="TextBox 31" id="31"/>
            <p:cNvSpPr txBox="true"/>
            <p:nvPr/>
          </p:nvSpPr>
          <p:spPr>
            <a:xfrm rot="0">
              <a:off x="415950" y="506572"/>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Green Flag</a:t>
              </a:r>
            </a:p>
          </p:txBody>
        </p:sp>
      </p:grpSp>
      <p:sp>
        <p:nvSpPr>
          <p:cNvPr name="TextBox 32" id="32"/>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17</a:t>
            </a:r>
          </a:p>
        </p:txBody>
      </p:sp>
      <p:sp>
        <p:nvSpPr>
          <p:cNvPr name="TextBox 33" id="33"/>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34" id="34"/>
          <p:cNvSpPr txBox="true"/>
          <p:nvPr/>
        </p:nvSpPr>
        <p:spPr>
          <a:xfrm rot="0">
            <a:off x="415994" y="1409082"/>
            <a:ext cx="5981225" cy="591425"/>
          </a:xfrm>
          <a:prstGeom prst="rect">
            <a:avLst/>
          </a:prstGeom>
        </p:spPr>
        <p:txBody>
          <a:bodyPr anchor="t" rtlCol="false" tIns="0" lIns="0" bIns="0" rIns="0">
            <a:spAutoFit/>
          </a:bodyPr>
          <a:lstStyle/>
          <a:p>
            <a:pPr algn="l">
              <a:lnSpc>
                <a:spcPts val="4119"/>
              </a:lnSpc>
            </a:pPr>
            <a:r>
              <a:rPr lang="en-US" sz="4336" b="true">
                <a:solidFill>
                  <a:srgbClr val="FFFFFF"/>
                </a:solidFill>
                <a:latin typeface="Poppins Heavy"/>
                <a:ea typeface="Poppins Heavy"/>
                <a:cs typeface="Poppins Heavy"/>
                <a:sym typeface="Poppins Heavy"/>
              </a:rPr>
              <a:t>SCENARIO 6: LEO </a:t>
            </a:r>
          </a:p>
        </p:txBody>
      </p:sp>
      <p:grpSp>
        <p:nvGrpSpPr>
          <p:cNvPr name="Group 35" id="35"/>
          <p:cNvGrpSpPr/>
          <p:nvPr/>
        </p:nvGrpSpPr>
        <p:grpSpPr>
          <a:xfrm rot="0">
            <a:off x="2001030" y="6106016"/>
            <a:ext cx="6857760" cy="1869997"/>
            <a:chOff x="0" y="0"/>
            <a:chExt cx="9143680" cy="2493329"/>
          </a:xfrm>
        </p:grpSpPr>
        <p:sp>
          <p:nvSpPr>
            <p:cNvPr name="TextBox 36" id="36"/>
            <p:cNvSpPr txBox="true"/>
            <p:nvPr/>
          </p:nvSpPr>
          <p:spPr>
            <a:xfrm rot="0">
              <a:off x="0" y="-79033"/>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Red Flag</a:t>
              </a:r>
            </a:p>
          </p:txBody>
        </p:sp>
        <p:sp>
          <p:nvSpPr>
            <p:cNvPr name="TextBox 37" id="37"/>
            <p:cNvSpPr txBox="true"/>
            <p:nvPr/>
          </p:nvSpPr>
          <p:spPr>
            <a:xfrm rot="0">
              <a:off x="415950" y="-228600"/>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Red Flag</a:t>
              </a:r>
            </a:p>
          </p:txBody>
        </p:sp>
      </p:gr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761809" y="1287870"/>
            <a:ext cx="15278418" cy="1758535"/>
            <a:chOff x="0" y="0"/>
            <a:chExt cx="20371224" cy="2344713"/>
          </a:xfrm>
        </p:grpSpPr>
        <p:grpSp>
          <p:nvGrpSpPr>
            <p:cNvPr name="Group 16" id="16"/>
            <p:cNvGrpSpPr/>
            <p:nvPr/>
          </p:nvGrpSpPr>
          <p:grpSpPr>
            <a:xfrm rot="0">
              <a:off x="0" y="0"/>
              <a:ext cx="20371224" cy="2344713"/>
              <a:chOff x="0" y="0"/>
              <a:chExt cx="1488968" cy="171379"/>
            </a:xfrm>
          </p:grpSpPr>
          <p:sp>
            <p:nvSpPr>
              <p:cNvPr name="Freeform 17" id="17"/>
              <p:cNvSpPr/>
              <p:nvPr/>
            </p:nvSpPr>
            <p:spPr>
              <a:xfrm flipH="false" flipV="false" rot="0">
                <a:off x="0" y="0"/>
                <a:ext cx="1488968" cy="171379"/>
              </a:xfrm>
              <a:custGeom>
                <a:avLst/>
                <a:gdLst/>
                <a:ahLst/>
                <a:cxnLst/>
                <a:rect r="r" b="b" t="t" l="l"/>
                <a:pathLst>
                  <a:path h="171379" w="1488968">
                    <a:moveTo>
                      <a:pt x="32515" y="0"/>
                    </a:moveTo>
                    <a:lnTo>
                      <a:pt x="1456454" y="0"/>
                    </a:lnTo>
                    <a:cubicBezTo>
                      <a:pt x="1465077" y="0"/>
                      <a:pt x="1473347" y="3426"/>
                      <a:pt x="1479445" y="9523"/>
                    </a:cubicBezTo>
                    <a:cubicBezTo>
                      <a:pt x="1485543" y="15621"/>
                      <a:pt x="1488968" y="23891"/>
                      <a:pt x="1488968" y="32515"/>
                    </a:cubicBezTo>
                    <a:lnTo>
                      <a:pt x="1488968" y="138865"/>
                    </a:lnTo>
                    <a:cubicBezTo>
                      <a:pt x="1488968" y="156822"/>
                      <a:pt x="1474411" y="171379"/>
                      <a:pt x="1456454" y="171379"/>
                    </a:cubicBezTo>
                    <a:lnTo>
                      <a:pt x="32515" y="171379"/>
                    </a:lnTo>
                    <a:cubicBezTo>
                      <a:pt x="14557" y="171379"/>
                      <a:pt x="0" y="156822"/>
                      <a:pt x="0" y="138865"/>
                    </a:cubicBezTo>
                    <a:lnTo>
                      <a:pt x="0" y="32515"/>
                    </a:lnTo>
                    <a:cubicBezTo>
                      <a:pt x="0" y="23891"/>
                      <a:pt x="3426" y="15621"/>
                      <a:pt x="9523" y="9523"/>
                    </a:cubicBezTo>
                    <a:cubicBezTo>
                      <a:pt x="15621" y="3426"/>
                      <a:pt x="23891" y="0"/>
                      <a:pt x="32515" y="0"/>
                    </a:cubicBezTo>
                    <a:close/>
                  </a:path>
                </a:pathLst>
              </a:custGeom>
              <a:gradFill rotWithShape="true">
                <a:gsLst>
                  <a:gs pos="0">
                    <a:srgbClr val="85200C">
                      <a:alpha val="100000"/>
                    </a:srgbClr>
                  </a:gs>
                  <a:gs pos="100000">
                    <a:srgbClr val="DC4B0F">
                      <a:alpha val="100000"/>
                    </a:srgbClr>
                  </a:gs>
                </a:gsLst>
                <a:lin ang="0"/>
              </a:gradFill>
            </p:spPr>
          </p:sp>
          <p:sp>
            <p:nvSpPr>
              <p:cNvPr name="TextBox 18" id="18"/>
              <p:cNvSpPr txBox="true"/>
              <p:nvPr/>
            </p:nvSpPr>
            <p:spPr>
              <a:xfrm>
                <a:off x="0" y="28575"/>
                <a:ext cx="1488968" cy="142804"/>
              </a:xfrm>
              <a:prstGeom prst="rect">
                <a:avLst/>
              </a:prstGeom>
            </p:spPr>
            <p:txBody>
              <a:bodyPr anchor="ctr" rtlCol="false" tIns="50800" lIns="50800" bIns="50800" rIns="50800"/>
              <a:lstStyle/>
              <a:p>
                <a:pPr algn="ctr">
                  <a:lnSpc>
                    <a:spcPts val="1919"/>
                  </a:lnSpc>
                </a:pPr>
              </a:p>
            </p:txBody>
          </p:sp>
        </p:grpSp>
        <p:sp>
          <p:nvSpPr>
            <p:cNvPr name="TextBox 19" id="19"/>
            <p:cNvSpPr txBox="true"/>
            <p:nvPr/>
          </p:nvSpPr>
          <p:spPr>
            <a:xfrm rot="0">
              <a:off x="607170" y="439593"/>
              <a:ext cx="19294509" cy="1440410"/>
            </a:xfrm>
            <a:prstGeom prst="rect">
              <a:avLst/>
            </a:prstGeom>
          </p:spPr>
          <p:txBody>
            <a:bodyPr anchor="t" rtlCol="false" tIns="0" lIns="0" bIns="0" rIns="0">
              <a:spAutoFit/>
            </a:bodyPr>
            <a:lstStyle/>
            <a:p>
              <a:pPr algn="ctr">
                <a:lnSpc>
                  <a:spcPts val="2677"/>
                </a:lnSpc>
              </a:pPr>
              <a:r>
                <a:rPr lang="en-US" sz="2818" b="true">
                  <a:solidFill>
                    <a:srgbClr val="FFFFFF"/>
                  </a:solidFill>
                  <a:latin typeface="Poppins Semi-Bold"/>
                  <a:ea typeface="Poppins Semi-Bold"/>
                  <a:cs typeface="Poppins Semi-Bold"/>
                  <a:sym typeface="Poppins Semi-Bold"/>
                </a:rPr>
                <a:t>Leo read Grace’s draft in week 8 and messaged her directly. He quoted the specific line from the rubric her paragraph missed, offered two ways to fix it, and said her opening was the strongest framing anyone had written.</a:t>
              </a:r>
            </a:p>
          </p:txBody>
        </p:sp>
      </p:grpSp>
      <p:grpSp>
        <p:nvGrpSpPr>
          <p:cNvPr name="Group 20" id="20"/>
          <p:cNvGrpSpPr/>
          <p:nvPr/>
        </p:nvGrpSpPr>
        <p:grpSpPr>
          <a:xfrm rot="0">
            <a:off x="1848619" y="3267658"/>
            <a:ext cx="5070623" cy="2864363"/>
            <a:chOff x="0" y="0"/>
            <a:chExt cx="409970" cy="231589"/>
          </a:xfrm>
        </p:grpSpPr>
        <p:sp>
          <p:nvSpPr>
            <p:cNvPr name="Freeform 21" id="21"/>
            <p:cNvSpPr/>
            <p:nvPr/>
          </p:nvSpPr>
          <p:spPr>
            <a:xfrm flipH="false" flipV="false" rot="0">
              <a:off x="0" y="0"/>
              <a:ext cx="409970" cy="231589"/>
            </a:xfrm>
            <a:custGeom>
              <a:avLst/>
              <a:gdLst/>
              <a:ahLst/>
              <a:cxnLst/>
              <a:rect r="r" b="b" t="t" l="l"/>
              <a:pathLst>
                <a:path h="231589" w="409970">
                  <a:moveTo>
                    <a:pt x="90655" y="0"/>
                  </a:moveTo>
                  <a:lnTo>
                    <a:pt x="319315" y="0"/>
                  </a:lnTo>
                  <a:cubicBezTo>
                    <a:pt x="343358" y="0"/>
                    <a:pt x="366416" y="9551"/>
                    <a:pt x="383417" y="26552"/>
                  </a:cubicBezTo>
                  <a:cubicBezTo>
                    <a:pt x="400418" y="43553"/>
                    <a:pt x="409970" y="66612"/>
                    <a:pt x="409970" y="90655"/>
                  </a:cubicBezTo>
                  <a:lnTo>
                    <a:pt x="409970" y="140934"/>
                  </a:lnTo>
                  <a:cubicBezTo>
                    <a:pt x="409970" y="164978"/>
                    <a:pt x="400418" y="188036"/>
                    <a:pt x="383417" y="205037"/>
                  </a:cubicBezTo>
                  <a:cubicBezTo>
                    <a:pt x="366416" y="222038"/>
                    <a:pt x="343358" y="231589"/>
                    <a:pt x="319315" y="231589"/>
                  </a:cubicBezTo>
                  <a:lnTo>
                    <a:pt x="90655" y="231589"/>
                  </a:lnTo>
                  <a:cubicBezTo>
                    <a:pt x="40588" y="231589"/>
                    <a:pt x="0" y="191002"/>
                    <a:pt x="0" y="140934"/>
                  </a:cubicBezTo>
                  <a:lnTo>
                    <a:pt x="0" y="90655"/>
                  </a:lnTo>
                  <a:cubicBezTo>
                    <a:pt x="0" y="66612"/>
                    <a:pt x="9551" y="43553"/>
                    <a:pt x="26552" y="26552"/>
                  </a:cubicBezTo>
                  <a:cubicBezTo>
                    <a:pt x="43553" y="9551"/>
                    <a:pt x="66612" y="0"/>
                    <a:pt x="90655" y="0"/>
                  </a:cubicBezTo>
                  <a:close/>
                </a:path>
              </a:pathLst>
            </a:custGeom>
            <a:gradFill rotWithShape="true">
              <a:gsLst>
                <a:gs pos="0">
                  <a:srgbClr val="85200C">
                    <a:alpha val="30000"/>
                  </a:srgbClr>
                </a:gs>
                <a:gs pos="100000">
                  <a:srgbClr val="008601">
                    <a:alpha val="100000"/>
                  </a:srgbClr>
                </a:gs>
              </a:gsLst>
              <a:lin ang="0"/>
            </a:gradFill>
          </p:spPr>
        </p:sp>
        <p:sp>
          <p:nvSpPr>
            <p:cNvPr name="TextBox 22" id="22"/>
            <p:cNvSpPr txBox="true"/>
            <p:nvPr/>
          </p:nvSpPr>
          <p:spPr>
            <a:xfrm>
              <a:off x="0" y="28575"/>
              <a:ext cx="409970" cy="203014"/>
            </a:xfrm>
            <a:prstGeom prst="rect">
              <a:avLst/>
            </a:prstGeom>
          </p:spPr>
          <p:txBody>
            <a:bodyPr anchor="ctr" rtlCol="false" tIns="50800" lIns="50800" bIns="50800" rIns="50800"/>
            <a:lstStyle/>
            <a:p>
              <a:pPr algn="ctr">
                <a:lnSpc>
                  <a:spcPts val="1919"/>
                </a:lnSpc>
              </a:pPr>
            </a:p>
          </p:txBody>
        </p:sp>
      </p:grpSp>
      <p:grpSp>
        <p:nvGrpSpPr>
          <p:cNvPr name="Group 23" id="23"/>
          <p:cNvGrpSpPr/>
          <p:nvPr/>
        </p:nvGrpSpPr>
        <p:grpSpPr>
          <a:xfrm rot="0">
            <a:off x="7218350" y="3300359"/>
            <a:ext cx="9821878" cy="2715306"/>
            <a:chOff x="0" y="0"/>
            <a:chExt cx="957198" cy="264622"/>
          </a:xfrm>
        </p:grpSpPr>
        <p:sp>
          <p:nvSpPr>
            <p:cNvPr name="Freeform 24" id="24"/>
            <p:cNvSpPr/>
            <p:nvPr/>
          </p:nvSpPr>
          <p:spPr>
            <a:xfrm flipH="false" flipV="false" rot="0">
              <a:off x="0" y="0"/>
              <a:ext cx="957198" cy="264622"/>
            </a:xfrm>
            <a:custGeom>
              <a:avLst/>
              <a:gdLst/>
              <a:ahLst/>
              <a:cxnLst/>
              <a:rect r="r" b="b" t="t" l="l"/>
              <a:pathLst>
                <a:path h="264622" w="957198">
                  <a:moveTo>
                    <a:pt x="60965" y="0"/>
                  </a:moveTo>
                  <a:lnTo>
                    <a:pt x="896233" y="0"/>
                  </a:lnTo>
                  <a:cubicBezTo>
                    <a:pt x="912402" y="0"/>
                    <a:pt x="927908" y="6423"/>
                    <a:pt x="939341" y="17856"/>
                  </a:cubicBezTo>
                  <a:cubicBezTo>
                    <a:pt x="950775" y="29289"/>
                    <a:pt x="957198" y="44796"/>
                    <a:pt x="957198" y="60965"/>
                  </a:cubicBezTo>
                  <a:lnTo>
                    <a:pt x="957198" y="203657"/>
                  </a:lnTo>
                  <a:cubicBezTo>
                    <a:pt x="957198" y="237327"/>
                    <a:pt x="929903" y="264622"/>
                    <a:pt x="896233" y="264622"/>
                  </a:cubicBezTo>
                  <a:lnTo>
                    <a:pt x="60965" y="264622"/>
                  </a:lnTo>
                  <a:cubicBezTo>
                    <a:pt x="27295" y="264622"/>
                    <a:pt x="0" y="237327"/>
                    <a:pt x="0" y="203657"/>
                  </a:cubicBezTo>
                  <a:lnTo>
                    <a:pt x="0" y="60965"/>
                  </a:lnTo>
                  <a:cubicBezTo>
                    <a:pt x="0" y="27295"/>
                    <a:pt x="27295" y="0"/>
                    <a:pt x="60965" y="0"/>
                  </a:cubicBezTo>
                  <a:close/>
                </a:path>
              </a:pathLst>
            </a:custGeom>
            <a:gradFill rotWithShape="true">
              <a:gsLst>
                <a:gs pos="0">
                  <a:srgbClr val="85200C">
                    <a:alpha val="30000"/>
                  </a:srgbClr>
                </a:gs>
                <a:gs pos="100000">
                  <a:srgbClr val="DC4B0F">
                    <a:alpha val="100000"/>
                  </a:srgbClr>
                </a:gs>
              </a:gsLst>
              <a:lin ang="0"/>
            </a:gradFill>
          </p:spPr>
        </p:sp>
        <p:sp>
          <p:nvSpPr>
            <p:cNvPr name="TextBox 25" id="25"/>
            <p:cNvSpPr txBox="true"/>
            <p:nvPr/>
          </p:nvSpPr>
          <p:spPr>
            <a:xfrm>
              <a:off x="0" y="28575"/>
              <a:ext cx="957198" cy="236047"/>
            </a:xfrm>
            <a:prstGeom prst="rect">
              <a:avLst/>
            </a:prstGeom>
          </p:spPr>
          <p:txBody>
            <a:bodyPr anchor="ctr" rtlCol="false" tIns="42145" lIns="42145" bIns="42145" rIns="42145"/>
            <a:lstStyle/>
            <a:p>
              <a:pPr algn="ctr">
                <a:lnSpc>
                  <a:spcPts val="1919"/>
                </a:lnSpc>
              </a:pPr>
            </a:p>
          </p:txBody>
        </p:sp>
      </p:grpSp>
      <p:sp>
        <p:nvSpPr>
          <p:cNvPr name="TextBox 26" id="26"/>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18</a:t>
            </a:r>
          </a:p>
        </p:txBody>
      </p:sp>
      <p:sp>
        <p:nvSpPr>
          <p:cNvPr name="TextBox 27" id="27"/>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28" id="28"/>
          <p:cNvSpPr txBox="true"/>
          <p:nvPr/>
        </p:nvSpPr>
        <p:spPr>
          <a:xfrm rot="0">
            <a:off x="11797590" y="3651238"/>
            <a:ext cx="4879373" cy="2051648"/>
          </a:xfrm>
          <a:prstGeom prst="rect">
            <a:avLst/>
          </a:prstGeom>
        </p:spPr>
        <p:txBody>
          <a:bodyPr anchor="t" rtlCol="false" tIns="0" lIns="0" bIns="0" rIns="0">
            <a:spAutoFit/>
          </a:bodyPr>
          <a:lstStyle/>
          <a:p>
            <a:pPr algn="l">
              <a:lnSpc>
                <a:spcPts val="2677"/>
              </a:lnSpc>
            </a:pPr>
            <a:r>
              <a:rPr lang="en-US" sz="2818" b="true">
                <a:solidFill>
                  <a:srgbClr val="FFFFFF"/>
                </a:solidFill>
                <a:latin typeface="Poppins Semi-Bold"/>
                <a:ea typeface="Poppins Semi-Bold"/>
                <a:cs typeface="Poppins Semi-Bold"/>
                <a:sym typeface="Poppins Semi-Bold"/>
              </a:rPr>
              <a:t>Early, specific, private, and paired with something genuine. That combination is why she can act on it instead of defending herself.</a:t>
            </a:r>
          </a:p>
        </p:txBody>
      </p:sp>
      <p:grpSp>
        <p:nvGrpSpPr>
          <p:cNvPr name="Group 29" id="29"/>
          <p:cNvGrpSpPr/>
          <p:nvPr/>
        </p:nvGrpSpPr>
        <p:grpSpPr>
          <a:xfrm rot="0">
            <a:off x="7098242" y="3722679"/>
            <a:ext cx="4796052" cy="2152728"/>
            <a:chOff x="0" y="0"/>
            <a:chExt cx="6394736" cy="2870304"/>
          </a:xfrm>
        </p:grpSpPr>
        <p:sp>
          <p:nvSpPr>
            <p:cNvPr name="TextBox 30" id="30"/>
            <p:cNvSpPr txBox="true"/>
            <p:nvPr/>
          </p:nvSpPr>
          <p:spPr>
            <a:xfrm rot="0">
              <a:off x="370530" y="-94520"/>
              <a:ext cx="6024207" cy="2964824"/>
            </a:xfrm>
            <a:prstGeom prst="rect">
              <a:avLst/>
            </a:prstGeom>
          </p:spPr>
          <p:txBody>
            <a:bodyPr anchor="t" rtlCol="false" tIns="0" lIns="0" bIns="0" rIns="0">
              <a:spAutoFit/>
            </a:bodyPr>
            <a:lstStyle/>
            <a:p>
              <a:pPr algn="ctr">
                <a:lnSpc>
                  <a:spcPts val="18648"/>
                </a:lnSpc>
              </a:pPr>
              <a:r>
                <a:rPr lang="en-US" sz="13320" spc="39">
                  <a:solidFill>
                    <a:srgbClr val="000000">
                      <a:alpha val="30980"/>
                    </a:srgbClr>
                  </a:solidFill>
                  <a:latin typeface="Milestone Script"/>
                  <a:ea typeface="Milestone Script"/>
                  <a:cs typeface="Milestone Script"/>
                  <a:sym typeface="Milestone Script"/>
                </a:rPr>
                <a:t>Why?</a:t>
              </a:r>
            </a:p>
          </p:txBody>
        </p:sp>
        <p:sp>
          <p:nvSpPr>
            <p:cNvPr name="TextBox 31" id="31"/>
            <p:cNvSpPr txBox="true"/>
            <p:nvPr/>
          </p:nvSpPr>
          <p:spPr>
            <a:xfrm rot="0">
              <a:off x="0" y="-266700"/>
              <a:ext cx="6263643" cy="2964824"/>
            </a:xfrm>
            <a:prstGeom prst="rect">
              <a:avLst/>
            </a:prstGeom>
          </p:spPr>
          <p:txBody>
            <a:bodyPr anchor="t" rtlCol="false" tIns="0" lIns="0" bIns="0" rIns="0">
              <a:spAutoFit/>
            </a:bodyPr>
            <a:lstStyle/>
            <a:p>
              <a:pPr algn="ctr">
                <a:lnSpc>
                  <a:spcPts val="18648"/>
                </a:lnSpc>
              </a:pPr>
              <a:r>
                <a:rPr lang="en-US" sz="13320" spc="39">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Why?</a:t>
              </a:r>
            </a:p>
          </p:txBody>
        </p:sp>
      </p:grpSp>
      <p:sp>
        <p:nvSpPr>
          <p:cNvPr name="TextBox 32" id="32"/>
          <p:cNvSpPr txBox="true"/>
          <p:nvPr/>
        </p:nvSpPr>
        <p:spPr>
          <a:xfrm rot="0">
            <a:off x="2626674" y="3906961"/>
            <a:ext cx="3514512" cy="1690531"/>
          </a:xfrm>
          <a:prstGeom prst="rect">
            <a:avLst/>
          </a:prstGeom>
        </p:spPr>
        <p:txBody>
          <a:bodyPr anchor="t" rtlCol="false" tIns="0" lIns="0" bIns="0" rIns="0">
            <a:spAutoFit/>
          </a:bodyPr>
          <a:lstStyle/>
          <a:p>
            <a:pPr algn="ctr">
              <a:lnSpc>
                <a:spcPts val="6252"/>
              </a:lnSpc>
            </a:pPr>
            <a:r>
              <a:rPr lang="en-US" sz="6582" b="true">
                <a:solidFill>
                  <a:srgbClr val="FFFFFF"/>
                </a:solidFill>
                <a:latin typeface="Poppins Heavy"/>
                <a:ea typeface="Poppins Heavy"/>
                <a:cs typeface="Poppins Heavy"/>
                <a:sym typeface="Poppins Heavy"/>
              </a:rPr>
              <a:t>GREEN FLAG</a:t>
            </a:r>
          </a:p>
        </p:txBody>
      </p:sp>
      <p:grpSp>
        <p:nvGrpSpPr>
          <p:cNvPr name="Group 33" id="33"/>
          <p:cNvGrpSpPr/>
          <p:nvPr/>
        </p:nvGrpSpPr>
        <p:grpSpPr>
          <a:xfrm rot="0">
            <a:off x="3857803" y="6559486"/>
            <a:ext cx="10756617" cy="2036826"/>
            <a:chOff x="0" y="0"/>
            <a:chExt cx="14342157" cy="2715768"/>
          </a:xfrm>
        </p:grpSpPr>
        <p:grpSp>
          <p:nvGrpSpPr>
            <p:cNvPr name="Group 34" id="34"/>
            <p:cNvGrpSpPr/>
            <p:nvPr/>
          </p:nvGrpSpPr>
          <p:grpSpPr>
            <a:xfrm rot="0">
              <a:off x="168625" y="12700"/>
              <a:ext cx="14173532" cy="2665787"/>
              <a:chOff x="0" y="0"/>
              <a:chExt cx="1280731" cy="240883"/>
            </a:xfrm>
          </p:grpSpPr>
          <p:sp>
            <p:nvSpPr>
              <p:cNvPr name="Freeform 35" id="35"/>
              <p:cNvSpPr/>
              <p:nvPr/>
            </p:nvSpPr>
            <p:spPr>
              <a:xfrm flipH="false" flipV="false" rot="0">
                <a:off x="0" y="0"/>
                <a:ext cx="1280731" cy="240883"/>
              </a:xfrm>
              <a:custGeom>
                <a:avLst/>
                <a:gdLst/>
                <a:ahLst/>
                <a:cxnLst/>
                <a:rect r="r" b="b" t="t" l="l"/>
                <a:pathLst>
                  <a:path h="240883" w="1280731">
                    <a:moveTo>
                      <a:pt x="6828" y="0"/>
                    </a:moveTo>
                    <a:lnTo>
                      <a:pt x="1273903" y="0"/>
                    </a:lnTo>
                    <a:cubicBezTo>
                      <a:pt x="1275714" y="0"/>
                      <a:pt x="1277451" y="719"/>
                      <a:pt x="1278731" y="2000"/>
                    </a:cubicBezTo>
                    <a:cubicBezTo>
                      <a:pt x="1280012" y="3280"/>
                      <a:pt x="1280731" y="5017"/>
                      <a:pt x="1280731" y="6828"/>
                    </a:cubicBezTo>
                    <a:lnTo>
                      <a:pt x="1280731" y="234055"/>
                    </a:lnTo>
                    <a:cubicBezTo>
                      <a:pt x="1280731" y="235866"/>
                      <a:pt x="1280012" y="237602"/>
                      <a:pt x="1278731" y="238883"/>
                    </a:cubicBezTo>
                    <a:cubicBezTo>
                      <a:pt x="1277451" y="240163"/>
                      <a:pt x="1275714" y="240883"/>
                      <a:pt x="1273903" y="240883"/>
                    </a:cubicBezTo>
                    <a:lnTo>
                      <a:pt x="6828" y="240883"/>
                    </a:lnTo>
                    <a:cubicBezTo>
                      <a:pt x="5017" y="240883"/>
                      <a:pt x="3280" y="240163"/>
                      <a:pt x="2000" y="238883"/>
                    </a:cubicBezTo>
                    <a:cubicBezTo>
                      <a:pt x="719" y="237602"/>
                      <a:pt x="0" y="235866"/>
                      <a:pt x="0" y="234055"/>
                    </a:cubicBezTo>
                    <a:lnTo>
                      <a:pt x="0" y="6828"/>
                    </a:lnTo>
                    <a:cubicBezTo>
                      <a:pt x="0" y="5017"/>
                      <a:pt x="719" y="3280"/>
                      <a:pt x="2000" y="2000"/>
                    </a:cubicBezTo>
                    <a:cubicBezTo>
                      <a:pt x="3280" y="719"/>
                      <a:pt x="5017" y="0"/>
                      <a:pt x="6828" y="0"/>
                    </a:cubicBezTo>
                    <a:close/>
                  </a:path>
                </a:pathLst>
              </a:custGeom>
              <a:gradFill rotWithShape="true">
                <a:gsLst>
                  <a:gs pos="0">
                    <a:srgbClr val="FFFFFF">
                      <a:alpha val="100000"/>
                    </a:srgbClr>
                  </a:gs>
                  <a:gs pos="100000">
                    <a:srgbClr val="FFFFFF">
                      <a:alpha val="0"/>
                    </a:srgbClr>
                  </a:gs>
                </a:gsLst>
                <a:lin ang="0"/>
              </a:gradFill>
            </p:spPr>
          </p:sp>
          <p:sp>
            <p:nvSpPr>
              <p:cNvPr name="TextBox 36" id="36"/>
              <p:cNvSpPr txBox="true"/>
              <p:nvPr/>
            </p:nvSpPr>
            <p:spPr>
              <a:xfrm>
                <a:off x="0" y="28575"/>
                <a:ext cx="1280731" cy="212308"/>
              </a:xfrm>
              <a:prstGeom prst="rect">
                <a:avLst/>
              </a:prstGeom>
            </p:spPr>
            <p:txBody>
              <a:bodyPr anchor="ctr" rtlCol="false" tIns="42145" lIns="42145" bIns="42145" rIns="42145"/>
              <a:lstStyle/>
              <a:p>
                <a:pPr algn="ctr">
                  <a:lnSpc>
                    <a:spcPts val="1919"/>
                  </a:lnSpc>
                </a:pPr>
              </a:p>
            </p:txBody>
          </p:sp>
        </p:grpSp>
        <p:grpSp>
          <p:nvGrpSpPr>
            <p:cNvPr name="Group 37" id="37"/>
            <p:cNvGrpSpPr/>
            <p:nvPr/>
          </p:nvGrpSpPr>
          <p:grpSpPr>
            <a:xfrm rot="0">
              <a:off x="0" y="0"/>
              <a:ext cx="299496" cy="2715768"/>
              <a:chOff x="0" y="0"/>
              <a:chExt cx="46219" cy="419100"/>
            </a:xfrm>
          </p:grpSpPr>
          <p:sp>
            <p:nvSpPr>
              <p:cNvPr name="Freeform 38" id="38"/>
              <p:cNvSpPr/>
              <p:nvPr/>
            </p:nvSpPr>
            <p:spPr>
              <a:xfrm flipH="false" flipV="false" rot="0">
                <a:off x="0" y="0"/>
                <a:ext cx="46219" cy="419100"/>
              </a:xfrm>
              <a:custGeom>
                <a:avLst/>
                <a:gdLst/>
                <a:ahLst/>
                <a:cxnLst/>
                <a:rect r="r" b="b" t="t" l="l"/>
                <a:pathLst>
                  <a:path h="419100" w="46219">
                    <a:moveTo>
                      <a:pt x="23109" y="0"/>
                    </a:moveTo>
                    <a:lnTo>
                      <a:pt x="23109" y="0"/>
                    </a:lnTo>
                    <a:cubicBezTo>
                      <a:pt x="29238" y="0"/>
                      <a:pt x="35116" y="2435"/>
                      <a:pt x="39450" y="6769"/>
                    </a:cubicBezTo>
                    <a:cubicBezTo>
                      <a:pt x="43784" y="11102"/>
                      <a:pt x="46219" y="16980"/>
                      <a:pt x="46219" y="23109"/>
                    </a:cubicBezTo>
                    <a:lnTo>
                      <a:pt x="46219" y="395991"/>
                    </a:lnTo>
                    <a:cubicBezTo>
                      <a:pt x="46219" y="402120"/>
                      <a:pt x="43784" y="407998"/>
                      <a:pt x="39450" y="412331"/>
                    </a:cubicBezTo>
                    <a:cubicBezTo>
                      <a:pt x="35116" y="416665"/>
                      <a:pt x="29238" y="419100"/>
                      <a:pt x="23109" y="419100"/>
                    </a:cubicBezTo>
                    <a:lnTo>
                      <a:pt x="23109" y="419100"/>
                    </a:lnTo>
                    <a:cubicBezTo>
                      <a:pt x="16980" y="419100"/>
                      <a:pt x="11102" y="416665"/>
                      <a:pt x="6769" y="412331"/>
                    </a:cubicBezTo>
                    <a:cubicBezTo>
                      <a:pt x="2435" y="407998"/>
                      <a:pt x="0" y="402120"/>
                      <a:pt x="0" y="395991"/>
                    </a:cubicBezTo>
                    <a:lnTo>
                      <a:pt x="0" y="23109"/>
                    </a:lnTo>
                    <a:cubicBezTo>
                      <a:pt x="0" y="16980"/>
                      <a:pt x="2435" y="11102"/>
                      <a:pt x="6769" y="6769"/>
                    </a:cubicBezTo>
                    <a:cubicBezTo>
                      <a:pt x="11102" y="2435"/>
                      <a:pt x="16980" y="0"/>
                      <a:pt x="23109" y="0"/>
                    </a:cubicBezTo>
                    <a:close/>
                  </a:path>
                </a:pathLst>
              </a:custGeom>
              <a:solidFill>
                <a:srgbClr val="6E3125"/>
              </a:solidFill>
            </p:spPr>
          </p:sp>
          <p:sp>
            <p:nvSpPr>
              <p:cNvPr name="TextBox 39" id="39"/>
              <p:cNvSpPr txBox="true"/>
              <p:nvPr/>
            </p:nvSpPr>
            <p:spPr>
              <a:xfrm>
                <a:off x="0" y="28575"/>
                <a:ext cx="46219" cy="390525"/>
              </a:xfrm>
              <a:prstGeom prst="rect">
                <a:avLst/>
              </a:prstGeom>
            </p:spPr>
            <p:txBody>
              <a:bodyPr anchor="ctr" rtlCol="false" tIns="50800" lIns="50800" bIns="50800" rIns="50800"/>
              <a:lstStyle/>
              <a:p>
                <a:pPr algn="ctr">
                  <a:lnSpc>
                    <a:spcPts val="1919"/>
                  </a:lnSpc>
                </a:pPr>
              </a:p>
            </p:txBody>
          </p:sp>
        </p:grpSp>
        <p:sp>
          <p:nvSpPr>
            <p:cNvPr name="TextBox 40" id="40"/>
            <p:cNvSpPr txBox="true"/>
            <p:nvPr/>
          </p:nvSpPr>
          <p:spPr>
            <a:xfrm rot="0">
              <a:off x="552475" y="60008"/>
              <a:ext cx="12932236" cy="2529077"/>
            </a:xfrm>
            <a:prstGeom prst="rect">
              <a:avLst/>
            </a:prstGeom>
          </p:spPr>
          <p:txBody>
            <a:bodyPr anchor="t" rtlCol="false" tIns="0" lIns="0" bIns="0" rIns="0">
              <a:spAutoFit/>
            </a:bodyPr>
            <a:lstStyle/>
            <a:p>
              <a:pPr algn="l">
                <a:lnSpc>
                  <a:spcPts val="4870"/>
                </a:lnSpc>
              </a:pPr>
              <a:r>
                <a:rPr lang="en-US" sz="4551" b="true">
                  <a:solidFill>
                    <a:srgbClr val="6E3125"/>
                  </a:solidFill>
                  <a:latin typeface="Poppins Heavy"/>
                  <a:ea typeface="Poppins Heavy"/>
                  <a:cs typeface="Poppins Heavy"/>
                  <a:sym typeface="Poppins Heavy"/>
                </a:rPr>
                <a:t>Would this still be green in week 12? Would it still be green in the group chat?</a:t>
              </a:r>
            </a:p>
          </p:txBody>
        </p:sp>
      </p:gr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sp>
        <p:nvSpPr>
          <p:cNvPr name="TextBox 15" id="15"/>
          <p:cNvSpPr txBox="true"/>
          <p:nvPr/>
        </p:nvSpPr>
        <p:spPr>
          <a:xfrm rot="0">
            <a:off x="4025686" y="2079665"/>
            <a:ext cx="13185636" cy="2878934"/>
          </a:xfrm>
          <a:prstGeom prst="rect">
            <a:avLst/>
          </a:prstGeom>
        </p:spPr>
        <p:txBody>
          <a:bodyPr anchor="t" rtlCol="false" tIns="0" lIns="0" bIns="0" rIns="0">
            <a:spAutoFit/>
          </a:bodyPr>
          <a:lstStyle/>
          <a:p>
            <a:pPr algn="l">
              <a:lnSpc>
                <a:spcPts val="20221"/>
              </a:lnSpc>
            </a:pPr>
            <a:r>
              <a:rPr lang="en-US" sz="21285" b="true">
                <a:solidFill>
                  <a:srgbClr val="000000">
                    <a:alpha val="29804"/>
                  </a:srgbClr>
                </a:solidFill>
                <a:latin typeface="Poppins Heavy"/>
                <a:ea typeface="Poppins Heavy"/>
                <a:cs typeface="Poppins Heavy"/>
                <a:sym typeface="Poppins Heavy"/>
              </a:rPr>
              <a:t>LEVEL 3</a:t>
            </a:r>
          </a:p>
        </p:txBody>
      </p:sp>
      <p:sp>
        <p:nvSpPr>
          <p:cNvPr name="TextBox 16" id="16"/>
          <p:cNvSpPr txBox="true"/>
          <p:nvPr/>
        </p:nvSpPr>
        <p:spPr>
          <a:xfrm rot="0">
            <a:off x="3886841" y="1919459"/>
            <a:ext cx="10683202" cy="2878934"/>
          </a:xfrm>
          <a:prstGeom prst="rect">
            <a:avLst/>
          </a:prstGeom>
        </p:spPr>
        <p:txBody>
          <a:bodyPr anchor="t" rtlCol="false" tIns="0" lIns="0" bIns="0" rIns="0">
            <a:spAutoFit/>
          </a:bodyPr>
          <a:lstStyle/>
          <a:p>
            <a:pPr algn="l">
              <a:lnSpc>
                <a:spcPts val="20221"/>
              </a:lnSpc>
            </a:pPr>
            <a:r>
              <a:rPr lang="en-US" sz="21285" b="true">
                <a:gradFill>
                  <a:gsLst>
                    <a:gs pos="0">
                      <a:srgbClr val="85200C">
                        <a:alpha val="100000"/>
                      </a:srgbClr>
                    </a:gs>
                    <a:gs pos="100000">
                      <a:srgbClr val="DC4B0F">
                        <a:alpha val="100000"/>
                      </a:srgbClr>
                    </a:gs>
                  </a:gsLst>
                  <a:lin ang="0"/>
                </a:gradFill>
                <a:latin typeface="Poppins Heavy"/>
                <a:ea typeface="Poppins Heavy"/>
                <a:cs typeface="Poppins Heavy"/>
                <a:sym typeface="Poppins Heavy"/>
              </a:rPr>
              <a:t>LEVEL 3</a:t>
            </a:r>
          </a:p>
        </p:txBody>
      </p:sp>
      <p:sp>
        <p:nvSpPr>
          <p:cNvPr name="TextBox 17" id="17"/>
          <p:cNvSpPr txBox="true"/>
          <p:nvPr/>
        </p:nvSpPr>
        <p:spPr>
          <a:xfrm rot="0">
            <a:off x="1208016" y="3885468"/>
            <a:ext cx="15345143" cy="2559682"/>
          </a:xfrm>
          <a:prstGeom prst="rect">
            <a:avLst/>
          </a:prstGeom>
        </p:spPr>
        <p:txBody>
          <a:bodyPr anchor="t" rtlCol="false" tIns="0" lIns="0" bIns="0" rIns="0">
            <a:spAutoFit/>
          </a:bodyPr>
          <a:lstStyle/>
          <a:p>
            <a:pPr algn="ctr">
              <a:lnSpc>
                <a:spcPts val="18819"/>
              </a:lnSpc>
            </a:pPr>
            <a:r>
              <a:rPr lang="en-US" sz="19809">
                <a:solidFill>
                  <a:srgbClr val="000000">
                    <a:alpha val="20784"/>
                  </a:srgbClr>
                </a:solidFill>
                <a:latin typeface="Milestone Script"/>
                <a:ea typeface="Milestone Script"/>
                <a:cs typeface="Milestone Script"/>
                <a:sym typeface="Milestone Script"/>
              </a:rPr>
              <a:t>Genuinely split</a:t>
            </a:r>
          </a:p>
        </p:txBody>
      </p:sp>
      <p:sp>
        <p:nvSpPr>
          <p:cNvPr name="Freeform 18" id="18"/>
          <p:cNvSpPr/>
          <p:nvPr/>
        </p:nvSpPr>
        <p:spPr>
          <a:xfrm flipH="false" flipV="false" rot="1661690">
            <a:off x="10784507" y="747428"/>
            <a:ext cx="8687573" cy="3950107"/>
          </a:xfrm>
          <a:custGeom>
            <a:avLst/>
            <a:gdLst/>
            <a:ahLst/>
            <a:cxnLst/>
            <a:rect r="r" b="b" t="t" l="l"/>
            <a:pathLst>
              <a:path h="3950107" w="8687573">
                <a:moveTo>
                  <a:pt x="0" y="0"/>
                </a:moveTo>
                <a:lnTo>
                  <a:pt x="8687572" y="0"/>
                </a:lnTo>
                <a:lnTo>
                  <a:pt x="8687572" y="3950107"/>
                </a:lnTo>
                <a:lnTo>
                  <a:pt x="0" y="3950107"/>
                </a:lnTo>
                <a:lnTo>
                  <a:pt x="0" y="0"/>
                </a:lnTo>
                <a:close/>
              </a:path>
            </a:pathLst>
          </a:custGeom>
          <a:blipFill>
            <a:blip r:embed="rId7"/>
            <a:stretch>
              <a:fillRect l="0" t="0" r="0" b="-117870"/>
            </a:stretch>
          </a:blipFill>
        </p:spPr>
      </p:sp>
      <p:sp>
        <p:nvSpPr>
          <p:cNvPr name="TextBox 19" id="19"/>
          <p:cNvSpPr txBox="true"/>
          <p:nvPr/>
        </p:nvSpPr>
        <p:spPr>
          <a:xfrm rot="0">
            <a:off x="1076678" y="3732884"/>
            <a:ext cx="15345143" cy="2559682"/>
          </a:xfrm>
          <a:prstGeom prst="rect">
            <a:avLst/>
          </a:prstGeom>
        </p:spPr>
        <p:txBody>
          <a:bodyPr anchor="t" rtlCol="false" tIns="0" lIns="0" bIns="0" rIns="0">
            <a:spAutoFit/>
          </a:bodyPr>
          <a:lstStyle/>
          <a:p>
            <a:pPr algn="ctr">
              <a:lnSpc>
                <a:spcPts val="18819"/>
              </a:lnSpc>
            </a:pPr>
            <a:r>
              <a:rPr lang="en-US" sz="19809">
                <a:solidFill>
                  <a:srgbClr val="FFFFFF"/>
                </a:solidFill>
                <a:latin typeface="Milestone Script"/>
                <a:ea typeface="Milestone Script"/>
                <a:cs typeface="Milestone Script"/>
                <a:sym typeface="Milestone Script"/>
              </a:rPr>
              <a:t>Genuinely split</a:t>
            </a:r>
          </a:p>
        </p:txBody>
      </p:sp>
      <p:grpSp>
        <p:nvGrpSpPr>
          <p:cNvPr name="Group 20" id="20"/>
          <p:cNvGrpSpPr/>
          <p:nvPr/>
        </p:nvGrpSpPr>
        <p:grpSpPr>
          <a:xfrm rot="163210">
            <a:off x="3678770" y="6342381"/>
            <a:ext cx="10896728" cy="1424269"/>
            <a:chOff x="0" y="0"/>
            <a:chExt cx="1876478" cy="245267"/>
          </a:xfrm>
        </p:grpSpPr>
        <p:sp>
          <p:nvSpPr>
            <p:cNvPr name="Freeform 21" id="21"/>
            <p:cNvSpPr/>
            <p:nvPr/>
          </p:nvSpPr>
          <p:spPr>
            <a:xfrm flipH="false" flipV="false" rot="0">
              <a:off x="0" y="0"/>
              <a:ext cx="1876478" cy="245267"/>
            </a:xfrm>
            <a:custGeom>
              <a:avLst/>
              <a:gdLst/>
              <a:ahLst/>
              <a:cxnLst/>
              <a:rect r="r" b="b" t="t" l="l"/>
              <a:pathLst>
                <a:path h="245267" w="1876478">
                  <a:moveTo>
                    <a:pt x="21647" y="0"/>
                  </a:moveTo>
                  <a:lnTo>
                    <a:pt x="1854831" y="0"/>
                  </a:lnTo>
                  <a:cubicBezTo>
                    <a:pt x="1860572" y="0"/>
                    <a:pt x="1866078" y="2281"/>
                    <a:pt x="1870138" y="6340"/>
                  </a:cubicBezTo>
                  <a:cubicBezTo>
                    <a:pt x="1874198" y="10400"/>
                    <a:pt x="1876478" y="15906"/>
                    <a:pt x="1876478" y="21647"/>
                  </a:cubicBezTo>
                  <a:lnTo>
                    <a:pt x="1876478" y="223620"/>
                  </a:lnTo>
                  <a:cubicBezTo>
                    <a:pt x="1876478" y="235575"/>
                    <a:pt x="1866786" y="245267"/>
                    <a:pt x="1854831" y="245267"/>
                  </a:cubicBezTo>
                  <a:lnTo>
                    <a:pt x="21647" y="245267"/>
                  </a:lnTo>
                  <a:cubicBezTo>
                    <a:pt x="9692" y="245267"/>
                    <a:pt x="0" y="235575"/>
                    <a:pt x="0" y="223620"/>
                  </a:cubicBezTo>
                  <a:lnTo>
                    <a:pt x="0" y="21647"/>
                  </a:lnTo>
                  <a:cubicBezTo>
                    <a:pt x="0" y="9692"/>
                    <a:pt x="9692" y="0"/>
                    <a:pt x="21647" y="0"/>
                  </a:cubicBezTo>
                  <a:close/>
                </a:path>
              </a:pathLst>
            </a:custGeom>
            <a:gradFill rotWithShape="true">
              <a:gsLst>
                <a:gs pos="0">
                  <a:srgbClr val="85200C">
                    <a:alpha val="100000"/>
                  </a:srgbClr>
                </a:gs>
                <a:gs pos="100000">
                  <a:srgbClr val="DC4B0F">
                    <a:alpha val="100000"/>
                  </a:srgbClr>
                </a:gs>
              </a:gsLst>
              <a:lin ang="0"/>
            </a:gradFill>
          </p:spPr>
        </p:sp>
        <p:sp>
          <p:nvSpPr>
            <p:cNvPr name="TextBox 22" id="22"/>
            <p:cNvSpPr txBox="true"/>
            <p:nvPr/>
          </p:nvSpPr>
          <p:spPr>
            <a:xfrm>
              <a:off x="0" y="28575"/>
              <a:ext cx="1876478" cy="216692"/>
            </a:xfrm>
            <a:prstGeom prst="rect">
              <a:avLst/>
            </a:prstGeom>
          </p:spPr>
          <p:txBody>
            <a:bodyPr anchor="ctr" rtlCol="false" tIns="60699" lIns="60699" bIns="60699" rIns="60699"/>
            <a:lstStyle/>
            <a:p>
              <a:pPr algn="ctr">
                <a:lnSpc>
                  <a:spcPts val="1919"/>
                </a:lnSpc>
              </a:pPr>
            </a:p>
          </p:txBody>
        </p:sp>
      </p:grpSp>
      <p:sp>
        <p:nvSpPr>
          <p:cNvPr name="TextBox 23" id="23"/>
          <p:cNvSpPr txBox="true"/>
          <p:nvPr/>
        </p:nvSpPr>
        <p:spPr>
          <a:xfrm rot="163210">
            <a:off x="4009812" y="6561047"/>
            <a:ext cx="10368595" cy="1050516"/>
          </a:xfrm>
          <a:prstGeom prst="rect">
            <a:avLst/>
          </a:prstGeom>
        </p:spPr>
        <p:txBody>
          <a:bodyPr anchor="t" rtlCol="false" tIns="0" lIns="0" bIns="0" rIns="0">
            <a:spAutoFit/>
          </a:bodyPr>
          <a:lstStyle/>
          <a:p>
            <a:pPr algn="ctr">
              <a:lnSpc>
                <a:spcPts val="3856"/>
              </a:lnSpc>
            </a:pPr>
            <a:r>
              <a:rPr lang="en-US" sz="4059" b="true">
                <a:solidFill>
                  <a:srgbClr val="FFFFFF"/>
                </a:solidFill>
                <a:latin typeface="Poppins Semi-Bold"/>
                <a:ea typeface="Poppins Semi-Bold"/>
                <a:cs typeface="Poppins Semi-Bold"/>
                <a:sym typeface="Poppins Semi-Bold"/>
              </a:rPr>
              <a:t>No consensus expected. Push them to name what their answer depends on.</a:t>
            </a:r>
          </a:p>
        </p:txBody>
      </p:sp>
      <p:sp>
        <p:nvSpPr>
          <p:cNvPr name="TextBox 24" id="24"/>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19</a:t>
            </a:r>
          </a:p>
        </p:txBody>
      </p:sp>
      <p:sp>
        <p:nvSpPr>
          <p:cNvPr name="TextBox 25" id="25"/>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Freeform 26" id="26"/>
          <p:cNvSpPr/>
          <p:nvPr/>
        </p:nvSpPr>
        <p:spPr>
          <a:xfrm flipH="true" flipV="false" rot="-3959088">
            <a:off x="-2904367" y="4571394"/>
            <a:ext cx="8687573" cy="3950107"/>
          </a:xfrm>
          <a:custGeom>
            <a:avLst/>
            <a:gdLst/>
            <a:ahLst/>
            <a:cxnLst/>
            <a:rect r="r" b="b" t="t" l="l"/>
            <a:pathLst>
              <a:path h="3950107" w="8687573">
                <a:moveTo>
                  <a:pt x="8687573" y="0"/>
                </a:moveTo>
                <a:lnTo>
                  <a:pt x="0" y="0"/>
                </a:lnTo>
                <a:lnTo>
                  <a:pt x="0" y="3950107"/>
                </a:lnTo>
                <a:lnTo>
                  <a:pt x="8687573" y="3950107"/>
                </a:lnTo>
                <a:lnTo>
                  <a:pt x="8687573" y="0"/>
                </a:lnTo>
                <a:close/>
              </a:path>
            </a:pathLst>
          </a:custGeom>
          <a:blipFill>
            <a:blip r:embed="rId7"/>
            <a:stretch>
              <a:fillRect l="0" t="0" r="0" b="-117870"/>
            </a:stretch>
          </a:blipFill>
        </p:spPr>
      </p:sp>
      <p:sp>
        <p:nvSpPr>
          <p:cNvPr name="Freeform 27" id="27"/>
          <p:cNvSpPr/>
          <p:nvPr/>
        </p:nvSpPr>
        <p:spPr>
          <a:xfrm flipH="false" flipV="false" rot="0">
            <a:off x="-1291529" y="-3353118"/>
            <a:ext cx="20440189" cy="20440189"/>
          </a:xfrm>
          <a:custGeom>
            <a:avLst/>
            <a:gdLst/>
            <a:ahLst/>
            <a:cxnLst/>
            <a:rect r="r" b="b" t="t" l="l"/>
            <a:pathLst>
              <a:path h="20440189" w="20440189">
                <a:moveTo>
                  <a:pt x="0" y="0"/>
                </a:moveTo>
                <a:lnTo>
                  <a:pt x="20440189" y="0"/>
                </a:lnTo>
                <a:lnTo>
                  <a:pt x="20440189" y="20440189"/>
                </a:lnTo>
                <a:lnTo>
                  <a:pt x="0" y="20440189"/>
                </a:lnTo>
                <a:lnTo>
                  <a:pt x="0" y="0"/>
                </a:lnTo>
                <a:close/>
              </a:path>
            </a:pathLst>
          </a:custGeom>
          <a:blipFill>
            <a:blip r:embed="rId8">
              <a:alphaModFix amt="50000"/>
            </a:blip>
            <a:stretch>
              <a:fillRect l="0" t="0" r="0" b="0"/>
            </a:stretch>
          </a:blipFill>
        </p:spPr>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271343" y="1105777"/>
            <a:ext cx="7487927" cy="1140886"/>
            <a:chOff x="0" y="0"/>
            <a:chExt cx="605413" cy="92243"/>
          </a:xfrm>
        </p:grpSpPr>
        <p:sp>
          <p:nvSpPr>
            <p:cNvPr name="Freeform 16" id="16"/>
            <p:cNvSpPr/>
            <p:nvPr/>
          </p:nvSpPr>
          <p:spPr>
            <a:xfrm flipH="false" flipV="false" rot="0">
              <a:off x="0" y="0"/>
              <a:ext cx="605413" cy="92243"/>
            </a:xfrm>
            <a:custGeom>
              <a:avLst/>
              <a:gdLst/>
              <a:ahLst/>
              <a:cxnLst/>
              <a:rect r="r" b="b" t="t" l="l"/>
              <a:pathLst>
                <a:path h="92243" w="605413">
                  <a:moveTo>
                    <a:pt x="46121" y="0"/>
                  </a:moveTo>
                  <a:lnTo>
                    <a:pt x="559292" y="0"/>
                  </a:lnTo>
                  <a:cubicBezTo>
                    <a:pt x="571524" y="0"/>
                    <a:pt x="583255" y="4859"/>
                    <a:pt x="591905" y="13509"/>
                  </a:cubicBezTo>
                  <a:cubicBezTo>
                    <a:pt x="600554" y="22158"/>
                    <a:pt x="605413" y="33889"/>
                    <a:pt x="605413" y="46121"/>
                  </a:cubicBezTo>
                  <a:lnTo>
                    <a:pt x="605413" y="46121"/>
                  </a:lnTo>
                  <a:cubicBezTo>
                    <a:pt x="605413" y="58354"/>
                    <a:pt x="600554" y="70085"/>
                    <a:pt x="591905" y="78734"/>
                  </a:cubicBezTo>
                  <a:cubicBezTo>
                    <a:pt x="583255" y="87384"/>
                    <a:pt x="571524" y="92243"/>
                    <a:pt x="559292" y="92243"/>
                  </a:cubicBezTo>
                  <a:lnTo>
                    <a:pt x="46121" y="92243"/>
                  </a:lnTo>
                  <a:cubicBezTo>
                    <a:pt x="33889" y="92243"/>
                    <a:pt x="22158" y="87384"/>
                    <a:pt x="13509" y="78734"/>
                  </a:cubicBezTo>
                  <a:cubicBezTo>
                    <a:pt x="4859" y="70085"/>
                    <a:pt x="0" y="58354"/>
                    <a:pt x="0" y="46121"/>
                  </a:cubicBezTo>
                  <a:lnTo>
                    <a:pt x="0" y="46121"/>
                  </a:lnTo>
                  <a:cubicBezTo>
                    <a:pt x="0" y="33889"/>
                    <a:pt x="4859" y="22158"/>
                    <a:pt x="13509" y="13509"/>
                  </a:cubicBezTo>
                  <a:cubicBezTo>
                    <a:pt x="22158" y="4859"/>
                    <a:pt x="33889" y="0"/>
                    <a:pt x="46121" y="0"/>
                  </a:cubicBezTo>
                  <a:close/>
                </a:path>
              </a:pathLst>
            </a:custGeom>
            <a:gradFill rotWithShape="true">
              <a:gsLst>
                <a:gs pos="0">
                  <a:srgbClr val="85200C">
                    <a:alpha val="100000"/>
                  </a:srgbClr>
                </a:gs>
                <a:gs pos="100000">
                  <a:srgbClr val="DC4B0F">
                    <a:alpha val="100000"/>
                  </a:srgbClr>
                </a:gs>
              </a:gsLst>
              <a:lin ang="0"/>
            </a:gradFill>
          </p:spPr>
        </p:sp>
        <p:sp>
          <p:nvSpPr>
            <p:cNvPr name="TextBox 17" id="17"/>
            <p:cNvSpPr txBox="true"/>
            <p:nvPr/>
          </p:nvSpPr>
          <p:spPr>
            <a:xfrm>
              <a:off x="0" y="28575"/>
              <a:ext cx="605413" cy="63668"/>
            </a:xfrm>
            <a:prstGeom prst="rect">
              <a:avLst/>
            </a:prstGeom>
          </p:spPr>
          <p:txBody>
            <a:bodyPr anchor="ctr" rtlCol="false" tIns="50800" lIns="50800" bIns="50800" rIns="50800"/>
            <a:lstStyle/>
            <a:p>
              <a:pPr algn="ctr">
                <a:lnSpc>
                  <a:spcPts val="1919"/>
                </a:lnSpc>
              </a:pPr>
            </a:p>
          </p:txBody>
        </p:sp>
      </p:grpSp>
      <p:grpSp>
        <p:nvGrpSpPr>
          <p:cNvPr name="Group 18" id="18"/>
          <p:cNvGrpSpPr/>
          <p:nvPr/>
        </p:nvGrpSpPr>
        <p:grpSpPr>
          <a:xfrm rot="0">
            <a:off x="2051027" y="2707540"/>
            <a:ext cx="14046712" cy="2449940"/>
            <a:chOff x="0" y="0"/>
            <a:chExt cx="18728950" cy="3266586"/>
          </a:xfrm>
        </p:grpSpPr>
        <p:grpSp>
          <p:nvGrpSpPr>
            <p:cNvPr name="Group 19" id="19"/>
            <p:cNvGrpSpPr/>
            <p:nvPr/>
          </p:nvGrpSpPr>
          <p:grpSpPr>
            <a:xfrm rot="0">
              <a:off x="0" y="0"/>
              <a:ext cx="18728950" cy="3266586"/>
              <a:chOff x="0" y="0"/>
              <a:chExt cx="1135704" cy="198082"/>
            </a:xfrm>
          </p:grpSpPr>
          <p:sp>
            <p:nvSpPr>
              <p:cNvPr name="Freeform 20" id="20"/>
              <p:cNvSpPr/>
              <p:nvPr/>
            </p:nvSpPr>
            <p:spPr>
              <a:xfrm flipH="false" flipV="false" rot="0">
                <a:off x="0" y="0"/>
                <a:ext cx="1135704" cy="198082"/>
              </a:xfrm>
              <a:custGeom>
                <a:avLst/>
                <a:gdLst/>
                <a:ahLst/>
                <a:cxnLst/>
                <a:rect r="r" b="b" t="t" l="l"/>
                <a:pathLst>
                  <a:path h="198082" w="1135704">
                    <a:moveTo>
                      <a:pt x="42628" y="0"/>
                    </a:moveTo>
                    <a:lnTo>
                      <a:pt x="1093075" y="0"/>
                    </a:lnTo>
                    <a:cubicBezTo>
                      <a:pt x="1104381" y="0"/>
                      <a:pt x="1115224" y="4491"/>
                      <a:pt x="1123218" y="12486"/>
                    </a:cubicBezTo>
                    <a:cubicBezTo>
                      <a:pt x="1131212" y="20480"/>
                      <a:pt x="1135704" y="31323"/>
                      <a:pt x="1135704" y="42628"/>
                    </a:cubicBezTo>
                    <a:lnTo>
                      <a:pt x="1135704" y="155454"/>
                    </a:lnTo>
                    <a:cubicBezTo>
                      <a:pt x="1135704" y="166760"/>
                      <a:pt x="1131212" y="177602"/>
                      <a:pt x="1123218" y="185597"/>
                    </a:cubicBezTo>
                    <a:cubicBezTo>
                      <a:pt x="1115224" y="193591"/>
                      <a:pt x="1104381" y="198082"/>
                      <a:pt x="1093075" y="198082"/>
                    </a:cubicBezTo>
                    <a:lnTo>
                      <a:pt x="42628" y="198082"/>
                    </a:lnTo>
                    <a:cubicBezTo>
                      <a:pt x="31323" y="198082"/>
                      <a:pt x="20480" y="193591"/>
                      <a:pt x="12486" y="185597"/>
                    </a:cubicBezTo>
                    <a:cubicBezTo>
                      <a:pt x="4491" y="177602"/>
                      <a:pt x="0" y="166760"/>
                      <a:pt x="0" y="155454"/>
                    </a:cubicBezTo>
                    <a:lnTo>
                      <a:pt x="0" y="42628"/>
                    </a:lnTo>
                    <a:cubicBezTo>
                      <a:pt x="0" y="31323"/>
                      <a:pt x="4491" y="20480"/>
                      <a:pt x="12486" y="12486"/>
                    </a:cubicBezTo>
                    <a:cubicBezTo>
                      <a:pt x="20480" y="4491"/>
                      <a:pt x="31323" y="0"/>
                      <a:pt x="42628" y="0"/>
                    </a:cubicBezTo>
                    <a:close/>
                  </a:path>
                </a:pathLst>
              </a:custGeom>
              <a:gradFill rotWithShape="true">
                <a:gsLst>
                  <a:gs pos="0">
                    <a:srgbClr val="85200C">
                      <a:alpha val="30000"/>
                    </a:srgbClr>
                  </a:gs>
                  <a:gs pos="100000">
                    <a:srgbClr val="DC4B0F">
                      <a:alpha val="100000"/>
                    </a:srgbClr>
                  </a:gs>
                </a:gsLst>
                <a:lin ang="0"/>
              </a:gradFill>
            </p:spPr>
          </p:sp>
          <p:sp>
            <p:nvSpPr>
              <p:cNvPr name="TextBox 21" id="21"/>
              <p:cNvSpPr txBox="true"/>
              <p:nvPr/>
            </p:nvSpPr>
            <p:spPr>
              <a:xfrm>
                <a:off x="0" y="28575"/>
                <a:ext cx="1135704" cy="169507"/>
              </a:xfrm>
              <a:prstGeom prst="rect">
                <a:avLst/>
              </a:prstGeom>
            </p:spPr>
            <p:txBody>
              <a:bodyPr anchor="ctr" rtlCol="false" tIns="50800" lIns="50800" bIns="50800" rIns="50800"/>
              <a:lstStyle/>
              <a:p>
                <a:pPr algn="ctr">
                  <a:lnSpc>
                    <a:spcPts val="1919"/>
                  </a:lnSpc>
                </a:pPr>
              </a:p>
            </p:txBody>
          </p:sp>
        </p:grpSp>
        <p:sp>
          <p:nvSpPr>
            <p:cNvPr name="TextBox 22" id="22"/>
            <p:cNvSpPr txBox="true"/>
            <p:nvPr/>
          </p:nvSpPr>
          <p:spPr>
            <a:xfrm rot="0">
              <a:off x="558221" y="531568"/>
              <a:ext cx="17739037" cy="2174875"/>
            </a:xfrm>
            <a:prstGeom prst="rect">
              <a:avLst/>
            </a:prstGeom>
          </p:spPr>
          <p:txBody>
            <a:bodyPr anchor="t" rtlCol="false" tIns="0" lIns="0" bIns="0" rIns="0">
              <a:spAutoFit/>
            </a:bodyPr>
            <a:lstStyle/>
            <a:p>
              <a:pPr algn="ctr">
                <a:lnSpc>
                  <a:spcPts val="3135"/>
                </a:lnSpc>
              </a:pPr>
              <a:r>
                <a:rPr lang="en-US" sz="3300" b="true">
                  <a:solidFill>
                    <a:srgbClr val="FFFFFF"/>
                  </a:solidFill>
                  <a:latin typeface="Poppins Semi-Bold"/>
                  <a:ea typeface="Poppins Semi-Bold"/>
                  <a:cs typeface="Poppins Semi-Bold"/>
                  <a:sym typeface="Poppins Semi-Bold"/>
                </a:rPr>
                <a:t>Marcus talks for most of every meeting. His ideas are good and the group’s argument is stronger for them. Two members have gone from contributing regularly to just agreeing. When he asks “any objections?” there never are any.</a:t>
              </a:r>
            </a:p>
          </p:txBody>
        </p:sp>
      </p:grpSp>
      <p:grpSp>
        <p:nvGrpSpPr>
          <p:cNvPr name="Group 23" id="23"/>
          <p:cNvGrpSpPr/>
          <p:nvPr/>
        </p:nvGrpSpPr>
        <p:grpSpPr>
          <a:xfrm rot="0">
            <a:off x="2086942" y="5524148"/>
            <a:ext cx="6705133" cy="2864363"/>
            <a:chOff x="0" y="0"/>
            <a:chExt cx="542123" cy="231589"/>
          </a:xfrm>
        </p:grpSpPr>
        <p:sp>
          <p:nvSpPr>
            <p:cNvPr name="Freeform 24" id="24"/>
            <p:cNvSpPr/>
            <p:nvPr/>
          </p:nvSpPr>
          <p:spPr>
            <a:xfrm flipH="false" flipV="false" rot="0">
              <a:off x="0" y="0"/>
              <a:ext cx="542123" cy="231589"/>
            </a:xfrm>
            <a:custGeom>
              <a:avLst/>
              <a:gdLst/>
              <a:ahLst/>
              <a:cxnLst/>
              <a:rect r="r" b="b" t="t" l="l"/>
              <a:pathLst>
                <a:path h="231589" w="542123">
                  <a:moveTo>
                    <a:pt x="68556" y="0"/>
                  </a:moveTo>
                  <a:lnTo>
                    <a:pt x="473567" y="0"/>
                  </a:lnTo>
                  <a:cubicBezTo>
                    <a:pt x="511429" y="0"/>
                    <a:pt x="542123" y="30694"/>
                    <a:pt x="542123" y="68556"/>
                  </a:cubicBezTo>
                  <a:lnTo>
                    <a:pt x="542123" y="163033"/>
                  </a:lnTo>
                  <a:cubicBezTo>
                    <a:pt x="542123" y="181215"/>
                    <a:pt x="534900" y="198653"/>
                    <a:pt x="522043" y="211510"/>
                  </a:cubicBezTo>
                  <a:cubicBezTo>
                    <a:pt x="509187" y="224366"/>
                    <a:pt x="491749" y="231589"/>
                    <a:pt x="473567" y="231589"/>
                  </a:cubicBezTo>
                  <a:lnTo>
                    <a:pt x="68556" y="231589"/>
                  </a:lnTo>
                  <a:cubicBezTo>
                    <a:pt x="50374" y="231589"/>
                    <a:pt x="32936" y="224366"/>
                    <a:pt x="20080" y="211510"/>
                  </a:cubicBezTo>
                  <a:cubicBezTo>
                    <a:pt x="7223" y="198653"/>
                    <a:pt x="0" y="181215"/>
                    <a:pt x="0" y="163033"/>
                  </a:cubicBezTo>
                  <a:lnTo>
                    <a:pt x="0" y="68556"/>
                  </a:lnTo>
                  <a:cubicBezTo>
                    <a:pt x="0" y="50374"/>
                    <a:pt x="7223" y="32936"/>
                    <a:pt x="20080" y="20080"/>
                  </a:cubicBezTo>
                  <a:cubicBezTo>
                    <a:pt x="32936" y="7223"/>
                    <a:pt x="50374" y="0"/>
                    <a:pt x="68556" y="0"/>
                  </a:cubicBezTo>
                  <a:close/>
                </a:path>
              </a:pathLst>
            </a:custGeom>
            <a:gradFill rotWithShape="true">
              <a:gsLst>
                <a:gs pos="0">
                  <a:srgbClr val="85200C">
                    <a:alpha val="30000"/>
                  </a:srgbClr>
                </a:gs>
                <a:gs pos="100000">
                  <a:srgbClr val="940000">
                    <a:alpha val="100000"/>
                  </a:srgbClr>
                </a:gs>
              </a:gsLst>
              <a:lin ang="0"/>
            </a:gradFill>
          </p:spPr>
        </p:sp>
        <p:sp>
          <p:nvSpPr>
            <p:cNvPr name="TextBox 25" id="25"/>
            <p:cNvSpPr txBox="true"/>
            <p:nvPr/>
          </p:nvSpPr>
          <p:spPr>
            <a:xfrm>
              <a:off x="0" y="28575"/>
              <a:ext cx="542123" cy="203014"/>
            </a:xfrm>
            <a:prstGeom prst="rect">
              <a:avLst/>
            </a:prstGeom>
          </p:spPr>
          <p:txBody>
            <a:bodyPr anchor="ctr" rtlCol="false" tIns="50800" lIns="50800" bIns="50800" rIns="50800"/>
            <a:lstStyle/>
            <a:p>
              <a:pPr algn="ctr">
                <a:lnSpc>
                  <a:spcPts val="1919"/>
                </a:lnSpc>
              </a:pPr>
            </a:p>
          </p:txBody>
        </p:sp>
      </p:grpSp>
      <p:grpSp>
        <p:nvGrpSpPr>
          <p:cNvPr name="Group 26" id="26"/>
          <p:cNvGrpSpPr/>
          <p:nvPr/>
        </p:nvGrpSpPr>
        <p:grpSpPr>
          <a:xfrm rot="0">
            <a:off x="9036459" y="5554638"/>
            <a:ext cx="6857760" cy="2864363"/>
            <a:chOff x="0" y="0"/>
            <a:chExt cx="9143680" cy="3819150"/>
          </a:xfrm>
        </p:grpSpPr>
        <p:grpSp>
          <p:nvGrpSpPr>
            <p:cNvPr name="Group 27" id="27"/>
            <p:cNvGrpSpPr/>
            <p:nvPr/>
          </p:nvGrpSpPr>
          <p:grpSpPr>
            <a:xfrm rot="0">
              <a:off x="50565" y="0"/>
              <a:ext cx="8869518" cy="3819150"/>
              <a:chOff x="0" y="0"/>
              <a:chExt cx="537838" cy="231589"/>
            </a:xfrm>
          </p:grpSpPr>
          <p:sp>
            <p:nvSpPr>
              <p:cNvPr name="Freeform 28" id="28"/>
              <p:cNvSpPr/>
              <p:nvPr/>
            </p:nvSpPr>
            <p:spPr>
              <a:xfrm flipH="false" flipV="false" rot="0">
                <a:off x="0" y="0"/>
                <a:ext cx="537838" cy="231589"/>
              </a:xfrm>
              <a:custGeom>
                <a:avLst/>
                <a:gdLst/>
                <a:ahLst/>
                <a:cxnLst/>
                <a:rect r="r" b="b" t="t" l="l"/>
                <a:pathLst>
                  <a:path h="231589" w="537838">
                    <a:moveTo>
                      <a:pt x="35130" y="0"/>
                    </a:moveTo>
                    <a:lnTo>
                      <a:pt x="502708" y="0"/>
                    </a:lnTo>
                    <a:cubicBezTo>
                      <a:pt x="512025" y="0"/>
                      <a:pt x="520961" y="3701"/>
                      <a:pt x="527549" y="10289"/>
                    </a:cubicBezTo>
                    <a:cubicBezTo>
                      <a:pt x="534137" y="16878"/>
                      <a:pt x="537838" y="25813"/>
                      <a:pt x="537838" y="35130"/>
                    </a:cubicBezTo>
                    <a:lnTo>
                      <a:pt x="537838" y="196459"/>
                    </a:lnTo>
                    <a:cubicBezTo>
                      <a:pt x="537838" y="205776"/>
                      <a:pt x="534137" y="214712"/>
                      <a:pt x="527549" y="221300"/>
                    </a:cubicBezTo>
                    <a:cubicBezTo>
                      <a:pt x="520961" y="227888"/>
                      <a:pt x="512025" y="231589"/>
                      <a:pt x="502708" y="231589"/>
                    </a:cubicBezTo>
                    <a:lnTo>
                      <a:pt x="35130" y="231589"/>
                    </a:lnTo>
                    <a:cubicBezTo>
                      <a:pt x="25813" y="231589"/>
                      <a:pt x="16878" y="227888"/>
                      <a:pt x="10289" y="221300"/>
                    </a:cubicBezTo>
                    <a:cubicBezTo>
                      <a:pt x="3701" y="214712"/>
                      <a:pt x="0" y="205776"/>
                      <a:pt x="0" y="196459"/>
                    </a:cubicBezTo>
                    <a:lnTo>
                      <a:pt x="0" y="35130"/>
                    </a:lnTo>
                    <a:cubicBezTo>
                      <a:pt x="0" y="25813"/>
                      <a:pt x="3701" y="16878"/>
                      <a:pt x="10289" y="10289"/>
                    </a:cubicBezTo>
                    <a:cubicBezTo>
                      <a:pt x="16878" y="3701"/>
                      <a:pt x="25813" y="0"/>
                      <a:pt x="35130" y="0"/>
                    </a:cubicBezTo>
                    <a:close/>
                  </a:path>
                </a:pathLst>
              </a:custGeom>
              <a:gradFill rotWithShape="true">
                <a:gsLst>
                  <a:gs pos="0">
                    <a:srgbClr val="85200C">
                      <a:alpha val="30000"/>
                    </a:srgbClr>
                  </a:gs>
                  <a:gs pos="100000">
                    <a:srgbClr val="008601">
                      <a:alpha val="100000"/>
                    </a:srgbClr>
                  </a:gs>
                </a:gsLst>
                <a:lin ang="0"/>
              </a:gradFill>
            </p:spPr>
          </p:sp>
          <p:sp>
            <p:nvSpPr>
              <p:cNvPr name="TextBox 29" id="29"/>
              <p:cNvSpPr txBox="true"/>
              <p:nvPr/>
            </p:nvSpPr>
            <p:spPr>
              <a:xfrm>
                <a:off x="0" y="28575"/>
                <a:ext cx="537838" cy="203014"/>
              </a:xfrm>
              <a:prstGeom prst="rect">
                <a:avLst/>
              </a:prstGeom>
            </p:spPr>
            <p:txBody>
              <a:bodyPr anchor="ctr" rtlCol="false" tIns="99925" lIns="99925" bIns="99925" rIns="99925"/>
              <a:lstStyle/>
              <a:p>
                <a:pPr algn="ctr">
                  <a:lnSpc>
                    <a:spcPts val="1919"/>
                  </a:lnSpc>
                </a:pPr>
              </a:p>
            </p:txBody>
          </p:sp>
        </p:grpSp>
        <p:sp>
          <p:nvSpPr>
            <p:cNvPr name="TextBox 30" id="30"/>
            <p:cNvSpPr txBox="true"/>
            <p:nvPr/>
          </p:nvSpPr>
          <p:spPr>
            <a:xfrm rot="0">
              <a:off x="0" y="656138"/>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GreenFlag</a:t>
              </a:r>
            </a:p>
          </p:txBody>
        </p:sp>
        <p:sp>
          <p:nvSpPr>
            <p:cNvPr name="TextBox 31" id="31"/>
            <p:cNvSpPr txBox="true"/>
            <p:nvPr/>
          </p:nvSpPr>
          <p:spPr>
            <a:xfrm rot="0">
              <a:off x="415950" y="506572"/>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Green Flag</a:t>
              </a:r>
            </a:p>
          </p:txBody>
        </p:sp>
      </p:grpSp>
      <p:sp>
        <p:nvSpPr>
          <p:cNvPr name="TextBox 32" id="32"/>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20</a:t>
            </a:r>
          </a:p>
        </p:txBody>
      </p:sp>
      <p:sp>
        <p:nvSpPr>
          <p:cNvPr name="TextBox 33" id="33"/>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34" id="34"/>
          <p:cNvSpPr txBox="true"/>
          <p:nvPr/>
        </p:nvSpPr>
        <p:spPr>
          <a:xfrm rot="0">
            <a:off x="415994" y="1418607"/>
            <a:ext cx="5981225" cy="549275"/>
          </a:xfrm>
          <a:prstGeom prst="rect">
            <a:avLst/>
          </a:prstGeom>
        </p:spPr>
        <p:txBody>
          <a:bodyPr anchor="t" rtlCol="false" tIns="0" lIns="0" bIns="0" rIns="0">
            <a:spAutoFit/>
          </a:bodyPr>
          <a:lstStyle/>
          <a:p>
            <a:pPr algn="l">
              <a:lnSpc>
                <a:spcPts val="3895"/>
              </a:lnSpc>
            </a:pPr>
            <a:r>
              <a:rPr lang="en-US" sz="4100" b="true">
                <a:solidFill>
                  <a:srgbClr val="FFFFFF"/>
                </a:solidFill>
                <a:latin typeface="Poppins Heavy"/>
                <a:ea typeface="Poppins Heavy"/>
                <a:cs typeface="Poppins Heavy"/>
                <a:sym typeface="Poppins Heavy"/>
              </a:rPr>
              <a:t>SCENARIO 7: Marcus </a:t>
            </a:r>
          </a:p>
        </p:txBody>
      </p:sp>
      <p:grpSp>
        <p:nvGrpSpPr>
          <p:cNvPr name="Group 35" id="35"/>
          <p:cNvGrpSpPr/>
          <p:nvPr/>
        </p:nvGrpSpPr>
        <p:grpSpPr>
          <a:xfrm rot="0">
            <a:off x="2001030" y="6106016"/>
            <a:ext cx="6857760" cy="1869997"/>
            <a:chOff x="0" y="0"/>
            <a:chExt cx="9143680" cy="2493329"/>
          </a:xfrm>
        </p:grpSpPr>
        <p:sp>
          <p:nvSpPr>
            <p:cNvPr name="TextBox 36" id="36"/>
            <p:cNvSpPr txBox="true"/>
            <p:nvPr/>
          </p:nvSpPr>
          <p:spPr>
            <a:xfrm rot="0">
              <a:off x="0" y="-79033"/>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Red Flag</a:t>
              </a:r>
            </a:p>
          </p:txBody>
        </p:sp>
        <p:sp>
          <p:nvSpPr>
            <p:cNvPr name="TextBox 37" id="37"/>
            <p:cNvSpPr txBox="true"/>
            <p:nvPr/>
          </p:nvSpPr>
          <p:spPr>
            <a:xfrm rot="0">
              <a:off x="415950" y="-228600"/>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Red Flag</a:t>
              </a:r>
            </a:p>
          </p:txBody>
        </p:sp>
      </p:gr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761809" y="1287870"/>
            <a:ext cx="15278418" cy="1758535"/>
            <a:chOff x="0" y="0"/>
            <a:chExt cx="20371224" cy="2344713"/>
          </a:xfrm>
        </p:grpSpPr>
        <p:grpSp>
          <p:nvGrpSpPr>
            <p:cNvPr name="Group 16" id="16"/>
            <p:cNvGrpSpPr/>
            <p:nvPr/>
          </p:nvGrpSpPr>
          <p:grpSpPr>
            <a:xfrm rot="0">
              <a:off x="0" y="0"/>
              <a:ext cx="20371224" cy="2344713"/>
              <a:chOff x="0" y="0"/>
              <a:chExt cx="1488968" cy="171379"/>
            </a:xfrm>
          </p:grpSpPr>
          <p:sp>
            <p:nvSpPr>
              <p:cNvPr name="Freeform 17" id="17"/>
              <p:cNvSpPr/>
              <p:nvPr/>
            </p:nvSpPr>
            <p:spPr>
              <a:xfrm flipH="false" flipV="false" rot="0">
                <a:off x="0" y="0"/>
                <a:ext cx="1488968" cy="171379"/>
              </a:xfrm>
              <a:custGeom>
                <a:avLst/>
                <a:gdLst/>
                <a:ahLst/>
                <a:cxnLst/>
                <a:rect r="r" b="b" t="t" l="l"/>
                <a:pathLst>
                  <a:path h="171379" w="1488968">
                    <a:moveTo>
                      <a:pt x="32515" y="0"/>
                    </a:moveTo>
                    <a:lnTo>
                      <a:pt x="1456454" y="0"/>
                    </a:lnTo>
                    <a:cubicBezTo>
                      <a:pt x="1465077" y="0"/>
                      <a:pt x="1473347" y="3426"/>
                      <a:pt x="1479445" y="9523"/>
                    </a:cubicBezTo>
                    <a:cubicBezTo>
                      <a:pt x="1485543" y="15621"/>
                      <a:pt x="1488968" y="23891"/>
                      <a:pt x="1488968" y="32515"/>
                    </a:cubicBezTo>
                    <a:lnTo>
                      <a:pt x="1488968" y="138865"/>
                    </a:lnTo>
                    <a:cubicBezTo>
                      <a:pt x="1488968" y="156822"/>
                      <a:pt x="1474411" y="171379"/>
                      <a:pt x="1456454" y="171379"/>
                    </a:cubicBezTo>
                    <a:lnTo>
                      <a:pt x="32515" y="171379"/>
                    </a:lnTo>
                    <a:cubicBezTo>
                      <a:pt x="14557" y="171379"/>
                      <a:pt x="0" y="156822"/>
                      <a:pt x="0" y="138865"/>
                    </a:cubicBezTo>
                    <a:lnTo>
                      <a:pt x="0" y="32515"/>
                    </a:lnTo>
                    <a:cubicBezTo>
                      <a:pt x="0" y="23891"/>
                      <a:pt x="3426" y="15621"/>
                      <a:pt x="9523" y="9523"/>
                    </a:cubicBezTo>
                    <a:cubicBezTo>
                      <a:pt x="15621" y="3426"/>
                      <a:pt x="23891" y="0"/>
                      <a:pt x="32515" y="0"/>
                    </a:cubicBezTo>
                    <a:close/>
                  </a:path>
                </a:pathLst>
              </a:custGeom>
              <a:gradFill rotWithShape="true">
                <a:gsLst>
                  <a:gs pos="0">
                    <a:srgbClr val="85200C">
                      <a:alpha val="100000"/>
                    </a:srgbClr>
                  </a:gs>
                  <a:gs pos="100000">
                    <a:srgbClr val="DC4B0F">
                      <a:alpha val="100000"/>
                    </a:srgbClr>
                  </a:gs>
                </a:gsLst>
                <a:lin ang="0"/>
              </a:gradFill>
            </p:spPr>
          </p:sp>
          <p:sp>
            <p:nvSpPr>
              <p:cNvPr name="TextBox 18" id="18"/>
              <p:cNvSpPr txBox="true"/>
              <p:nvPr/>
            </p:nvSpPr>
            <p:spPr>
              <a:xfrm>
                <a:off x="0" y="28575"/>
                <a:ext cx="1488968" cy="142804"/>
              </a:xfrm>
              <a:prstGeom prst="rect">
                <a:avLst/>
              </a:prstGeom>
            </p:spPr>
            <p:txBody>
              <a:bodyPr anchor="ctr" rtlCol="false" tIns="50800" lIns="50800" bIns="50800" rIns="50800"/>
              <a:lstStyle/>
              <a:p>
                <a:pPr algn="ctr">
                  <a:lnSpc>
                    <a:spcPts val="1919"/>
                  </a:lnSpc>
                </a:pPr>
              </a:p>
            </p:txBody>
          </p:sp>
        </p:grpSp>
        <p:sp>
          <p:nvSpPr>
            <p:cNvPr name="TextBox 19" id="19"/>
            <p:cNvSpPr txBox="true"/>
            <p:nvPr/>
          </p:nvSpPr>
          <p:spPr>
            <a:xfrm rot="0">
              <a:off x="607170" y="439593"/>
              <a:ext cx="19294509" cy="1440410"/>
            </a:xfrm>
            <a:prstGeom prst="rect">
              <a:avLst/>
            </a:prstGeom>
          </p:spPr>
          <p:txBody>
            <a:bodyPr anchor="t" rtlCol="false" tIns="0" lIns="0" bIns="0" rIns="0">
              <a:spAutoFit/>
            </a:bodyPr>
            <a:lstStyle/>
            <a:p>
              <a:pPr algn="ctr">
                <a:lnSpc>
                  <a:spcPts val="2677"/>
                </a:lnSpc>
              </a:pPr>
              <a:r>
                <a:rPr lang="en-US" sz="2818" b="true">
                  <a:solidFill>
                    <a:srgbClr val="FFFFFF"/>
                  </a:solidFill>
                  <a:latin typeface="Poppins Semi-Bold"/>
                  <a:ea typeface="Poppins Semi-Bold"/>
                  <a:cs typeface="Poppins Semi-Bold"/>
                  <a:sym typeface="Poppins Semi-Bold"/>
                </a:rPr>
                <a:t>Marcus talks for most of every meeting. His ideas are good and the group’s argument is stronger for them. Two members have gone from contributing regularly to just agreeing. When he asks “any objections?” there never are any.</a:t>
              </a:r>
            </a:p>
          </p:txBody>
        </p:sp>
      </p:grpSp>
      <p:grpSp>
        <p:nvGrpSpPr>
          <p:cNvPr name="Group 20" id="20"/>
          <p:cNvGrpSpPr/>
          <p:nvPr/>
        </p:nvGrpSpPr>
        <p:grpSpPr>
          <a:xfrm rot="0">
            <a:off x="1848619" y="3267658"/>
            <a:ext cx="5070623" cy="2864363"/>
            <a:chOff x="0" y="0"/>
            <a:chExt cx="409970" cy="231589"/>
          </a:xfrm>
        </p:grpSpPr>
        <p:sp>
          <p:nvSpPr>
            <p:cNvPr name="Freeform 21" id="21"/>
            <p:cNvSpPr/>
            <p:nvPr/>
          </p:nvSpPr>
          <p:spPr>
            <a:xfrm flipH="false" flipV="false" rot="0">
              <a:off x="0" y="0"/>
              <a:ext cx="409970" cy="231589"/>
            </a:xfrm>
            <a:custGeom>
              <a:avLst/>
              <a:gdLst/>
              <a:ahLst/>
              <a:cxnLst/>
              <a:rect r="r" b="b" t="t" l="l"/>
              <a:pathLst>
                <a:path h="231589" w="409970">
                  <a:moveTo>
                    <a:pt x="90655" y="0"/>
                  </a:moveTo>
                  <a:lnTo>
                    <a:pt x="319315" y="0"/>
                  </a:lnTo>
                  <a:cubicBezTo>
                    <a:pt x="343358" y="0"/>
                    <a:pt x="366416" y="9551"/>
                    <a:pt x="383417" y="26552"/>
                  </a:cubicBezTo>
                  <a:cubicBezTo>
                    <a:pt x="400418" y="43553"/>
                    <a:pt x="409970" y="66612"/>
                    <a:pt x="409970" y="90655"/>
                  </a:cubicBezTo>
                  <a:lnTo>
                    <a:pt x="409970" y="140934"/>
                  </a:lnTo>
                  <a:cubicBezTo>
                    <a:pt x="409970" y="164978"/>
                    <a:pt x="400418" y="188036"/>
                    <a:pt x="383417" y="205037"/>
                  </a:cubicBezTo>
                  <a:cubicBezTo>
                    <a:pt x="366416" y="222038"/>
                    <a:pt x="343358" y="231589"/>
                    <a:pt x="319315" y="231589"/>
                  </a:cubicBezTo>
                  <a:lnTo>
                    <a:pt x="90655" y="231589"/>
                  </a:lnTo>
                  <a:cubicBezTo>
                    <a:pt x="40588" y="231589"/>
                    <a:pt x="0" y="191002"/>
                    <a:pt x="0" y="140934"/>
                  </a:cubicBezTo>
                  <a:lnTo>
                    <a:pt x="0" y="90655"/>
                  </a:lnTo>
                  <a:cubicBezTo>
                    <a:pt x="0" y="66612"/>
                    <a:pt x="9551" y="43553"/>
                    <a:pt x="26552" y="26552"/>
                  </a:cubicBezTo>
                  <a:cubicBezTo>
                    <a:pt x="43553" y="9551"/>
                    <a:pt x="66612" y="0"/>
                    <a:pt x="90655" y="0"/>
                  </a:cubicBezTo>
                  <a:close/>
                </a:path>
              </a:pathLst>
            </a:custGeom>
            <a:gradFill rotWithShape="true">
              <a:gsLst>
                <a:gs pos="0">
                  <a:srgbClr val="85200C">
                    <a:alpha val="30000"/>
                  </a:srgbClr>
                </a:gs>
                <a:gs pos="100000">
                  <a:srgbClr val="FFB30B">
                    <a:alpha val="100000"/>
                  </a:srgbClr>
                </a:gs>
              </a:gsLst>
              <a:lin ang="0"/>
            </a:gradFill>
          </p:spPr>
        </p:sp>
        <p:sp>
          <p:nvSpPr>
            <p:cNvPr name="TextBox 22" id="22"/>
            <p:cNvSpPr txBox="true"/>
            <p:nvPr/>
          </p:nvSpPr>
          <p:spPr>
            <a:xfrm>
              <a:off x="0" y="28575"/>
              <a:ext cx="409970" cy="203014"/>
            </a:xfrm>
            <a:prstGeom prst="rect">
              <a:avLst/>
            </a:prstGeom>
          </p:spPr>
          <p:txBody>
            <a:bodyPr anchor="ctr" rtlCol="false" tIns="50800" lIns="50800" bIns="50800" rIns="50800"/>
            <a:lstStyle/>
            <a:p>
              <a:pPr algn="ctr">
                <a:lnSpc>
                  <a:spcPts val="1919"/>
                </a:lnSpc>
              </a:pPr>
            </a:p>
          </p:txBody>
        </p:sp>
      </p:grpSp>
      <p:grpSp>
        <p:nvGrpSpPr>
          <p:cNvPr name="Group 23" id="23"/>
          <p:cNvGrpSpPr/>
          <p:nvPr/>
        </p:nvGrpSpPr>
        <p:grpSpPr>
          <a:xfrm rot="0">
            <a:off x="7218350" y="3300359"/>
            <a:ext cx="9821878" cy="2715306"/>
            <a:chOff x="0" y="0"/>
            <a:chExt cx="957198" cy="264622"/>
          </a:xfrm>
        </p:grpSpPr>
        <p:sp>
          <p:nvSpPr>
            <p:cNvPr name="Freeform 24" id="24"/>
            <p:cNvSpPr/>
            <p:nvPr/>
          </p:nvSpPr>
          <p:spPr>
            <a:xfrm flipH="false" flipV="false" rot="0">
              <a:off x="0" y="0"/>
              <a:ext cx="957198" cy="264622"/>
            </a:xfrm>
            <a:custGeom>
              <a:avLst/>
              <a:gdLst/>
              <a:ahLst/>
              <a:cxnLst/>
              <a:rect r="r" b="b" t="t" l="l"/>
              <a:pathLst>
                <a:path h="264622" w="957198">
                  <a:moveTo>
                    <a:pt x="60965" y="0"/>
                  </a:moveTo>
                  <a:lnTo>
                    <a:pt x="896233" y="0"/>
                  </a:lnTo>
                  <a:cubicBezTo>
                    <a:pt x="912402" y="0"/>
                    <a:pt x="927908" y="6423"/>
                    <a:pt x="939341" y="17856"/>
                  </a:cubicBezTo>
                  <a:cubicBezTo>
                    <a:pt x="950775" y="29289"/>
                    <a:pt x="957198" y="44796"/>
                    <a:pt x="957198" y="60965"/>
                  </a:cubicBezTo>
                  <a:lnTo>
                    <a:pt x="957198" y="203657"/>
                  </a:lnTo>
                  <a:cubicBezTo>
                    <a:pt x="957198" y="237327"/>
                    <a:pt x="929903" y="264622"/>
                    <a:pt x="896233" y="264622"/>
                  </a:cubicBezTo>
                  <a:lnTo>
                    <a:pt x="60965" y="264622"/>
                  </a:lnTo>
                  <a:cubicBezTo>
                    <a:pt x="27295" y="264622"/>
                    <a:pt x="0" y="237327"/>
                    <a:pt x="0" y="203657"/>
                  </a:cubicBezTo>
                  <a:lnTo>
                    <a:pt x="0" y="60965"/>
                  </a:lnTo>
                  <a:cubicBezTo>
                    <a:pt x="0" y="27295"/>
                    <a:pt x="27295" y="0"/>
                    <a:pt x="60965" y="0"/>
                  </a:cubicBezTo>
                  <a:close/>
                </a:path>
              </a:pathLst>
            </a:custGeom>
            <a:gradFill rotWithShape="true">
              <a:gsLst>
                <a:gs pos="0">
                  <a:srgbClr val="85200C">
                    <a:alpha val="30000"/>
                  </a:srgbClr>
                </a:gs>
                <a:gs pos="100000">
                  <a:srgbClr val="DC4B0F">
                    <a:alpha val="100000"/>
                  </a:srgbClr>
                </a:gs>
              </a:gsLst>
              <a:lin ang="0"/>
            </a:gradFill>
          </p:spPr>
        </p:sp>
        <p:sp>
          <p:nvSpPr>
            <p:cNvPr name="TextBox 25" id="25"/>
            <p:cNvSpPr txBox="true"/>
            <p:nvPr/>
          </p:nvSpPr>
          <p:spPr>
            <a:xfrm>
              <a:off x="0" y="28575"/>
              <a:ext cx="957198" cy="236047"/>
            </a:xfrm>
            <a:prstGeom prst="rect">
              <a:avLst/>
            </a:prstGeom>
          </p:spPr>
          <p:txBody>
            <a:bodyPr anchor="ctr" rtlCol="false" tIns="42145" lIns="42145" bIns="42145" rIns="42145"/>
            <a:lstStyle/>
            <a:p>
              <a:pPr algn="ctr">
                <a:lnSpc>
                  <a:spcPts val="1919"/>
                </a:lnSpc>
              </a:pPr>
            </a:p>
          </p:txBody>
        </p:sp>
      </p:grpSp>
      <p:sp>
        <p:nvSpPr>
          <p:cNvPr name="TextBox 26" id="26"/>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21</a:t>
            </a:r>
          </a:p>
        </p:txBody>
      </p:sp>
      <p:sp>
        <p:nvSpPr>
          <p:cNvPr name="TextBox 27" id="27"/>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28" id="28"/>
          <p:cNvSpPr txBox="true"/>
          <p:nvPr/>
        </p:nvSpPr>
        <p:spPr>
          <a:xfrm rot="0">
            <a:off x="11797590" y="3651238"/>
            <a:ext cx="4879373" cy="1812925"/>
          </a:xfrm>
          <a:prstGeom prst="rect">
            <a:avLst/>
          </a:prstGeom>
        </p:spPr>
        <p:txBody>
          <a:bodyPr anchor="t" rtlCol="false" tIns="0" lIns="0" bIns="0" rIns="0">
            <a:spAutoFit/>
          </a:bodyPr>
          <a:lstStyle/>
          <a:p>
            <a:pPr algn="l">
              <a:lnSpc>
                <a:spcPts val="2374"/>
              </a:lnSpc>
            </a:pPr>
            <a:r>
              <a:rPr lang="en-US" sz="2499" b="true">
                <a:solidFill>
                  <a:srgbClr val="FFFFFF"/>
                </a:solidFill>
                <a:latin typeface="Poppins Semi-Bold"/>
                <a:ea typeface="Poppins Semi-Bold"/>
                <a:cs typeface="Poppins Semi-Bold"/>
                <a:sym typeface="Poppins Semi-Bold"/>
              </a:rPr>
              <a:t>He would rate very well on engagement and contribution, and the work is better for him. He is also, without meaning to, shrinking the group to one person.</a:t>
            </a:r>
          </a:p>
        </p:txBody>
      </p:sp>
      <p:grpSp>
        <p:nvGrpSpPr>
          <p:cNvPr name="Group 29" id="29"/>
          <p:cNvGrpSpPr/>
          <p:nvPr/>
        </p:nvGrpSpPr>
        <p:grpSpPr>
          <a:xfrm rot="0">
            <a:off x="7098242" y="3722679"/>
            <a:ext cx="4796052" cy="2152728"/>
            <a:chOff x="0" y="0"/>
            <a:chExt cx="6394736" cy="2870304"/>
          </a:xfrm>
        </p:grpSpPr>
        <p:sp>
          <p:nvSpPr>
            <p:cNvPr name="TextBox 30" id="30"/>
            <p:cNvSpPr txBox="true"/>
            <p:nvPr/>
          </p:nvSpPr>
          <p:spPr>
            <a:xfrm rot="0">
              <a:off x="370530" y="-94520"/>
              <a:ext cx="6024207" cy="2964824"/>
            </a:xfrm>
            <a:prstGeom prst="rect">
              <a:avLst/>
            </a:prstGeom>
          </p:spPr>
          <p:txBody>
            <a:bodyPr anchor="t" rtlCol="false" tIns="0" lIns="0" bIns="0" rIns="0">
              <a:spAutoFit/>
            </a:bodyPr>
            <a:lstStyle/>
            <a:p>
              <a:pPr algn="ctr">
                <a:lnSpc>
                  <a:spcPts val="18648"/>
                </a:lnSpc>
              </a:pPr>
              <a:r>
                <a:rPr lang="en-US" sz="13320" spc="39">
                  <a:solidFill>
                    <a:srgbClr val="000000">
                      <a:alpha val="30980"/>
                    </a:srgbClr>
                  </a:solidFill>
                  <a:latin typeface="Milestone Script"/>
                  <a:ea typeface="Milestone Script"/>
                  <a:cs typeface="Milestone Script"/>
                  <a:sym typeface="Milestone Script"/>
                </a:rPr>
                <a:t>Why?</a:t>
              </a:r>
            </a:p>
          </p:txBody>
        </p:sp>
        <p:sp>
          <p:nvSpPr>
            <p:cNvPr name="TextBox 31" id="31"/>
            <p:cNvSpPr txBox="true"/>
            <p:nvPr/>
          </p:nvSpPr>
          <p:spPr>
            <a:xfrm rot="0">
              <a:off x="0" y="-266700"/>
              <a:ext cx="6263643" cy="2964824"/>
            </a:xfrm>
            <a:prstGeom prst="rect">
              <a:avLst/>
            </a:prstGeom>
          </p:spPr>
          <p:txBody>
            <a:bodyPr anchor="t" rtlCol="false" tIns="0" lIns="0" bIns="0" rIns="0">
              <a:spAutoFit/>
            </a:bodyPr>
            <a:lstStyle/>
            <a:p>
              <a:pPr algn="ctr">
                <a:lnSpc>
                  <a:spcPts val="18648"/>
                </a:lnSpc>
              </a:pPr>
              <a:r>
                <a:rPr lang="en-US" sz="13320" spc="39">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Why?</a:t>
              </a:r>
            </a:p>
          </p:txBody>
        </p:sp>
      </p:grpSp>
      <p:sp>
        <p:nvSpPr>
          <p:cNvPr name="TextBox 32" id="32"/>
          <p:cNvSpPr txBox="true"/>
          <p:nvPr/>
        </p:nvSpPr>
        <p:spPr>
          <a:xfrm rot="0">
            <a:off x="2626674" y="3878386"/>
            <a:ext cx="3514512" cy="1520825"/>
          </a:xfrm>
          <a:prstGeom prst="rect">
            <a:avLst/>
          </a:prstGeom>
        </p:spPr>
        <p:txBody>
          <a:bodyPr anchor="t" rtlCol="false" tIns="0" lIns="0" bIns="0" rIns="0">
            <a:spAutoFit/>
          </a:bodyPr>
          <a:lstStyle/>
          <a:p>
            <a:pPr algn="ctr">
              <a:lnSpc>
                <a:spcPts val="5605"/>
              </a:lnSpc>
            </a:pPr>
            <a:r>
              <a:rPr lang="en-US" sz="5900" b="true">
                <a:solidFill>
                  <a:srgbClr val="FFFFFF"/>
                </a:solidFill>
                <a:latin typeface="Poppins Heavy"/>
                <a:ea typeface="Poppins Heavy"/>
                <a:cs typeface="Poppins Heavy"/>
                <a:sym typeface="Poppins Heavy"/>
              </a:rPr>
              <a:t>IT DEPENDS</a:t>
            </a:r>
          </a:p>
        </p:txBody>
      </p:sp>
      <p:grpSp>
        <p:nvGrpSpPr>
          <p:cNvPr name="Group 33" id="33"/>
          <p:cNvGrpSpPr/>
          <p:nvPr/>
        </p:nvGrpSpPr>
        <p:grpSpPr>
          <a:xfrm rot="0">
            <a:off x="3857803" y="6559486"/>
            <a:ext cx="10756617" cy="2036826"/>
            <a:chOff x="0" y="0"/>
            <a:chExt cx="14342157" cy="2715768"/>
          </a:xfrm>
        </p:grpSpPr>
        <p:grpSp>
          <p:nvGrpSpPr>
            <p:cNvPr name="Group 34" id="34"/>
            <p:cNvGrpSpPr/>
            <p:nvPr/>
          </p:nvGrpSpPr>
          <p:grpSpPr>
            <a:xfrm rot="0">
              <a:off x="168625" y="12700"/>
              <a:ext cx="14173532" cy="2665787"/>
              <a:chOff x="0" y="0"/>
              <a:chExt cx="1280731" cy="240883"/>
            </a:xfrm>
          </p:grpSpPr>
          <p:sp>
            <p:nvSpPr>
              <p:cNvPr name="Freeform 35" id="35"/>
              <p:cNvSpPr/>
              <p:nvPr/>
            </p:nvSpPr>
            <p:spPr>
              <a:xfrm flipH="false" flipV="false" rot="0">
                <a:off x="0" y="0"/>
                <a:ext cx="1280731" cy="240883"/>
              </a:xfrm>
              <a:custGeom>
                <a:avLst/>
                <a:gdLst/>
                <a:ahLst/>
                <a:cxnLst/>
                <a:rect r="r" b="b" t="t" l="l"/>
                <a:pathLst>
                  <a:path h="240883" w="1280731">
                    <a:moveTo>
                      <a:pt x="6828" y="0"/>
                    </a:moveTo>
                    <a:lnTo>
                      <a:pt x="1273903" y="0"/>
                    </a:lnTo>
                    <a:cubicBezTo>
                      <a:pt x="1275714" y="0"/>
                      <a:pt x="1277451" y="719"/>
                      <a:pt x="1278731" y="2000"/>
                    </a:cubicBezTo>
                    <a:cubicBezTo>
                      <a:pt x="1280012" y="3280"/>
                      <a:pt x="1280731" y="5017"/>
                      <a:pt x="1280731" y="6828"/>
                    </a:cubicBezTo>
                    <a:lnTo>
                      <a:pt x="1280731" y="234055"/>
                    </a:lnTo>
                    <a:cubicBezTo>
                      <a:pt x="1280731" y="235866"/>
                      <a:pt x="1280012" y="237602"/>
                      <a:pt x="1278731" y="238883"/>
                    </a:cubicBezTo>
                    <a:cubicBezTo>
                      <a:pt x="1277451" y="240163"/>
                      <a:pt x="1275714" y="240883"/>
                      <a:pt x="1273903" y="240883"/>
                    </a:cubicBezTo>
                    <a:lnTo>
                      <a:pt x="6828" y="240883"/>
                    </a:lnTo>
                    <a:cubicBezTo>
                      <a:pt x="5017" y="240883"/>
                      <a:pt x="3280" y="240163"/>
                      <a:pt x="2000" y="238883"/>
                    </a:cubicBezTo>
                    <a:cubicBezTo>
                      <a:pt x="719" y="237602"/>
                      <a:pt x="0" y="235866"/>
                      <a:pt x="0" y="234055"/>
                    </a:cubicBezTo>
                    <a:lnTo>
                      <a:pt x="0" y="6828"/>
                    </a:lnTo>
                    <a:cubicBezTo>
                      <a:pt x="0" y="5017"/>
                      <a:pt x="719" y="3280"/>
                      <a:pt x="2000" y="2000"/>
                    </a:cubicBezTo>
                    <a:cubicBezTo>
                      <a:pt x="3280" y="719"/>
                      <a:pt x="5017" y="0"/>
                      <a:pt x="6828" y="0"/>
                    </a:cubicBezTo>
                    <a:close/>
                  </a:path>
                </a:pathLst>
              </a:custGeom>
              <a:gradFill rotWithShape="true">
                <a:gsLst>
                  <a:gs pos="0">
                    <a:srgbClr val="FFFFFF">
                      <a:alpha val="100000"/>
                    </a:srgbClr>
                  </a:gs>
                  <a:gs pos="100000">
                    <a:srgbClr val="FFFFFF">
                      <a:alpha val="0"/>
                    </a:srgbClr>
                  </a:gs>
                </a:gsLst>
                <a:lin ang="0"/>
              </a:gradFill>
            </p:spPr>
          </p:sp>
          <p:sp>
            <p:nvSpPr>
              <p:cNvPr name="TextBox 36" id="36"/>
              <p:cNvSpPr txBox="true"/>
              <p:nvPr/>
            </p:nvSpPr>
            <p:spPr>
              <a:xfrm>
                <a:off x="0" y="28575"/>
                <a:ext cx="1280731" cy="212308"/>
              </a:xfrm>
              <a:prstGeom prst="rect">
                <a:avLst/>
              </a:prstGeom>
            </p:spPr>
            <p:txBody>
              <a:bodyPr anchor="ctr" rtlCol="false" tIns="42145" lIns="42145" bIns="42145" rIns="42145"/>
              <a:lstStyle/>
              <a:p>
                <a:pPr algn="ctr">
                  <a:lnSpc>
                    <a:spcPts val="1919"/>
                  </a:lnSpc>
                </a:pPr>
              </a:p>
            </p:txBody>
          </p:sp>
        </p:grpSp>
        <p:grpSp>
          <p:nvGrpSpPr>
            <p:cNvPr name="Group 37" id="37"/>
            <p:cNvGrpSpPr/>
            <p:nvPr/>
          </p:nvGrpSpPr>
          <p:grpSpPr>
            <a:xfrm rot="0">
              <a:off x="0" y="0"/>
              <a:ext cx="299496" cy="2715768"/>
              <a:chOff x="0" y="0"/>
              <a:chExt cx="46219" cy="419100"/>
            </a:xfrm>
          </p:grpSpPr>
          <p:sp>
            <p:nvSpPr>
              <p:cNvPr name="Freeform 38" id="38"/>
              <p:cNvSpPr/>
              <p:nvPr/>
            </p:nvSpPr>
            <p:spPr>
              <a:xfrm flipH="false" flipV="false" rot="0">
                <a:off x="0" y="0"/>
                <a:ext cx="46219" cy="419100"/>
              </a:xfrm>
              <a:custGeom>
                <a:avLst/>
                <a:gdLst/>
                <a:ahLst/>
                <a:cxnLst/>
                <a:rect r="r" b="b" t="t" l="l"/>
                <a:pathLst>
                  <a:path h="419100" w="46219">
                    <a:moveTo>
                      <a:pt x="23109" y="0"/>
                    </a:moveTo>
                    <a:lnTo>
                      <a:pt x="23109" y="0"/>
                    </a:lnTo>
                    <a:cubicBezTo>
                      <a:pt x="29238" y="0"/>
                      <a:pt x="35116" y="2435"/>
                      <a:pt x="39450" y="6769"/>
                    </a:cubicBezTo>
                    <a:cubicBezTo>
                      <a:pt x="43784" y="11102"/>
                      <a:pt x="46219" y="16980"/>
                      <a:pt x="46219" y="23109"/>
                    </a:cubicBezTo>
                    <a:lnTo>
                      <a:pt x="46219" y="395991"/>
                    </a:lnTo>
                    <a:cubicBezTo>
                      <a:pt x="46219" y="402120"/>
                      <a:pt x="43784" y="407998"/>
                      <a:pt x="39450" y="412331"/>
                    </a:cubicBezTo>
                    <a:cubicBezTo>
                      <a:pt x="35116" y="416665"/>
                      <a:pt x="29238" y="419100"/>
                      <a:pt x="23109" y="419100"/>
                    </a:cubicBezTo>
                    <a:lnTo>
                      <a:pt x="23109" y="419100"/>
                    </a:lnTo>
                    <a:cubicBezTo>
                      <a:pt x="16980" y="419100"/>
                      <a:pt x="11102" y="416665"/>
                      <a:pt x="6769" y="412331"/>
                    </a:cubicBezTo>
                    <a:cubicBezTo>
                      <a:pt x="2435" y="407998"/>
                      <a:pt x="0" y="402120"/>
                      <a:pt x="0" y="395991"/>
                    </a:cubicBezTo>
                    <a:lnTo>
                      <a:pt x="0" y="23109"/>
                    </a:lnTo>
                    <a:cubicBezTo>
                      <a:pt x="0" y="16980"/>
                      <a:pt x="2435" y="11102"/>
                      <a:pt x="6769" y="6769"/>
                    </a:cubicBezTo>
                    <a:cubicBezTo>
                      <a:pt x="11102" y="2435"/>
                      <a:pt x="16980" y="0"/>
                      <a:pt x="23109" y="0"/>
                    </a:cubicBezTo>
                    <a:close/>
                  </a:path>
                </a:pathLst>
              </a:custGeom>
              <a:solidFill>
                <a:srgbClr val="6E3125"/>
              </a:solidFill>
            </p:spPr>
          </p:sp>
          <p:sp>
            <p:nvSpPr>
              <p:cNvPr name="TextBox 39" id="39"/>
              <p:cNvSpPr txBox="true"/>
              <p:nvPr/>
            </p:nvSpPr>
            <p:spPr>
              <a:xfrm>
                <a:off x="0" y="28575"/>
                <a:ext cx="46219" cy="390525"/>
              </a:xfrm>
              <a:prstGeom prst="rect">
                <a:avLst/>
              </a:prstGeom>
            </p:spPr>
            <p:txBody>
              <a:bodyPr anchor="ctr" rtlCol="false" tIns="50800" lIns="50800" bIns="50800" rIns="50800"/>
              <a:lstStyle/>
              <a:p>
                <a:pPr algn="ctr">
                  <a:lnSpc>
                    <a:spcPts val="1919"/>
                  </a:lnSpc>
                </a:pPr>
              </a:p>
            </p:txBody>
          </p:sp>
        </p:grpSp>
        <p:sp>
          <p:nvSpPr>
            <p:cNvPr name="TextBox 40" id="40"/>
            <p:cNvSpPr txBox="true"/>
            <p:nvPr/>
          </p:nvSpPr>
          <p:spPr>
            <a:xfrm rot="0">
              <a:off x="789272" y="519289"/>
              <a:ext cx="12932236" cy="1662134"/>
            </a:xfrm>
            <a:prstGeom prst="rect">
              <a:avLst/>
            </a:prstGeom>
          </p:spPr>
          <p:txBody>
            <a:bodyPr anchor="t" rtlCol="false" tIns="0" lIns="0" bIns="0" rIns="0">
              <a:spAutoFit/>
            </a:bodyPr>
            <a:lstStyle/>
            <a:p>
              <a:pPr algn="l">
                <a:lnSpc>
                  <a:spcPts val="4708"/>
                </a:lnSpc>
              </a:pPr>
              <a:r>
                <a:rPr lang="en-US" sz="4400" b="true">
                  <a:solidFill>
                    <a:srgbClr val="6E3125"/>
                  </a:solidFill>
                  <a:latin typeface="Poppins Heavy"/>
                  <a:ea typeface="Poppins Heavy"/>
                  <a:cs typeface="Poppins Heavy"/>
                  <a:sym typeface="Poppins Heavy"/>
                </a:rPr>
                <a:t>What is the group losing? Whose job is it to fix this, his or theirs?</a:t>
              </a:r>
            </a:p>
          </p:txBody>
        </p:sp>
      </p:gr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271343" y="1105777"/>
            <a:ext cx="7487927" cy="1140886"/>
            <a:chOff x="0" y="0"/>
            <a:chExt cx="605413" cy="92243"/>
          </a:xfrm>
        </p:grpSpPr>
        <p:sp>
          <p:nvSpPr>
            <p:cNvPr name="Freeform 16" id="16"/>
            <p:cNvSpPr/>
            <p:nvPr/>
          </p:nvSpPr>
          <p:spPr>
            <a:xfrm flipH="false" flipV="false" rot="0">
              <a:off x="0" y="0"/>
              <a:ext cx="605413" cy="92243"/>
            </a:xfrm>
            <a:custGeom>
              <a:avLst/>
              <a:gdLst/>
              <a:ahLst/>
              <a:cxnLst/>
              <a:rect r="r" b="b" t="t" l="l"/>
              <a:pathLst>
                <a:path h="92243" w="605413">
                  <a:moveTo>
                    <a:pt x="46121" y="0"/>
                  </a:moveTo>
                  <a:lnTo>
                    <a:pt x="559292" y="0"/>
                  </a:lnTo>
                  <a:cubicBezTo>
                    <a:pt x="571524" y="0"/>
                    <a:pt x="583255" y="4859"/>
                    <a:pt x="591905" y="13509"/>
                  </a:cubicBezTo>
                  <a:cubicBezTo>
                    <a:pt x="600554" y="22158"/>
                    <a:pt x="605413" y="33889"/>
                    <a:pt x="605413" y="46121"/>
                  </a:cubicBezTo>
                  <a:lnTo>
                    <a:pt x="605413" y="46121"/>
                  </a:lnTo>
                  <a:cubicBezTo>
                    <a:pt x="605413" y="58354"/>
                    <a:pt x="600554" y="70085"/>
                    <a:pt x="591905" y="78734"/>
                  </a:cubicBezTo>
                  <a:cubicBezTo>
                    <a:pt x="583255" y="87384"/>
                    <a:pt x="571524" y="92243"/>
                    <a:pt x="559292" y="92243"/>
                  </a:cubicBezTo>
                  <a:lnTo>
                    <a:pt x="46121" y="92243"/>
                  </a:lnTo>
                  <a:cubicBezTo>
                    <a:pt x="33889" y="92243"/>
                    <a:pt x="22158" y="87384"/>
                    <a:pt x="13509" y="78734"/>
                  </a:cubicBezTo>
                  <a:cubicBezTo>
                    <a:pt x="4859" y="70085"/>
                    <a:pt x="0" y="58354"/>
                    <a:pt x="0" y="46121"/>
                  </a:cubicBezTo>
                  <a:lnTo>
                    <a:pt x="0" y="46121"/>
                  </a:lnTo>
                  <a:cubicBezTo>
                    <a:pt x="0" y="33889"/>
                    <a:pt x="4859" y="22158"/>
                    <a:pt x="13509" y="13509"/>
                  </a:cubicBezTo>
                  <a:cubicBezTo>
                    <a:pt x="22158" y="4859"/>
                    <a:pt x="33889" y="0"/>
                    <a:pt x="46121" y="0"/>
                  </a:cubicBezTo>
                  <a:close/>
                </a:path>
              </a:pathLst>
            </a:custGeom>
            <a:gradFill rotWithShape="true">
              <a:gsLst>
                <a:gs pos="0">
                  <a:srgbClr val="85200C">
                    <a:alpha val="100000"/>
                  </a:srgbClr>
                </a:gs>
                <a:gs pos="100000">
                  <a:srgbClr val="DC4B0F">
                    <a:alpha val="100000"/>
                  </a:srgbClr>
                </a:gs>
              </a:gsLst>
              <a:lin ang="0"/>
            </a:gradFill>
          </p:spPr>
        </p:sp>
        <p:sp>
          <p:nvSpPr>
            <p:cNvPr name="TextBox 17" id="17"/>
            <p:cNvSpPr txBox="true"/>
            <p:nvPr/>
          </p:nvSpPr>
          <p:spPr>
            <a:xfrm>
              <a:off x="0" y="28575"/>
              <a:ext cx="605413" cy="63668"/>
            </a:xfrm>
            <a:prstGeom prst="rect">
              <a:avLst/>
            </a:prstGeom>
          </p:spPr>
          <p:txBody>
            <a:bodyPr anchor="ctr" rtlCol="false" tIns="50800" lIns="50800" bIns="50800" rIns="50800"/>
            <a:lstStyle/>
            <a:p>
              <a:pPr algn="ctr">
                <a:lnSpc>
                  <a:spcPts val="1919"/>
                </a:lnSpc>
              </a:pPr>
            </a:p>
          </p:txBody>
        </p:sp>
      </p:grpSp>
      <p:grpSp>
        <p:nvGrpSpPr>
          <p:cNvPr name="Group 18" id="18"/>
          <p:cNvGrpSpPr/>
          <p:nvPr/>
        </p:nvGrpSpPr>
        <p:grpSpPr>
          <a:xfrm rot="0">
            <a:off x="2051027" y="2707540"/>
            <a:ext cx="14046712" cy="2449940"/>
            <a:chOff x="0" y="0"/>
            <a:chExt cx="18728950" cy="3266586"/>
          </a:xfrm>
        </p:grpSpPr>
        <p:grpSp>
          <p:nvGrpSpPr>
            <p:cNvPr name="Group 19" id="19"/>
            <p:cNvGrpSpPr/>
            <p:nvPr/>
          </p:nvGrpSpPr>
          <p:grpSpPr>
            <a:xfrm rot="0">
              <a:off x="0" y="0"/>
              <a:ext cx="18728950" cy="3266586"/>
              <a:chOff x="0" y="0"/>
              <a:chExt cx="1135704" cy="198082"/>
            </a:xfrm>
          </p:grpSpPr>
          <p:sp>
            <p:nvSpPr>
              <p:cNvPr name="Freeform 20" id="20"/>
              <p:cNvSpPr/>
              <p:nvPr/>
            </p:nvSpPr>
            <p:spPr>
              <a:xfrm flipH="false" flipV="false" rot="0">
                <a:off x="0" y="0"/>
                <a:ext cx="1135704" cy="198082"/>
              </a:xfrm>
              <a:custGeom>
                <a:avLst/>
                <a:gdLst/>
                <a:ahLst/>
                <a:cxnLst/>
                <a:rect r="r" b="b" t="t" l="l"/>
                <a:pathLst>
                  <a:path h="198082" w="1135704">
                    <a:moveTo>
                      <a:pt x="42628" y="0"/>
                    </a:moveTo>
                    <a:lnTo>
                      <a:pt x="1093075" y="0"/>
                    </a:lnTo>
                    <a:cubicBezTo>
                      <a:pt x="1104381" y="0"/>
                      <a:pt x="1115224" y="4491"/>
                      <a:pt x="1123218" y="12486"/>
                    </a:cubicBezTo>
                    <a:cubicBezTo>
                      <a:pt x="1131212" y="20480"/>
                      <a:pt x="1135704" y="31323"/>
                      <a:pt x="1135704" y="42628"/>
                    </a:cubicBezTo>
                    <a:lnTo>
                      <a:pt x="1135704" y="155454"/>
                    </a:lnTo>
                    <a:cubicBezTo>
                      <a:pt x="1135704" y="166760"/>
                      <a:pt x="1131212" y="177602"/>
                      <a:pt x="1123218" y="185597"/>
                    </a:cubicBezTo>
                    <a:cubicBezTo>
                      <a:pt x="1115224" y="193591"/>
                      <a:pt x="1104381" y="198082"/>
                      <a:pt x="1093075" y="198082"/>
                    </a:cubicBezTo>
                    <a:lnTo>
                      <a:pt x="42628" y="198082"/>
                    </a:lnTo>
                    <a:cubicBezTo>
                      <a:pt x="31323" y="198082"/>
                      <a:pt x="20480" y="193591"/>
                      <a:pt x="12486" y="185597"/>
                    </a:cubicBezTo>
                    <a:cubicBezTo>
                      <a:pt x="4491" y="177602"/>
                      <a:pt x="0" y="166760"/>
                      <a:pt x="0" y="155454"/>
                    </a:cubicBezTo>
                    <a:lnTo>
                      <a:pt x="0" y="42628"/>
                    </a:lnTo>
                    <a:cubicBezTo>
                      <a:pt x="0" y="31323"/>
                      <a:pt x="4491" y="20480"/>
                      <a:pt x="12486" y="12486"/>
                    </a:cubicBezTo>
                    <a:cubicBezTo>
                      <a:pt x="20480" y="4491"/>
                      <a:pt x="31323" y="0"/>
                      <a:pt x="42628" y="0"/>
                    </a:cubicBezTo>
                    <a:close/>
                  </a:path>
                </a:pathLst>
              </a:custGeom>
              <a:gradFill rotWithShape="true">
                <a:gsLst>
                  <a:gs pos="0">
                    <a:srgbClr val="85200C">
                      <a:alpha val="30000"/>
                    </a:srgbClr>
                  </a:gs>
                  <a:gs pos="100000">
                    <a:srgbClr val="DC4B0F">
                      <a:alpha val="100000"/>
                    </a:srgbClr>
                  </a:gs>
                </a:gsLst>
                <a:lin ang="0"/>
              </a:gradFill>
            </p:spPr>
          </p:sp>
          <p:sp>
            <p:nvSpPr>
              <p:cNvPr name="TextBox 21" id="21"/>
              <p:cNvSpPr txBox="true"/>
              <p:nvPr/>
            </p:nvSpPr>
            <p:spPr>
              <a:xfrm>
                <a:off x="0" y="28575"/>
                <a:ext cx="1135704" cy="169507"/>
              </a:xfrm>
              <a:prstGeom prst="rect">
                <a:avLst/>
              </a:prstGeom>
            </p:spPr>
            <p:txBody>
              <a:bodyPr anchor="ctr" rtlCol="false" tIns="50800" lIns="50800" bIns="50800" rIns="50800"/>
              <a:lstStyle/>
              <a:p>
                <a:pPr algn="ctr">
                  <a:lnSpc>
                    <a:spcPts val="1919"/>
                  </a:lnSpc>
                </a:pPr>
              </a:p>
            </p:txBody>
          </p:sp>
        </p:grpSp>
        <p:sp>
          <p:nvSpPr>
            <p:cNvPr name="TextBox 22" id="22"/>
            <p:cNvSpPr txBox="true"/>
            <p:nvPr/>
          </p:nvSpPr>
          <p:spPr>
            <a:xfrm rot="0">
              <a:off x="558221" y="531568"/>
              <a:ext cx="17739037" cy="2174875"/>
            </a:xfrm>
            <a:prstGeom prst="rect">
              <a:avLst/>
            </a:prstGeom>
          </p:spPr>
          <p:txBody>
            <a:bodyPr anchor="t" rtlCol="false" tIns="0" lIns="0" bIns="0" rIns="0">
              <a:spAutoFit/>
            </a:bodyPr>
            <a:lstStyle/>
            <a:p>
              <a:pPr algn="ctr">
                <a:lnSpc>
                  <a:spcPts val="3135"/>
                </a:lnSpc>
              </a:pPr>
              <a:r>
                <a:rPr lang="en-US" sz="3300" b="true">
                  <a:solidFill>
                    <a:srgbClr val="FFFFFF"/>
                  </a:solidFill>
                  <a:latin typeface="Poppins Semi-Bold"/>
                  <a:ea typeface="Poppins Semi-Bold"/>
                  <a:cs typeface="Poppins Semi-Bold"/>
                  <a:sym typeface="Poppins Semi-Bold"/>
                </a:rPr>
                <a:t>Ben told the group in week 6 he had three assessments due, proposed a smaller section now and a larger one in week 10, and asked if that worked. They agreed. He delivered both on time, and week 10 was the longest section in the report.</a:t>
              </a:r>
            </a:p>
          </p:txBody>
        </p:sp>
      </p:grpSp>
      <p:grpSp>
        <p:nvGrpSpPr>
          <p:cNvPr name="Group 23" id="23"/>
          <p:cNvGrpSpPr/>
          <p:nvPr/>
        </p:nvGrpSpPr>
        <p:grpSpPr>
          <a:xfrm rot="0">
            <a:off x="2086942" y="5524148"/>
            <a:ext cx="6705133" cy="2864363"/>
            <a:chOff x="0" y="0"/>
            <a:chExt cx="542123" cy="231589"/>
          </a:xfrm>
        </p:grpSpPr>
        <p:sp>
          <p:nvSpPr>
            <p:cNvPr name="Freeform 24" id="24"/>
            <p:cNvSpPr/>
            <p:nvPr/>
          </p:nvSpPr>
          <p:spPr>
            <a:xfrm flipH="false" flipV="false" rot="0">
              <a:off x="0" y="0"/>
              <a:ext cx="542123" cy="231589"/>
            </a:xfrm>
            <a:custGeom>
              <a:avLst/>
              <a:gdLst/>
              <a:ahLst/>
              <a:cxnLst/>
              <a:rect r="r" b="b" t="t" l="l"/>
              <a:pathLst>
                <a:path h="231589" w="542123">
                  <a:moveTo>
                    <a:pt x="68556" y="0"/>
                  </a:moveTo>
                  <a:lnTo>
                    <a:pt x="473567" y="0"/>
                  </a:lnTo>
                  <a:cubicBezTo>
                    <a:pt x="511429" y="0"/>
                    <a:pt x="542123" y="30694"/>
                    <a:pt x="542123" y="68556"/>
                  </a:cubicBezTo>
                  <a:lnTo>
                    <a:pt x="542123" y="163033"/>
                  </a:lnTo>
                  <a:cubicBezTo>
                    <a:pt x="542123" y="181215"/>
                    <a:pt x="534900" y="198653"/>
                    <a:pt x="522043" y="211510"/>
                  </a:cubicBezTo>
                  <a:cubicBezTo>
                    <a:pt x="509187" y="224366"/>
                    <a:pt x="491749" y="231589"/>
                    <a:pt x="473567" y="231589"/>
                  </a:cubicBezTo>
                  <a:lnTo>
                    <a:pt x="68556" y="231589"/>
                  </a:lnTo>
                  <a:cubicBezTo>
                    <a:pt x="50374" y="231589"/>
                    <a:pt x="32936" y="224366"/>
                    <a:pt x="20080" y="211510"/>
                  </a:cubicBezTo>
                  <a:cubicBezTo>
                    <a:pt x="7223" y="198653"/>
                    <a:pt x="0" y="181215"/>
                    <a:pt x="0" y="163033"/>
                  </a:cubicBezTo>
                  <a:lnTo>
                    <a:pt x="0" y="68556"/>
                  </a:lnTo>
                  <a:cubicBezTo>
                    <a:pt x="0" y="50374"/>
                    <a:pt x="7223" y="32936"/>
                    <a:pt x="20080" y="20080"/>
                  </a:cubicBezTo>
                  <a:cubicBezTo>
                    <a:pt x="32936" y="7223"/>
                    <a:pt x="50374" y="0"/>
                    <a:pt x="68556" y="0"/>
                  </a:cubicBezTo>
                  <a:close/>
                </a:path>
              </a:pathLst>
            </a:custGeom>
            <a:gradFill rotWithShape="true">
              <a:gsLst>
                <a:gs pos="0">
                  <a:srgbClr val="85200C">
                    <a:alpha val="30000"/>
                  </a:srgbClr>
                </a:gs>
                <a:gs pos="100000">
                  <a:srgbClr val="940000">
                    <a:alpha val="100000"/>
                  </a:srgbClr>
                </a:gs>
              </a:gsLst>
              <a:lin ang="0"/>
            </a:gradFill>
          </p:spPr>
        </p:sp>
        <p:sp>
          <p:nvSpPr>
            <p:cNvPr name="TextBox 25" id="25"/>
            <p:cNvSpPr txBox="true"/>
            <p:nvPr/>
          </p:nvSpPr>
          <p:spPr>
            <a:xfrm>
              <a:off x="0" y="28575"/>
              <a:ext cx="542123" cy="203014"/>
            </a:xfrm>
            <a:prstGeom prst="rect">
              <a:avLst/>
            </a:prstGeom>
          </p:spPr>
          <p:txBody>
            <a:bodyPr anchor="ctr" rtlCol="false" tIns="50800" lIns="50800" bIns="50800" rIns="50800"/>
            <a:lstStyle/>
            <a:p>
              <a:pPr algn="ctr">
                <a:lnSpc>
                  <a:spcPts val="1919"/>
                </a:lnSpc>
              </a:pPr>
            </a:p>
          </p:txBody>
        </p:sp>
      </p:grpSp>
      <p:grpSp>
        <p:nvGrpSpPr>
          <p:cNvPr name="Group 26" id="26"/>
          <p:cNvGrpSpPr/>
          <p:nvPr/>
        </p:nvGrpSpPr>
        <p:grpSpPr>
          <a:xfrm rot="0">
            <a:off x="9036459" y="5554638"/>
            <a:ext cx="6857760" cy="2864363"/>
            <a:chOff x="0" y="0"/>
            <a:chExt cx="9143680" cy="3819150"/>
          </a:xfrm>
        </p:grpSpPr>
        <p:grpSp>
          <p:nvGrpSpPr>
            <p:cNvPr name="Group 27" id="27"/>
            <p:cNvGrpSpPr/>
            <p:nvPr/>
          </p:nvGrpSpPr>
          <p:grpSpPr>
            <a:xfrm rot="0">
              <a:off x="50565" y="0"/>
              <a:ext cx="8869518" cy="3819150"/>
              <a:chOff x="0" y="0"/>
              <a:chExt cx="537838" cy="231589"/>
            </a:xfrm>
          </p:grpSpPr>
          <p:sp>
            <p:nvSpPr>
              <p:cNvPr name="Freeform 28" id="28"/>
              <p:cNvSpPr/>
              <p:nvPr/>
            </p:nvSpPr>
            <p:spPr>
              <a:xfrm flipH="false" flipV="false" rot="0">
                <a:off x="0" y="0"/>
                <a:ext cx="537838" cy="231589"/>
              </a:xfrm>
              <a:custGeom>
                <a:avLst/>
                <a:gdLst/>
                <a:ahLst/>
                <a:cxnLst/>
                <a:rect r="r" b="b" t="t" l="l"/>
                <a:pathLst>
                  <a:path h="231589" w="537838">
                    <a:moveTo>
                      <a:pt x="35130" y="0"/>
                    </a:moveTo>
                    <a:lnTo>
                      <a:pt x="502708" y="0"/>
                    </a:lnTo>
                    <a:cubicBezTo>
                      <a:pt x="512025" y="0"/>
                      <a:pt x="520961" y="3701"/>
                      <a:pt x="527549" y="10289"/>
                    </a:cubicBezTo>
                    <a:cubicBezTo>
                      <a:pt x="534137" y="16878"/>
                      <a:pt x="537838" y="25813"/>
                      <a:pt x="537838" y="35130"/>
                    </a:cubicBezTo>
                    <a:lnTo>
                      <a:pt x="537838" y="196459"/>
                    </a:lnTo>
                    <a:cubicBezTo>
                      <a:pt x="537838" y="205776"/>
                      <a:pt x="534137" y="214712"/>
                      <a:pt x="527549" y="221300"/>
                    </a:cubicBezTo>
                    <a:cubicBezTo>
                      <a:pt x="520961" y="227888"/>
                      <a:pt x="512025" y="231589"/>
                      <a:pt x="502708" y="231589"/>
                    </a:cubicBezTo>
                    <a:lnTo>
                      <a:pt x="35130" y="231589"/>
                    </a:lnTo>
                    <a:cubicBezTo>
                      <a:pt x="25813" y="231589"/>
                      <a:pt x="16878" y="227888"/>
                      <a:pt x="10289" y="221300"/>
                    </a:cubicBezTo>
                    <a:cubicBezTo>
                      <a:pt x="3701" y="214712"/>
                      <a:pt x="0" y="205776"/>
                      <a:pt x="0" y="196459"/>
                    </a:cubicBezTo>
                    <a:lnTo>
                      <a:pt x="0" y="35130"/>
                    </a:lnTo>
                    <a:cubicBezTo>
                      <a:pt x="0" y="25813"/>
                      <a:pt x="3701" y="16878"/>
                      <a:pt x="10289" y="10289"/>
                    </a:cubicBezTo>
                    <a:cubicBezTo>
                      <a:pt x="16878" y="3701"/>
                      <a:pt x="25813" y="0"/>
                      <a:pt x="35130" y="0"/>
                    </a:cubicBezTo>
                    <a:close/>
                  </a:path>
                </a:pathLst>
              </a:custGeom>
              <a:gradFill rotWithShape="true">
                <a:gsLst>
                  <a:gs pos="0">
                    <a:srgbClr val="85200C">
                      <a:alpha val="30000"/>
                    </a:srgbClr>
                  </a:gs>
                  <a:gs pos="100000">
                    <a:srgbClr val="008601">
                      <a:alpha val="100000"/>
                    </a:srgbClr>
                  </a:gs>
                </a:gsLst>
                <a:lin ang="0"/>
              </a:gradFill>
            </p:spPr>
          </p:sp>
          <p:sp>
            <p:nvSpPr>
              <p:cNvPr name="TextBox 29" id="29"/>
              <p:cNvSpPr txBox="true"/>
              <p:nvPr/>
            </p:nvSpPr>
            <p:spPr>
              <a:xfrm>
                <a:off x="0" y="28575"/>
                <a:ext cx="537838" cy="203014"/>
              </a:xfrm>
              <a:prstGeom prst="rect">
                <a:avLst/>
              </a:prstGeom>
            </p:spPr>
            <p:txBody>
              <a:bodyPr anchor="ctr" rtlCol="false" tIns="99925" lIns="99925" bIns="99925" rIns="99925"/>
              <a:lstStyle/>
              <a:p>
                <a:pPr algn="ctr">
                  <a:lnSpc>
                    <a:spcPts val="1919"/>
                  </a:lnSpc>
                </a:pPr>
              </a:p>
            </p:txBody>
          </p:sp>
        </p:grpSp>
        <p:sp>
          <p:nvSpPr>
            <p:cNvPr name="TextBox 30" id="30"/>
            <p:cNvSpPr txBox="true"/>
            <p:nvPr/>
          </p:nvSpPr>
          <p:spPr>
            <a:xfrm rot="0">
              <a:off x="0" y="656138"/>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GreenFlag</a:t>
              </a:r>
            </a:p>
          </p:txBody>
        </p:sp>
        <p:sp>
          <p:nvSpPr>
            <p:cNvPr name="TextBox 31" id="31"/>
            <p:cNvSpPr txBox="true"/>
            <p:nvPr/>
          </p:nvSpPr>
          <p:spPr>
            <a:xfrm rot="0">
              <a:off x="415950" y="506572"/>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Green Flag</a:t>
              </a:r>
            </a:p>
          </p:txBody>
        </p:sp>
      </p:grpSp>
      <p:sp>
        <p:nvSpPr>
          <p:cNvPr name="TextBox 32" id="32"/>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22</a:t>
            </a:r>
          </a:p>
        </p:txBody>
      </p:sp>
      <p:sp>
        <p:nvSpPr>
          <p:cNvPr name="TextBox 33" id="33"/>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34" id="34"/>
          <p:cNvSpPr txBox="true"/>
          <p:nvPr/>
        </p:nvSpPr>
        <p:spPr>
          <a:xfrm rot="0">
            <a:off x="415994" y="1418607"/>
            <a:ext cx="5981225" cy="549275"/>
          </a:xfrm>
          <a:prstGeom prst="rect">
            <a:avLst/>
          </a:prstGeom>
        </p:spPr>
        <p:txBody>
          <a:bodyPr anchor="t" rtlCol="false" tIns="0" lIns="0" bIns="0" rIns="0">
            <a:spAutoFit/>
          </a:bodyPr>
          <a:lstStyle/>
          <a:p>
            <a:pPr algn="l">
              <a:lnSpc>
                <a:spcPts val="3895"/>
              </a:lnSpc>
            </a:pPr>
            <a:r>
              <a:rPr lang="en-US" sz="4100" b="true">
                <a:solidFill>
                  <a:srgbClr val="FFFFFF"/>
                </a:solidFill>
                <a:latin typeface="Poppins Heavy"/>
                <a:ea typeface="Poppins Heavy"/>
                <a:cs typeface="Poppins Heavy"/>
                <a:sym typeface="Poppins Heavy"/>
              </a:rPr>
              <a:t>SCENARIO 8: Ben </a:t>
            </a:r>
          </a:p>
        </p:txBody>
      </p:sp>
      <p:grpSp>
        <p:nvGrpSpPr>
          <p:cNvPr name="Group 35" id="35"/>
          <p:cNvGrpSpPr/>
          <p:nvPr/>
        </p:nvGrpSpPr>
        <p:grpSpPr>
          <a:xfrm rot="0">
            <a:off x="2001030" y="6106016"/>
            <a:ext cx="6857760" cy="1869997"/>
            <a:chOff x="0" y="0"/>
            <a:chExt cx="9143680" cy="2493329"/>
          </a:xfrm>
        </p:grpSpPr>
        <p:sp>
          <p:nvSpPr>
            <p:cNvPr name="TextBox 36" id="36"/>
            <p:cNvSpPr txBox="true"/>
            <p:nvPr/>
          </p:nvSpPr>
          <p:spPr>
            <a:xfrm rot="0">
              <a:off x="0" y="-79033"/>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Red Flag</a:t>
              </a:r>
            </a:p>
          </p:txBody>
        </p:sp>
        <p:sp>
          <p:nvSpPr>
            <p:cNvPr name="TextBox 37" id="37"/>
            <p:cNvSpPr txBox="true"/>
            <p:nvPr/>
          </p:nvSpPr>
          <p:spPr>
            <a:xfrm rot="0">
              <a:off x="415950" y="-228600"/>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Red Flag</a:t>
              </a:r>
            </a:p>
          </p:txBody>
        </p:sp>
      </p:gr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761809" y="1287870"/>
            <a:ext cx="15278418" cy="1738677"/>
            <a:chOff x="0" y="0"/>
            <a:chExt cx="20371224" cy="2318236"/>
          </a:xfrm>
        </p:grpSpPr>
        <p:grpSp>
          <p:nvGrpSpPr>
            <p:cNvPr name="Group 16" id="16"/>
            <p:cNvGrpSpPr/>
            <p:nvPr/>
          </p:nvGrpSpPr>
          <p:grpSpPr>
            <a:xfrm rot="0">
              <a:off x="0" y="0"/>
              <a:ext cx="20371224" cy="2318236"/>
              <a:chOff x="0" y="0"/>
              <a:chExt cx="1488968" cy="169444"/>
            </a:xfrm>
          </p:grpSpPr>
          <p:sp>
            <p:nvSpPr>
              <p:cNvPr name="Freeform 17" id="17"/>
              <p:cNvSpPr/>
              <p:nvPr/>
            </p:nvSpPr>
            <p:spPr>
              <a:xfrm flipH="false" flipV="false" rot="0">
                <a:off x="0" y="0"/>
                <a:ext cx="1488968" cy="169444"/>
              </a:xfrm>
              <a:custGeom>
                <a:avLst/>
                <a:gdLst/>
                <a:ahLst/>
                <a:cxnLst/>
                <a:rect r="r" b="b" t="t" l="l"/>
                <a:pathLst>
                  <a:path h="169444" w="1488968">
                    <a:moveTo>
                      <a:pt x="32515" y="0"/>
                    </a:moveTo>
                    <a:lnTo>
                      <a:pt x="1456454" y="0"/>
                    </a:lnTo>
                    <a:cubicBezTo>
                      <a:pt x="1465077" y="0"/>
                      <a:pt x="1473347" y="3426"/>
                      <a:pt x="1479445" y="9523"/>
                    </a:cubicBezTo>
                    <a:cubicBezTo>
                      <a:pt x="1485543" y="15621"/>
                      <a:pt x="1488968" y="23891"/>
                      <a:pt x="1488968" y="32515"/>
                    </a:cubicBezTo>
                    <a:lnTo>
                      <a:pt x="1488968" y="136929"/>
                    </a:lnTo>
                    <a:cubicBezTo>
                      <a:pt x="1488968" y="145553"/>
                      <a:pt x="1485543" y="153823"/>
                      <a:pt x="1479445" y="159921"/>
                    </a:cubicBezTo>
                    <a:cubicBezTo>
                      <a:pt x="1473347" y="166018"/>
                      <a:pt x="1465077" y="169444"/>
                      <a:pt x="1456454" y="169444"/>
                    </a:cubicBezTo>
                    <a:lnTo>
                      <a:pt x="32515" y="169444"/>
                    </a:lnTo>
                    <a:cubicBezTo>
                      <a:pt x="23891" y="169444"/>
                      <a:pt x="15621" y="166018"/>
                      <a:pt x="9523" y="159921"/>
                    </a:cubicBezTo>
                    <a:cubicBezTo>
                      <a:pt x="3426" y="153823"/>
                      <a:pt x="0" y="145553"/>
                      <a:pt x="0" y="136929"/>
                    </a:cubicBezTo>
                    <a:lnTo>
                      <a:pt x="0" y="32515"/>
                    </a:lnTo>
                    <a:cubicBezTo>
                      <a:pt x="0" y="23891"/>
                      <a:pt x="3426" y="15621"/>
                      <a:pt x="9523" y="9523"/>
                    </a:cubicBezTo>
                    <a:cubicBezTo>
                      <a:pt x="15621" y="3426"/>
                      <a:pt x="23891" y="0"/>
                      <a:pt x="32515" y="0"/>
                    </a:cubicBezTo>
                    <a:close/>
                  </a:path>
                </a:pathLst>
              </a:custGeom>
              <a:gradFill rotWithShape="true">
                <a:gsLst>
                  <a:gs pos="0">
                    <a:srgbClr val="85200C">
                      <a:alpha val="100000"/>
                    </a:srgbClr>
                  </a:gs>
                  <a:gs pos="100000">
                    <a:srgbClr val="DC4B0F">
                      <a:alpha val="100000"/>
                    </a:srgbClr>
                  </a:gs>
                </a:gsLst>
                <a:lin ang="0"/>
              </a:gradFill>
            </p:spPr>
          </p:sp>
          <p:sp>
            <p:nvSpPr>
              <p:cNvPr name="TextBox 18" id="18"/>
              <p:cNvSpPr txBox="true"/>
              <p:nvPr/>
            </p:nvSpPr>
            <p:spPr>
              <a:xfrm>
                <a:off x="0" y="28575"/>
                <a:ext cx="1488968" cy="140869"/>
              </a:xfrm>
              <a:prstGeom prst="rect">
                <a:avLst/>
              </a:prstGeom>
            </p:spPr>
            <p:txBody>
              <a:bodyPr anchor="ctr" rtlCol="false" tIns="50800" lIns="50800" bIns="50800" rIns="50800"/>
              <a:lstStyle/>
              <a:p>
                <a:pPr algn="ctr">
                  <a:lnSpc>
                    <a:spcPts val="1919"/>
                  </a:lnSpc>
                </a:pPr>
              </a:p>
            </p:txBody>
          </p:sp>
        </p:grpSp>
        <p:sp>
          <p:nvSpPr>
            <p:cNvPr name="TextBox 19" id="19"/>
            <p:cNvSpPr txBox="true"/>
            <p:nvPr/>
          </p:nvSpPr>
          <p:spPr>
            <a:xfrm rot="0">
              <a:off x="607170" y="439593"/>
              <a:ext cx="19294509" cy="1413933"/>
            </a:xfrm>
            <a:prstGeom prst="rect">
              <a:avLst/>
            </a:prstGeom>
          </p:spPr>
          <p:txBody>
            <a:bodyPr anchor="t" rtlCol="false" tIns="0" lIns="0" bIns="0" rIns="0">
              <a:spAutoFit/>
            </a:bodyPr>
            <a:lstStyle/>
            <a:p>
              <a:pPr algn="ctr">
                <a:lnSpc>
                  <a:spcPts val="2659"/>
                </a:lnSpc>
              </a:pPr>
              <a:r>
                <a:rPr lang="en-US" sz="2799" b="true">
                  <a:solidFill>
                    <a:srgbClr val="FFFFFF"/>
                  </a:solidFill>
                  <a:latin typeface="Poppins Semi-Bold"/>
                  <a:ea typeface="Poppins Semi-Bold"/>
                  <a:cs typeface="Poppins Semi-Bold"/>
                  <a:sym typeface="Poppins Semi-Bold"/>
                </a:rPr>
                <a:t>Ben told the group in week 6 he had three assessments due, proposed a smaller section now and a larger one in week 10, and asked if that worked. They agreed. He delivered both on time, and week 10 was the longest section in the report.</a:t>
              </a:r>
            </a:p>
          </p:txBody>
        </p:sp>
      </p:grpSp>
      <p:grpSp>
        <p:nvGrpSpPr>
          <p:cNvPr name="Group 20" id="20"/>
          <p:cNvGrpSpPr/>
          <p:nvPr/>
        </p:nvGrpSpPr>
        <p:grpSpPr>
          <a:xfrm rot="0">
            <a:off x="1848619" y="3267658"/>
            <a:ext cx="5070623" cy="2864363"/>
            <a:chOff x="0" y="0"/>
            <a:chExt cx="409970" cy="231589"/>
          </a:xfrm>
        </p:grpSpPr>
        <p:sp>
          <p:nvSpPr>
            <p:cNvPr name="Freeform 21" id="21"/>
            <p:cNvSpPr/>
            <p:nvPr/>
          </p:nvSpPr>
          <p:spPr>
            <a:xfrm flipH="false" flipV="false" rot="0">
              <a:off x="0" y="0"/>
              <a:ext cx="409970" cy="231589"/>
            </a:xfrm>
            <a:custGeom>
              <a:avLst/>
              <a:gdLst/>
              <a:ahLst/>
              <a:cxnLst/>
              <a:rect r="r" b="b" t="t" l="l"/>
              <a:pathLst>
                <a:path h="231589" w="409970">
                  <a:moveTo>
                    <a:pt x="90655" y="0"/>
                  </a:moveTo>
                  <a:lnTo>
                    <a:pt x="319315" y="0"/>
                  </a:lnTo>
                  <a:cubicBezTo>
                    <a:pt x="343358" y="0"/>
                    <a:pt x="366416" y="9551"/>
                    <a:pt x="383417" y="26552"/>
                  </a:cubicBezTo>
                  <a:cubicBezTo>
                    <a:pt x="400418" y="43553"/>
                    <a:pt x="409970" y="66612"/>
                    <a:pt x="409970" y="90655"/>
                  </a:cubicBezTo>
                  <a:lnTo>
                    <a:pt x="409970" y="140934"/>
                  </a:lnTo>
                  <a:cubicBezTo>
                    <a:pt x="409970" y="164978"/>
                    <a:pt x="400418" y="188036"/>
                    <a:pt x="383417" y="205037"/>
                  </a:cubicBezTo>
                  <a:cubicBezTo>
                    <a:pt x="366416" y="222038"/>
                    <a:pt x="343358" y="231589"/>
                    <a:pt x="319315" y="231589"/>
                  </a:cubicBezTo>
                  <a:lnTo>
                    <a:pt x="90655" y="231589"/>
                  </a:lnTo>
                  <a:cubicBezTo>
                    <a:pt x="40588" y="231589"/>
                    <a:pt x="0" y="191002"/>
                    <a:pt x="0" y="140934"/>
                  </a:cubicBezTo>
                  <a:lnTo>
                    <a:pt x="0" y="90655"/>
                  </a:lnTo>
                  <a:cubicBezTo>
                    <a:pt x="0" y="66612"/>
                    <a:pt x="9551" y="43553"/>
                    <a:pt x="26552" y="26552"/>
                  </a:cubicBezTo>
                  <a:cubicBezTo>
                    <a:pt x="43553" y="9551"/>
                    <a:pt x="66612" y="0"/>
                    <a:pt x="90655" y="0"/>
                  </a:cubicBezTo>
                  <a:close/>
                </a:path>
              </a:pathLst>
            </a:custGeom>
            <a:gradFill rotWithShape="true">
              <a:gsLst>
                <a:gs pos="0">
                  <a:srgbClr val="85200C">
                    <a:alpha val="30000"/>
                  </a:srgbClr>
                </a:gs>
                <a:gs pos="100000">
                  <a:srgbClr val="008601">
                    <a:alpha val="100000"/>
                  </a:srgbClr>
                </a:gs>
              </a:gsLst>
              <a:lin ang="0"/>
            </a:gradFill>
          </p:spPr>
        </p:sp>
        <p:sp>
          <p:nvSpPr>
            <p:cNvPr name="TextBox 22" id="22"/>
            <p:cNvSpPr txBox="true"/>
            <p:nvPr/>
          </p:nvSpPr>
          <p:spPr>
            <a:xfrm>
              <a:off x="0" y="28575"/>
              <a:ext cx="409970" cy="203014"/>
            </a:xfrm>
            <a:prstGeom prst="rect">
              <a:avLst/>
            </a:prstGeom>
          </p:spPr>
          <p:txBody>
            <a:bodyPr anchor="ctr" rtlCol="false" tIns="50800" lIns="50800" bIns="50800" rIns="50800"/>
            <a:lstStyle/>
            <a:p>
              <a:pPr algn="ctr">
                <a:lnSpc>
                  <a:spcPts val="1919"/>
                </a:lnSpc>
              </a:pPr>
            </a:p>
          </p:txBody>
        </p:sp>
      </p:grpSp>
      <p:grpSp>
        <p:nvGrpSpPr>
          <p:cNvPr name="Group 23" id="23"/>
          <p:cNvGrpSpPr/>
          <p:nvPr/>
        </p:nvGrpSpPr>
        <p:grpSpPr>
          <a:xfrm rot="0">
            <a:off x="7218350" y="3300359"/>
            <a:ext cx="9821878" cy="2715306"/>
            <a:chOff x="0" y="0"/>
            <a:chExt cx="957198" cy="264622"/>
          </a:xfrm>
        </p:grpSpPr>
        <p:sp>
          <p:nvSpPr>
            <p:cNvPr name="Freeform 24" id="24"/>
            <p:cNvSpPr/>
            <p:nvPr/>
          </p:nvSpPr>
          <p:spPr>
            <a:xfrm flipH="false" flipV="false" rot="0">
              <a:off x="0" y="0"/>
              <a:ext cx="957198" cy="264622"/>
            </a:xfrm>
            <a:custGeom>
              <a:avLst/>
              <a:gdLst/>
              <a:ahLst/>
              <a:cxnLst/>
              <a:rect r="r" b="b" t="t" l="l"/>
              <a:pathLst>
                <a:path h="264622" w="957198">
                  <a:moveTo>
                    <a:pt x="60965" y="0"/>
                  </a:moveTo>
                  <a:lnTo>
                    <a:pt x="896233" y="0"/>
                  </a:lnTo>
                  <a:cubicBezTo>
                    <a:pt x="912402" y="0"/>
                    <a:pt x="927908" y="6423"/>
                    <a:pt x="939341" y="17856"/>
                  </a:cubicBezTo>
                  <a:cubicBezTo>
                    <a:pt x="950775" y="29289"/>
                    <a:pt x="957198" y="44796"/>
                    <a:pt x="957198" y="60965"/>
                  </a:cubicBezTo>
                  <a:lnTo>
                    <a:pt x="957198" y="203657"/>
                  </a:lnTo>
                  <a:cubicBezTo>
                    <a:pt x="957198" y="237327"/>
                    <a:pt x="929903" y="264622"/>
                    <a:pt x="896233" y="264622"/>
                  </a:cubicBezTo>
                  <a:lnTo>
                    <a:pt x="60965" y="264622"/>
                  </a:lnTo>
                  <a:cubicBezTo>
                    <a:pt x="27295" y="264622"/>
                    <a:pt x="0" y="237327"/>
                    <a:pt x="0" y="203657"/>
                  </a:cubicBezTo>
                  <a:lnTo>
                    <a:pt x="0" y="60965"/>
                  </a:lnTo>
                  <a:cubicBezTo>
                    <a:pt x="0" y="27295"/>
                    <a:pt x="27295" y="0"/>
                    <a:pt x="60965" y="0"/>
                  </a:cubicBezTo>
                  <a:close/>
                </a:path>
              </a:pathLst>
            </a:custGeom>
            <a:gradFill rotWithShape="true">
              <a:gsLst>
                <a:gs pos="0">
                  <a:srgbClr val="85200C">
                    <a:alpha val="30000"/>
                  </a:srgbClr>
                </a:gs>
                <a:gs pos="100000">
                  <a:srgbClr val="DC4B0F">
                    <a:alpha val="100000"/>
                  </a:srgbClr>
                </a:gs>
              </a:gsLst>
              <a:lin ang="0"/>
            </a:gradFill>
          </p:spPr>
        </p:sp>
        <p:sp>
          <p:nvSpPr>
            <p:cNvPr name="TextBox 25" id="25"/>
            <p:cNvSpPr txBox="true"/>
            <p:nvPr/>
          </p:nvSpPr>
          <p:spPr>
            <a:xfrm>
              <a:off x="0" y="28575"/>
              <a:ext cx="957198" cy="236047"/>
            </a:xfrm>
            <a:prstGeom prst="rect">
              <a:avLst/>
            </a:prstGeom>
          </p:spPr>
          <p:txBody>
            <a:bodyPr anchor="ctr" rtlCol="false" tIns="42145" lIns="42145" bIns="42145" rIns="42145"/>
            <a:lstStyle/>
            <a:p>
              <a:pPr algn="ctr">
                <a:lnSpc>
                  <a:spcPts val="1919"/>
                </a:lnSpc>
              </a:pPr>
            </a:p>
          </p:txBody>
        </p:sp>
      </p:grpSp>
      <p:sp>
        <p:nvSpPr>
          <p:cNvPr name="TextBox 26" id="26"/>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23</a:t>
            </a:r>
          </a:p>
        </p:txBody>
      </p:sp>
      <p:sp>
        <p:nvSpPr>
          <p:cNvPr name="TextBox 27" id="27"/>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28" id="28"/>
          <p:cNvSpPr txBox="true"/>
          <p:nvPr/>
        </p:nvSpPr>
        <p:spPr>
          <a:xfrm rot="0">
            <a:off x="11797590" y="3651238"/>
            <a:ext cx="4879373" cy="2051648"/>
          </a:xfrm>
          <a:prstGeom prst="rect">
            <a:avLst/>
          </a:prstGeom>
        </p:spPr>
        <p:txBody>
          <a:bodyPr anchor="t" rtlCol="false" tIns="0" lIns="0" bIns="0" rIns="0">
            <a:spAutoFit/>
          </a:bodyPr>
          <a:lstStyle/>
          <a:p>
            <a:pPr algn="l">
              <a:lnSpc>
                <a:spcPts val="2677"/>
              </a:lnSpc>
            </a:pPr>
            <a:r>
              <a:rPr lang="en-US" sz="2818" b="true">
                <a:solidFill>
                  <a:srgbClr val="FFFFFF"/>
                </a:solidFill>
                <a:latin typeface="Poppins Semi-Bold"/>
                <a:ea typeface="Poppins Semi-Bold"/>
                <a:cs typeface="Poppins Semi-Bold"/>
                <a:sym typeface="Poppins Semi-Bold"/>
              </a:rPr>
              <a:t>He didn’t ask to do less, he asked to do it differently, in advance, with a plan the group could accept or reject. Then he honoured it.</a:t>
            </a:r>
          </a:p>
        </p:txBody>
      </p:sp>
      <p:grpSp>
        <p:nvGrpSpPr>
          <p:cNvPr name="Group 29" id="29"/>
          <p:cNvGrpSpPr/>
          <p:nvPr/>
        </p:nvGrpSpPr>
        <p:grpSpPr>
          <a:xfrm rot="0">
            <a:off x="7098242" y="3722679"/>
            <a:ext cx="4796052" cy="2152728"/>
            <a:chOff x="0" y="0"/>
            <a:chExt cx="6394736" cy="2870304"/>
          </a:xfrm>
        </p:grpSpPr>
        <p:sp>
          <p:nvSpPr>
            <p:cNvPr name="TextBox 30" id="30"/>
            <p:cNvSpPr txBox="true"/>
            <p:nvPr/>
          </p:nvSpPr>
          <p:spPr>
            <a:xfrm rot="0">
              <a:off x="370530" y="-94520"/>
              <a:ext cx="6024207" cy="2964824"/>
            </a:xfrm>
            <a:prstGeom prst="rect">
              <a:avLst/>
            </a:prstGeom>
          </p:spPr>
          <p:txBody>
            <a:bodyPr anchor="t" rtlCol="false" tIns="0" lIns="0" bIns="0" rIns="0">
              <a:spAutoFit/>
            </a:bodyPr>
            <a:lstStyle/>
            <a:p>
              <a:pPr algn="ctr">
                <a:lnSpc>
                  <a:spcPts val="18648"/>
                </a:lnSpc>
              </a:pPr>
              <a:r>
                <a:rPr lang="en-US" sz="13320" spc="39">
                  <a:solidFill>
                    <a:srgbClr val="000000">
                      <a:alpha val="30980"/>
                    </a:srgbClr>
                  </a:solidFill>
                  <a:latin typeface="Milestone Script"/>
                  <a:ea typeface="Milestone Script"/>
                  <a:cs typeface="Milestone Script"/>
                  <a:sym typeface="Milestone Script"/>
                </a:rPr>
                <a:t>Why?</a:t>
              </a:r>
            </a:p>
          </p:txBody>
        </p:sp>
        <p:sp>
          <p:nvSpPr>
            <p:cNvPr name="TextBox 31" id="31"/>
            <p:cNvSpPr txBox="true"/>
            <p:nvPr/>
          </p:nvSpPr>
          <p:spPr>
            <a:xfrm rot="0">
              <a:off x="0" y="-266700"/>
              <a:ext cx="6263643" cy="2964824"/>
            </a:xfrm>
            <a:prstGeom prst="rect">
              <a:avLst/>
            </a:prstGeom>
          </p:spPr>
          <p:txBody>
            <a:bodyPr anchor="t" rtlCol="false" tIns="0" lIns="0" bIns="0" rIns="0">
              <a:spAutoFit/>
            </a:bodyPr>
            <a:lstStyle/>
            <a:p>
              <a:pPr algn="ctr">
                <a:lnSpc>
                  <a:spcPts val="18648"/>
                </a:lnSpc>
              </a:pPr>
              <a:r>
                <a:rPr lang="en-US" sz="13320" spc="39">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Why?</a:t>
              </a:r>
            </a:p>
          </p:txBody>
        </p:sp>
      </p:grpSp>
      <p:sp>
        <p:nvSpPr>
          <p:cNvPr name="TextBox 32" id="32"/>
          <p:cNvSpPr txBox="true"/>
          <p:nvPr/>
        </p:nvSpPr>
        <p:spPr>
          <a:xfrm rot="0">
            <a:off x="2626674" y="3906961"/>
            <a:ext cx="3514512" cy="1690531"/>
          </a:xfrm>
          <a:prstGeom prst="rect">
            <a:avLst/>
          </a:prstGeom>
        </p:spPr>
        <p:txBody>
          <a:bodyPr anchor="t" rtlCol="false" tIns="0" lIns="0" bIns="0" rIns="0">
            <a:spAutoFit/>
          </a:bodyPr>
          <a:lstStyle/>
          <a:p>
            <a:pPr algn="ctr">
              <a:lnSpc>
                <a:spcPts val="6252"/>
              </a:lnSpc>
            </a:pPr>
            <a:r>
              <a:rPr lang="en-US" sz="6582" b="true">
                <a:solidFill>
                  <a:srgbClr val="FFFFFF"/>
                </a:solidFill>
                <a:latin typeface="Poppins Heavy"/>
                <a:ea typeface="Poppins Heavy"/>
                <a:cs typeface="Poppins Heavy"/>
                <a:sym typeface="Poppins Heavy"/>
              </a:rPr>
              <a:t>GREEN FLAG</a:t>
            </a:r>
          </a:p>
        </p:txBody>
      </p:sp>
      <p:grpSp>
        <p:nvGrpSpPr>
          <p:cNvPr name="Group 33" id="33"/>
          <p:cNvGrpSpPr/>
          <p:nvPr/>
        </p:nvGrpSpPr>
        <p:grpSpPr>
          <a:xfrm rot="0">
            <a:off x="3857803" y="6559486"/>
            <a:ext cx="10756617" cy="2036826"/>
            <a:chOff x="0" y="0"/>
            <a:chExt cx="14342157" cy="2715768"/>
          </a:xfrm>
        </p:grpSpPr>
        <p:grpSp>
          <p:nvGrpSpPr>
            <p:cNvPr name="Group 34" id="34"/>
            <p:cNvGrpSpPr/>
            <p:nvPr/>
          </p:nvGrpSpPr>
          <p:grpSpPr>
            <a:xfrm rot="0">
              <a:off x="168625" y="12700"/>
              <a:ext cx="14173532" cy="2665787"/>
              <a:chOff x="0" y="0"/>
              <a:chExt cx="1280731" cy="240883"/>
            </a:xfrm>
          </p:grpSpPr>
          <p:sp>
            <p:nvSpPr>
              <p:cNvPr name="Freeform 35" id="35"/>
              <p:cNvSpPr/>
              <p:nvPr/>
            </p:nvSpPr>
            <p:spPr>
              <a:xfrm flipH="false" flipV="false" rot="0">
                <a:off x="0" y="0"/>
                <a:ext cx="1280731" cy="240883"/>
              </a:xfrm>
              <a:custGeom>
                <a:avLst/>
                <a:gdLst/>
                <a:ahLst/>
                <a:cxnLst/>
                <a:rect r="r" b="b" t="t" l="l"/>
                <a:pathLst>
                  <a:path h="240883" w="1280731">
                    <a:moveTo>
                      <a:pt x="6828" y="0"/>
                    </a:moveTo>
                    <a:lnTo>
                      <a:pt x="1273903" y="0"/>
                    </a:lnTo>
                    <a:cubicBezTo>
                      <a:pt x="1275714" y="0"/>
                      <a:pt x="1277451" y="719"/>
                      <a:pt x="1278731" y="2000"/>
                    </a:cubicBezTo>
                    <a:cubicBezTo>
                      <a:pt x="1280012" y="3280"/>
                      <a:pt x="1280731" y="5017"/>
                      <a:pt x="1280731" y="6828"/>
                    </a:cubicBezTo>
                    <a:lnTo>
                      <a:pt x="1280731" y="234055"/>
                    </a:lnTo>
                    <a:cubicBezTo>
                      <a:pt x="1280731" y="235866"/>
                      <a:pt x="1280012" y="237602"/>
                      <a:pt x="1278731" y="238883"/>
                    </a:cubicBezTo>
                    <a:cubicBezTo>
                      <a:pt x="1277451" y="240163"/>
                      <a:pt x="1275714" y="240883"/>
                      <a:pt x="1273903" y="240883"/>
                    </a:cubicBezTo>
                    <a:lnTo>
                      <a:pt x="6828" y="240883"/>
                    </a:lnTo>
                    <a:cubicBezTo>
                      <a:pt x="5017" y="240883"/>
                      <a:pt x="3280" y="240163"/>
                      <a:pt x="2000" y="238883"/>
                    </a:cubicBezTo>
                    <a:cubicBezTo>
                      <a:pt x="719" y="237602"/>
                      <a:pt x="0" y="235866"/>
                      <a:pt x="0" y="234055"/>
                    </a:cubicBezTo>
                    <a:lnTo>
                      <a:pt x="0" y="6828"/>
                    </a:lnTo>
                    <a:cubicBezTo>
                      <a:pt x="0" y="5017"/>
                      <a:pt x="719" y="3280"/>
                      <a:pt x="2000" y="2000"/>
                    </a:cubicBezTo>
                    <a:cubicBezTo>
                      <a:pt x="3280" y="719"/>
                      <a:pt x="5017" y="0"/>
                      <a:pt x="6828" y="0"/>
                    </a:cubicBezTo>
                    <a:close/>
                  </a:path>
                </a:pathLst>
              </a:custGeom>
              <a:gradFill rotWithShape="true">
                <a:gsLst>
                  <a:gs pos="0">
                    <a:srgbClr val="FFFFFF">
                      <a:alpha val="100000"/>
                    </a:srgbClr>
                  </a:gs>
                  <a:gs pos="100000">
                    <a:srgbClr val="FFFFFF">
                      <a:alpha val="0"/>
                    </a:srgbClr>
                  </a:gs>
                </a:gsLst>
                <a:lin ang="0"/>
              </a:gradFill>
            </p:spPr>
          </p:sp>
          <p:sp>
            <p:nvSpPr>
              <p:cNvPr name="TextBox 36" id="36"/>
              <p:cNvSpPr txBox="true"/>
              <p:nvPr/>
            </p:nvSpPr>
            <p:spPr>
              <a:xfrm>
                <a:off x="0" y="28575"/>
                <a:ext cx="1280731" cy="212308"/>
              </a:xfrm>
              <a:prstGeom prst="rect">
                <a:avLst/>
              </a:prstGeom>
            </p:spPr>
            <p:txBody>
              <a:bodyPr anchor="ctr" rtlCol="false" tIns="42145" lIns="42145" bIns="42145" rIns="42145"/>
              <a:lstStyle/>
              <a:p>
                <a:pPr algn="ctr">
                  <a:lnSpc>
                    <a:spcPts val="1919"/>
                  </a:lnSpc>
                </a:pPr>
              </a:p>
            </p:txBody>
          </p:sp>
        </p:grpSp>
        <p:grpSp>
          <p:nvGrpSpPr>
            <p:cNvPr name="Group 37" id="37"/>
            <p:cNvGrpSpPr/>
            <p:nvPr/>
          </p:nvGrpSpPr>
          <p:grpSpPr>
            <a:xfrm rot="0">
              <a:off x="0" y="0"/>
              <a:ext cx="299496" cy="2715768"/>
              <a:chOff x="0" y="0"/>
              <a:chExt cx="46219" cy="419100"/>
            </a:xfrm>
          </p:grpSpPr>
          <p:sp>
            <p:nvSpPr>
              <p:cNvPr name="Freeform 38" id="38"/>
              <p:cNvSpPr/>
              <p:nvPr/>
            </p:nvSpPr>
            <p:spPr>
              <a:xfrm flipH="false" flipV="false" rot="0">
                <a:off x="0" y="0"/>
                <a:ext cx="46219" cy="419100"/>
              </a:xfrm>
              <a:custGeom>
                <a:avLst/>
                <a:gdLst/>
                <a:ahLst/>
                <a:cxnLst/>
                <a:rect r="r" b="b" t="t" l="l"/>
                <a:pathLst>
                  <a:path h="419100" w="46219">
                    <a:moveTo>
                      <a:pt x="23109" y="0"/>
                    </a:moveTo>
                    <a:lnTo>
                      <a:pt x="23109" y="0"/>
                    </a:lnTo>
                    <a:cubicBezTo>
                      <a:pt x="29238" y="0"/>
                      <a:pt x="35116" y="2435"/>
                      <a:pt x="39450" y="6769"/>
                    </a:cubicBezTo>
                    <a:cubicBezTo>
                      <a:pt x="43784" y="11102"/>
                      <a:pt x="46219" y="16980"/>
                      <a:pt x="46219" y="23109"/>
                    </a:cubicBezTo>
                    <a:lnTo>
                      <a:pt x="46219" y="395991"/>
                    </a:lnTo>
                    <a:cubicBezTo>
                      <a:pt x="46219" y="402120"/>
                      <a:pt x="43784" y="407998"/>
                      <a:pt x="39450" y="412331"/>
                    </a:cubicBezTo>
                    <a:cubicBezTo>
                      <a:pt x="35116" y="416665"/>
                      <a:pt x="29238" y="419100"/>
                      <a:pt x="23109" y="419100"/>
                    </a:cubicBezTo>
                    <a:lnTo>
                      <a:pt x="23109" y="419100"/>
                    </a:lnTo>
                    <a:cubicBezTo>
                      <a:pt x="16980" y="419100"/>
                      <a:pt x="11102" y="416665"/>
                      <a:pt x="6769" y="412331"/>
                    </a:cubicBezTo>
                    <a:cubicBezTo>
                      <a:pt x="2435" y="407998"/>
                      <a:pt x="0" y="402120"/>
                      <a:pt x="0" y="395991"/>
                    </a:cubicBezTo>
                    <a:lnTo>
                      <a:pt x="0" y="23109"/>
                    </a:lnTo>
                    <a:cubicBezTo>
                      <a:pt x="0" y="16980"/>
                      <a:pt x="2435" y="11102"/>
                      <a:pt x="6769" y="6769"/>
                    </a:cubicBezTo>
                    <a:cubicBezTo>
                      <a:pt x="11102" y="2435"/>
                      <a:pt x="16980" y="0"/>
                      <a:pt x="23109" y="0"/>
                    </a:cubicBezTo>
                    <a:close/>
                  </a:path>
                </a:pathLst>
              </a:custGeom>
              <a:solidFill>
                <a:srgbClr val="6E3125"/>
              </a:solidFill>
            </p:spPr>
          </p:sp>
          <p:sp>
            <p:nvSpPr>
              <p:cNvPr name="TextBox 39" id="39"/>
              <p:cNvSpPr txBox="true"/>
              <p:nvPr/>
            </p:nvSpPr>
            <p:spPr>
              <a:xfrm>
                <a:off x="0" y="28575"/>
                <a:ext cx="46219" cy="390525"/>
              </a:xfrm>
              <a:prstGeom prst="rect">
                <a:avLst/>
              </a:prstGeom>
            </p:spPr>
            <p:txBody>
              <a:bodyPr anchor="ctr" rtlCol="false" tIns="50800" lIns="50800" bIns="50800" rIns="50800"/>
              <a:lstStyle/>
              <a:p>
                <a:pPr algn="ctr">
                  <a:lnSpc>
                    <a:spcPts val="1919"/>
                  </a:lnSpc>
                </a:pPr>
              </a:p>
            </p:txBody>
          </p:sp>
        </p:grpSp>
        <p:sp>
          <p:nvSpPr>
            <p:cNvPr name="TextBox 40" id="40"/>
            <p:cNvSpPr txBox="true"/>
            <p:nvPr/>
          </p:nvSpPr>
          <p:spPr>
            <a:xfrm rot="0">
              <a:off x="603275" y="209233"/>
              <a:ext cx="12932236" cy="2281005"/>
            </a:xfrm>
            <a:prstGeom prst="rect">
              <a:avLst/>
            </a:prstGeom>
          </p:spPr>
          <p:txBody>
            <a:bodyPr anchor="t" rtlCol="false" tIns="0" lIns="0" bIns="0" rIns="0">
              <a:spAutoFit/>
            </a:bodyPr>
            <a:lstStyle/>
            <a:p>
              <a:pPr algn="l">
                <a:lnSpc>
                  <a:spcPts val="4387"/>
                </a:lnSpc>
              </a:pPr>
              <a:r>
                <a:rPr lang="en-US" sz="4100" b="true">
                  <a:solidFill>
                    <a:srgbClr val="6E3125"/>
                  </a:solidFill>
                  <a:latin typeface="Poppins Heavy"/>
                  <a:ea typeface="Poppins Heavy"/>
                  <a:cs typeface="Poppins Heavy"/>
                  <a:sym typeface="Poppins Heavy"/>
                </a:rPr>
                <a:t>D</a:t>
              </a:r>
              <a:r>
                <a:rPr lang="en-US" sz="4100" b="true">
                  <a:solidFill>
                    <a:srgbClr val="6E3125"/>
                  </a:solidFill>
                  <a:latin typeface="Poppins Heavy"/>
                  <a:ea typeface="Poppins Heavy"/>
                  <a:cs typeface="Poppins Heavy"/>
                  <a:sym typeface="Poppins Heavy"/>
                </a:rPr>
                <a:t>oes the lighter fortnight change his percentage? What if he had told them in week 10 instead of week 6? </a:t>
              </a:r>
            </a:p>
          </p:txBody>
        </p:sp>
      </p:gr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271343" y="1105777"/>
            <a:ext cx="7487927" cy="1140886"/>
            <a:chOff x="0" y="0"/>
            <a:chExt cx="605413" cy="92243"/>
          </a:xfrm>
        </p:grpSpPr>
        <p:sp>
          <p:nvSpPr>
            <p:cNvPr name="Freeform 16" id="16"/>
            <p:cNvSpPr/>
            <p:nvPr/>
          </p:nvSpPr>
          <p:spPr>
            <a:xfrm flipH="false" flipV="false" rot="0">
              <a:off x="0" y="0"/>
              <a:ext cx="605413" cy="92243"/>
            </a:xfrm>
            <a:custGeom>
              <a:avLst/>
              <a:gdLst/>
              <a:ahLst/>
              <a:cxnLst/>
              <a:rect r="r" b="b" t="t" l="l"/>
              <a:pathLst>
                <a:path h="92243" w="605413">
                  <a:moveTo>
                    <a:pt x="46121" y="0"/>
                  </a:moveTo>
                  <a:lnTo>
                    <a:pt x="559292" y="0"/>
                  </a:lnTo>
                  <a:cubicBezTo>
                    <a:pt x="571524" y="0"/>
                    <a:pt x="583255" y="4859"/>
                    <a:pt x="591905" y="13509"/>
                  </a:cubicBezTo>
                  <a:cubicBezTo>
                    <a:pt x="600554" y="22158"/>
                    <a:pt x="605413" y="33889"/>
                    <a:pt x="605413" y="46121"/>
                  </a:cubicBezTo>
                  <a:lnTo>
                    <a:pt x="605413" y="46121"/>
                  </a:lnTo>
                  <a:cubicBezTo>
                    <a:pt x="605413" y="58354"/>
                    <a:pt x="600554" y="70085"/>
                    <a:pt x="591905" y="78734"/>
                  </a:cubicBezTo>
                  <a:cubicBezTo>
                    <a:pt x="583255" y="87384"/>
                    <a:pt x="571524" y="92243"/>
                    <a:pt x="559292" y="92243"/>
                  </a:cubicBezTo>
                  <a:lnTo>
                    <a:pt x="46121" y="92243"/>
                  </a:lnTo>
                  <a:cubicBezTo>
                    <a:pt x="33889" y="92243"/>
                    <a:pt x="22158" y="87384"/>
                    <a:pt x="13509" y="78734"/>
                  </a:cubicBezTo>
                  <a:cubicBezTo>
                    <a:pt x="4859" y="70085"/>
                    <a:pt x="0" y="58354"/>
                    <a:pt x="0" y="46121"/>
                  </a:cubicBezTo>
                  <a:lnTo>
                    <a:pt x="0" y="46121"/>
                  </a:lnTo>
                  <a:cubicBezTo>
                    <a:pt x="0" y="33889"/>
                    <a:pt x="4859" y="22158"/>
                    <a:pt x="13509" y="13509"/>
                  </a:cubicBezTo>
                  <a:cubicBezTo>
                    <a:pt x="22158" y="4859"/>
                    <a:pt x="33889" y="0"/>
                    <a:pt x="46121" y="0"/>
                  </a:cubicBezTo>
                  <a:close/>
                </a:path>
              </a:pathLst>
            </a:custGeom>
            <a:gradFill rotWithShape="true">
              <a:gsLst>
                <a:gs pos="0">
                  <a:srgbClr val="85200C">
                    <a:alpha val="100000"/>
                  </a:srgbClr>
                </a:gs>
                <a:gs pos="100000">
                  <a:srgbClr val="DC4B0F">
                    <a:alpha val="100000"/>
                  </a:srgbClr>
                </a:gs>
              </a:gsLst>
              <a:lin ang="0"/>
            </a:gradFill>
          </p:spPr>
        </p:sp>
        <p:sp>
          <p:nvSpPr>
            <p:cNvPr name="TextBox 17" id="17"/>
            <p:cNvSpPr txBox="true"/>
            <p:nvPr/>
          </p:nvSpPr>
          <p:spPr>
            <a:xfrm>
              <a:off x="0" y="28575"/>
              <a:ext cx="605413" cy="63668"/>
            </a:xfrm>
            <a:prstGeom prst="rect">
              <a:avLst/>
            </a:prstGeom>
          </p:spPr>
          <p:txBody>
            <a:bodyPr anchor="ctr" rtlCol="false" tIns="50800" lIns="50800" bIns="50800" rIns="50800"/>
            <a:lstStyle/>
            <a:p>
              <a:pPr algn="ctr">
                <a:lnSpc>
                  <a:spcPts val="1919"/>
                </a:lnSpc>
              </a:pPr>
            </a:p>
          </p:txBody>
        </p:sp>
      </p:grpSp>
      <p:grpSp>
        <p:nvGrpSpPr>
          <p:cNvPr name="Group 18" id="18"/>
          <p:cNvGrpSpPr/>
          <p:nvPr/>
        </p:nvGrpSpPr>
        <p:grpSpPr>
          <a:xfrm rot="0">
            <a:off x="2051027" y="2707540"/>
            <a:ext cx="14046712" cy="2059415"/>
            <a:chOff x="0" y="0"/>
            <a:chExt cx="18728950" cy="2745886"/>
          </a:xfrm>
        </p:grpSpPr>
        <p:grpSp>
          <p:nvGrpSpPr>
            <p:cNvPr name="Group 19" id="19"/>
            <p:cNvGrpSpPr/>
            <p:nvPr/>
          </p:nvGrpSpPr>
          <p:grpSpPr>
            <a:xfrm rot="0">
              <a:off x="0" y="0"/>
              <a:ext cx="18728950" cy="2745886"/>
              <a:chOff x="0" y="0"/>
              <a:chExt cx="1135704" cy="166508"/>
            </a:xfrm>
          </p:grpSpPr>
          <p:sp>
            <p:nvSpPr>
              <p:cNvPr name="Freeform 20" id="20"/>
              <p:cNvSpPr/>
              <p:nvPr/>
            </p:nvSpPr>
            <p:spPr>
              <a:xfrm flipH="false" flipV="false" rot="0">
                <a:off x="0" y="0"/>
                <a:ext cx="1135704" cy="166508"/>
              </a:xfrm>
              <a:custGeom>
                <a:avLst/>
                <a:gdLst/>
                <a:ahLst/>
                <a:cxnLst/>
                <a:rect r="r" b="b" t="t" l="l"/>
                <a:pathLst>
                  <a:path h="166508" w="1135704">
                    <a:moveTo>
                      <a:pt x="42628" y="0"/>
                    </a:moveTo>
                    <a:lnTo>
                      <a:pt x="1093075" y="0"/>
                    </a:lnTo>
                    <a:cubicBezTo>
                      <a:pt x="1104381" y="0"/>
                      <a:pt x="1115224" y="4491"/>
                      <a:pt x="1123218" y="12486"/>
                    </a:cubicBezTo>
                    <a:cubicBezTo>
                      <a:pt x="1131212" y="20480"/>
                      <a:pt x="1135704" y="31323"/>
                      <a:pt x="1135704" y="42628"/>
                    </a:cubicBezTo>
                    <a:lnTo>
                      <a:pt x="1135704" y="123879"/>
                    </a:lnTo>
                    <a:cubicBezTo>
                      <a:pt x="1135704" y="135185"/>
                      <a:pt x="1131212" y="146028"/>
                      <a:pt x="1123218" y="154022"/>
                    </a:cubicBezTo>
                    <a:cubicBezTo>
                      <a:pt x="1115224" y="162016"/>
                      <a:pt x="1104381" y="166508"/>
                      <a:pt x="1093075" y="166508"/>
                    </a:cubicBezTo>
                    <a:lnTo>
                      <a:pt x="42628" y="166508"/>
                    </a:lnTo>
                    <a:cubicBezTo>
                      <a:pt x="31323" y="166508"/>
                      <a:pt x="20480" y="162016"/>
                      <a:pt x="12486" y="154022"/>
                    </a:cubicBezTo>
                    <a:cubicBezTo>
                      <a:pt x="4491" y="146028"/>
                      <a:pt x="0" y="135185"/>
                      <a:pt x="0" y="123879"/>
                    </a:cubicBezTo>
                    <a:lnTo>
                      <a:pt x="0" y="42628"/>
                    </a:lnTo>
                    <a:cubicBezTo>
                      <a:pt x="0" y="31323"/>
                      <a:pt x="4491" y="20480"/>
                      <a:pt x="12486" y="12486"/>
                    </a:cubicBezTo>
                    <a:cubicBezTo>
                      <a:pt x="20480" y="4491"/>
                      <a:pt x="31323" y="0"/>
                      <a:pt x="42628" y="0"/>
                    </a:cubicBezTo>
                    <a:close/>
                  </a:path>
                </a:pathLst>
              </a:custGeom>
              <a:gradFill rotWithShape="true">
                <a:gsLst>
                  <a:gs pos="0">
                    <a:srgbClr val="85200C">
                      <a:alpha val="30000"/>
                    </a:srgbClr>
                  </a:gs>
                  <a:gs pos="100000">
                    <a:srgbClr val="DC4B0F">
                      <a:alpha val="100000"/>
                    </a:srgbClr>
                  </a:gs>
                </a:gsLst>
                <a:lin ang="0"/>
              </a:gradFill>
            </p:spPr>
          </p:sp>
          <p:sp>
            <p:nvSpPr>
              <p:cNvPr name="TextBox 21" id="21"/>
              <p:cNvSpPr txBox="true"/>
              <p:nvPr/>
            </p:nvSpPr>
            <p:spPr>
              <a:xfrm>
                <a:off x="0" y="28575"/>
                <a:ext cx="1135704" cy="137933"/>
              </a:xfrm>
              <a:prstGeom prst="rect">
                <a:avLst/>
              </a:prstGeom>
            </p:spPr>
            <p:txBody>
              <a:bodyPr anchor="ctr" rtlCol="false" tIns="50800" lIns="50800" bIns="50800" rIns="50800"/>
              <a:lstStyle/>
              <a:p>
                <a:pPr algn="ctr">
                  <a:lnSpc>
                    <a:spcPts val="1919"/>
                  </a:lnSpc>
                </a:pPr>
              </a:p>
            </p:txBody>
          </p:sp>
        </p:grpSp>
        <p:sp>
          <p:nvSpPr>
            <p:cNvPr name="TextBox 22" id="22"/>
            <p:cNvSpPr txBox="true"/>
            <p:nvPr/>
          </p:nvSpPr>
          <p:spPr>
            <a:xfrm rot="0">
              <a:off x="558221" y="531568"/>
              <a:ext cx="17739037" cy="1654175"/>
            </a:xfrm>
            <a:prstGeom prst="rect">
              <a:avLst/>
            </a:prstGeom>
          </p:spPr>
          <p:txBody>
            <a:bodyPr anchor="t" rtlCol="false" tIns="0" lIns="0" bIns="0" rIns="0">
              <a:spAutoFit/>
            </a:bodyPr>
            <a:lstStyle/>
            <a:p>
              <a:pPr algn="ctr">
                <a:lnSpc>
                  <a:spcPts val="3135"/>
                </a:lnSpc>
              </a:pPr>
              <a:r>
                <a:rPr lang="en-US" sz="3300" b="true">
                  <a:solidFill>
                    <a:srgbClr val="FFFFFF"/>
                  </a:solidFill>
                  <a:latin typeface="Poppins Semi-Bold"/>
                  <a:ea typeface="Poppins Semi-Bold"/>
                  <a:cs typeface="Poppins Semi-Bold"/>
                  <a:sym typeface="Poppins Semi-Bold"/>
                </a:rPr>
                <a:t>Josh has asked the group to reopen the recommendation three times. Each time he’s raised a real problem. The deadline is nine days away and nobody has started writing. </a:t>
              </a:r>
            </a:p>
          </p:txBody>
        </p:sp>
      </p:grpSp>
      <p:grpSp>
        <p:nvGrpSpPr>
          <p:cNvPr name="Group 23" id="23"/>
          <p:cNvGrpSpPr/>
          <p:nvPr/>
        </p:nvGrpSpPr>
        <p:grpSpPr>
          <a:xfrm rot="0">
            <a:off x="2086942" y="5524148"/>
            <a:ext cx="6705133" cy="2864363"/>
            <a:chOff x="0" y="0"/>
            <a:chExt cx="542123" cy="231589"/>
          </a:xfrm>
        </p:grpSpPr>
        <p:sp>
          <p:nvSpPr>
            <p:cNvPr name="Freeform 24" id="24"/>
            <p:cNvSpPr/>
            <p:nvPr/>
          </p:nvSpPr>
          <p:spPr>
            <a:xfrm flipH="false" flipV="false" rot="0">
              <a:off x="0" y="0"/>
              <a:ext cx="542123" cy="231589"/>
            </a:xfrm>
            <a:custGeom>
              <a:avLst/>
              <a:gdLst/>
              <a:ahLst/>
              <a:cxnLst/>
              <a:rect r="r" b="b" t="t" l="l"/>
              <a:pathLst>
                <a:path h="231589" w="542123">
                  <a:moveTo>
                    <a:pt x="68556" y="0"/>
                  </a:moveTo>
                  <a:lnTo>
                    <a:pt x="473567" y="0"/>
                  </a:lnTo>
                  <a:cubicBezTo>
                    <a:pt x="511429" y="0"/>
                    <a:pt x="542123" y="30694"/>
                    <a:pt x="542123" y="68556"/>
                  </a:cubicBezTo>
                  <a:lnTo>
                    <a:pt x="542123" y="163033"/>
                  </a:lnTo>
                  <a:cubicBezTo>
                    <a:pt x="542123" y="181215"/>
                    <a:pt x="534900" y="198653"/>
                    <a:pt x="522043" y="211510"/>
                  </a:cubicBezTo>
                  <a:cubicBezTo>
                    <a:pt x="509187" y="224366"/>
                    <a:pt x="491749" y="231589"/>
                    <a:pt x="473567" y="231589"/>
                  </a:cubicBezTo>
                  <a:lnTo>
                    <a:pt x="68556" y="231589"/>
                  </a:lnTo>
                  <a:cubicBezTo>
                    <a:pt x="50374" y="231589"/>
                    <a:pt x="32936" y="224366"/>
                    <a:pt x="20080" y="211510"/>
                  </a:cubicBezTo>
                  <a:cubicBezTo>
                    <a:pt x="7223" y="198653"/>
                    <a:pt x="0" y="181215"/>
                    <a:pt x="0" y="163033"/>
                  </a:cubicBezTo>
                  <a:lnTo>
                    <a:pt x="0" y="68556"/>
                  </a:lnTo>
                  <a:cubicBezTo>
                    <a:pt x="0" y="50374"/>
                    <a:pt x="7223" y="32936"/>
                    <a:pt x="20080" y="20080"/>
                  </a:cubicBezTo>
                  <a:cubicBezTo>
                    <a:pt x="32936" y="7223"/>
                    <a:pt x="50374" y="0"/>
                    <a:pt x="68556" y="0"/>
                  </a:cubicBezTo>
                  <a:close/>
                </a:path>
              </a:pathLst>
            </a:custGeom>
            <a:gradFill rotWithShape="true">
              <a:gsLst>
                <a:gs pos="0">
                  <a:srgbClr val="85200C">
                    <a:alpha val="30000"/>
                  </a:srgbClr>
                </a:gs>
                <a:gs pos="100000">
                  <a:srgbClr val="940000">
                    <a:alpha val="100000"/>
                  </a:srgbClr>
                </a:gs>
              </a:gsLst>
              <a:lin ang="0"/>
            </a:gradFill>
          </p:spPr>
        </p:sp>
        <p:sp>
          <p:nvSpPr>
            <p:cNvPr name="TextBox 25" id="25"/>
            <p:cNvSpPr txBox="true"/>
            <p:nvPr/>
          </p:nvSpPr>
          <p:spPr>
            <a:xfrm>
              <a:off x="0" y="28575"/>
              <a:ext cx="542123" cy="203014"/>
            </a:xfrm>
            <a:prstGeom prst="rect">
              <a:avLst/>
            </a:prstGeom>
          </p:spPr>
          <p:txBody>
            <a:bodyPr anchor="ctr" rtlCol="false" tIns="50800" lIns="50800" bIns="50800" rIns="50800"/>
            <a:lstStyle/>
            <a:p>
              <a:pPr algn="ctr">
                <a:lnSpc>
                  <a:spcPts val="1919"/>
                </a:lnSpc>
              </a:pPr>
            </a:p>
          </p:txBody>
        </p:sp>
      </p:grpSp>
      <p:grpSp>
        <p:nvGrpSpPr>
          <p:cNvPr name="Group 26" id="26"/>
          <p:cNvGrpSpPr/>
          <p:nvPr/>
        </p:nvGrpSpPr>
        <p:grpSpPr>
          <a:xfrm rot="0">
            <a:off x="9036459" y="5554638"/>
            <a:ext cx="6857760" cy="2864363"/>
            <a:chOff x="0" y="0"/>
            <a:chExt cx="9143680" cy="3819150"/>
          </a:xfrm>
        </p:grpSpPr>
        <p:grpSp>
          <p:nvGrpSpPr>
            <p:cNvPr name="Group 27" id="27"/>
            <p:cNvGrpSpPr/>
            <p:nvPr/>
          </p:nvGrpSpPr>
          <p:grpSpPr>
            <a:xfrm rot="0">
              <a:off x="50565" y="0"/>
              <a:ext cx="8869518" cy="3819150"/>
              <a:chOff x="0" y="0"/>
              <a:chExt cx="537838" cy="231589"/>
            </a:xfrm>
          </p:grpSpPr>
          <p:sp>
            <p:nvSpPr>
              <p:cNvPr name="Freeform 28" id="28"/>
              <p:cNvSpPr/>
              <p:nvPr/>
            </p:nvSpPr>
            <p:spPr>
              <a:xfrm flipH="false" flipV="false" rot="0">
                <a:off x="0" y="0"/>
                <a:ext cx="537838" cy="231589"/>
              </a:xfrm>
              <a:custGeom>
                <a:avLst/>
                <a:gdLst/>
                <a:ahLst/>
                <a:cxnLst/>
                <a:rect r="r" b="b" t="t" l="l"/>
                <a:pathLst>
                  <a:path h="231589" w="537838">
                    <a:moveTo>
                      <a:pt x="35130" y="0"/>
                    </a:moveTo>
                    <a:lnTo>
                      <a:pt x="502708" y="0"/>
                    </a:lnTo>
                    <a:cubicBezTo>
                      <a:pt x="512025" y="0"/>
                      <a:pt x="520961" y="3701"/>
                      <a:pt x="527549" y="10289"/>
                    </a:cubicBezTo>
                    <a:cubicBezTo>
                      <a:pt x="534137" y="16878"/>
                      <a:pt x="537838" y="25813"/>
                      <a:pt x="537838" y="35130"/>
                    </a:cubicBezTo>
                    <a:lnTo>
                      <a:pt x="537838" y="196459"/>
                    </a:lnTo>
                    <a:cubicBezTo>
                      <a:pt x="537838" y="205776"/>
                      <a:pt x="534137" y="214712"/>
                      <a:pt x="527549" y="221300"/>
                    </a:cubicBezTo>
                    <a:cubicBezTo>
                      <a:pt x="520961" y="227888"/>
                      <a:pt x="512025" y="231589"/>
                      <a:pt x="502708" y="231589"/>
                    </a:cubicBezTo>
                    <a:lnTo>
                      <a:pt x="35130" y="231589"/>
                    </a:lnTo>
                    <a:cubicBezTo>
                      <a:pt x="25813" y="231589"/>
                      <a:pt x="16878" y="227888"/>
                      <a:pt x="10289" y="221300"/>
                    </a:cubicBezTo>
                    <a:cubicBezTo>
                      <a:pt x="3701" y="214712"/>
                      <a:pt x="0" y="205776"/>
                      <a:pt x="0" y="196459"/>
                    </a:cubicBezTo>
                    <a:lnTo>
                      <a:pt x="0" y="35130"/>
                    </a:lnTo>
                    <a:cubicBezTo>
                      <a:pt x="0" y="25813"/>
                      <a:pt x="3701" y="16878"/>
                      <a:pt x="10289" y="10289"/>
                    </a:cubicBezTo>
                    <a:cubicBezTo>
                      <a:pt x="16878" y="3701"/>
                      <a:pt x="25813" y="0"/>
                      <a:pt x="35130" y="0"/>
                    </a:cubicBezTo>
                    <a:close/>
                  </a:path>
                </a:pathLst>
              </a:custGeom>
              <a:gradFill rotWithShape="true">
                <a:gsLst>
                  <a:gs pos="0">
                    <a:srgbClr val="85200C">
                      <a:alpha val="30000"/>
                    </a:srgbClr>
                  </a:gs>
                  <a:gs pos="100000">
                    <a:srgbClr val="008601">
                      <a:alpha val="100000"/>
                    </a:srgbClr>
                  </a:gs>
                </a:gsLst>
                <a:lin ang="0"/>
              </a:gradFill>
            </p:spPr>
          </p:sp>
          <p:sp>
            <p:nvSpPr>
              <p:cNvPr name="TextBox 29" id="29"/>
              <p:cNvSpPr txBox="true"/>
              <p:nvPr/>
            </p:nvSpPr>
            <p:spPr>
              <a:xfrm>
                <a:off x="0" y="28575"/>
                <a:ext cx="537838" cy="203014"/>
              </a:xfrm>
              <a:prstGeom prst="rect">
                <a:avLst/>
              </a:prstGeom>
            </p:spPr>
            <p:txBody>
              <a:bodyPr anchor="ctr" rtlCol="false" tIns="99925" lIns="99925" bIns="99925" rIns="99925"/>
              <a:lstStyle/>
              <a:p>
                <a:pPr algn="ctr">
                  <a:lnSpc>
                    <a:spcPts val="1919"/>
                  </a:lnSpc>
                </a:pPr>
              </a:p>
            </p:txBody>
          </p:sp>
        </p:grpSp>
        <p:sp>
          <p:nvSpPr>
            <p:cNvPr name="TextBox 30" id="30"/>
            <p:cNvSpPr txBox="true"/>
            <p:nvPr/>
          </p:nvSpPr>
          <p:spPr>
            <a:xfrm rot="0">
              <a:off x="0" y="656138"/>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GreenFlag</a:t>
              </a:r>
            </a:p>
          </p:txBody>
        </p:sp>
        <p:sp>
          <p:nvSpPr>
            <p:cNvPr name="TextBox 31" id="31"/>
            <p:cNvSpPr txBox="true"/>
            <p:nvPr/>
          </p:nvSpPr>
          <p:spPr>
            <a:xfrm rot="0">
              <a:off x="415950" y="506572"/>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Green Flag</a:t>
              </a:r>
            </a:p>
          </p:txBody>
        </p:sp>
      </p:grpSp>
      <p:sp>
        <p:nvSpPr>
          <p:cNvPr name="TextBox 32" id="32"/>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24</a:t>
            </a:r>
          </a:p>
        </p:txBody>
      </p:sp>
      <p:sp>
        <p:nvSpPr>
          <p:cNvPr name="TextBox 33" id="33"/>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34" id="34"/>
          <p:cNvSpPr txBox="true"/>
          <p:nvPr/>
        </p:nvSpPr>
        <p:spPr>
          <a:xfrm rot="0">
            <a:off x="415994" y="1418607"/>
            <a:ext cx="5981225" cy="549275"/>
          </a:xfrm>
          <a:prstGeom prst="rect">
            <a:avLst/>
          </a:prstGeom>
        </p:spPr>
        <p:txBody>
          <a:bodyPr anchor="t" rtlCol="false" tIns="0" lIns="0" bIns="0" rIns="0">
            <a:spAutoFit/>
          </a:bodyPr>
          <a:lstStyle/>
          <a:p>
            <a:pPr algn="l">
              <a:lnSpc>
                <a:spcPts val="3895"/>
              </a:lnSpc>
            </a:pPr>
            <a:r>
              <a:rPr lang="en-US" sz="4100" b="true">
                <a:solidFill>
                  <a:srgbClr val="FFFFFF"/>
                </a:solidFill>
                <a:latin typeface="Poppins Heavy"/>
                <a:ea typeface="Poppins Heavy"/>
                <a:cs typeface="Poppins Heavy"/>
                <a:sym typeface="Poppins Heavy"/>
              </a:rPr>
              <a:t>SCENARIO 9: JOSH </a:t>
            </a:r>
          </a:p>
        </p:txBody>
      </p:sp>
      <p:grpSp>
        <p:nvGrpSpPr>
          <p:cNvPr name="Group 35" id="35"/>
          <p:cNvGrpSpPr/>
          <p:nvPr/>
        </p:nvGrpSpPr>
        <p:grpSpPr>
          <a:xfrm rot="0">
            <a:off x="2001030" y="6106016"/>
            <a:ext cx="6857760" cy="1869997"/>
            <a:chOff x="0" y="0"/>
            <a:chExt cx="9143680" cy="2493329"/>
          </a:xfrm>
        </p:grpSpPr>
        <p:sp>
          <p:nvSpPr>
            <p:cNvPr name="TextBox 36" id="36"/>
            <p:cNvSpPr txBox="true"/>
            <p:nvPr/>
          </p:nvSpPr>
          <p:spPr>
            <a:xfrm rot="0">
              <a:off x="0" y="-79033"/>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Red Flag</a:t>
              </a:r>
            </a:p>
          </p:txBody>
        </p:sp>
        <p:sp>
          <p:nvSpPr>
            <p:cNvPr name="TextBox 37" id="37"/>
            <p:cNvSpPr txBox="true"/>
            <p:nvPr/>
          </p:nvSpPr>
          <p:spPr>
            <a:xfrm rot="0">
              <a:off x="415950" y="-228600"/>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Red Flag</a:t>
              </a:r>
            </a:p>
          </p:txBody>
        </p:sp>
      </p:grpSp>
    </p:spTree>
  </p:cSld>
  <p:clrMapOvr>
    <a:masterClrMapping/>
  </p:clrMapOvr>
</p:sld>
</file>

<file path=ppt/slides/slide26.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761809" y="1287870"/>
            <a:ext cx="15278418" cy="1758535"/>
            <a:chOff x="0" y="0"/>
            <a:chExt cx="20371224" cy="2344713"/>
          </a:xfrm>
        </p:grpSpPr>
        <p:grpSp>
          <p:nvGrpSpPr>
            <p:cNvPr name="Group 16" id="16"/>
            <p:cNvGrpSpPr/>
            <p:nvPr/>
          </p:nvGrpSpPr>
          <p:grpSpPr>
            <a:xfrm rot="0">
              <a:off x="0" y="0"/>
              <a:ext cx="20371224" cy="2344713"/>
              <a:chOff x="0" y="0"/>
              <a:chExt cx="1488968" cy="171379"/>
            </a:xfrm>
          </p:grpSpPr>
          <p:sp>
            <p:nvSpPr>
              <p:cNvPr name="Freeform 17" id="17"/>
              <p:cNvSpPr/>
              <p:nvPr/>
            </p:nvSpPr>
            <p:spPr>
              <a:xfrm flipH="false" flipV="false" rot="0">
                <a:off x="0" y="0"/>
                <a:ext cx="1488968" cy="171379"/>
              </a:xfrm>
              <a:custGeom>
                <a:avLst/>
                <a:gdLst/>
                <a:ahLst/>
                <a:cxnLst/>
                <a:rect r="r" b="b" t="t" l="l"/>
                <a:pathLst>
                  <a:path h="171379" w="1488968">
                    <a:moveTo>
                      <a:pt x="32515" y="0"/>
                    </a:moveTo>
                    <a:lnTo>
                      <a:pt x="1456454" y="0"/>
                    </a:lnTo>
                    <a:cubicBezTo>
                      <a:pt x="1465077" y="0"/>
                      <a:pt x="1473347" y="3426"/>
                      <a:pt x="1479445" y="9523"/>
                    </a:cubicBezTo>
                    <a:cubicBezTo>
                      <a:pt x="1485543" y="15621"/>
                      <a:pt x="1488968" y="23891"/>
                      <a:pt x="1488968" y="32515"/>
                    </a:cubicBezTo>
                    <a:lnTo>
                      <a:pt x="1488968" y="138865"/>
                    </a:lnTo>
                    <a:cubicBezTo>
                      <a:pt x="1488968" y="156822"/>
                      <a:pt x="1474411" y="171379"/>
                      <a:pt x="1456454" y="171379"/>
                    </a:cubicBezTo>
                    <a:lnTo>
                      <a:pt x="32515" y="171379"/>
                    </a:lnTo>
                    <a:cubicBezTo>
                      <a:pt x="14557" y="171379"/>
                      <a:pt x="0" y="156822"/>
                      <a:pt x="0" y="138865"/>
                    </a:cubicBezTo>
                    <a:lnTo>
                      <a:pt x="0" y="32515"/>
                    </a:lnTo>
                    <a:cubicBezTo>
                      <a:pt x="0" y="23891"/>
                      <a:pt x="3426" y="15621"/>
                      <a:pt x="9523" y="9523"/>
                    </a:cubicBezTo>
                    <a:cubicBezTo>
                      <a:pt x="15621" y="3426"/>
                      <a:pt x="23891" y="0"/>
                      <a:pt x="32515" y="0"/>
                    </a:cubicBezTo>
                    <a:close/>
                  </a:path>
                </a:pathLst>
              </a:custGeom>
              <a:gradFill rotWithShape="true">
                <a:gsLst>
                  <a:gs pos="0">
                    <a:srgbClr val="85200C">
                      <a:alpha val="100000"/>
                    </a:srgbClr>
                  </a:gs>
                  <a:gs pos="100000">
                    <a:srgbClr val="DC4B0F">
                      <a:alpha val="100000"/>
                    </a:srgbClr>
                  </a:gs>
                </a:gsLst>
                <a:lin ang="0"/>
              </a:gradFill>
            </p:spPr>
          </p:sp>
          <p:sp>
            <p:nvSpPr>
              <p:cNvPr name="TextBox 18" id="18"/>
              <p:cNvSpPr txBox="true"/>
              <p:nvPr/>
            </p:nvSpPr>
            <p:spPr>
              <a:xfrm>
                <a:off x="0" y="28575"/>
                <a:ext cx="1488968" cy="142804"/>
              </a:xfrm>
              <a:prstGeom prst="rect">
                <a:avLst/>
              </a:prstGeom>
            </p:spPr>
            <p:txBody>
              <a:bodyPr anchor="ctr" rtlCol="false" tIns="50800" lIns="50800" bIns="50800" rIns="50800"/>
              <a:lstStyle/>
              <a:p>
                <a:pPr algn="ctr">
                  <a:lnSpc>
                    <a:spcPts val="1919"/>
                  </a:lnSpc>
                </a:pPr>
              </a:p>
            </p:txBody>
          </p:sp>
        </p:grpSp>
        <p:sp>
          <p:nvSpPr>
            <p:cNvPr name="TextBox 19" id="19"/>
            <p:cNvSpPr txBox="true"/>
            <p:nvPr/>
          </p:nvSpPr>
          <p:spPr>
            <a:xfrm rot="0">
              <a:off x="607170" y="439593"/>
              <a:ext cx="19294509" cy="1440410"/>
            </a:xfrm>
            <a:prstGeom prst="rect">
              <a:avLst/>
            </a:prstGeom>
          </p:spPr>
          <p:txBody>
            <a:bodyPr anchor="t" rtlCol="false" tIns="0" lIns="0" bIns="0" rIns="0">
              <a:spAutoFit/>
            </a:bodyPr>
            <a:lstStyle/>
            <a:p>
              <a:pPr algn="ctr">
                <a:lnSpc>
                  <a:spcPts val="2677"/>
                </a:lnSpc>
              </a:pPr>
              <a:r>
                <a:rPr lang="en-US" sz="2818" b="true">
                  <a:solidFill>
                    <a:srgbClr val="FFFFFF"/>
                  </a:solidFill>
                  <a:latin typeface="Poppins Semi-Bold"/>
                  <a:ea typeface="Poppins Semi-Bold"/>
                  <a:cs typeface="Poppins Semi-Bold"/>
                  <a:sym typeface="Poppins Semi-Bold"/>
                </a:rPr>
                <a:t>Josh has asked the group to reopen the recommendation three times. Each time he’s raised a real problem. The deadline is nine days away and nobody has started writing. </a:t>
              </a:r>
            </a:p>
          </p:txBody>
        </p:sp>
      </p:grpSp>
      <p:grpSp>
        <p:nvGrpSpPr>
          <p:cNvPr name="Group 20" id="20"/>
          <p:cNvGrpSpPr/>
          <p:nvPr/>
        </p:nvGrpSpPr>
        <p:grpSpPr>
          <a:xfrm rot="0">
            <a:off x="1848619" y="3267658"/>
            <a:ext cx="5070623" cy="2864363"/>
            <a:chOff x="0" y="0"/>
            <a:chExt cx="409970" cy="231589"/>
          </a:xfrm>
        </p:grpSpPr>
        <p:sp>
          <p:nvSpPr>
            <p:cNvPr name="Freeform 21" id="21"/>
            <p:cNvSpPr/>
            <p:nvPr/>
          </p:nvSpPr>
          <p:spPr>
            <a:xfrm flipH="false" flipV="false" rot="0">
              <a:off x="0" y="0"/>
              <a:ext cx="409970" cy="231589"/>
            </a:xfrm>
            <a:custGeom>
              <a:avLst/>
              <a:gdLst/>
              <a:ahLst/>
              <a:cxnLst/>
              <a:rect r="r" b="b" t="t" l="l"/>
              <a:pathLst>
                <a:path h="231589" w="409970">
                  <a:moveTo>
                    <a:pt x="90655" y="0"/>
                  </a:moveTo>
                  <a:lnTo>
                    <a:pt x="319315" y="0"/>
                  </a:lnTo>
                  <a:cubicBezTo>
                    <a:pt x="343358" y="0"/>
                    <a:pt x="366416" y="9551"/>
                    <a:pt x="383417" y="26552"/>
                  </a:cubicBezTo>
                  <a:cubicBezTo>
                    <a:pt x="400418" y="43553"/>
                    <a:pt x="409970" y="66612"/>
                    <a:pt x="409970" y="90655"/>
                  </a:cubicBezTo>
                  <a:lnTo>
                    <a:pt x="409970" y="140934"/>
                  </a:lnTo>
                  <a:cubicBezTo>
                    <a:pt x="409970" y="164978"/>
                    <a:pt x="400418" y="188036"/>
                    <a:pt x="383417" y="205037"/>
                  </a:cubicBezTo>
                  <a:cubicBezTo>
                    <a:pt x="366416" y="222038"/>
                    <a:pt x="343358" y="231589"/>
                    <a:pt x="319315" y="231589"/>
                  </a:cubicBezTo>
                  <a:lnTo>
                    <a:pt x="90655" y="231589"/>
                  </a:lnTo>
                  <a:cubicBezTo>
                    <a:pt x="40588" y="231589"/>
                    <a:pt x="0" y="191002"/>
                    <a:pt x="0" y="140934"/>
                  </a:cubicBezTo>
                  <a:lnTo>
                    <a:pt x="0" y="90655"/>
                  </a:lnTo>
                  <a:cubicBezTo>
                    <a:pt x="0" y="66612"/>
                    <a:pt x="9551" y="43553"/>
                    <a:pt x="26552" y="26552"/>
                  </a:cubicBezTo>
                  <a:cubicBezTo>
                    <a:pt x="43553" y="9551"/>
                    <a:pt x="66612" y="0"/>
                    <a:pt x="90655" y="0"/>
                  </a:cubicBezTo>
                  <a:close/>
                </a:path>
              </a:pathLst>
            </a:custGeom>
            <a:gradFill rotWithShape="true">
              <a:gsLst>
                <a:gs pos="0">
                  <a:srgbClr val="85200C">
                    <a:alpha val="30000"/>
                  </a:srgbClr>
                </a:gs>
                <a:gs pos="100000">
                  <a:srgbClr val="FFB30B">
                    <a:alpha val="100000"/>
                  </a:srgbClr>
                </a:gs>
              </a:gsLst>
              <a:lin ang="0"/>
            </a:gradFill>
          </p:spPr>
        </p:sp>
        <p:sp>
          <p:nvSpPr>
            <p:cNvPr name="TextBox 22" id="22"/>
            <p:cNvSpPr txBox="true"/>
            <p:nvPr/>
          </p:nvSpPr>
          <p:spPr>
            <a:xfrm>
              <a:off x="0" y="28575"/>
              <a:ext cx="409970" cy="203014"/>
            </a:xfrm>
            <a:prstGeom prst="rect">
              <a:avLst/>
            </a:prstGeom>
          </p:spPr>
          <p:txBody>
            <a:bodyPr anchor="ctr" rtlCol="false" tIns="50800" lIns="50800" bIns="50800" rIns="50800"/>
            <a:lstStyle/>
            <a:p>
              <a:pPr algn="ctr">
                <a:lnSpc>
                  <a:spcPts val="1919"/>
                </a:lnSpc>
              </a:pPr>
            </a:p>
          </p:txBody>
        </p:sp>
      </p:grpSp>
      <p:grpSp>
        <p:nvGrpSpPr>
          <p:cNvPr name="Group 23" id="23"/>
          <p:cNvGrpSpPr/>
          <p:nvPr/>
        </p:nvGrpSpPr>
        <p:grpSpPr>
          <a:xfrm rot="0">
            <a:off x="7218350" y="3300359"/>
            <a:ext cx="9821878" cy="2715306"/>
            <a:chOff x="0" y="0"/>
            <a:chExt cx="957198" cy="264622"/>
          </a:xfrm>
        </p:grpSpPr>
        <p:sp>
          <p:nvSpPr>
            <p:cNvPr name="Freeform 24" id="24"/>
            <p:cNvSpPr/>
            <p:nvPr/>
          </p:nvSpPr>
          <p:spPr>
            <a:xfrm flipH="false" flipV="false" rot="0">
              <a:off x="0" y="0"/>
              <a:ext cx="957198" cy="264622"/>
            </a:xfrm>
            <a:custGeom>
              <a:avLst/>
              <a:gdLst/>
              <a:ahLst/>
              <a:cxnLst/>
              <a:rect r="r" b="b" t="t" l="l"/>
              <a:pathLst>
                <a:path h="264622" w="957198">
                  <a:moveTo>
                    <a:pt x="60965" y="0"/>
                  </a:moveTo>
                  <a:lnTo>
                    <a:pt x="896233" y="0"/>
                  </a:lnTo>
                  <a:cubicBezTo>
                    <a:pt x="912402" y="0"/>
                    <a:pt x="927908" y="6423"/>
                    <a:pt x="939341" y="17856"/>
                  </a:cubicBezTo>
                  <a:cubicBezTo>
                    <a:pt x="950775" y="29289"/>
                    <a:pt x="957198" y="44796"/>
                    <a:pt x="957198" y="60965"/>
                  </a:cubicBezTo>
                  <a:lnTo>
                    <a:pt x="957198" y="203657"/>
                  </a:lnTo>
                  <a:cubicBezTo>
                    <a:pt x="957198" y="237327"/>
                    <a:pt x="929903" y="264622"/>
                    <a:pt x="896233" y="264622"/>
                  </a:cubicBezTo>
                  <a:lnTo>
                    <a:pt x="60965" y="264622"/>
                  </a:lnTo>
                  <a:cubicBezTo>
                    <a:pt x="27295" y="264622"/>
                    <a:pt x="0" y="237327"/>
                    <a:pt x="0" y="203657"/>
                  </a:cubicBezTo>
                  <a:lnTo>
                    <a:pt x="0" y="60965"/>
                  </a:lnTo>
                  <a:cubicBezTo>
                    <a:pt x="0" y="27295"/>
                    <a:pt x="27295" y="0"/>
                    <a:pt x="60965" y="0"/>
                  </a:cubicBezTo>
                  <a:close/>
                </a:path>
              </a:pathLst>
            </a:custGeom>
            <a:gradFill rotWithShape="true">
              <a:gsLst>
                <a:gs pos="0">
                  <a:srgbClr val="85200C">
                    <a:alpha val="30000"/>
                  </a:srgbClr>
                </a:gs>
                <a:gs pos="100000">
                  <a:srgbClr val="DC4B0F">
                    <a:alpha val="100000"/>
                  </a:srgbClr>
                </a:gs>
              </a:gsLst>
              <a:lin ang="0"/>
            </a:gradFill>
          </p:spPr>
        </p:sp>
        <p:sp>
          <p:nvSpPr>
            <p:cNvPr name="TextBox 25" id="25"/>
            <p:cNvSpPr txBox="true"/>
            <p:nvPr/>
          </p:nvSpPr>
          <p:spPr>
            <a:xfrm>
              <a:off x="0" y="28575"/>
              <a:ext cx="957198" cy="236047"/>
            </a:xfrm>
            <a:prstGeom prst="rect">
              <a:avLst/>
            </a:prstGeom>
          </p:spPr>
          <p:txBody>
            <a:bodyPr anchor="ctr" rtlCol="false" tIns="42145" lIns="42145" bIns="42145" rIns="42145"/>
            <a:lstStyle/>
            <a:p>
              <a:pPr algn="ctr">
                <a:lnSpc>
                  <a:spcPts val="1919"/>
                </a:lnSpc>
              </a:pPr>
            </a:p>
          </p:txBody>
        </p:sp>
      </p:grpSp>
      <p:sp>
        <p:nvSpPr>
          <p:cNvPr name="TextBox 26" id="26"/>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25</a:t>
            </a:r>
          </a:p>
        </p:txBody>
      </p:sp>
      <p:sp>
        <p:nvSpPr>
          <p:cNvPr name="TextBox 27" id="27"/>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28" id="28"/>
          <p:cNvSpPr txBox="true"/>
          <p:nvPr/>
        </p:nvSpPr>
        <p:spPr>
          <a:xfrm rot="0">
            <a:off x="11797590" y="3651238"/>
            <a:ext cx="4879373" cy="1517650"/>
          </a:xfrm>
          <a:prstGeom prst="rect">
            <a:avLst/>
          </a:prstGeom>
        </p:spPr>
        <p:txBody>
          <a:bodyPr anchor="t" rtlCol="false" tIns="0" lIns="0" bIns="0" rIns="0">
            <a:spAutoFit/>
          </a:bodyPr>
          <a:lstStyle/>
          <a:p>
            <a:pPr algn="l">
              <a:lnSpc>
                <a:spcPts val="2374"/>
              </a:lnSpc>
            </a:pPr>
            <a:r>
              <a:rPr lang="en-US" sz="2499" b="true">
                <a:solidFill>
                  <a:srgbClr val="FFFFFF"/>
                </a:solidFill>
                <a:latin typeface="Poppins Semi-Bold"/>
                <a:ea typeface="Poppins Semi-Bold"/>
                <a:cs typeface="Poppins Semi-Bold"/>
                <a:sym typeface="Poppins Semi-Bold"/>
              </a:rPr>
              <a:t>Being right is not the same as being useful. Raising a problem without proposing a way forward turns disagreement into delay. </a:t>
            </a:r>
          </a:p>
        </p:txBody>
      </p:sp>
      <p:grpSp>
        <p:nvGrpSpPr>
          <p:cNvPr name="Group 29" id="29"/>
          <p:cNvGrpSpPr/>
          <p:nvPr/>
        </p:nvGrpSpPr>
        <p:grpSpPr>
          <a:xfrm rot="0">
            <a:off x="7098242" y="3722679"/>
            <a:ext cx="4796052" cy="2152728"/>
            <a:chOff x="0" y="0"/>
            <a:chExt cx="6394736" cy="2870304"/>
          </a:xfrm>
        </p:grpSpPr>
        <p:sp>
          <p:nvSpPr>
            <p:cNvPr name="TextBox 30" id="30"/>
            <p:cNvSpPr txBox="true"/>
            <p:nvPr/>
          </p:nvSpPr>
          <p:spPr>
            <a:xfrm rot="0">
              <a:off x="370530" y="-94520"/>
              <a:ext cx="6024207" cy="2964824"/>
            </a:xfrm>
            <a:prstGeom prst="rect">
              <a:avLst/>
            </a:prstGeom>
          </p:spPr>
          <p:txBody>
            <a:bodyPr anchor="t" rtlCol="false" tIns="0" lIns="0" bIns="0" rIns="0">
              <a:spAutoFit/>
            </a:bodyPr>
            <a:lstStyle/>
            <a:p>
              <a:pPr algn="ctr">
                <a:lnSpc>
                  <a:spcPts val="18648"/>
                </a:lnSpc>
              </a:pPr>
              <a:r>
                <a:rPr lang="en-US" sz="13320" spc="39">
                  <a:solidFill>
                    <a:srgbClr val="000000">
                      <a:alpha val="30980"/>
                    </a:srgbClr>
                  </a:solidFill>
                  <a:latin typeface="Milestone Script"/>
                  <a:ea typeface="Milestone Script"/>
                  <a:cs typeface="Milestone Script"/>
                  <a:sym typeface="Milestone Script"/>
                </a:rPr>
                <a:t>Why?</a:t>
              </a:r>
            </a:p>
          </p:txBody>
        </p:sp>
        <p:sp>
          <p:nvSpPr>
            <p:cNvPr name="TextBox 31" id="31"/>
            <p:cNvSpPr txBox="true"/>
            <p:nvPr/>
          </p:nvSpPr>
          <p:spPr>
            <a:xfrm rot="0">
              <a:off x="0" y="-266700"/>
              <a:ext cx="6263643" cy="2964824"/>
            </a:xfrm>
            <a:prstGeom prst="rect">
              <a:avLst/>
            </a:prstGeom>
          </p:spPr>
          <p:txBody>
            <a:bodyPr anchor="t" rtlCol="false" tIns="0" lIns="0" bIns="0" rIns="0">
              <a:spAutoFit/>
            </a:bodyPr>
            <a:lstStyle/>
            <a:p>
              <a:pPr algn="ctr">
                <a:lnSpc>
                  <a:spcPts val="18648"/>
                </a:lnSpc>
              </a:pPr>
              <a:r>
                <a:rPr lang="en-US" sz="13320" spc="39">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Why?</a:t>
              </a:r>
            </a:p>
          </p:txBody>
        </p:sp>
      </p:grpSp>
      <p:sp>
        <p:nvSpPr>
          <p:cNvPr name="TextBox 32" id="32"/>
          <p:cNvSpPr txBox="true"/>
          <p:nvPr/>
        </p:nvSpPr>
        <p:spPr>
          <a:xfrm rot="0">
            <a:off x="2626674" y="3878386"/>
            <a:ext cx="3514512" cy="1520825"/>
          </a:xfrm>
          <a:prstGeom prst="rect">
            <a:avLst/>
          </a:prstGeom>
        </p:spPr>
        <p:txBody>
          <a:bodyPr anchor="t" rtlCol="false" tIns="0" lIns="0" bIns="0" rIns="0">
            <a:spAutoFit/>
          </a:bodyPr>
          <a:lstStyle/>
          <a:p>
            <a:pPr algn="ctr">
              <a:lnSpc>
                <a:spcPts val="5605"/>
              </a:lnSpc>
            </a:pPr>
            <a:r>
              <a:rPr lang="en-US" sz="5900" b="true">
                <a:solidFill>
                  <a:srgbClr val="FFFFFF"/>
                </a:solidFill>
                <a:latin typeface="Poppins Heavy"/>
                <a:ea typeface="Poppins Heavy"/>
                <a:cs typeface="Poppins Heavy"/>
                <a:sym typeface="Poppins Heavy"/>
              </a:rPr>
              <a:t>IT DEPENDS</a:t>
            </a:r>
          </a:p>
        </p:txBody>
      </p:sp>
      <p:grpSp>
        <p:nvGrpSpPr>
          <p:cNvPr name="Group 33" id="33"/>
          <p:cNvGrpSpPr/>
          <p:nvPr/>
        </p:nvGrpSpPr>
        <p:grpSpPr>
          <a:xfrm rot="0">
            <a:off x="3857803" y="6559486"/>
            <a:ext cx="10756617" cy="2036826"/>
            <a:chOff x="0" y="0"/>
            <a:chExt cx="14342157" cy="2715768"/>
          </a:xfrm>
        </p:grpSpPr>
        <p:grpSp>
          <p:nvGrpSpPr>
            <p:cNvPr name="Group 34" id="34"/>
            <p:cNvGrpSpPr/>
            <p:nvPr/>
          </p:nvGrpSpPr>
          <p:grpSpPr>
            <a:xfrm rot="0">
              <a:off x="168625" y="12700"/>
              <a:ext cx="14173532" cy="2665787"/>
              <a:chOff x="0" y="0"/>
              <a:chExt cx="1280731" cy="240883"/>
            </a:xfrm>
          </p:grpSpPr>
          <p:sp>
            <p:nvSpPr>
              <p:cNvPr name="Freeform 35" id="35"/>
              <p:cNvSpPr/>
              <p:nvPr/>
            </p:nvSpPr>
            <p:spPr>
              <a:xfrm flipH="false" flipV="false" rot="0">
                <a:off x="0" y="0"/>
                <a:ext cx="1280731" cy="240883"/>
              </a:xfrm>
              <a:custGeom>
                <a:avLst/>
                <a:gdLst/>
                <a:ahLst/>
                <a:cxnLst/>
                <a:rect r="r" b="b" t="t" l="l"/>
                <a:pathLst>
                  <a:path h="240883" w="1280731">
                    <a:moveTo>
                      <a:pt x="6828" y="0"/>
                    </a:moveTo>
                    <a:lnTo>
                      <a:pt x="1273903" y="0"/>
                    </a:lnTo>
                    <a:cubicBezTo>
                      <a:pt x="1275714" y="0"/>
                      <a:pt x="1277451" y="719"/>
                      <a:pt x="1278731" y="2000"/>
                    </a:cubicBezTo>
                    <a:cubicBezTo>
                      <a:pt x="1280012" y="3280"/>
                      <a:pt x="1280731" y="5017"/>
                      <a:pt x="1280731" y="6828"/>
                    </a:cubicBezTo>
                    <a:lnTo>
                      <a:pt x="1280731" y="234055"/>
                    </a:lnTo>
                    <a:cubicBezTo>
                      <a:pt x="1280731" y="235866"/>
                      <a:pt x="1280012" y="237602"/>
                      <a:pt x="1278731" y="238883"/>
                    </a:cubicBezTo>
                    <a:cubicBezTo>
                      <a:pt x="1277451" y="240163"/>
                      <a:pt x="1275714" y="240883"/>
                      <a:pt x="1273903" y="240883"/>
                    </a:cubicBezTo>
                    <a:lnTo>
                      <a:pt x="6828" y="240883"/>
                    </a:lnTo>
                    <a:cubicBezTo>
                      <a:pt x="5017" y="240883"/>
                      <a:pt x="3280" y="240163"/>
                      <a:pt x="2000" y="238883"/>
                    </a:cubicBezTo>
                    <a:cubicBezTo>
                      <a:pt x="719" y="237602"/>
                      <a:pt x="0" y="235866"/>
                      <a:pt x="0" y="234055"/>
                    </a:cubicBezTo>
                    <a:lnTo>
                      <a:pt x="0" y="6828"/>
                    </a:lnTo>
                    <a:cubicBezTo>
                      <a:pt x="0" y="5017"/>
                      <a:pt x="719" y="3280"/>
                      <a:pt x="2000" y="2000"/>
                    </a:cubicBezTo>
                    <a:cubicBezTo>
                      <a:pt x="3280" y="719"/>
                      <a:pt x="5017" y="0"/>
                      <a:pt x="6828" y="0"/>
                    </a:cubicBezTo>
                    <a:close/>
                  </a:path>
                </a:pathLst>
              </a:custGeom>
              <a:gradFill rotWithShape="true">
                <a:gsLst>
                  <a:gs pos="0">
                    <a:srgbClr val="FFFFFF">
                      <a:alpha val="100000"/>
                    </a:srgbClr>
                  </a:gs>
                  <a:gs pos="100000">
                    <a:srgbClr val="FFFFFF">
                      <a:alpha val="0"/>
                    </a:srgbClr>
                  </a:gs>
                </a:gsLst>
                <a:lin ang="0"/>
              </a:gradFill>
            </p:spPr>
          </p:sp>
          <p:sp>
            <p:nvSpPr>
              <p:cNvPr name="TextBox 36" id="36"/>
              <p:cNvSpPr txBox="true"/>
              <p:nvPr/>
            </p:nvSpPr>
            <p:spPr>
              <a:xfrm>
                <a:off x="0" y="28575"/>
                <a:ext cx="1280731" cy="212308"/>
              </a:xfrm>
              <a:prstGeom prst="rect">
                <a:avLst/>
              </a:prstGeom>
            </p:spPr>
            <p:txBody>
              <a:bodyPr anchor="ctr" rtlCol="false" tIns="42145" lIns="42145" bIns="42145" rIns="42145"/>
              <a:lstStyle/>
              <a:p>
                <a:pPr algn="ctr">
                  <a:lnSpc>
                    <a:spcPts val="1919"/>
                  </a:lnSpc>
                </a:pPr>
              </a:p>
            </p:txBody>
          </p:sp>
        </p:grpSp>
        <p:grpSp>
          <p:nvGrpSpPr>
            <p:cNvPr name="Group 37" id="37"/>
            <p:cNvGrpSpPr/>
            <p:nvPr/>
          </p:nvGrpSpPr>
          <p:grpSpPr>
            <a:xfrm rot="0">
              <a:off x="0" y="0"/>
              <a:ext cx="299496" cy="2715768"/>
              <a:chOff x="0" y="0"/>
              <a:chExt cx="46219" cy="419100"/>
            </a:xfrm>
          </p:grpSpPr>
          <p:sp>
            <p:nvSpPr>
              <p:cNvPr name="Freeform 38" id="38"/>
              <p:cNvSpPr/>
              <p:nvPr/>
            </p:nvSpPr>
            <p:spPr>
              <a:xfrm flipH="false" flipV="false" rot="0">
                <a:off x="0" y="0"/>
                <a:ext cx="46219" cy="419100"/>
              </a:xfrm>
              <a:custGeom>
                <a:avLst/>
                <a:gdLst/>
                <a:ahLst/>
                <a:cxnLst/>
                <a:rect r="r" b="b" t="t" l="l"/>
                <a:pathLst>
                  <a:path h="419100" w="46219">
                    <a:moveTo>
                      <a:pt x="23109" y="0"/>
                    </a:moveTo>
                    <a:lnTo>
                      <a:pt x="23109" y="0"/>
                    </a:lnTo>
                    <a:cubicBezTo>
                      <a:pt x="29238" y="0"/>
                      <a:pt x="35116" y="2435"/>
                      <a:pt x="39450" y="6769"/>
                    </a:cubicBezTo>
                    <a:cubicBezTo>
                      <a:pt x="43784" y="11102"/>
                      <a:pt x="46219" y="16980"/>
                      <a:pt x="46219" y="23109"/>
                    </a:cubicBezTo>
                    <a:lnTo>
                      <a:pt x="46219" y="395991"/>
                    </a:lnTo>
                    <a:cubicBezTo>
                      <a:pt x="46219" y="402120"/>
                      <a:pt x="43784" y="407998"/>
                      <a:pt x="39450" y="412331"/>
                    </a:cubicBezTo>
                    <a:cubicBezTo>
                      <a:pt x="35116" y="416665"/>
                      <a:pt x="29238" y="419100"/>
                      <a:pt x="23109" y="419100"/>
                    </a:cubicBezTo>
                    <a:lnTo>
                      <a:pt x="23109" y="419100"/>
                    </a:lnTo>
                    <a:cubicBezTo>
                      <a:pt x="16980" y="419100"/>
                      <a:pt x="11102" y="416665"/>
                      <a:pt x="6769" y="412331"/>
                    </a:cubicBezTo>
                    <a:cubicBezTo>
                      <a:pt x="2435" y="407998"/>
                      <a:pt x="0" y="402120"/>
                      <a:pt x="0" y="395991"/>
                    </a:cubicBezTo>
                    <a:lnTo>
                      <a:pt x="0" y="23109"/>
                    </a:lnTo>
                    <a:cubicBezTo>
                      <a:pt x="0" y="16980"/>
                      <a:pt x="2435" y="11102"/>
                      <a:pt x="6769" y="6769"/>
                    </a:cubicBezTo>
                    <a:cubicBezTo>
                      <a:pt x="11102" y="2435"/>
                      <a:pt x="16980" y="0"/>
                      <a:pt x="23109" y="0"/>
                    </a:cubicBezTo>
                    <a:close/>
                  </a:path>
                </a:pathLst>
              </a:custGeom>
              <a:solidFill>
                <a:srgbClr val="6E3125"/>
              </a:solidFill>
            </p:spPr>
          </p:sp>
          <p:sp>
            <p:nvSpPr>
              <p:cNvPr name="TextBox 39" id="39"/>
              <p:cNvSpPr txBox="true"/>
              <p:nvPr/>
            </p:nvSpPr>
            <p:spPr>
              <a:xfrm>
                <a:off x="0" y="28575"/>
                <a:ext cx="46219" cy="390525"/>
              </a:xfrm>
              <a:prstGeom prst="rect">
                <a:avLst/>
              </a:prstGeom>
            </p:spPr>
            <p:txBody>
              <a:bodyPr anchor="ctr" rtlCol="false" tIns="50800" lIns="50800" bIns="50800" rIns="50800"/>
              <a:lstStyle/>
              <a:p>
                <a:pPr algn="ctr">
                  <a:lnSpc>
                    <a:spcPts val="1919"/>
                  </a:lnSpc>
                </a:pPr>
              </a:p>
            </p:txBody>
          </p:sp>
        </p:grpSp>
        <p:sp>
          <p:nvSpPr>
            <p:cNvPr name="TextBox 40" id="40"/>
            <p:cNvSpPr txBox="true"/>
            <p:nvPr/>
          </p:nvSpPr>
          <p:spPr>
            <a:xfrm rot="0">
              <a:off x="789272" y="519289"/>
              <a:ext cx="12932236" cy="1656715"/>
            </a:xfrm>
            <a:prstGeom prst="rect">
              <a:avLst/>
            </a:prstGeom>
          </p:spPr>
          <p:txBody>
            <a:bodyPr anchor="t" rtlCol="false" tIns="0" lIns="0" bIns="0" rIns="0">
              <a:spAutoFit/>
            </a:bodyPr>
            <a:lstStyle/>
            <a:p>
              <a:pPr algn="l">
                <a:lnSpc>
                  <a:spcPts val="3210"/>
                </a:lnSpc>
              </a:pPr>
              <a:r>
                <a:rPr lang="en-US" sz="3000" b="true">
                  <a:solidFill>
                    <a:srgbClr val="6E3125"/>
                  </a:solidFill>
                  <a:latin typeface="Poppins Heavy"/>
                  <a:ea typeface="Poppins Heavy"/>
                  <a:cs typeface="Poppins Heavy"/>
                  <a:sym typeface="Poppins Heavy"/>
                </a:rPr>
                <a:t>Where is the line between healthy disagreement and holding the team up? What could Josh do differently while still making his point?</a:t>
              </a:r>
            </a:p>
          </p:txBody>
        </p:sp>
      </p:gr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false" rot="717797">
            <a:off x="7066588" y="-2336191"/>
            <a:ext cx="14865062" cy="16892116"/>
          </a:xfrm>
          <a:custGeom>
            <a:avLst/>
            <a:gdLst/>
            <a:ahLst/>
            <a:cxnLst/>
            <a:rect r="r" b="b" t="t" l="l"/>
            <a:pathLst>
              <a:path h="16892116" w="14865062">
                <a:moveTo>
                  <a:pt x="14865063" y="0"/>
                </a:moveTo>
                <a:lnTo>
                  <a:pt x="0" y="0"/>
                </a:lnTo>
                <a:lnTo>
                  <a:pt x="0" y="16892116"/>
                </a:lnTo>
                <a:lnTo>
                  <a:pt x="14865063" y="16892116"/>
                </a:lnTo>
                <a:lnTo>
                  <a:pt x="14865063" y="0"/>
                </a:lnTo>
                <a:close/>
              </a:path>
            </a:pathLst>
          </a:custGeom>
          <a:blipFill>
            <a:blip r:embed="rId4"/>
            <a:stretch>
              <a:fillRect l="0" t="0" r="0" b="0"/>
            </a:stretch>
          </a:blipFill>
        </p:spPr>
      </p:sp>
      <p:sp>
        <p:nvSpPr>
          <p:cNvPr name="Freeform 4" id="4"/>
          <p:cNvSpPr/>
          <p:nvPr/>
        </p:nvSpPr>
        <p:spPr>
          <a:xfrm flipH="false" flipV="false" rot="620525">
            <a:off x="-5662319" y="-759436"/>
            <a:ext cx="19504097" cy="13002731"/>
          </a:xfrm>
          <a:custGeom>
            <a:avLst/>
            <a:gdLst/>
            <a:ahLst/>
            <a:cxnLst/>
            <a:rect r="r" b="b" t="t" l="l"/>
            <a:pathLst>
              <a:path h="13002731" w="19504097">
                <a:moveTo>
                  <a:pt x="0" y="0"/>
                </a:moveTo>
                <a:lnTo>
                  <a:pt x="19504097" y="0"/>
                </a:lnTo>
                <a:lnTo>
                  <a:pt x="19504097" y="13002731"/>
                </a:lnTo>
                <a:lnTo>
                  <a:pt x="0" y="13002731"/>
                </a:lnTo>
                <a:lnTo>
                  <a:pt x="0" y="0"/>
                </a:lnTo>
                <a:close/>
              </a:path>
            </a:pathLst>
          </a:custGeom>
          <a:blipFill>
            <a:blip r:embed="rId5">
              <a:alphaModFix amt="28000"/>
            </a:blip>
            <a:stretch>
              <a:fillRect l="0" t="0" r="0" b="0"/>
            </a:stretch>
          </a:blipFill>
        </p:spPr>
      </p:sp>
      <p:sp>
        <p:nvSpPr>
          <p:cNvPr name="Freeform 5" id="5"/>
          <p:cNvSpPr/>
          <p:nvPr/>
        </p:nvSpPr>
        <p:spPr>
          <a:xfrm flipH="false" flipV="false" rot="620525">
            <a:off x="-5898164" y="-759436"/>
            <a:ext cx="19504097" cy="13002731"/>
          </a:xfrm>
          <a:custGeom>
            <a:avLst/>
            <a:gdLst/>
            <a:ahLst/>
            <a:cxnLst/>
            <a:rect r="r" b="b" t="t" l="l"/>
            <a:pathLst>
              <a:path h="13002731" w="19504097">
                <a:moveTo>
                  <a:pt x="0" y="0"/>
                </a:moveTo>
                <a:lnTo>
                  <a:pt x="19504097" y="0"/>
                </a:lnTo>
                <a:lnTo>
                  <a:pt x="19504097" y="13002731"/>
                </a:lnTo>
                <a:lnTo>
                  <a:pt x="0" y="13002731"/>
                </a:lnTo>
                <a:lnTo>
                  <a:pt x="0" y="0"/>
                </a:lnTo>
                <a:close/>
              </a:path>
            </a:pathLst>
          </a:custGeom>
          <a:blipFill>
            <a:blip r:embed="rId6"/>
            <a:stretch>
              <a:fillRect l="0" t="0" r="0" b="0"/>
            </a:stretch>
          </a:blipFill>
        </p:spPr>
      </p:sp>
      <p:sp>
        <p:nvSpPr>
          <p:cNvPr name="Freeform 6" id="6"/>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7" id="7"/>
          <p:cNvGrpSpPr/>
          <p:nvPr/>
        </p:nvGrpSpPr>
        <p:grpSpPr>
          <a:xfrm rot="0">
            <a:off x="415994" y="9258300"/>
            <a:ext cx="4387595" cy="2093523"/>
            <a:chOff x="0" y="0"/>
            <a:chExt cx="5850127" cy="2791364"/>
          </a:xfrm>
        </p:grpSpPr>
        <p:grpSp>
          <p:nvGrpSpPr>
            <p:cNvPr name="Group 8" id="8"/>
            <p:cNvGrpSpPr/>
            <p:nvPr/>
          </p:nvGrpSpPr>
          <p:grpSpPr>
            <a:xfrm rot="0">
              <a:off x="0" y="0"/>
              <a:ext cx="5850127" cy="2791364"/>
              <a:chOff x="0" y="0"/>
              <a:chExt cx="902797" cy="430766"/>
            </a:xfrm>
          </p:grpSpPr>
          <p:sp>
            <p:nvSpPr>
              <p:cNvPr name="Freeform 9" id="9"/>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10" id="10"/>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11" id="11"/>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9"/>
              <a:stretch>
                <a:fillRect l="0" t="-15579" r="0" b="0"/>
              </a:stretch>
            </a:blipFill>
          </p:spPr>
        </p:sp>
      </p:grpSp>
      <p:grpSp>
        <p:nvGrpSpPr>
          <p:cNvPr name="Group 12" id="12"/>
          <p:cNvGrpSpPr/>
          <p:nvPr/>
        </p:nvGrpSpPr>
        <p:grpSpPr>
          <a:xfrm rot="0">
            <a:off x="3162265" y="9258300"/>
            <a:ext cx="11963470" cy="4031369"/>
            <a:chOff x="0" y="0"/>
            <a:chExt cx="1057797" cy="356449"/>
          </a:xfrm>
        </p:grpSpPr>
        <p:sp>
          <p:nvSpPr>
            <p:cNvPr name="Freeform 13" id="13"/>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5" id="15"/>
          <p:cNvGrpSpPr/>
          <p:nvPr/>
        </p:nvGrpSpPr>
        <p:grpSpPr>
          <a:xfrm rot="0">
            <a:off x="13874565" y="9023776"/>
            <a:ext cx="2263079" cy="2785329"/>
            <a:chOff x="0" y="0"/>
            <a:chExt cx="660400" cy="812800"/>
          </a:xfrm>
        </p:grpSpPr>
        <p:sp>
          <p:nvSpPr>
            <p:cNvPr name="Freeform 16" id="16"/>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7" id="17"/>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8" id="18"/>
          <p:cNvGrpSpPr/>
          <p:nvPr/>
        </p:nvGrpSpPr>
        <p:grpSpPr>
          <a:xfrm rot="0">
            <a:off x="2430521" y="5236782"/>
            <a:ext cx="13433682" cy="2520911"/>
            <a:chOff x="0" y="0"/>
            <a:chExt cx="997648" cy="187215"/>
          </a:xfrm>
        </p:grpSpPr>
        <p:sp>
          <p:nvSpPr>
            <p:cNvPr name="Freeform 19" id="19"/>
            <p:cNvSpPr/>
            <p:nvPr/>
          </p:nvSpPr>
          <p:spPr>
            <a:xfrm flipH="false" flipV="false" rot="0">
              <a:off x="0" y="0"/>
              <a:ext cx="997648" cy="187215"/>
            </a:xfrm>
            <a:custGeom>
              <a:avLst/>
              <a:gdLst/>
              <a:ahLst/>
              <a:cxnLst/>
              <a:rect r="r" b="b" t="t" l="l"/>
              <a:pathLst>
                <a:path h="187215" w="997648">
                  <a:moveTo>
                    <a:pt x="45024" y="0"/>
                  </a:moveTo>
                  <a:lnTo>
                    <a:pt x="952624" y="0"/>
                  </a:lnTo>
                  <a:cubicBezTo>
                    <a:pt x="964565" y="0"/>
                    <a:pt x="976017" y="4744"/>
                    <a:pt x="984461" y="13187"/>
                  </a:cubicBezTo>
                  <a:cubicBezTo>
                    <a:pt x="992904" y="21631"/>
                    <a:pt x="997648" y="33083"/>
                    <a:pt x="997648" y="45024"/>
                  </a:cubicBezTo>
                  <a:lnTo>
                    <a:pt x="997648" y="142191"/>
                  </a:lnTo>
                  <a:cubicBezTo>
                    <a:pt x="997648" y="154132"/>
                    <a:pt x="992904" y="165584"/>
                    <a:pt x="984461" y="174027"/>
                  </a:cubicBezTo>
                  <a:cubicBezTo>
                    <a:pt x="976017" y="182471"/>
                    <a:pt x="964565" y="187215"/>
                    <a:pt x="952624" y="187215"/>
                  </a:cubicBezTo>
                  <a:lnTo>
                    <a:pt x="45024" y="187215"/>
                  </a:lnTo>
                  <a:cubicBezTo>
                    <a:pt x="33083" y="187215"/>
                    <a:pt x="21631" y="182471"/>
                    <a:pt x="13187" y="174027"/>
                  </a:cubicBezTo>
                  <a:cubicBezTo>
                    <a:pt x="4744" y="165584"/>
                    <a:pt x="0" y="154132"/>
                    <a:pt x="0" y="142191"/>
                  </a:cubicBezTo>
                  <a:lnTo>
                    <a:pt x="0" y="45024"/>
                  </a:lnTo>
                  <a:cubicBezTo>
                    <a:pt x="0" y="33083"/>
                    <a:pt x="4744" y="21631"/>
                    <a:pt x="13187" y="13187"/>
                  </a:cubicBezTo>
                  <a:cubicBezTo>
                    <a:pt x="21631" y="4744"/>
                    <a:pt x="33083" y="0"/>
                    <a:pt x="45024" y="0"/>
                  </a:cubicBezTo>
                  <a:close/>
                </a:path>
              </a:pathLst>
            </a:custGeom>
            <a:gradFill rotWithShape="true">
              <a:gsLst>
                <a:gs pos="0">
                  <a:srgbClr val="841F0B">
                    <a:alpha val="100000"/>
                  </a:srgbClr>
                </a:gs>
                <a:gs pos="100000">
                  <a:srgbClr val="DA4610">
                    <a:alpha val="100000"/>
                  </a:srgbClr>
                </a:gs>
              </a:gsLst>
              <a:lin ang="0"/>
            </a:gradFill>
          </p:spPr>
        </p:sp>
        <p:sp>
          <p:nvSpPr>
            <p:cNvPr name="TextBox 20" id="20"/>
            <p:cNvSpPr txBox="true"/>
            <p:nvPr/>
          </p:nvSpPr>
          <p:spPr>
            <a:xfrm>
              <a:off x="0" y="28575"/>
              <a:ext cx="997648" cy="158640"/>
            </a:xfrm>
            <a:prstGeom prst="rect">
              <a:avLst/>
            </a:prstGeom>
          </p:spPr>
          <p:txBody>
            <a:bodyPr anchor="ctr" rtlCol="false" tIns="50800" lIns="50800" bIns="50800" rIns="50800"/>
            <a:lstStyle/>
            <a:p>
              <a:pPr algn="ctr">
                <a:lnSpc>
                  <a:spcPts val="1919"/>
                </a:lnSpc>
              </a:pPr>
            </a:p>
          </p:txBody>
        </p:sp>
      </p:grpSp>
      <p:sp>
        <p:nvSpPr>
          <p:cNvPr name="TextBox 21" id="21"/>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26</a:t>
            </a:r>
          </a:p>
        </p:txBody>
      </p:sp>
      <p:sp>
        <p:nvSpPr>
          <p:cNvPr name="TextBox 22" id="22"/>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grpSp>
        <p:nvGrpSpPr>
          <p:cNvPr name="Group 23" id="23"/>
          <p:cNvGrpSpPr/>
          <p:nvPr/>
        </p:nvGrpSpPr>
        <p:grpSpPr>
          <a:xfrm rot="0">
            <a:off x="1609476" y="2361856"/>
            <a:ext cx="15069048" cy="3265792"/>
            <a:chOff x="0" y="0"/>
            <a:chExt cx="20092064" cy="4354390"/>
          </a:xfrm>
        </p:grpSpPr>
        <p:sp>
          <p:nvSpPr>
            <p:cNvPr name="TextBox 24" id="24"/>
            <p:cNvSpPr txBox="true"/>
            <p:nvPr/>
          </p:nvSpPr>
          <p:spPr>
            <a:xfrm rot="0">
              <a:off x="4678986" y="-187835"/>
              <a:ext cx="11226707" cy="3161087"/>
            </a:xfrm>
            <a:prstGeom prst="rect">
              <a:avLst/>
            </a:prstGeom>
          </p:spPr>
          <p:txBody>
            <a:bodyPr anchor="t" rtlCol="false" tIns="0" lIns="0" bIns="0" rIns="0">
              <a:spAutoFit/>
            </a:bodyPr>
            <a:lstStyle/>
            <a:p>
              <a:pPr algn="ctr">
                <a:lnSpc>
                  <a:spcPts val="19160"/>
                </a:lnSpc>
              </a:pPr>
              <a:r>
                <a:rPr lang="en-US" sz="13686">
                  <a:solidFill>
                    <a:srgbClr val="000000">
                      <a:alpha val="34902"/>
                    </a:srgbClr>
                  </a:solidFill>
                  <a:latin typeface="Jack in the Box"/>
                  <a:ea typeface="Jack in the Box"/>
                  <a:cs typeface="Jack in the Box"/>
                  <a:sym typeface="Jack in the Box"/>
                </a:rPr>
                <a:t>Level 4:</a:t>
              </a:r>
            </a:p>
          </p:txBody>
        </p:sp>
        <p:sp>
          <p:nvSpPr>
            <p:cNvPr name="TextBox 25" id="25"/>
            <p:cNvSpPr txBox="true"/>
            <p:nvPr/>
          </p:nvSpPr>
          <p:spPr>
            <a:xfrm rot="0">
              <a:off x="2183669" y="-381000"/>
              <a:ext cx="16014142" cy="3155996"/>
            </a:xfrm>
            <a:prstGeom prst="rect">
              <a:avLst/>
            </a:prstGeom>
          </p:spPr>
          <p:txBody>
            <a:bodyPr anchor="t" rtlCol="false" tIns="0" lIns="0" bIns="0" rIns="0">
              <a:spAutoFit/>
            </a:bodyPr>
            <a:lstStyle/>
            <a:p>
              <a:pPr algn="ctr">
                <a:lnSpc>
                  <a:spcPts val="19160"/>
                </a:lnSpc>
              </a:pPr>
              <a:r>
                <a:rPr lang="en-US" sz="13686">
                  <a:gradFill>
                    <a:gsLst>
                      <a:gs pos="0">
                        <a:srgbClr val="841F0B">
                          <a:alpha val="100000"/>
                        </a:srgbClr>
                      </a:gs>
                      <a:gs pos="100000">
                        <a:srgbClr val="DA4610">
                          <a:alpha val="100000"/>
                        </a:srgbClr>
                      </a:gs>
                    </a:gsLst>
                    <a:lin ang="0"/>
                  </a:gradFill>
                  <a:latin typeface="Jack in the Box"/>
                  <a:ea typeface="Jack in the Box"/>
                  <a:cs typeface="Jack in the Box"/>
                  <a:sym typeface="Jack in the Box"/>
                </a:rPr>
                <a:t>Level 4:</a:t>
              </a:r>
            </a:p>
          </p:txBody>
        </p:sp>
        <p:sp>
          <p:nvSpPr>
            <p:cNvPr name="TextBox 26" id="26"/>
            <p:cNvSpPr txBox="true"/>
            <p:nvPr/>
          </p:nvSpPr>
          <p:spPr>
            <a:xfrm rot="0">
              <a:off x="0" y="2998652"/>
              <a:ext cx="20092064" cy="1355738"/>
            </a:xfrm>
            <a:prstGeom prst="rect">
              <a:avLst/>
            </a:prstGeom>
          </p:spPr>
          <p:txBody>
            <a:bodyPr anchor="t" rtlCol="false" tIns="0" lIns="0" bIns="0" rIns="0">
              <a:spAutoFit/>
            </a:bodyPr>
            <a:lstStyle/>
            <a:p>
              <a:pPr algn="ctr">
                <a:lnSpc>
                  <a:spcPts val="6621"/>
                </a:lnSpc>
              </a:pPr>
              <a:r>
                <a:rPr lang="en-US" b="true" sz="7439">
                  <a:gradFill>
                    <a:gsLst>
                      <a:gs pos="0">
                        <a:srgbClr val="85200C">
                          <a:alpha val="100000"/>
                        </a:srgbClr>
                      </a:gs>
                      <a:gs pos="100000">
                        <a:srgbClr val="DC4B0F">
                          <a:alpha val="100000"/>
                        </a:srgbClr>
                      </a:gs>
                    </a:gsLst>
                    <a:lin ang="0"/>
                  </a:gradFill>
                  <a:latin typeface="Poppins Heavy"/>
                  <a:ea typeface="Poppins Heavy"/>
                  <a:cs typeface="Poppins Heavy"/>
                  <a:sym typeface="Poppins Heavy"/>
                </a:rPr>
                <a:t>Depends entirely on how</a:t>
              </a:r>
            </a:p>
          </p:txBody>
        </p:sp>
      </p:grpSp>
      <p:sp>
        <p:nvSpPr>
          <p:cNvPr name="TextBox 27" id="27"/>
          <p:cNvSpPr txBox="true"/>
          <p:nvPr/>
        </p:nvSpPr>
        <p:spPr>
          <a:xfrm rot="0">
            <a:off x="3444840" y="5899818"/>
            <a:ext cx="11259086" cy="1529073"/>
          </a:xfrm>
          <a:prstGeom prst="rect">
            <a:avLst/>
          </a:prstGeom>
        </p:spPr>
        <p:txBody>
          <a:bodyPr anchor="t" rtlCol="false" tIns="0" lIns="0" bIns="0" rIns="0">
            <a:spAutoFit/>
          </a:bodyPr>
          <a:lstStyle/>
          <a:p>
            <a:pPr algn="ctr">
              <a:lnSpc>
                <a:spcPts val="3856"/>
              </a:lnSpc>
            </a:pPr>
            <a:r>
              <a:rPr lang="en-US" sz="4059" b="true">
                <a:solidFill>
                  <a:srgbClr val="FFFFFF"/>
                </a:solidFill>
                <a:latin typeface="Poppins Semi-Bold"/>
                <a:ea typeface="Poppins Semi-Bold"/>
                <a:cs typeface="Poppins Semi-Bold"/>
                <a:sym typeface="Poppins Semi-Bold"/>
              </a:rPr>
              <a:t>Every one of these is both. Close each with the same question: what single change would make it clearly green?</a:t>
            </a:r>
          </a:p>
        </p:txBody>
      </p:sp>
      <p:sp>
        <p:nvSpPr>
          <p:cNvPr name="Freeform 28" id="28"/>
          <p:cNvSpPr/>
          <p:nvPr/>
        </p:nvSpPr>
        <p:spPr>
          <a:xfrm flipH="false" flipV="false" rot="0">
            <a:off x="-1291529" y="-3353118"/>
            <a:ext cx="20440189" cy="20440189"/>
          </a:xfrm>
          <a:custGeom>
            <a:avLst/>
            <a:gdLst/>
            <a:ahLst/>
            <a:cxnLst/>
            <a:rect r="r" b="b" t="t" l="l"/>
            <a:pathLst>
              <a:path h="20440189" w="20440189">
                <a:moveTo>
                  <a:pt x="0" y="0"/>
                </a:moveTo>
                <a:lnTo>
                  <a:pt x="20440189" y="0"/>
                </a:lnTo>
                <a:lnTo>
                  <a:pt x="20440189" y="20440189"/>
                </a:lnTo>
                <a:lnTo>
                  <a:pt x="0" y="20440189"/>
                </a:lnTo>
                <a:lnTo>
                  <a:pt x="0" y="0"/>
                </a:lnTo>
                <a:close/>
              </a:path>
            </a:pathLst>
          </a:custGeom>
          <a:blipFill>
            <a:blip r:embed="rId10">
              <a:alphaModFix amt="50000"/>
            </a:blip>
            <a:stretch>
              <a:fillRect l="0" t="0" r="0" b="0"/>
            </a:stretch>
          </a:blipFill>
        </p:spPr>
      </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271343" y="1105777"/>
            <a:ext cx="7487927" cy="1140886"/>
            <a:chOff x="0" y="0"/>
            <a:chExt cx="605413" cy="92243"/>
          </a:xfrm>
        </p:grpSpPr>
        <p:sp>
          <p:nvSpPr>
            <p:cNvPr name="Freeform 16" id="16"/>
            <p:cNvSpPr/>
            <p:nvPr/>
          </p:nvSpPr>
          <p:spPr>
            <a:xfrm flipH="false" flipV="false" rot="0">
              <a:off x="0" y="0"/>
              <a:ext cx="605413" cy="92243"/>
            </a:xfrm>
            <a:custGeom>
              <a:avLst/>
              <a:gdLst/>
              <a:ahLst/>
              <a:cxnLst/>
              <a:rect r="r" b="b" t="t" l="l"/>
              <a:pathLst>
                <a:path h="92243" w="605413">
                  <a:moveTo>
                    <a:pt x="46121" y="0"/>
                  </a:moveTo>
                  <a:lnTo>
                    <a:pt x="559292" y="0"/>
                  </a:lnTo>
                  <a:cubicBezTo>
                    <a:pt x="571524" y="0"/>
                    <a:pt x="583255" y="4859"/>
                    <a:pt x="591905" y="13509"/>
                  </a:cubicBezTo>
                  <a:cubicBezTo>
                    <a:pt x="600554" y="22158"/>
                    <a:pt x="605413" y="33889"/>
                    <a:pt x="605413" y="46121"/>
                  </a:cubicBezTo>
                  <a:lnTo>
                    <a:pt x="605413" y="46121"/>
                  </a:lnTo>
                  <a:cubicBezTo>
                    <a:pt x="605413" y="58354"/>
                    <a:pt x="600554" y="70085"/>
                    <a:pt x="591905" y="78734"/>
                  </a:cubicBezTo>
                  <a:cubicBezTo>
                    <a:pt x="583255" y="87384"/>
                    <a:pt x="571524" y="92243"/>
                    <a:pt x="559292" y="92243"/>
                  </a:cubicBezTo>
                  <a:lnTo>
                    <a:pt x="46121" y="92243"/>
                  </a:lnTo>
                  <a:cubicBezTo>
                    <a:pt x="33889" y="92243"/>
                    <a:pt x="22158" y="87384"/>
                    <a:pt x="13509" y="78734"/>
                  </a:cubicBezTo>
                  <a:cubicBezTo>
                    <a:pt x="4859" y="70085"/>
                    <a:pt x="0" y="58354"/>
                    <a:pt x="0" y="46121"/>
                  </a:cubicBezTo>
                  <a:lnTo>
                    <a:pt x="0" y="46121"/>
                  </a:lnTo>
                  <a:cubicBezTo>
                    <a:pt x="0" y="33889"/>
                    <a:pt x="4859" y="22158"/>
                    <a:pt x="13509" y="13509"/>
                  </a:cubicBezTo>
                  <a:cubicBezTo>
                    <a:pt x="22158" y="4859"/>
                    <a:pt x="33889" y="0"/>
                    <a:pt x="46121" y="0"/>
                  </a:cubicBezTo>
                  <a:close/>
                </a:path>
              </a:pathLst>
            </a:custGeom>
            <a:gradFill rotWithShape="true">
              <a:gsLst>
                <a:gs pos="0">
                  <a:srgbClr val="85200C">
                    <a:alpha val="100000"/>
                  </a:srgbClr>
                </a:gs>
                <a:gs pos="100000">
                  <a:srgbClr val="DC4B0F">
                    <a:alpha val="100000"/>
                  </a:srgbClr>
                </a:gs>
              </a:gsLst>
              <a:lin ang="0"/>
            </a:gradFill>
          </p:spPr>
        </p:sp>
        <p:sp>
          <p:nvSpPr>
            <p:cNvPr name="TextBox 17" id="17"/>
            <p:cNvSpPr txBox="true"/>
            <p:nvPr/>
          </p:nvSpPr>
          <p:spPr>
            <a:xfrm>
              <a:off x="0" y="28575"/>
              <a:ext cx="605413" cy="63668"/>
            </a:xfrm>
            <a:prstGeom prst="rect">
              <a:avLst/>
            </a:prstGeom>
          </p:spPr>
          <p:txBody>
            <a:bodyPr anchor="ctr" rtlCol="false" tIns="50800" lIns="50800" bIns="50800" rIns="50800"/>
            <a:lstStyle/>
            <a:p>
              <a:pPr algn="ctr">
                <a:lnSpc>
                  <a:spcPts val="1919"/>
                </a:lnSpc>
              </a:pPr>
            </a:p>
          </p:txBody>
        </p:sp>
      </p:grpSp>
      <p:grpSp>
        <p:nvGrpSpPr>
          <p:cNvPr name="Group 18" id="18"/>
          <p:cNvGrpSpPr/>
          <p:nvPr/>
        </p:nvGrpSpPr>
        <p:grpSpPr>
          <a:xfrm rot="0">
            <a:off x="2051027" y="2707540"/>
            <a:ext cx="14046712" cy="2449940"/>
            <a:chOff x="0" y="0"/>
            <a:chExt cx="18728950" cy="3266586"/>
          </a:xfrm>
        </p:grpSpPr>
        <p:grpSp>
          <p:nvGrpSpPr>
            <p:cNvPr name="Group 19" id="19"/>
            <p:cNvGrpSpPr/>
            <p:nvPr/>
          </p:nvGrpSpPr>
          <p:grpSpPr>
            <a:xfrm rot="0">
              <a:off x="0" y="0"/>
              <a:ext cx="18728950" cy="3266586"/>
              <a:chOff x="0" y="0"/>
              <a:chExt cx="1135704" cy="198082"/>
            </a:xfrm>
          </p:grpSpPr>
          <p:sp>
            <p:nvSpPr>
              <p:cNvPr name="Freeform 20" id="20"/>
              <p:cNvSpPr/>
              <p:nvPr/>
            </p:nvSpPr>
            <p:spPr>
              <a:xfrm flipH="false" flipV="false" rot="0">
                <a:off x="0" y="0"/>
                <a:ext cx="1135704" cy="198082"/>
              </a:xfrm>
              <a:custGeom>
                <a:avLst/>
                <a:gdLst/>
                <a:ahLst/>
                <a:cxnLst/>
                <a:rect r="r" b="b" t="t" l="l"/>
                <a:pathLst>
                  <a:path h="198082" w="1135704">
                    <a:moveTo>
                      <a:pt x="42628" y="0"/>
                    </a:moveTo>
                    <a:lnTo>
                      <a:pt x="1093075" y="0"/>
                    </a:lnTo>
                    <a:cubicBezTo>
                      <a:pt x="1104381" y="0"/>
                      <a:pt x="1115224" y="4491"/>
                      <a:pt x="1123218" y="12486"/>
                    </a:cubicBezTo>
                    <a:cubicBezTo>
                      <a:pt x="1131212" y="20480"/>
                      <a:pt x="1135704" y="31323"/>
                      <a:pt x="1135704" y="42628"/>
                    </a:cubicBezTo>
                    <a:lnTo>
                      <a:pt x="1135704" y="155454"/>
                    </a:lnTo>
                    <a:cubicBezTo>
                      <a:pt x="1135704" y="166760"/>
                      <a:pt x="1131212" y="177602"/>
                      <a:pt x="1123218" y="185597"/>
                    </a:cubicBezTo>
                    <a:cubicBezTo>
                      <a:pt x="1115224" y="193591"/>
                      <a:pt x="1104381" y="198082"/>
                      <a:pt x="1093075" y="198082"/>
                    </a:cubicBezTo>
                    <a:lnTo>
                      <a:pt x="42628" y="198082"/>
                    </a:lnTo>
                    <a:cubicBezTo>
                      <a:pt x="31323" y="198082"/>
                      <a:pt x="20480" y="193591"/>
                      <a:pt x="12486" y="185597"/>
                    </a:cubicBezTo>
                    <a:cubicBezTo>
                      <a:pt x="4491" y="177602"/>
                      <a:pt x="0" y="166760"/>
                      <a:pt x="0" y="155454"/>
                    </a:cubicBezTo>
                    <a:lnTo>
                      <a:pt x="0" y="42628"/>
                    </a:lnTo>
                    <a:cubicBezTo>
                      <a:pt x="0" y="31323"/>
                      <a:pt x="4491" y="20480"/>
                      <a:pt x="12486" y="12486"/>
                    </a:cubicBezTo>
                    <a:cubicBezTo>
                      <a:pt x="20480" y="4491"/>
                      <a:pt x="31323" y="0"/>
                      <a:pt x="42628" y="0"/>
                    </a:cubicBezTo>
                    <a:close/>
                  </a:path>
                </a:pathLst>
              </a:custGeom>
              <a:gradFill rotWithShape="true">
                <a:gsLst>
                  <a:gs pos="0">
                    <a:srgbClr val="85200C">
                      <a:alpha val="30000"/>
                    </a:srgbClr>
                  </a:gs>
                  <a:gs pos="100000">
                    <a:srgbClr val="DC4B0F">
                      <a:alpha val="100000"/>
                    </a:srgbClr>
                  </a:gs>
                </a:gsLst>
                <a:lin ang="0"/>
              </a:gradFill>
            </p:spPr>
          </p:sp>
          <p:sp>
            <p:nvSpPr>
              <p:cNvPr name="TextBox 21" id="21"/>
              <p:cNvSpPr txBox="true"/>
              <p:nvPr/>
            </p:nvSpPr>
            <p:spPr>
              <a:xfrm>
                <a:off x="0" y="28575"/>
                <a:ext cx="1135704" cy="169507"/>
              </a:xfrm>
              <a:prstGeom prst="rect">
                <a:avLst/>
              </a:prstGeom>
            </p:spPr>
            <p:txBody>
              <a:bodyPr anchor="ctr" rtlCol="false" tIns="50800" lIns="50800" bIns="50800" rIns="50800"/>
              <a:lstStyle/>
              <a:p>
                <a:pPr algn="ctr">
                  <a:lnSpc>
                    <a:spcPts val="1919"/>
                  </a:lnSpc>
                </a:pPr>
              </a:p>
            </p:txBody>
          </p:sp>
        </p:grpSp>
        <p:sp>
          <p:nvSpPr>
            <p:cNvPr name="TextBox 22" id="22"/>
            <p:cNvSpPr txBox="true"/>
            <p:nvPr/>
          </p:nvSpPr>
          <p:spPr>
            <a:xfrm rot="0">
              <a:off x="558221" y="531568"/>
              <a:ext cx="17739037" cy="2174875"/>
            </a:xfrm>
            <a:prstGeom prst="rect">
              <a:avLst/>
            </a:prstGeom>
          </p:spPr>
          <p:txBody>
            <a:bodyPr anchor="t" rtlCol="false" tIns="0" lIns="0" bIns="0" rIns="0">
              <a:spAutoFit/>
            </a:bodyPr>
            <a:lstStyle/>
            <a:p>
              <a:pPr algn="ctr">
                <a:lnSpc>
                  <a:spcPts val="3135"/>
                </a:lnSpc>
              </a:pPr>
              <a:r>
                <a:rPr lang="en-US" sz="3300" b="true">
                  <a:solidFill>
                    <a:srgbClr val="FFFFFF"/>
                  </a:solidFill>
                  <a:latin typeface="Poppins Semi-Bold"/>
                  <a:ea typeface="Poppins Semi-Bold"/>
                  <a:cs typeface="Poppins Semi-Bold"/>
                  <a:sym typeface="Poppins Semi-Bold"/>
                </a:rPr>
                <a:t>Four days out, Mia realised two teammates’ sections were nowhere near ready. She rewrote both herself, formatted the document, and submitted. The group got a distinction. She never told them, and rated everyone 100%.</a:t>
              </a:r>
            </a:p>
          </p:txBody>
        </p:sp>
      </p:grpSp>
      <p:grpSp>
        <p:nvGrpSpPr>
          <p:cNvPr name="Group 23" id="23"/>
          <p:cNvGrpSpPr/>
          <p:nvPr/>
        </p:nvGrpSpPr>
        <p:grpSpPr>
          <a:xfrm rot="0">
            <a:off x="2086942" y="5524148"/>
            <a:ext cx="6705133" cy="2864363"/>
            <a:chOff x="0" y="0"/>
            <a:chExt cx="542123" cy="231589"/>
          </a:xfrm>
        </p:grpSpPr>
        <p:sp>
          <p:nvSpPr>
            <p:cNvPr name="Freeform 24" id="24"/>
            <p:cNvSpPr/>
            <p:nvPr/>
          </p:nvSpPr>
          <p:spPr>
            <a:xfrm flipH="false" flipV="false" rot="0">
              <a:off x="0" y="0"/>
              <a:ext cx="542123" cy="231589"/>
            </a:xfrm>
            <a:custGeom>
              <a:avLst/>
              <a:gdLst/>
              <a:ahLst/>
              <a:cxnLst/>
              <a:rect r="r" b="b" t="t" l="l"/>
              <a:pathLst>
                <a:path h="231589" w="542123">
                  <a:moveTo>
                    <a:pt x="68556" y="0"/>
                  </a:moveTo>
                  <a:lnTo>
                    <a:pt x="473567" y="0"/>
                  </a:lnTo>
                  <a:cubicBezTo>
                    <a:pt x="511429" y="0"/>
                    <a:pt x="542123" y="30694"/>
                    <a:pt x="542123" y="68556"/>
                  </a:cubicBezTo>
                  <a:lnTo>
                    <a:pt x="542123" y="163033"/>
                  </a:lnTo>
                  <a:cubicBezTo>
                    <a:pt x="542123" y="181215"/>
                    <a:pt x="534900" y="198653"/>
                    <a:pt x="522043" y="211510"/>
                  </a:cubicBezTo>
                  <a:cubicBezTo>
                    <a:pt x="509187" y="224366"/>
                    <a:pt x="491749" y="231589"/>
                    <a:pt x="473567" y="231589"/>
                  </a:cubicBezTo>
                  <a:lnTo>
                    <a:pt x="68556" y="231589"/>
                  </a:lnTo>
                  <a:cubicBezTo>
                    <a:pt x="50374" y="231589"/>
                    <a:pt x="32936" y="224366"/>
                    <a:pt x="20080" y="211510"/>
                  </a:cubicBezTo>
                  <a:cubicBezTo>
                    <a:pt x="7223" y="198653"/>
                    <a:pt x="0" y="181215"/>
                    <a:pt x="0" y="163033"/>
                  </a:cubicBezTo>
                  <a:lnTo>
                    <a:pt x="0" y="68556"/>
                  </a:lnTo>
                  <a:cubicBezTo>
                    <a:pt x="0" y="50374"/>
                    <a:pt x="7223" y="32936"/>
                    <a:pt x="20080" y="20080"/>
                  </a:cubicBezTo>
                  <a:cubicBezTo>
                    <a:pt x="32936" y="7223"/>
                    <a:pt x="50374" y="0"/>
                    <a:pt x="68556" y="0"/>
                  </a:cubicBezTo>
                  <a:close/>
                </a:path>
              </a:pathLst>
            </a:custGeom>
            <a:gradFill rotWithShape="true">
              <a:gsLst>
                <a:gs pos="0">
                  <a:srgbClr val="85200C">
                    <a:alpha val="30000"/>
                  </a:srgbClr>
                </a:gs>
                <a:gs pos="100000">
                  <a:srgbClr val="940000">
                    <a:alpha val="100000"/>
                  </a:srgbClr>
                </a:gs>
              </a:gsLst>
              <a:lin ang="0"/>
            </a:gradFill>
          </p:spPr>
        </p:sp>
        <p:sp>
          <p:nvSpPr>
            <p:cNvPr name="TextBox 25" id="25"/>
            <p:cNvSpPr txBox="true"/>
            <p:nvPr/>
          </p:nvSpPr>
          <p:spPr>
            <a:xfrm>
              <a:off x="0" y="28575"/>
              <a:ext cx="542123" cy="203014"/>
            </a:xfrm>
            <a:prstGeom prst="rect">
              <a:avLst/>
            </a:prstGeom>
          </p:spPr>
          <p:txBody>
            <a:bodyPr anchor="ctr" rtlCol="false" tIns="50800" lIns="50800" bIns="50800" rIns="50800"/>
            <a:lstStyle/>
            <a:p>
              <a:pPr algn="ctr">
                <a:lnSpc>
                  <a:spcPts val="1919"/>
                </a:lnSpc>
              </a:pPr>
            </a:p>
          </p:txBody>
        </p:sp>
      </p:grpSp>
      <p:grpSp>
        <p:nvGrpSpPr>
          <p:cNvPr name="Group 26" id="26"/>
          <p:cNvGrpSpPr/>
          <p:nvPr/>
        </p:nvGrpSpPr>
        <p:grpSpPr>
          <a:xfrm rot="0">
            <a:off x="9036459" y="5554638"/>
            <a:ext cx="6857760" cy="2864363"/>
            <a:chOff x="0" y="0"/>
            <a:chExt cx="9143680" cy="3819150"/>
          </a:xfrm>
        </p:grpSpPr>
        <p:grpSp>
          <p:nvGrpSpPr>
            <p:cNvPr name="Group 27" id="27"/>
            <p:cNvGrpSpPr/>
            <p:nvPr/>
          </p:nvGrpSpPr>
          <p:grpSpPr>
            <a:xfrm rot="0">
              <a:off x="50565" y="0"/>
              <a:ext cx="8869518" cy="3819150"/>
              <a:chOff x="0" y="0"/>
              <a:chExt cx="537838" cy="231589"/>
            </a:xfrm>
          </p:grpSpPr>
          <p:sp>
            <p:nvSpPr>
              <p:cNvPr name="Freeform 28" id="28"/>
              <p:cNvSpPr/>
              <p:nvPr/>
            </p:nvSpPr>
            <p:spPr>
              <a:xfrm flipH="false" flipV="false" rot="0">
                <a:off x="0" y="0"/>
                <a:ext cx="537838" cy="231589"/>
              </a:xfrm>
              <a:custGeom>
                <a:avLst/>
                <a:gdLst/>
                <a:ahLst/>
                <a:cxnLst/>
                <a:rect r="r" b="b" t="t" l="l"/>
                <a:pathLst>
                  <a:path h="231589" w="537838">
                    <a:moveTo>
                      <a:pt x="35130" y="0"/>
                    </a:moveTo>
                    <a:lnTo>
                      <a:pt x="502708" y="0"/>
                    </a:lnTo>
                    <a:cubicBezTo>
                      <a:pt x="512025" y="0"/>
                      <a:pt x="520961" y="3701"/>
                      <a:pt x="527549" y="10289"/>
                    </a:cubicBezTo>
                    <a:cubicBezTo>
                      <a:pt x="534137" y="16878"/>
                      <a:pt x="537838" y="25813"/>
                      <a:pt x="537838" y="35130"/>
                    </a:cubicBezTo>
                    <a:lnTo>
                      <a:pt x="537838" y="196459"/>
                    </a:lnTo>
                    <a:cubicBezTo>
                      <a:pt x="537838" y="205776"/>
                      <a:pt x="534137" y="214712"/>
                      <a:pt x="527549" y="221300"/>
                    </a:cubicBezTo>
                    <a:cubicBezTo>
                      <a:pt x="520961" y="227888"/>
                      <a:pt x="512025" y="231589"/>
                      <a:pt x="502708" y="231589"/>
                    </a:cubicBezTo>
                    <a:lnTo>
                      <a:pt x="35130" y="231589"/>
                    </a:lnTo>
                    <a:cubicBezTo>
                      <a:pt x="25813" y="231589"/>
                      <a:pt x="16878" y="227888"/>
                      <a:pt x="10289" y="221300"/>
                    </a:cubicBezTo>
                    <a:cubicBezTo>
                      <a:pt x="3701" y="214712"/>
                      <a:pt x="0" y="205776"/>
                      <a:pt x="0" y="196459"/>
                    </a:cubicBezTo>
                    <a:lnTo>
                      <a:pt x="0" y="35130"/>
                    </a:lnTo>
                    <a:cubicBezTo>
                      <a:pt x="0" y="25813"/>
                      <a:pt x="3701" y="16878"/>
                      <a:pt x="10289" y="10289"/>
                    </a:cubicBezTo>
                    <a:cubicBezTo>
                      <a:pt x="16878" y="3701"/>
                      <a:pt x="25813" y="0"/>
                      <a:pt x="35130" y="0"/>
                    </a:cubicBezTo>
                    <a:close/>
                  </a:path>
                </a:pathLst>
              </a:custGeom>
              <a:gradFill rotWithShape="true">
                <a:gsLst>
                  <a:gs pos="0">
                    <a:srgbClr val="85200C">
                      <a:alpha val="30000"/>
                    </a:srgbClr>
                  </a:gs>
                  <a:gs pos="100000">
                    <a:srgbClr val="008601">
                      <a:alpha val="100000"/>
                    </a:srgbClr>
                  </a:gs>
                </a:gsLst>
                <a:lin ang="0"/>
              </a:gradFill>
            </p:spPr>
          </p:sp>
          <p:sp>
            <p:nvSpPr>
              <p:cNvPr name="TextBox 29" id="29"/>
              <p:cNvSpPr txBox="true"/>
              <p:nvPr/>
            </p:nvSpPr>
            <p:spPr>
              <a:xfrm>
                <a:off x="0" y="28575"/>
                <a:ext cx="537838" cy="203014"/>
              </a:xfrm>
              <a:prstGeom prst="rect">
                <a:avLst/>
              </a:prstGeom>
            </p:spPr>
            <p:txBody>
              <a:bodyPr anchor="ctr" rtlCol="false" tIns="99925" lIns="99925" bIns="99925" rIns="99925"/>
              <a:lstStyle/>
              <a:p>
                <a:pPr algn="ctr">
                  <a:lnSpc>
                    <a:spcPts val="1919"/>
                  </a:lnSpc>
                </a:pPr>
              </a:p>
            </p:txBody>
          </p:sp>
        </p:grpSp>
        <p:sp>
          <p:nvSpPr>
            <p:cNvPr name="TextBox 30" id="30"/>
            <p:cNvSpPr txBox="true"/>
            <p:nvPr/>
          </p:nvSpPr>
          <p:spPr>
            <a:xfrm rot="0">
              <a:off x="0" y="656138"/>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GreenFlag</a:t>
              </a:r>
            </a:p>
          </p:txBody>
        </p:sp>
        <p:sp>
          <p:nvSpPr>
            <p:cNvPr name="TextBox 31" id="31"/>
            <p:cNvSpPr txBox="true"/>
            <p:nvPr/>
          </p:nvSpPr>
          <p:spPr>
            <a:xfrm rot="0">
              <a:off x="415950" y="506572"/>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Green Flag</a:t>
              </a:r>
            </a:p>
          </p:txBody>
        </p:sp>
      </p:grpSp>
      <p:sp>
        <p:nvSpPr>
          <p:cNvPr name="TextBox 32" id="32"/>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27</a:t>
            </a:r>
          </a:p>
        </p:txBody>
      </p:sp>
      <p:sp>
        <p:nvSpPr>
          <p:cNvPr name="TextBox 33" id="33"/>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34" id="34"/>
          <p:cNvSpPr txBox="true"/>
          <p:nvPr/>
        </p:nvSpPr>
        <p:spPr>
          <a:xfrm rot="0">
            <a:off x="415994" y="1418607"/>
            <a:ext cx="5981225" cy="549275"/>
          </a:xfrm>
          <a:prstGeom prst="rect">
            <a:avLst/>
          </a:prstGeom>
        </p:spPr>
        <p:txBody>
          <a:bodyPr anchor="t" rtlCol="false" tIns="0" lIns="0" bIns="0" rIns="0">
            <a:spAutoFit/>
          </a:bodyPr>
          <a:lstStyle/>
          <a:p>
            <a:pPr algn="l">
              <a:lnSpc>
                <a:spcPts val="3895"/>
              </a:lnSpc>
            </a:pPr>
            <a:r>
              <a:rPr lang="en-US" sz="4100" b="true">
                <a:solidFill>
                  <a:srgbClr val="FFFFFF"/>
                </a:solidFill>
                <a:latin typeface="Poppins Heavy"/>
                <a:ea typeface="Poppins Heavy"/>
                <a:cs typeface="Poppins Heavy"/>
                <a:sym typeface="Poppins Heavy"/>
              </a:rPr>
              <a:t>SCENARIO 10: MIA </a:t>
            </a:r>
          </a:p>
        </p:txBody>
      </p:sp>
      <p:grpSp>
        <p:nvGrpSpPr>
          <p:cNvPr name="Group 35" id="35"/>
          <p:cNvGrpSpPr/>
          <p:nvPr/>
        </p:nvGrpSpPr>
        <p:grpSpPr>
          <a:xfrm rot="0">
            <a:off x="2001030" y="6106016"/>
            <a:ext cx="6857760" cy="1869997"/>
            <a:chOff x="0" y="0"/>
            <a:chExt cx="9143680" cy="2493329"/>
          </a:xfrm>
        </p:grpSpPr>
        <p:sp>
          <p:nvSpPr>
            <p:cNvPr name="TextBox 36" id="36"/>
            <p:cNvSpPr txBox="true"/>
            <p:nvPr/>
          </p:nvSpPr>
          <p:spPr>
            <a:xfrm rot="0">
              <a:off x="0" y="-79033"/>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Red Flag</a:t>
              </a:r>
            </a:p>
          </p:txBody>
        </p:sp>
        <p:sp>
          <p:nvSpPr>
            <p:cNvPr name="TextBox 37" id="37"/>
            <p:cNvSpPr txBox="true"/>
            <p:nvPr/>
          </p:nvSpPr>
          <p:spPr>
            <a:xfrm rot="0">
              <a:off x="415950" y="-228600"/>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Red Flag</a:t>
              </a:r>
            </a:p>
          </p:txBody>
        </p:sp>
      </p:grpSp>
    </p:spTree>
  </p:cSld>
  <p:clrMapOvr>
    <a:masterClrMapping/>
  </p:clrMapOvr>
</p:sld>
</file>

<file path=ppt/slides/slide29.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761809" y="1287870"/>
            <a:ext cx="15278418" cy="1758535"/>
            <a:chOff x="0" y="0"/>
            <a:chExt cx="20371224" cy="2344713"/>
          </a:xfrm>
        </p:grpSpPr>
        <p:grpSp>
          <p:nvGrpSpPr>
            <p:cNvPr name="Group 16" id="16"/>
            <p:cNvGrpSpPr/>
            <p:nvPr/>
          </p:nvGrpSpPr>
          <p:grpSpPr>
            <a:xfrm rot="0">
              <a:off x="0" y="0"/>
              <a:ext cx="20371224" cy="2344713"/>
              <a:chOff x="0" y="0"/>
              <a:chExt cx="1488968" cy="171379"/>
            </a:xfrm>
          </p:grpSpPr>
          <p:sp>
            <p:nvSpPr>
              <p:cNvPr name="Freeform 17" id="17"/>
              <p:cNvSpPr/>
              <p:nvPr/>
            </p:nvSpPr>
            <p:spPr>
              <a:xfrm flipH="false" flipV="false" rot="0">
                <a:off x="0" y="0"/>
                <a:ext cx="1488968" cy="171379"/>
              </a:xfrm>
              <a:custGeom>
                <a:avLst/>
                <a:gdLst/>
                <a:ahLst/>
                <a:cxnLst/>
                <a:rect r="r" b="b" t="t" l="l"/>
                <a:pathLst>
                  <a:path h="171379" w="1488968">
                    <a:moveTo>
                      <a:pt x="32515" y="0"/>
                    </a:moveTo>
                    <a:lnTo>
                      <a:pt x="1456454" y="0"/>
                    </a:lnTo>
                    <a:cubicBezTo>
                      <a:pt x="1465077" y="0"/>
                      <a:pt x="1473347" y="3426"/>
                      <a:pt x="1479445" y="9523"/>
                    </a:cubicBezTo>
                    <a:cubicBezTo>
                      <a:pt x="1485543" y="15621"/>
                      <a:pt x="1488968" y="23891"/>
                      <a:pt x="1488968" y="32515"/>
                    </a:cubicBezTo>
                    <a:lnTo>
                      <a:pt x="1488968" y="138865"/>
                    </a:lnTo>
                    <a:cubicBezTo>
                      <a:pt x="1488968" y="156822"/>
                      <a:pt x="1474411" y="171379"/>
                      <a:pt x="1456454" y="171379"/>
                    </a:cubicBezTo>
                    <a:lnTo>
                      <a:pt x="32515" y="171379"/>
                    </a:lnTo>
                    <a:cubicBezTo>
                      <a:pt x="14557" y="171379"/>
                      <a:pt x="0" y="156822"/>
                      <a:pt x="0" y="138865"/>
                    </a:cubicBezTo>
                    <a:lnTo>
                      <a:pt x="0" y="32515"/>
                    </a:lnTo>
                    <a:cubicBezTo>
                      <a:pt x="0" y="23891"/>
                      <a:pt x="3426" y="15621"/>
                      <a:pt x="9523" y="9523"/>
                    </a:cubicBezTo>
                    <a:cubicBezTo>
                      <a:pt x="15621" y="3426"/>
                      <a:pt x="23891" y="0"/>
                      <a:pt x="32515" y="0"/>
                    </a:cubicBezTo>
                    <a:close/>
                  </a:path>
                </a:pathLst>
              </a:custGeom>
              <a:gradFill rotWithShape="true">
                <a:gsLst>
                  <a:gs pos="0">
                    <a:srgbClr val="85200C">
                      <a:alpha val="100000"/>
                    </a:srgbClr>
                  </a:gs>
                  <a:gs pos="100000">
                    <a:srgbClr val="DC4B0F">
                      <a:alpha val="100000"/>
                    </a:srgbClr>
                  </a:gs>
                </a:gsLst>
                <a:lin ang="0"/>
              </a:gradFill>
            </p:spPr>
          </p:sp>
          <p:sp>
            <p:nvSpPr>
              <p:cNvPr name="TextBox 18" id="18"/>
              <p:cNvSpPr txBox="true"/>
              <p:nvPr/>
            </p:nvSpPr>
            <p:spPr>
              <a:xfrm>
                <a:off x="0" y="28575"/>
                <a:ext cx="1488968" cy="142804"/>
              </a:xfrm>
              <a:prstGeom prst="rect">
                <a:avLst/>
              </a:prstGeom>
            </p:spPr>
            <p:txBody>
              <a:bodyPr anchor="ctr" rtlCol="false" tIns="50800" lIns="50800" bIns="50800" rIns="50800"/>
              <a:lstStyle/>
              <a:p>
                <a:pPr algn="ctr">
                  <a:lnSpc>
                    <a:spcPts val="1919"/>
                  </a:lnSpc>
                </a:pPr>
              </a:p>
            </p:txBody>
          </p:sp>
        </p:grpSp>
        <p:sp>
          <p:nvSpPr>
            <p:cNvPr name="TextBox 19" id="19"/>
            <p:cNvSpPr txBox="true"/>
            <p:nvPr/>
          </p:nvSpPr>
          <p:spPr>
            <a:xfrm rot="0">
              <a:off x="607170" y="439593"/>
              <a:ext cx="19294509" cy="1440410"/>
            </a:xfrm>
            <a:prstGeom prst="rect">
              <a:avLst/>
            </a:prstGeom>
          </p:spPr>
          <p:txBody>
            <a:bodyPr anchor="t" rtlCol="false" tIns="0" lIns="0" bIns="0" rIns="0">
              <a:spAutoFit/>
            </a:bodyPr>
            <a:lstStyle/>
            <a:p>
              <a:pPr algn="ctr">
                <a:lnSpc>
                  <a:spcPts val="2677"/>
                </a:lnSpc>
              </a:pPr>
              <a:r>
                <a:rPr lang="en-US" sz="2818" b="true">
                  <a:solidFill>
                    <a:srgbClr val="FFFFFF"/>
                  </a:solidFill>
                  <a:latin typeface="Poppins Semi-Bold"/>
                  <a:ea typeface="Poppins Semi-Bold"/>
                  <a:cs typeface="Poppins Semi-Bold"/>
                  <a:sym typeface="Poppins Semi-Bold"/>
                </a:rPr>
                <a:t>Four days out, Mia realised two teammates’ sections were nowhere near ready. She rewrote both herself, formatted the document, and submitted. The group got a distinction. She never told them, and rated everyone 100%.</a:t>
              </a:r>
            </a:p>
          </p:txBody>
        </p:sp>
      </p:grpSp>
      <p:grpSp>
        <p:nvGrpSpPr>
          <p:cNvPr name="Group 20" id="20"/>
          <p:cNvGrpSpPr/>
          <p:nvPr/>
        </p:nvGrpSpPr>
        <p:grpSpPr>
          <a:xfrm rot="0">
            <a:off x="1848619" y="3267658"/>
            <a:ext cx="5070623" cy="2864363"/>
            <a:chOff x="0" y="0"/>
            <a:chExt cx="409970" cy="231589"/>
          </a:xfrm>
        </p:grpSpPr>
        <p:sp>
          <p:nvSpPr>
            <p:cNvPr name="Freeform 21" id="21"/>
            <p:cNvSpPr/>
            <p:nvPr/>
          </p:nvSpPr>
          <p:spPr>
            <a:xfrm flipH="false" flipV="false" rot="0">
              <a:off x="0" y="0"/>
              <a:ext cx="409970" cy="231589"/>
            </a:xfrm>
            <a:custGeom>
              <a:avLst/>
              <a:gdLst/>
              <a:ahLst/>
              <a:cxnLst/>
              <a:rect r="r" b="b" t="t" l="l"/>
              <a:pathLst>
                <a:path h="231589" w="409970">
                  <a:moveTo>
                    <a:pt x="90655" y="0"/>
                  </a:moveTo>
                  <a:lnTo>
                    <a:pt x="319315" y="0"/>
                  </a:lnTo>
                  <a:cubicBezTo>
                    <a:pt x="343358" y="0"/>
                    <a:pt x="366416" y="9551"/>
                    <a:pt x="383417" y="26552"/>
                  </a:cubicBezTo>
                  <a:cubicBezTo>
                    <a:pt x="400418" y="43553"/>
                    <a:pt x="409970" y="66612"/>
                    <a:pt x="409970" y="90655"/>
                  </a:cubicBezTo>
                  <a:lnTo>
                    <a:pt x="409970" y="140934"/>
                  </a:lnTo>
                  <a:cubicBezTo>
                    <a:pt x="409970" y="164978"/>
                    <a:pt x="400418" y="188036"/>
                    <a:pt x="383417" y="205037"/>
                  </a:cubicBezTo>
                  <a:cubicBezTo>
                    <a:pt x="366416" y="222038"/>
                    <a:pt x="343358" y="231589"/>
                    <a:pt x="319315" y="231589"/>
                  </a:cubicBezTo>
                  <a:lnTo>
                    <a:pt x="90655" y="231589"/>
                  </a:lnTo>
                  <a:cubicBezTo>
                    <a:pt x="40588" y="231589"/>
                    <a:pt x="0" y="191002"/>
                    <a:pt x="0" y="140934"/>
                  </a:cubicBezTo>
                  <a:lnTo>
                    <a:pt x="0" y="90655"/>
                  </a:lnTo>
                  <a:cubicBezTo>
                    <a:pt x="0" y="66612"/>
                    <a:pt x="9551" y="43553"/>
                    <a:pt x="26552" y="26552"/>
                  </a:cubicBezTo>
                  <a:cubicBezTo>
                    <a:pt x="43553" y="9551"/>
                    <a:pt x="66612" y="0"/>
                    <a:pt x="90655" y="0"/>
                  </a:cubicBezTo>
                  <a:close/>
                </a:path>
              </a:pathLst>
            </a:custGeom>
            <a:gradFill rotWithShape="true">
              <a:gsLst>
                <a:gs pos="0">
                  <a:srgbClr val="85200C">
                    <a:alpha val="30000"/>
                  </a:srgbClr>
                </a:gs>
                <a:gs pos="100000">
                  <a:srgbClr val="FFB30B">
                    <a:alpha val="100000"/>
                  </a:srgbClr>
                </a:gs>
              </a:gsLst>
              <a:lin ang="0"/>
            </a:gradFill>
          </p:spPr>
        </p:sp>
        <p:sp>
          <p:nvSpPr>
            <p:cNvPr name="TextBox 22" id="22"/>
            <p:cNvSpPr txBox="true"/>
            <p:nvPr/>
          </p:nvSpPr>
          <p:spPr>
            <a:xfrm>
              <a:off x="0" y="28575"/>
              <a:ext cx="409970" cy="203014"/>
            </a:xfrm>
            <a:prstGeom prst="rect">
              <a:avLst/>
            </a:prstGeom>
          </p:spPr>
          <p:txBody>
            <a:bodyPr anchor="ctr" rtlCol="false" tIns="50800" lIns="50800" bIns="50800" rIns="50800"/>
            <a:lstStyle/>
            <a:p>
              <a:pPr algn="ctr">
                <a:lnSpc>
                  <a:spcPts val="1919"/>
                </a:lnSpc>
              </a:pPr>
            </a:p>
          </p:txBody>
        </p:sp>
      </p:grpSp>
      <p:grpSp>
        <p:nvGrpSpPr>
          <p:cNvPr name="Group 23" id="23"/>
          <p:cNvGrpSpPr/>
          <p:nvPr/>
        </p:nvGrpSpPr>
        <p:grpSpPr>
          <a:xfrm rot="0">
            <a:off x="7218350" y="3300359"/>
            <a:ext cx="9821878" cy="2715306"/>
            <a:chOff x="0" y="0"/>
            <a:chExt cx="957198" cy="264622"/>
          </a:xfrm>
        </p:grpSpPr>
        <p:sp>
          <p:nvSpPr>
            <p:cNvPr name="Freeform 24" id="24"/>
            <p:cNvSpPr/>
            <p:nvPr/>
          </p:nvSpPr>
          <p:spPr>
            <a:xfrm flipH="false" flipV="false" rot="0">
              <a:off x="0" y="0"/>
              <a:ext cx="957198" cy="264622"/>
            </a:xfrm>
            <a:custGeom>
              <a:avLst/>
              <a:gdLst/>
              <a:ahLst/>
              <a:cxnLst/>
              <a:rect r="r" b="b" t="t" l="l"/>
              <a:pathLst>
                <a:path h="264622" w="957198">
                  <a:moveTo>
                    <a:pt x="60965" y="0"/>
                  </a:moveTo>
                  <a:lnTo>
                    <a:pt x="896233" y="0"/>
                  </a:lnTo>
                  <a:cubicBezTo>
                    <a:pt x="912402" y="0"/>
                    <a:pt x="927908" y="6423"/>
                    <a:pt x="939341" y="17856"/>
                  </a:cubicBezTo>
                  <a:cubicBezTo>
                    <a:pt x="950775" y="29289"/>
                    <a:pt x="957198" y="44796"/>
                    <a:pt x="957198" y="60965"/>
                  </a:cubicBezTo>
                  <a:lnTo>
                    <a:pt x="957198" y="203657"/>
                  </a:lnTo>
                  <a:cubicBezTo>
                    <a:pt x="957198" y="237327"/>
                    <a:pt x="929903" y="264622"/>
                    <a:pt x="896233" y="264622"/>
                  </a:cubicBezTo>
                  <a:lnTo>
                    <a:pt x="60965" y="264622"/>
                  </a:lnTo>
                  <a:cubicBezTo>
                    <a:pt x="27295" y="264622"/>
                    <a:pt x="0" y="237327"/>
                    <a:pt x="0" y="203657"/>
                  </a:cubicBezTo>
                  <a:lnTo>
                    <a:pt x="0" y="60965"/>
                  </a:lnTo>
                  <a:cubicBezTo>
                    <a:pt x="0" y="27295"/>
                    <a:pt x="27295" y="0"/>
                    <a:pt x="60965" y="0"/>
                  </a:cubicBezTo>
                  <a:close/>
                </a:path>
              </a:pathLst>
            </a:custGeom>
            <a:gradFill rotWithShape="true">
              <a:gsLst>
                <a:gs pos="0">
                  <a:srgbClr val="85200C">
                    <a:alpha val="30000"/>
                  </a:srgbClr>
                </a:gs>
                <a:gs pos="100000">
                  <a:srgbClr val="DC4B0F">
                    <a:alpha val="100000"/>
                  </a:srgbClr>
                </a:gs>
              </a:gsLst>
              <a:lin ang="0"/>
            </a:gradFill>
          </p:spPr>
        </p:sp>
        <p:sp>
          <p:nvSpPr>
            <p:cNvPr name="TextBox 25" id="25"/>
            <p:cNvSpPr txBox="true"/>
            <p:nvPr/>
          </p:nvSpPr>
          <p:spPr>
            <a:xfrm>
              <a:off x="0" y="28575"/>
              <a:ext cx="957198" cy="236047"/>
            </a:xfrm>
            <a:prstGeom prst="rect">
              <a:avLst/>
            </a:prstGeom>
          </p:spPr>
          <p:txBody>
            <a:bodyPr anchor="ctr" rtlCol="false" tIns="42145" lIns="42145" bIns="42145" rIns="42145"/>
            <a:lstStyle/>
            <a:p>
              <a:pPr algn="ctr">
                <a:lnSpc>
                  <a:spcPts val="1919"/>
                </a:lnSpc>
              </a:pPr>
            </a:p>
          </p:txBody>
        </p:sp>
      </p:grpSp>
      <p:sp>
        <p:nvSpPr>
          <p:cNvPr name="TextBox 26" id="26"/>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28</a:t>
            </a:r>
          </a:p>
        </p:txBody>
      </p:sp>
      <p:sp>
        <p:nvSpPr>
          <p:cNvPr name="TextBox 27" id="27"/>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28" id="28"/>
          <p:cNvSpPr txBox="true"/>
          <p:nvPr/>
        </p:nvSpPr>
        <p:spPr>
          <a:xfrm rot="0">
            <a:off x="11797590" y="3651238"/>
            <a:ext cx="4879373" cy="1812925"/>
          </a:xfrm>
          <a:prstGeom prst="rect">
            <a:avLst/>
          </a:prstGeom>
        </p:spPr>
        <p:txBody>
          <a:bodyPr anchor="t" rtlCol="false" tIns="0" lIns="0" bIns="0" rIns="0">
            <a:spAutoFit/>
          </a:bodyPr>
          <a:lstStyle/>
          <a:p>
            <a:pPr algn="l">
              <a:lnSpc>
                <a:spcPts val="2374"/>
              </a:lnSpc>
            </a:pPr>
            <a:r>
              <a:rPr lang="en-US" sz="2499" b="true">
                <a:solidFill>
                  <a:srgbClr val="FFFFFF"/>
                </a:solidFill>
                <a:latin typeface="Poppins Semi-Bold"/>
                <a:ea typeface="Poppins Semi-Bold"/>
                <a:cs typeface="Poppins Semi-Bold"/>
                <a:sym typeface="Poppins Semi-Bold"/>
              </a:rPr>
              <a:t>She saved the mark and pulled far more than her weight. She also removed the only chance those two had to fix it, and then hid the evidence from the tutor.</a:t>
            </a:r>
          </a:p>
        </p:txBody>
      </p:sp>
      <p:grpSp>
        <p:nvGrpSpPr>
          <p:cNvPr name="Group 29" id="29"/>
          <p:cNvGrpSpPr/>
          <p:nvPr/>
        </p:nvGrpSpPr>
        <p:grpSpPr>
          <a:xfrm rot="0">
            <a:off x="7098242" y="3722679"/>
            <a:ext cx="4796052" cy="2152728"/>
            <a:chOff x="0" y="0"/>
            <a:chExt cx="6394736" cy="2870304"/>
          </a:xfrm>
        </p:grpSpPr>
        <p:sp>
          <p:nvSpPr>
            <p:cNvPr name="TextBox 30" id="30"/>
            <p:cNvSpPr txBox="true"/>
            <p:nvPr/>
          </p:nvSpPr>
          <p:spPr>
            <a:xfrm rot="0">
              <a:off x="370530" y="-94520"/>
              <a:ext cx="6024207" cy="2964824"/>
            </a:xfrm>
            <a:prstGeom prst="rect">
              <a:avLst/>
            </a:prstGeom>
          </p:spPr>
          <p:txBody>
            <a:bodyPr anchor="t" rtlCol="false" tIns="0" lIns="0" bIns="0" rIns="0">
              <a:spAutoFit/>
            </a:bodyPr>
            <a:lstStyle/>
            <a:p>
              <a:pPr algn="ctr">
                <a:lnSpc>
                  <a:spcPts val="18648"/>
                </a:lnSpc>
              </a:pPr>
              <a:r>
                <a:rPr lang="en-US" sz="13320" spc="39">
                  <a:solidFill>
                    <a:srgbClr val="000000">
                      <a:alpha val="30980"/>
                    </a:srgbClr>
                  </a:solidFill>
                  <a:latin typeface="Milestone Script"/>
                  <a:ea typeface="Milestone Script"/>
                  <a:cs typeface="Milestone Script"/>
                  <a:sym typeface="Milestone Script"/>
                </a:rPr>
                <a:t>Why?</a:t>
              </a:r>
            </a:p>
          </p:txBody>
        </p:sp>
        <p:sp>
          <p:nvSpPr>
            <p:cNvPr name="TextBox 31" id="31"/>
            <p:cNvSpPr txBox="true"/>
            <p:nvPr/>
          </p:nvSpPr>
          <p:spPr>
            <a:xfrm rot="0">
              <a:off x="0" y="-266700"/>
              <a:ext cx="6263643" cy="2964824"/>
            </a:xfrm>
            <a:prstGeom prst="rect">
              <a:avLst/>
            </a:prstGeom>
          </p:spPr>
          <p:txBody>
            <a:bodyPr anchor="t" rtlCol="false" tIns="0" lIns="0" bIns="0" rIns="0">
              <a:spAutoFit/>
            </a:bodyPr>
            <a:lstStyle/>
            <a:p>
              <a:pPr algn="ctr">
                <a:lnSpc>
                  <a:spcPts val="18648"/>
                </a:lnSpc>
              </a:pPr>
              <a:r>
                <a:rPr lang="en-US" sz="13320" spc="39">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Why?</a:t>
              </a:r>
            </a:p>
          </p:txBody>
        </p:sp>
      </p:grpSp>
      <p:sp>
        <p:nvSpPr>
          <p:cNvPr name="TextBox 32" id="32"/>
          <p:cNvSpPr txBox="true"/>
          <p:nvPr/>
        </p:nvSpPr>
        <p:spPr>
          <a:xfrm rot="0">
            <a:off x="2626674" y="3878386"/>
            <a:ext cx="3514512" cy="1520825"/>
          </a:xfrm>
          <a:prstGeom prst="rect">
            <a:avLst/>
          </a:prstGeom>
        </p:spPr>
        <p:txBody>
          <a:bodyPr anchor="t" rtlCol="false" tIns="0" lIns="0" bIns="0" rIns="0">
            <a:spAutoFit/>
          </a:bodyPr>
          <a:lstStyle/>
          <a:p>
            <a:pPr algn="ctr">
              <a:lnSpc>
                <a:spcPts val="5605"/>
              </a:lnSpc>
            </a:pPr>
            <a:r>
              <a:rPr lang="en-US" sz="5900" b="true">
                <a:solidFill>
                  <a:srgbClr val="FFFFFF"/>
                </a:solidFill>
                <a:latin typeface="Poppins Heavy"/>
                <a:ea typeface="Poppins Heavy"/>
                <a:cs typeface="Poppins Heavy"/>
                <a:sym typeface="Poppins Heavy"/>
              </a:rPr>
              <a:t>IT DEPENDS</a:t>
            </a:r>
          </a:p>
        </p:txBody>
      </p:sp>
      <p:grpSp>
        <p:nvGrpSpPr>
          <p:cNvPr name="Group 33" id="33"/>
          <p:cNvGrpSpPr/>
          <p:nvPr/>
        </p:nvGrpSpPr>
        <p:grpSpPr>
          <a:xfrm rot="0">
            <a:off x="3857803" y="6559486"/>
            <a:ext cx="10756617" cy="2036826"/>
            <a:chOff x="0" y="0"/>
            <a:chExt cx="14342157" cy="2715768"/>
          </a:xfrm>
        </p:grpSpPr>
        <p:grpSp>
          <p:nvGrpSpPr>
            <p:cNvPr name="Group 34" id="34"/>
            <p:cNvGrpSpPr/>
            <p:nvPr/>
          </p:nvGrpSpPr>
          <p:grpSpPr>
            <a:xfrm rot="0">
              <a:off x="168625" y="12700"/>
              <a:ext cx="14173532" cy="2665787"/>
              <a:chOff x="0" y="0"/>
              <a:chExt cx="1280731" cy="240883"/>
            </a:xfrm>
          </p:grpSpPr>
          <p:sp>
            <p:nvSpPr>
              <p:cNvPr name="Freeform 35" id="35"/>
              <p:cNvSpPr/>
              <p:nvPr/>
            </p:nvSpPr>
            <p:spPr>
              <a:xfrm flipH="false" flipV="false" rot="0">
                <a:off x="0" y="0"/>
                <a:ext cx="1280731" cy="240883"/>
              </a:xfrm>
              <a:custGeom>
                <a:avLst/>
                <a:gdLst/>
                <a:ahLst/>
                <a:cxnLst/>
                <a:rect r="r" b="b" t="t" l="l"/>
                <a:pathLst>
                  <a:path h="240883" w="1280731">
                    <a:moveTo>
                      <a:pt x="6828" y="0"/>
                    </a:moveTo>
                    <a:lnTo>
                      <a:pt x="1273903" y="0"/>
                    </a:lnTo>
                    <a:cubicBezTo>
                      <a:pt x="1275714" y="0"/>
                      <a:pt x="1277451" y="719"/>
                      <a:pt x="1278731" y="2000"/>
                    </a:cubicBezTo>
                    <a:cubicBezTo>
                      <a:pt x="1280012" y="3280"/>
                      <a:pt x="1280731" y="5017"/>
                      <a:pt x="1280731" y="6828"/>
                    </a:cubicBezTo>
                    <a:lnTo>
                      <a:pt x="1280731" y="234055"/>
                    </a:lnTo>
                    <a:cubicBezTo>
                      <a:pt x="1280731" y="235866"/>
                      <a:pt x="1280012" y="237602"/>
                      <a:pt x="1278731" y="238883"/>
                    </a:cubicBezTo>
                    <a:cubicBezTo>
                      <a:pt x="1277451" y="240163"/>
                      <a:pt x="1275714" y="240883"/>
                      <a:pt x="1273903" y="240883"/>
                    </a:cubicBezTo>
                    <a:lnTo>
                      <a:pt x="6828" y="240883"/>
                    </a:lnTo>
                    <a:cubicBezTo>
                      <a:pt x="5017" y="240883"/>
                      <a:pt x="3280" y="240163"/>
                      <a:pt x="2000" y="238883"/>
                    </a:cubicBezTo>
                    <a:cubicBezTo>
                      <a:pt x="719" y="237602"/>
                      <a:pt x="0" y="235866"/>
                      <a:pt x="0" y="234055"/>
                    </a:cubicBezTo>
                    <a:lnTo>
                      <a:pt x="0" y="6828"/>
                    </a:lnTo>
                    <a:cubicBezTo>
                      <a:pt x="0" y="5017"/>
                      <a:pt x="719" y="3280"/>
                      <a:pt x="2000" y="2000"/>
                    </a:cubicBezTo>
                    <a:cubicBezTo>
                      <a:pt x="3280" y="719"/>
                      <a:pt x="5017" y="0"/>
                      <a:pt x="6828" y="0"/>
                    </a:cubicBezTo>
                    <a:close/>
                  </a:path>
                </a:pathLst>
              </a:custGeom>
              <a:gradFill rotWithShape="true">
                <a:gsLst>
                  <a:gs pos="0">
                    <a:srgbClr val="FFFFFF">
                      <a:alpha val="100000"/>
                    </a:srgbClr>
                  </a:gs>
                  <a:gs pos="100000">
                    <a:srgbClr val="FFFFFF">
                      <a:alpha val="0"/>
                    </a:srgbClr>
                  </a:gs>
                </a:gsLst>
                <a:lin ang="0"/>
              </a:gradFill>
            </p:spPr>
          </p:sp>
          <p:sp>
            <p:nvSpPr>
              <p:cNvPr name="TextBox 36" id="36"/>
              <p:cNvSpPr txBox="true"/>
              <p:nvPr/>
            </p:nvSpPr>
            <p:spPr>
              <a:xfrm>
                <a:off x="0" y="28575"/>
                <a:ext cx="1280731" cy="212308"/>
              </a:xfrm>
              <a:prstGeom prst="rect">
                <a:avLst/>
              </a:prstGeom>
            </p:spPr>
            <p:txBody>
              <a:bodyPr anchor="ctr" rtlCol="false" tIns="42145" lIns="42145" bIns="42145" rIns="42145"/>
              <a:lstStyle/>
              <a:p>
                <a:pPr algn="ctr">
                  <a:lnSpc>
                    <a:spcPts val="1919"/>
                  </a:lnSpc>
                </a:pPr>
              </a:p>
            </p:txBody>
          </p:sp>
        </p:grpSp>
        <p:grpSp>
          <p:nvGrpSpPr>
            <p:cNvPr name="Group 37" id="37"/>
            <p:cNvGrpSpPr/>
            <p:nvPr/>
          </p:nvGrpSpPr>
          <p:grpSpPr>
            <a:xfrm rot="0">
              <a:off x="0" y="0"/>
              <a:ext cx="299496" cy="2715768"/>
              <a:chOff x="0" y="0"/>
              <a:chExt cx="46219" cy="419100"/>
            </a:xfrm>
          </p:grpSpPr>
          <p:sp>
            <p:nvSpPr>
              <p:cNvPr name="Freeform 38" id="38"/>
              <p:cNvSpPr/>
              <p:nvPr/>
            </p:nvSpPr>
            <p:spPr>
              <a:xfrm flipH="false" flipV="false" rot="0">
                <a:off x="0" y="0"/>
                <a:ext cx="46219" cy="419100"/>
              </a:xfrm>
              <a:custGeom>
                <a:avLst/>
                <a:gdLst/>
                <a:ahLst/>
                <a:cxnLst/>
                <a:rect r="r" b="b" t="t" l="l"/>
                <a:pathLst>
                  <a:path h="419100" w="46219">
                    <a:moveTo>
                      <a:pt x="23109" y="0"/>
                    </a:moveTo>
                    <a:lnTo>
                      <a:pt x="23109" y="0"/>
                    </a:lnTo>
                    <a:cubicBezTo>
                      <a:pt x="29238" y="0"/>
                      <a:pt x="35116" y="2435"/>
                      <a:pt x="39450" y="6769"/>
                    </a:cubicBezTo>
                    <a:cubicBezTo>
                      <a:pt x="43784" y="11102"/>
                      <a:pt x="46219" y="16980"/>
                      <a:pt x="46219" y="23109"/>
                    </a:cubicBezTo>
                    <a:lnTo>
                      <a:pt x="46219" y="395991"/>
                    </a:lnTo>
                    <a:cubicBezTo>
                      <a:pt x="46219" y="402120"/>
                      <a:pt x="43784" y="407998"/>
                      <a:pt x="39450" y="412331"/>
                    </a:cubicBezTo>
                    <a:cubicBezTo>
                      <a:pt x="35116" y="416665"/>
                      <a:pt x="29238" y="419100"/>
                      <a:pt x="23109" y="419100"/>
                    </a:cubicBezTo>
                    <a:lnTo>
                      <a:pt x="23109" y="419100"/>
                    </a:lnTo>
                    <a:cubicBezTo>
                      <a:pt x="16980" y="419100"/>
                      <a:pt x="11102" y="416665"/>
                      <a:pt x="6769" y="412331"/>
                    </a:cubicBezTo>
                    <a:cubicBezTo>
                      <a:pt x="2435" y="407998"/>
                      <a:pt x="0" y="402120"/>
                      <a:pt x="0" y="395991"/>
                    </a:cubicBezTo>
                    <a:lnTo>
                      <a:pt x="0" y="23109"/>
                    </a:lnTo>
                    <a:cubicBezTo>
                      <a:pt x="0" y="16980"/>
                      <a:pt x="2435" y="11102"/>
                      <a:pt x="6769" y="6769"/>
                    </a:cubicBezTo>
                    <a:cubicBezTo>
                      <a:pt x="11102" y="2435"/>
                      <a:pt x="16980" y="0"/>
                      <a:pt x="23109" y="0"/>
                    </a:cubicBezTo>
                    <a:close/>
                  </a:path>
                </a:pathLst>
              </a:custGeom>
              <a:solidFill>
                <a:srgbClr val="6E3125"/>
              </a:solidFill>
            </p:spPr>
          </p:sp>
          <p:sp>
            <p:nvSpPr>
              <p:cNvPr name="TextBox 39" id="39"/>
              <p:cNvSpPr txBox="true"/>
              <p:nvPr/>
            </p:nvSpPr>
            <p:spPr>
              <a:xfrm>
                <a:off x="0" y="28575"/>
                <a:ext cx="46219" cy="390525"/>
              </a:xfrm>
              <a:prstGeom prst="rect">
                <a:avLst/>
              </a:prstGeom>
            </p:spPr>
            <p:txBody>
              <a:bodyPr anchor="ctr" rtlCol="false" tIns="50800" lIns="50800" bIns="50800" rIns="50800"/>
              <a:lstStyle/>
              <a:p>
                <a:pPr algn="ctr">
                  <a:lnSpc>
                    <a:spcPts val="1919"/>
                  </a:lnSpc>
                </a:pPr>
              </a:p>
            </p:txBody>
          </p:sp>
        </p:grpSp>
        <p:sp>
          <p:nvSpPr>
            <p:cNvPr name="TextBox 40" id="40"/>
            <p:cNvSpPr txBox="true"/>
            <p:nvPr/>
          </p:nvSpPr>
          <p:spPr>
            <a:xfrm rot="0">
              <a:off x="789272" y="519289"/>
              <a:ext cx="12932236" cy="1656715"/>
            </a:xfrm>
            <a:prstGeom prst="rect">
              <a:avLst/>
            </a:prstGeom>
          </p:spPr>
          <p:txBody>
            <a:bodyPr anchor="t" rtlCol="false" tIns="0" lIns="0" bIns="0" rIns="0">
              <a:spAutoFit/>
            </a:bodyPr>
            <a:lstStyle/>
            <a:p>
              <a:pPr algn="l">
                <a:lnSpc>
                  <a:spcPts val="3210"/>
                </a:lnSpc>
              </a:pPr>
              <a:r>
                <a:rPr lang="en-US" sz="3000" b="true">
                  <a:solidFill>
                    <a:srgbClr val="6E3125"/>
                  </a:solidFill>
                  <a:latin typeface="Poppins Heavy"/>
                  <a:ea typeface="Poppins Heavy"/>
                  <a:cs typeface="Poppins Heavy"/>
                  <a:sym typeface="Poppins Heavy"/>
                </a:rPr>
                <a:t>What should the other two get? How would the tutor ever know? What did Mia’s silence cost them?</a:t>
              </a:r>
            </a:p>
          </p:txBody>
        </p:sp>
      </p:grpSp>
    </p:spTree>
  </p:cSld>
  <p:clrMapOvr>
    <a:masterClrMapping/>
  </p:clrMapOvr>
</p:sld>
</file>

<file path=ppt/slides/slide30.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271343" y="1105777"/>
            <a:ext cx="7487927" cy="1140886"/>
            <a:chOff x="0" y="0"/>
            <a:chExt cx="605413" cy="92243"/>
          </a:xfrm>
        </p:grpSpPr>
        <p:sp>
          <p:nvSpPr>
            <p:cNvPr name="Freeform 16" id="16"/>
            <p:cNvSpPr/>
            <p:nvPr/>
          </p:nvSpPr>
          <p:spPr>
            <a:xfrm flipH="false" flipV="false" rot="0">
              <a:off x="0" y="0"/>
              <a:ext cx="605413" cy="92243"/>
            </a:xfrm>
            <a:custGeom>
              <a:avLst/>
              <a:gdLst/>
              <a:ahLst/>
              <a:cxnLst/>
              <a:rect r="r" b="b" t="t" l="l"/>
              <a:pathLst>
                <a:path h="92243" w="605413">
                  <a:moveTo>
                    <a:pt x="46121" y="0"/>
                  </a:moveTo>
                  <a:lnTo>
                    <a:pt x="559292" y="0"/>
                  </a:lnTo>
                  <a:cubicBezTo>
                    <a:pt x="571524" y="0"/>
                    <a:pt x="583255" y="4859"/>
                    <a:pt x="591905" y="13509"/>
                  </a:cubicBezTo>
                  <a:cubicBezTo>
                    <a:pt x="600554" y="22158"/>
                    <a:pt x="605413" y="33889"/>
                    <a:pt x="605413" y="46121"/>
                  </a:cubicBezTo>
                  <a:lnTo>
                    <a:pt x="605413" y="46121"/>
                  </a:lnTo>
                  <a:cubicBezTo>
                    <a:pt x="605413" y="58354"/>
                    <a:pt x="600554" y="70085"/>
                    <a:pt x="591905" y="78734"/>
                  </a:cubicBezTo>
                  <a:cubicBezTo>
                    <a:pt x="583255" y="87384"/>
                    <a:pt x="571524" y="92243"/>
                    <a:pt x="559292" y="92243"/>
                  </a:cubicBezTo>
                  <a:lnTo>
                    <a:pt x="46121" y="92243"/>
                  </a:lnTo>
                  <a:cubicBezTo>
                    <a:pt x="33889" y="92243"/>
                    <a:pt x="22158" y="87384"/>
                    <a:pt x="13509" y="78734"/>
                  </a:cubicBezTo>
                  <a:cubicBezTo>
                    <a:pt x="4859" y="70085"/>
                    <a:pt x="0" y="58354"/>
                    <a:pt x="0" y="46121"/>
                  </a:cubicBezTo>
                  <a:lnTo>
                    <a:pt x="0" y="46121"/>
                  </a:lnTo>
                  <a:cubicBezTo>
                    <a:pt x="0" y="33889"/>
                    <a:pt x="4859" y="22158"/>
                    <a:pt x="13509" y="13509"/>
                  </a:cubicBezTo>
                  <a:cubicBezTo>
                    <a:pt x="22158" y="4859"/>
                    <a:pt x="33889" y="0"/>
                    <a:pt x="46121" y="0"/>
                  </a:cubicBezTo>
                  <a:close/>
                </a:path>
              </a:pathLst>
            </a:custGeom>
            <a:gradFill rotWithShape="true">
              <a:gsLst>
                <a:gs pos="0">
                  <a:srgbClr val="85200C">
                    <a:alpha val="100000"/>
                  </a:srgbClr>
                </a:gs>
                <a:gs pos="100000">
                  <a:srgbClr val="DC4B0F">
                    <a:alpha val="100000"/>
                  </a:srgbClr>
                </a:gs>
              </a:gsLst>
              <a:lin ang="0"/>
            </a:gradFill>
          </p:spPr>
        </p:sp>
        <p:sp>
          <p:nvSpPr>
            <p:cNvPr name="TextBox 17" id="17"/>
            <p:cNvSpPr txBox="true"/>
            <p:nvPr/>
          </p:nvSpPr>
          <p:spPr>
            <a:xfrm>
              <a:off x="0" y="28575"/>
              <a:ext cx="605413" cy="63668"/>
            </a:xfrm>
            <a:prstGeom prst="rect">
              <a:avLst/>
            </a:prstGeom>
          </p:spPr>
          <p:txBody>
            <a:bodyPr anchor="ctr" rtlCol="false" tIns="50800" lIns="50800" bIns="50800" rIns="50800"/>
            <a:lstStyle/>
            <a:p>
              <a:pPr algn="ctr">
                <a:lnSpc>
                  <a:spcPts val="1919"/>
                </a:lnSpc>
              </a:pPr>
            </a:p>
          </p:txBody>
        </p:sp>
      </p:grpSp>
      <p:grpSp>
        <p:nvGrpSpPr>
          <p:cNvPr name="Group 18" id="18"/>
          <p:cNvGrpSpPr/>
          <p:nvPr/>
        </p:nvGrpSpPr>
        <p:grpSpPr>
          <a:xfrm rot="0">
            <a:off x="2051027" y="2707540"/>
            <a:ext cx="14046712" cy="2059415"/>
            <a:chOff x="0" y="0"/>
            <a:chExt cx="18728950" cy="2745886"/>
          </a:xfrm>
        </p:grpSpPr>
        <p:grpSp>
          <p:nvGrpSpPr>
            <p:cNvPr name="Group 19" id="19"/>
            <p:cNvGrpSpPr/>
            <p:nvPr/>
          </p:nvGrpSpPr>
          <p:grpSpPr>
            <a:xfrm rot="0">
              <a:off x="0" y="0"/>
              <a:ext cx="18728950" cy="2745886"/>
              <a:chOff x="0" y="0"/>
              <a:chExt cx="1135704" cy="166508"/>
            </a:xfrm>
          </p:grpSpPr>
          <p:sp>
            <p:nvSpPr>
              <p:cNvPr name="Freeform 20" id="20"/>
              <p:cNvSpPr/>
              <p:nvPr/>
            </p:nvSpPr>
            <p:spPr>
              <a:xfrm flipH="false" flipV="false" rot="0">
                <a:off x="0" y="0"/>
                <a:ext cx="1135704" cy="166508"/>
              </a:xfrm>
              <a:custGeom>
                <a:avLst/>
                <a:gdLst/>
                <a:ahLst/>
                <a:cxnLst/>
                <a:rect r="r" b="b" t="t" l="l"/>
                <a:pathLst>
                  <a:path h="166508" w="1135704">
                    <a:moveTo>
                      <a:pt x="42628" y="0"/>
                    </a:moveTo>
                    <a:lnTo>
                      <a:pt x="1093075" y="0"/>
                    </a:lnTo>
                    <a:cubicBezTo>
                      <a:pt x="1104381" y="0"/>
                      <a:pt x="1115224" y="4491"/>
                      <a:pt x="1123218" y="12486"/>
                    </a:cubicBezTo>
                    <a:cubicBezTo>
                      <a:pt x="1131212" y="20480"/>
                      <a:pt x="1135704" y="31323"/>
                      <a:pt x="1135704" y="42628"/>
                    </a:cubicBezTo>
                    <a:lnTo>
                      <a:pt x="1135704" y="123879"/>
                    </a:lnTo>
                    <a:cubicBezTo>
                      <a:pt x="1135704" y="135185"/>
                      <a:pt x="1131212" y="146028"/>
                      <a:pt x="1123218" y="154022"/>
                    </a:cubicBezTo>
                    <a:cubicBezTo>
                      <a:pt x="1115224" y="162016"/>
                      <a:pt x="1104381" y="166508"/>
                      <a:pt x="1093075" y="166508"/>
                    </a:cubicBezTo>
                    <a:lnTo>
                      <a:pt x="42628" y="166508"/>
                    </a:lnTo>
                    <a:cubicBezTo>
                      <a:pt x="31323" y="166508"/>
                      <a:pt x="20480" y="162016"/>
                      <a:pt x="12486" y="154022"/>
                    </a:cubicBezTo>
                    <a:cubicBezTo>
                      <a:pt x="4491" y="146028"/>
                      <a:pt x="0" y="135185"/>
                      <a:pt x="0" y="123879"/>
                    </a:cubicBezTo>
                    <a:lnTo>
                      <a:pt x="0" y="42628"/>
                    </a:lnTo>
                    <a:cubicBezTo>
                      <a:pt x="0" y="31323"/>
                      <a:pt x="4491" y="20480"/>
                      <a:pt x="12486" y="12486"/>
                    </a:cubicBezTo>
                    <a:cubicBezTo>
                      <a:pt x="20480" y="4491"/>
                      <a:pt x="31323" y="0"/>
                      <a:pt x="42628" y="0"/>
                    </a:cubicBezTo>
                    <a:close/>
                  </a:path>
                </a:pathLst>
              </a:custGeom>
              <a:gradFill rotWithShape="true">
                <a:gsLst>
                  <a:gs pos="0">
                    <a:srgbClr val="85200C">
                      <a:alpha val="30000"/>
                    </a:srgbClr>
                  </a:gs>
                  <a:gs pos="100000">
                    <a:srgbClr val="DC4B0F">
                      <a:alpha val="100000"/>
                    </a:srgbClr>
                  </a:gs>
                </a:gsLst>
                <a:lin ang="0"/>
              </a:gradFill>
            </p:spPr>
          </p:sp>
          <p:sp>
            <p:nvSpPr>
              <p:cNvPr name="TextBox 21" id="21"/>
              <p:cNvSpPr txBox="true"/>
              <p:nvPr/>
            </p:nvSpPr>
            <p:spPr>
              <a:xfrm>
                <a:off x="0" y="28575"/>
                <a:ext cx="1135704" cy="137933"/>
              </a:xfrm>
              <a:prstGeom prst="rect">
                <a:avLst/>
              </a:prstGeom>
            </p:spPr>
            <p:txBody>
              <a:bodyPr anchor="ctr" rtlCol="false" tIns="50800" lIns="50800" bIns="50800" rIns="50800"/>
              <a:lstStyle/>
              <a:p>
                <a:pPr algn="ctr">
                  <a:lnSpc>
                    <a:spcPts val="1919"/>
                  </a:lnSpc>
                </a:pPr>
              </a:p>
            </p:txBody>
          </p:sp>
        </p:grpSp>
        <p:sp>
          <p:nvSpPr>
            <p:cNvPr name="TextBox 22" id="22"/>
            <p:cNvSpPr txBox="true"/>
            <p:nvPr/>
          </p:nvSpPr>
          <p:spPr>
            <a:xfrm rot="0">
              <a:off x="558221" y="531568"/>
              <a:ext cx="17739037" cy="1654175"/>
            </a:xfrm>
            <a:prstGeom prst="rect">
              <a:avLst/>
            </a:prstGeom>
          </p:spPr>
          <p:txBody>
            <a:bodyPr anchor="t" rtlCol="false" tIns="0" lIns="0" bIns="0" rIns="0">
              <a:spAutoFit/>
            </a:bodyPr>
            <a:lstStyle/>
            <a:p>
              <a:pPr algn="ctr">
                <a:lnSpc>
                  <a:spcPts val="3135"/>
                </a:lnSpc>
              </a:pPr>
              <a:r>
                <a:rPr lang="en-US" sz="3300" b="true">
                  <a:solidFill>
                    <a:srgbClr val="FFFFFF"/>
                  </a:solidFill>
                  <a:latin typeface="Poppins Semi-Bold"/>
                  <a:ea typeface="Poppins Semi-Bold"/>
                  <a:cs typeface="Poppins Semi-Bold"/>
                  <a:sym typeface="Poppins Semi-Bold"/>
                </a:rPr>
                <a:t>Amir posted in the group chat that Grace’s section doesn’t meet the criteria and needs redoing. He’s right, and he’s given two weeks’ warning. Grace hasn’t posted since.</a:t>
              </a:r>
            </a:p>
          </p:txBody>
        </p:sp>
      </p:grpSp>
      <p:grpSp>
        <p:nvGrpSpPr>
          <p:cNvPr name="Group 23" id="23"/>
          <p:cNvGrpSpPr/>
          <p:nvPr/>
        </p:nvGrpSpPr>
        <p:grpSpPr>
          <a:xfrm rot="0">
            <a:off x="2086942" y="5524148"/>
            <a:ext cx="6705133" cy="2864363"/>
            <a:chOff x="0" y="0"/>
            <a:chExt cx="542123" cy="231589"/>
          </a:xfrm>
        </p:grpSpPr>
        <p:sp>
          <p:nvSpPr>
            <p:cNvPr name="Freeform 24" id="24"/>
            <p:cNvSpPr/>
            <p:nvPr/>
          </p:nvSpPr>
          <p:spPr>
            <a:xfrm flipH="false" flipV="false" rot="0">
              <a:off x="0" y="0"/>
              <a:ext cx="542123" cy="231589"/>
            </a:xfrm>
            <a:custGeom>
              <a:avLst/>
              <a:gdLst/>
              <a:ahLst/>
              <a:cxnLst/>
              <a:rect r="r" b="b" t="t" l="l"/>
              <a:pathLst>
                <a:path h="231589" w="542123">
                  <a:moveTo>
                    <a:pt x="68556" y="0"/>
                  </a:moveTo>
                  <a:lnTo>
                    <a:pt x="473567" y="0"/>
                  </a:lnTo>
                  <a:cubicBezTo>
                    <a:pt x="511429" y="0"/>
                    <a:pt x="542123" y="30694"/>
                    <a:pt x="542123" y="68556"/>
                  </a:cubicBezTo>
                  <a:lnTo>
                    <a:pt x="542123" y="163033"/>
                  </a:lnTo>
                  <a:cubicBezTo>
                    <a:pt x="542123" y="181215"/>
                    <a:pt x="534900" y="198653"/>
                    <a:pt x="522043" y="211510"/>
                  </a:cubicBezTo>
                  <a:cubicBezTo>
                    <a:pt x="509187" y="224366"/>
                    <a:pt x="491749" y="231589"/>
                    <a:pt x="473567" y="231589"/>
                  </a:cubicBezTo>
                  <a:lnTo>
                    <a:pt x="68556" y="231589"/>
                  </a:lnTo>
                  <a:cubicBezTo>
                    <a:pt x="50374" y="231589"/>
                    <a:pt x="32936" y="224366"/>
                    <a:pt x="20080" y="211510"/>
                  </a:cubicBezTo>
                  <a:cubicBezTo>
                    <a:pt x="7223" y="198653"/>
                    <a:pt x="0" y="181215"/>
                    <a:pt x="0" y="163033"/>
                  </a:cubicBezTo>
                  <a:lnTo>
                    <a:pt x="0" y="68556"/>
                  </a:lnTo>
                  <a:cubicBezTo>
                    <a:pt x="0" y="50374"/>
                    <a:pt x="7223" y="32936"/>
                    <a:pt x="20080" y="20080"/>
                  </a:cubicBezTo>
                  <a:cubicBezTo>
                    <a:pt x="32936" y="7223"/>
                    <a:pt x="50374" y="0"/>
                    <a:pt x="68556" y="0"/>
                  </a:cubicBezTo>
                  <a:close/>
                </a:path>
              </a:pathLst>
            </a:custGeom>
            <a:gradFill rotWithShape="true">
              <a:gsLst>
                <a:gs pos="0">
                  <a:srgbClr val="85200C">
                    <a:alpha val="30000"/>
                  </a:srgbClr>
                </a:gs>
                <a:gs pos="100000">
                  <a:srgbClr val="940000">
                    <a:alpha val="100000"/>
                  </a:srgbClr>
                </a:gs>
              </a:gsLst>
              <a:lin ang="0"/>
            </a:gradFill>
          </p:spPr>
        </p:sp>
        <p:sp>
          <p:nvSpPr>
            <p:cNvPr name="TextBox 25" id="25"/>
            <p:cNvSpPr txBox="true"/>
            <p:nvPr/>
          </p:nvSpPr>
          <p:spPr>
            <a:xfrm>
              <a:off x="0" y="28575"/>
              <a:ext cx="542123" cy="203014"/>
            </a:xfrm>
            <a:prstGeom prst="rect">
              <a:avLst/>
            </a:prstGeom>
          </p:spPr>
          <p:txBody>
            <a:bodyPr anchor="ctr" rtlCol="false" tIns="50800" lIns="50800" bIns="50800" rIns="50800"/>
            <a:lstStyle/>
            <a:p>
              <a:pPr algn="ctr">
                <a:lnSpc>
                  <a:spcPts val="1919"/>
                </a:lnSpc>
              </a:pPr>
            </a:p>
          </p:txBody>
        </p:sp>
      </p:grpSp>
      <p:grpSp>
        <p:nvGrpSpPr>
          <p:cNvPr name="Group 26" id="26"/>
          <p:cNvGrpSpPr/>
          <p:nvPr/>
        </p:nvGrpSpPr>
        <p:grpSpPr>
          <a:xfrm rot="0">
            <a:off x="9036459" y="5554638"/>
            <a:ext cx="6857760" cy="2864363"/>
            <a:chOff x="0" y="0"/>
            <a:chExt cx="9143680" cy="3819150"/>
          </a:xfrm>
        </p:grpSpPr>
        <p:grpSp>
          <p:nvGrpSpPr>
            <p:cNvPr name="Group 27" id="27"/>
            <p:cNvGrpSpPr/>
            <p:nvPr/>
          </p:nvGrpSpPr>
          <p:grpSpPr>
            <a:xfrm rot="0">
              <a:off x="50565" y="0"/>
              <a:ext cx="8869518" cy="3819150"/>
              <a:chOff x="0" y="0"/>
              <a:chExt cx="537838" cy="231589"/>
            </a:xfrm>
          </p:grpSpPr>
          <p:sp>
            <p:nvSpPr>
              <p:cNvPr name="Freeform 28" id="28"/>
              <p:cNvSpPr/>
              <p:nvPr/>
            </p:nvSpPr>
            <p:spPr>
              <a:xfrm flipH="false" flipV="false" rot="0">
                <a:off x="0" y="0"/>
                <a:ext cx="537838" cy="231589"/>
              </a:xfrm>
              <a:custGeom>
                <a:avLst/>
                <a:gdLst/>
                <a:ahLst/>
                <a:cxnLst/>
                <a:rect r="r" b="b" t="t" l="l"/>
                <a:pathLst>
                  <a:path h="231589" w="537838">
                    <a:moveTo>
                      <a:pt x="35130" y="0"/>
                    </a:moveTo>
                    <a:lnTo>
                      <a:pt x="502708" y="0"/>
                    </a:lnTo>
                    <a:cubicBezTo>
                      <a:pt x="512025" y="0"/>
                      <a:pt x="520961" y="3701"/>
                      <a:pt x="527549" y="10289"/>
                    </a:cubicBezTo>
                    <a:cubicBezTo>
                      <a:pt x="534137" y="16878"/>
                      <a:pt x="537838" y="25813"/>
                      <a:pt x="537838" y="35130"/>
                    </a:cubicBezTo>
                    <a:lnTo>
                      <a:pt x="537838" y="196459"/>
                    </a:lnTo>
                    <a:cubicBezTo>
                      <a:pt x="537838" y="205776"/>
                      <a:pt x="534137" y="214712"/>
                      <a:pt x="527549" y="221300"/>
                    </a:cubicBezTo>
                    <a:cubicBezTo>
                      <a:pt x="520961" y="227888"/>
                      <a:pt x="512025" y="231589"/>
                      <a:pt x="502708" y="231589"/>
                    </a:cubicBezTo>
                    <a:lnTo>
                      <a:pt x="35130" y="231589"/>
                    </a:lnTo>
                    <a:cubicBezTo>
                      <a:pt x="25813" y="231589"/>
                      <a:pt x="16878" y="227888"/>
                      <a:pt x="10289" y="221300"/>
                    </a:cubicBezTo>
                    <a:cubicBezTo>
                      <a:pt x="3701" y="214712"/>
                      <a:pt x="0" y="205776"/>
                      <a:pt x="0" y="196459"/>
                    </a:cubicBezTo>
                    <a:lnTo>
                      <a:pt x="0" y="35130"/>
                    </a:lnTo>
                    <a:cubicBezTo>
                      <a:pt x="0" y="25813"/>
                      <a:pt x="3701" y="16878"/>
                      <a:pt x="10289" y="10289"/>
                    </a:cubicBezTo>
                    <a:cubicBezTo>
                      <a:pt x="16878" y="3701"/>
                      <a:pt x="25813" y="0"/>
                      <a:pt x="35130" y="0"/>
                    </a:cubicBezTo>
                    <a:close/>
                  </a:path>
                </a:pathLst>
              </a:custGeom>
              <a:gradFill rotWithShape="true">
                <a:gsLst>
                  <a:gs pos="0">
                    <a:srgbClr val="85200C">
                      <a:alpha val="30000"/>
                    </a:srgbClr>
                  </a:gs>
                  <a:gs pos="100000">
                    <a:srgbClr val="008601">
                      <a:alpha val="100000"/>
                    </a:srgbClr>
                  </a:gs>
                </a:gsLst>
                <a:lin ang="0"/>
              </a:gradFill>
            </p:spPr>
          </p:sp>
          <p:sp>
            <p:nvSpPr>
              <p:cNvPr name="TextBox 29" id="29"/>
              <p:cNvSpPr txBox="true"/>
              <p:nvPr/>
            </p:nvSpPr>
            <p:spPr>
              <a:xfrm>
                <a:off x="0" y="28575"/>
                <a:ext cx="537838" cy="203014"/>
              </a:xfrm>
              <a:prstGeom prst="rect">
                <a:avLst/>
              </a:prstGeom>
            </p:spPr>
            <p:txBody>
              <a:bodyPr anchor="ctr" rtlCol="false" tIns="99925" lIns="99925" bIns="99925" rIns="99925"/>
              <a:lstStyle/>
              <a:p>
                <a:pPr algn="ctr">
                  <a:lnSpc>
                    <a:spcPts val="1919"/>
                  </a:lnSpc>
                </a:pPr>
              </a:p>
            </p:txBody>
          </p:sp>
        </p:grpSp>
        <p:sp>
          <p:nvSpPr>
            <p:cNvPr name="TextBox 30" id="30"/>
            <p:cNvSpPr txBox="true"/>
            <p:nvPr/>
          </p:nvSpPr>
          <p:spPr>
            <a:xfrm rot="0">
              <a:off x="0" y="656138"/>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GreenFlag</a:t>
              </a:r>
            </a:p>
          </p:txBody>
        </p:sp>
        <p:sp>
          <p:nvSpPr>
            <p:cNvPr name="TextBox 31" id="31"/>
            <p:cNvSpPr txBox="true"/>
            <p:nvPr/>
          </p:nvSpPr>
          <p:spPr>
            <a:xfrm rot="0">
              <a:off x="415950" y="506572"/>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Green Flag</a:t>
              </a:r>
            </a:p>
          </p:txBody>
        </p:sp>
      </p:grpSp>
      <p:sp>
        <p:nvSpPr>
          <p:cNvPr name="TextBox 32" id="32"/>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29</a:t>
            </a:r>
          </a:p>
        </p:txBody>
      </p:sp>
      <p:sp>
        <p:nvSpPr>
          <p:cNvPr name="TextBox 33" id="33"/>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34" id="34"/>
          <p:cNvSpPr txBox="true"/>
          <p:nvPr/>
        </p:nvSpPr>
        <p:spPr>
          <a:xfrm rot="0">
            <a:off x="415994" y="1418607"/>
            <a:ext cx="5981225" cy="549275"/>
          </a:xfrm>
          <a:prstGeom prst="rect">
            <a:avLst/>
          </a:prstGeom>
        </p:spPr>
        <p:txBody>
          <a:bodyPr anchor="t" rtlCol="false" tIns="0" lIns="0" bIns="0" rIns="0">
            <a:spAutoFit/>
          </a:bodyPr>
          <a:lstStyle/>
          <a:p>
            <a:pPr algn="l">
              <a:lnSpc>
                <a:spcPts val="3895"/>
              </a:lnSpc>
            </a:pPr>
            <a:r>
              <a:rPr lang="en-US" sz="4100" b="true">
                <a:solidFill>
                  <a:srgbClr val="FFFFFF"/>
                </a:solidFill>
                <a:latin typeface="Poppins Heavy"/>
                <a:ea typeface="Poppins Heavy"/>
                <a:cs typeface="Poppins Heavy"/>
                <a:sym typeface="Poppins Heavy"/>
              </a:rPr>
              <a:t>SCENARIO 11: AMIR </a:t>
            </a:r>
          </a:p>
        </p:txBody>
      </p:sp>
      <p:grpSp>
        <p:nvGrpSpPr>
          <p:cNvPr name="Group 35" id="35"/>
          <p:cNvGrpSpPr/>
          <p:nvPr/>
        </p:nvGrpSpPr>
        <p:grpSpPr>
          <a:xfrm rot="0">
            <a:off x="2001030" y="6106016"/>
            <a:ext cx="6857760" cy="1869997"/>
            <a:chOff x="0" y="0"/>
            <a:chExt cx="9143680" cy="2493329"/>
          </a:xfrm>
        </p:grpSpPr>
        <p:sp>
          <p:nvSpPr>
            <p:cNvPr name="TextBox 36" id="36"/>
            <p:cNvSpPr txBox="true"/>
            <p:nvPr/>
          </p:nvSpPr>
          <p:spPr>
            <a:xfrm rot="0">
              <a:off x="0" y="-79033"/>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Red Flag</a:t>
              </a:r>
            </a:p>
          </p:txBody>
        </p:sp>
        <p:sp>
          <p:nvSpPr>
            <p:cNvPr name="TextBox 37" id="37"/>
            <p:cNvSpPr txBox="true"/>
            <p:nvPr/>
          </p:nvSpPr>
          <p:spPr>
            <a:xfrm rot="0">
              <a:off x="415950" y="-228600"/>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Red Flag</a:t>
              </a:r>
            </a:p>
          </p:txBody>
        </p:sp>
      </p:grpSp>
    </p:spTree>
  </p:cSld>
  <p:clrMapOvr>
    <a:masterClrMapping/>
  </p:clrMapOvr>
</p:sld>
</file>

<file path=ppt/slides/slide31.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761809" y="1287870"/>
            <a:ext cx="15278418" cy="1758535"/>
            <a:chOff x="0" y="0"/>
            <a:chExt cx="20371224" cy="2344713"/>
          </a:xfrm>
        </p:grpSpPr>
        <p:grpSp>
          <p:nvGrpSpPr>
            <p:cNvPr name="Group 16" id="16"/>
            <p:cNvGrpSpPr/>
            <p:nvPr/>
          </p:nvGrpSpPr>
          <p:grpSpPr>
            <a:xfrm rot="0">
              <a:off x="0" y="0"/>
              <a:ext cx="20371224" cy="2344713"/>
              <a:chOff x="0" y="0"/>
              <a:chExt cx="1488968" cy="171379"/>
            </a:xfrm>
          </p:grpSpPr>
          <p:sp>
            <p:nvSpPr>
              <p:cNvPr name="Freeform 17" id="17"/>
              <p:cNvSpPr/>
              <p:nvPr/>
            </p:nvSpPr>
            <p:spPr>
              <a:xfrm flipH="false" flipV="false" rot="0">
                <a:off x="0" y="0"/>
                <a:ext cx="1488968" cy="171379"/>
              </a:xfrm>
              <a:custGeom>
                <a:avLst/>
                <a:gdLst/>
                <a:ahLst/>
                <a:cxnLst/>
                <a:rect r="r" b="b" t="t" l="l"/>
                <a:pathLst>
                  <a:path h="171379" w="1488968">
                    <a:moveTo>
                      <a:pt x="32515" y="0"/>
                    </a:moveTo>
                    <a:lnTo>
                      <a:pt x="1456454" y="0"/>
                    </a:lnTo>
                    <a:cubicBezTo>
                      <a:pt x="1465077" y="0"/>
                      <a:pt x="1473347" y="3426"/>
                      <a:pt x="1479445" y="9523"/>
                    </a:cubicBezTo>
                    <a:cubicBezTo>
                      <a:pt x="1485543" y="15621"/>
                      <a:pt x="1488968" y="23891"/>
                      <a:pt x="1488968" y="32515"/>
                    </a:cubicBezTo>
                    <a:lnTo>
                      <a:pt x="1488968" y="138865"/>
                    </a:lnTo>
                    <a:cubicBezTo>
                      <a:pt x="1488968" y="156822"/>
                      <a:pt x="1474411" y="171379"/>
                      <a:pt x="1456454" y="171379"/>
                    </a:cubicBezTo>
                    <a:lnTo>
                      <a:pt x="32515" y="171379"/>
                    </a:lnTo>
                    <a:cubicBezTo>
                      <a:pt x="14557" y="171379"/>
                      <a:pt x="0" y="156822"/>
                      <a:pt x="0" y="138865"/>
                    </a:cubicBezTo>
                    <a:lnTo>
                      <a:pt x="0" y="32515"/>
                    </a:lnTo>
                    <a:cubicBezTo>
                      <a:pt x="0" y="23891"/>
                      <a:pt x="3426" y="15621"/>
                      <a:pt x="9523" y="9523"/>
                    </a:cubicBezTo>
                    <a:cubicBezTo>
                      <a:pt x="15621" y="3426"/>
                      <a:pt x="23891" y="0"/>
                      <a:pt x="32515" y="0"/>
                    </a:cubicBezTo>
                    <a:close/>
                  </a:path>
                </a:pathLst>
              </a:custGeom>
              <a:gradFill rotWithShape="true">
                <a:gsLst>
                  <a:gs pos="0">
                    <a:srgbClr val="85200C">
                      <a:alpha val="100000"/>
                    </a:srgbClr>
                  </a:gs>
                  <a:gs pos="100000">
                    <a:srgbClr val="DC4B0F">
                      <a:alpha val="100000"/>
                    </a:srgbClr>
                  </a:gs>
                </a:gsLst>
                <a:lin ang="0"/>
              </a:gradFill>
            </p:spPr>
          </p:sp>
          <p:sp>
            <p:nvSpPr>
              <p:cNvPr name="TextBox 18" id="18"/>
              <p:cNvSpPr txBox="true"/>
              <p:nvPr/>
            </p:nvSpPr>
            <p:spPr>
              <a:xfrm>
                <a:off x="0" y="28575"/>
                <a:ext cx="1488968" cy="142804"/>
              </a:xfrm>
              <a:prstGeom prst="rect">
                <a:avLst/>
              </a:prstGeom>
            </p:spPr>
            <p:txBody>
              <a:bodyPr anchor="ctr" rtlCol="false" tIns="50800" lIns="50800" bIns="50800" rIns="50800"/>
              <a:lstStyle/>
              <a:p>
                <a:pPr algn="ctr">
                  <a:lnSpc>
                    <a:spcPts val="1919"/>
                  </a:lnSpc>
                </a:pPr>
              </a:p>
            </p:txBody>
          </p:sp>
        </p:grpSp>
        <p:sp>
          <p:nvSpPr>
            <p:cNvPr name="TextBox 19" id="19"/>
            <p:cNvSpPr txBox="true"/>
            <p:nvPr/>
          </p:nvSpPr>
          <p:spPr>
            <a:xfrm rot="0">
              <a:off x="607170" y="439593"/>
              <a:ext cx="19294509" cy="1440410"/>
            </a:xfrm>
            <a:prstGeom prst="rect">
              <a:avLst/>
            </a:prstGeom>
          </p:spPr>
          <p:txBody>
            <a:bodyPr anchor="t" rtlCol="false" tIns="0" lIns="0" bIns="0" rIns="0">
              <a:spAutoFit/>
            </a:bodyPr>
            <a:lstStyle/>
            <a:p>
              <a:pPr algn="ctr">
                <a:lnSpc>
                  <a:spcPts val="2677"/>
                </a:lnSpc>
              </a:pPr>
              <a:r>
                <a:rPr lang="en-US" sz="2818" b="true">
                  <a:solidFill>
                    <a:srgbClr val="FFFFFF"/>
                  </a:solidFill>
                  <a:latin typeface="Poppins Semi-Bold"/>
                  <a:ea typeface="Poppins Semi-Bold"/>
                  <a:cs typeface="Poppins Semi-Bold"/>
                  <a:sym typeface="Poppins Semi-Bold"/>
                </a:rPr>
                <a:t>Amir posted in the group chat that Grace’s section doesn’t meet the criteria and needs redoing. He’s right, and he’s given two weeks’ warning. Grace hasn’t posted since.</a:t>
              </a:r>
            </a:p>
          </p:txBody>
        </p:sp>
      </p:grpSp>
      <p:grpSp>
        <p:nvGrpSpPr>
          <p:cNvPr name="Group 20" id="20"/>
          <p:cNvGrpSpPr/>
          <p:nvPr/>
        </p:nvGrpSpPr>
        <p:grpSpPr>
          <a:xfrm rot="0">
            <a:off x="1848619" y="3267658"/>
            <a:ext cx="5070623" cy="2864363"/>
            <a:chOff x="0" y="0"/>
            <a:chExt cx="409970" cy="231589"/>
          </a:xfrm>
        </p:grpSpPr>
        <p:sp>
          <p:nvSpPr>
            <p:cNvPr name="Freeform 21" id="21"/>
            <p:cNvSpPr/>
            <p:nvPr/>
          </p:nvSpPr>
          <p:spPr>
            <a:xfrm flipH="false" flipV="false" rot="0">
              <a:off x="0" y="0"/>
              <a:ext cx="409970" cy="231589"/>
            </a:xfrm>
            <a:custGeom>
              <a:avLst/>
              <a:gdLst/>
              <a:ahLst/>
              <a:cxnLst/>
              <a:rect r="r" b="b" t="t" l="l"/>
              <a:pathLst>
                <a:path h="231589" w="409970">
                  <a:moveTo>
                    <a:pt x="90655" y="0"/>
                  </a:moveTo>
                  <a:lnTo>
                    <a:pt x="319315" y="0"/>
                  </a:lnTo>
                  <a:cubicBezTo>
                    <a:pt x="343358" y="0"/>
                    <a:pt x="366416" y="9551"/>
                    <a:pt x="383417" y="26552"/>
                  </a:cubicBezTo>
                  <a:cubicBezTo>
                    <a:pt x="400418" y="43553"/>
                    <a:pt x="409970" y="66612"/>
                    <a:pt x="409970" y="90655"/>
                  </a:cubicBezTo>
                  <a:lnTo>
                    <a:pt x="409970" y="140934"/>
                  </a:lnTo>
                  <a:cubicBezTo>
                    <a:pt x="409970" y="164978"/>
                    <a:pt x="400418" y="188036"/>
                    <a:pt x="383417" y="205037"/>
                  </a:cubicBezTo>
                  <a:cubicBezTo>
                    <a:pt x="366416" y="222038"/>
                    <a:pt x="343358" y="231589"/>
                    <a:pt x="319315" y="231589"/>
                  </a:cubicBezTo>
                  <a:lnTo>
                    <a:pt x="90655" y="231589"/>
                  </a:lnTo>
                  <a:cubicBezTo>
                    <a:pt x="40588" y="231589"/>
                    <a:pt x="0" y="191002"/>
                    <a:pt x="0" y="140934"/>
                  </a:cubicBezTo>
                  <a:lnTo>
                    <a:pt x="0" y="90655"/>
                  </a:lnTo>
                  <a:cubicBezTo>
                    <a:pt x="0" y="66612"/>
                    <a:pt x="9551" y="43553"/>
                    <a:pt x="26552" y="26552"/>
                  </a:cubicBezTo>
                  <a:cubicBezTo>
                    <a:pt x="43553" y="9551"/>
                    <a:pt x="66612" y="0"/>
                    <a:pt x="90655" y="0"/>
                  </a:cubicBezTo>
                  <a:close/>
                </a:path>
              </a:pathLst>
            </a:custGeom>
            <a:gradFill rotWithShape="true">
              <a:gsLst>
                <a:gs pos="0">
                  <a:srgbClr val="85200C">
                    <a:alpha val="30000"/>
                  </a:srgbClr>
                </a:gs>
                <a:gs pos="100000">
                  <a:srgbClr val="FFB30B">
                    <a:alpha val="100000"/>
                  </a:srgbClr>
                </a:gs>
              </a:gsLst>
              <a:lin ang="0"/>
            </a:gradFill>
          </p:spPr>
        </p:sp>
        <p:sp>
          <p:nvSpPr>
            <p:cNvPr name="TextBox 22" id="22"/>
            <p:cNvSpPr txBox="true"/>
            <p:nvPr/>
          </p:nvSpPr>
          <p:spPr>
            <a:xfrm>
              <a:off x="0" y="28575"/>
              <a:ext cx="409970" cy="203014"/>
            </a:xfrm>
            <a:prstGeom prst="rect">
              <a:avLst/>
            </a:prstGeom>
          </p:spPr>
          <p:txBody>
            <a:bodyPr anchor="ctr" rtlCol="false" tIns="50800" lIns="50800" bIns="50800" rIns="50800"/>
            <a:lstStyle/>
            <a:p>
              <a:pPr algn="ctr">
                <a:lnSpc>
                  <a:spcPts val="1919"/>
                </a:lnSpc>
              </a:pPr>
            </a:p>
          </p:txBody>
        </p:sp>
      </p:grpSp>
      <p:grpSp>
        <p:nvGrpSpPr>
          <p:cNvPr name="Group 23" id="23"/>
          <p:cNvGrpSpPr/>
          <p:nvPr/>
        </p:nvGrpSpPr>
        <p:grpSpPr>
          <a:xfrm rot="0">
            <a:off x="7218350" y="3300359"/>
            <a:ext cx="9821878" cy="2715306"/>
            <a:chOff x="0" y="0"/>
            <a:chExt cx="957198" cy="264622"/>
          </a:xfrm>
        </p:grpSpPr>
        <p:sp>
          <p:nvSpPr>
            <p:cNvPr name="Freeform 24" id="24"/>
            <p:cNvSpPr/>
            <p:nvPr/>
          </p:nvSpPr>
          <p:spPr>
            <a:xfrm flipH="false" flipV="false" rot="0">
              <a:off x="0" y="0"/>
              <a:ext cx="957198" cy="264622"/>
            </a:xfrm>
            <a:custGeom>
              <a:avLst/>
              <a:gdLst/>
              <a:ahLst/>
              <a:cxnLst/>
              <a:rect r="r" b="b" t="t" l="l"/>
              <a:pathLst>
                <a:path h="264622" w="957198">
                  <a:moveTo>
                    <a:pt x="60965" y="0"/>
                  </a:moveTo>
                  <a:lnTo>
                    <a:pt x="896233" y="0"/>
                  </a:lnTo>
                  <a:cubicBezTo>
                    <a:pt x="912402" y="0"/>
                    <a:pt x="927908" y="6423"/>
                    <a:pt x="939341" y="17856"/>
                  </a:cubicBezTo>
                  <a:cubicBezTo>
                    <a:pt x="950775" y="29289"/>
                    <a:pt x="957198" y="44796"/>
                    <a:pt x="957198" y="60965"/>
                  </a:cubicBezTo>
                  <a:lnTo>
                    <a:pt x="957198" y="203657"/>
                  </a:lnTo>
                  <a:cubicBezTo>
                    <a:pt x="957198" y="237327"/>
                    <a:pt x="929903" y="264622"/>
                    <a:pt x="896233" y="264622"/>
                  </a:cubicBezTo>
                  <a:lnTo>
                    <a:pt x="60965" y="264622"/>
                  </a:lnTo>
                  <a:cubicBezTo>
                    <a:pt x="27295" y="264622"/>
                    <a:pt x="0" y="237327"/>
                    <a:pt x="0" y="203657"/>
                  </a:cubicBezTo>
                  <a:lnTo>
                    <a:pt x="0" y="60965"/>
                  </a:lnTo>
                  <a:cubicBezTo>
                    <a:pt x="0" y="27295"/>
                    <a:pt x="27295" y="0"/>
                    <a:pt x="60965" y="0"/>
                  </a:cubicBezTo>
                  <a:close/>
                </a:path>
              </a:pathLst>
            </a:custGeom>
            <a:gradFill rotWithShape="true">
              <a:gsLst>
                <a:gs pos="0">
                  <a:srgbClr val="85200C">
                    <a:alpha val="30000"/>
                  </a:srgbClr>
                </a:gs>
                <a:gs pos="100000">
                  <a:srgbClr val="DC4B0F">
                    <a:alpha val="100000"/>
                  </a:srgbClr>
                </a:gs>
              </a:gsLst>
              <a:lin ang="0"/>
            </a:gradFill>
          </p:spPr>
        </p:sp>
        <p:sp>
          <p:nvSpPr>
            <p:cNvPr name="TextBox 25" id="25"/>
            <p:cNvSpPr txBox="true"/>
            <p:nvPr/>
          </p:nvSpPr>
          <p:spPr>
            <a:xfrm>
              <a:off x="0" y="28575"/>
              <a:ext cx="957198" cy="236047"/>
            </a:xfrm>
            <a:prstGeom prst="rect">
              <a:avLst/>
            </a:prstGeom>
          </p:spPr>
          <p:txBody>
            <a:bodyPr anchor="ctr" rtlCol="false" tIns="42145" lIns="42145" bIns="42145" rIns="42145"/>
            <a:lstStyle/>
            <a:p>
              <a:pPr algn="ctr">
                <a:lnSpc>
                  <a:spcPts val="1919"/>
                </a:lnSpc>
              </a:pPr>
            </a:p>
          </p:txBody>
        </p:sp>
      </p:grpSp>
      <p:sp>
        <p:nvSpPr>
          <p:cNvPr name="TextBox 26" id="26"/>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30</a:t>
            </a:r>
          </a:p>
        </p:txBody>
      </p:sp>
      <p:sp>
        <p:nvSpPr>
          <p:cNvPr name="TextBox 27" id="27"/>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28" id="28"/>
          <p:cNvSpPr txBox="true"/>
          <p:nvPr/>
        </p:nvSpPr>
        <p:spPr>
          <a:xfrm rot="0">
            <a:off x="11797590" y="3651238"/>
            <a:ext cx="4879373" cy="1812925"/>
          </a:xfrm>
          <a:prstGeom prst="rect">
            <a:avLst/>
          </a:prstGeom>
        </p:spPr>
        <p:txBody>
          <a:bodyPr anchor="t" rtlCol="false" tIns="0" lIns="0" bIns="0" rIns="0">
            <a:spAutoFit/>
          </a:bodyPr>
          <a:lstStyle/>
          <a:p>
            <a:pPr algn="l">
              <a:lnSpc>
                <a:spcPts val="2374"/>
              </a:lnSpc>
            </a:pPr>
            <a:r>
              <a:rPr lang="en-US" sz="2499" b="true">
                <a:solidFill>
                  <a:srgbClr val="FFFFFF"/>
                </a:solidFill>
                <a:latin typeface="Poppins Semi-Bold"/>
                <a:ea typeface="Poppins Semi-Bold"/>
                <a:cs typeface="Poppins Semi-Bold"/>
                <a:sym typeface="Poppins Semi-Bold"/>
              </a:rPr>
              <a:t>Accurate, specific, and early, which is three quarters of good feedback. The audience is the problem. Public correction reads as a verdict on the person</a:t>
            </a:r>
          </a:p>
        </p:txBody>
      </p:sp>
      <p:grpSp>
        <p:nvGrpSpPr>
          <p:cNvPr name="Group 29" id="29"/>
          <p:cNvGrpSpPr/>
          <p:nvPr/>
        </p:nvGrpSpPr>
        <p:grpSpPr>
          <a:xfrm rot="0">
            <a:off x="7098242" y="3722679"/>
            <a:ext cx="4796052" cy="2152728"/>
            <a:chOff x="0" y="0"/>
            <a:chExt cx="6394736" cy="2870304"/>
          </a:xfrm>
        </p:grpSpPr>
        <p:sp>
          <p:nvSpPr>
            <p:cNvPr name="TextBox 30" id="30"/>
            <p:cNvSpPr txBox="true"/>
            <p:nvPr/>
          </p:nvSpPr>
          <p:spPr>
            <a:xfrm rot="0">
              <a:off x="370530" y="-94520"/>
              <a:ext cx="6024207" cy="2964824"/>
            </a:xfrm>
            <a:prstGeom prst="rect">
              <a:avLst/>
            </a:prstGeom>
          </p:spPr>
          <p:txBody>
            <a:bodyPr anchor="t" rtlCol="false" tIns="0" lIns="0" bIns="0" rIns="0">
              <a:spAutoFit/>
            </a:bodyPr>
            <a:lstStyle/>
            <a:p>
              <a:pPr algn="ctr">
                <a:lnSpc>
                  <a:spcPts val="18648"/>
                </a:lnSpc>
              </a:pPr>
              <a:r>
                <a:rPr lang="en-US" sz="13320" spc="39">
                  <a:solidFill>
                    <a:srgbClr val="000000">
                      <a:alpha val="30980"/>
                    </a:srgbClr>
                  </a:solidFill>
                  <a:latin typeface="Milestone Script"/>
                  <a:ea typeface="Milestone Script"/>
                  <a:cs typeface="Milestone Script"/>
                  <a:sym typeface="Milestone Script"/>
                </a:rPr>
                <a:t>Why?</a:t>
              </a:r>
            </a:p>
          </p:txBody>
        </p:sp>
        <p:sp>
          <p:nvSpPr>
            <p:cNvPr name="TextBox 31" id="31"/>
            <p:cNvSpPr txBox="true"/>
            <p:nvPr/>
          </p:nvSpPr>
          <p:spPr>
            <a:xfrm rot="0">
              <a:off x="0" y="-266700"/>
              <a:ext cx="6263643" cy="2964824"/>
            </a:xfrm>
            <a:prstGeom prst="rect">
              <a:avLst/>
            </a:prstGeom>
          </p:spPr>
          <p:txBody>
            <a:bodyPr anchor="t" rtlCol="false" tIns="0" lIns="0" bIns="0" rIns="0">
              <a:spAutoFit/>
            </a:bodyPr>
            <a:lstStyle/>
            <a:p>
              <a:pPr algn="ctr">
                <a:lnSpc>
                  <a:spcPts val="18648"/>
                </a:lnSpc>
              </a:pPr>
              <a:r>
                <a:rPr lang="en-US" sz="13320" spc="39">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Why?</a:t>
              </a:r>
            </a:p>
          </p:txBody>
        </p:sp>
      </p:grpSp>
      <p:sp>
        <p:nvSpPr>
          <p:cNvPr name="TextBox 32" id="32"/>
          <p:cNvSpPr txBox="true"/>
          <p:nvPr/>
        </p:nvSpPr>
        <p:spPr>
          <a:xfrm rot="0">
            <a:off x="2626674" y="3878386"/>
            <a:ext cx="3514512" cy="1520825"/>
          </a:xfrm>
          <a:prstGeom prst="rect">
            <a:avLst/>
          </a:prstGeom>
        </p:spPr>
        <p:txBody>
          <a:bodyPr anchor="t" rtlCol="false" tIns="0" lIns="0" bIns="0" rIns="0">
            <a:spAutoFit/>
          </a:bodyPr>
          <a:lstStyle/>
          <a:p>
            <a:pPr algn="ctr">
              <a:lnSpc>
                <a:spcPts val="5605"/>
              </a:lnSpc>
            </a:pPr>
            <a:r>
              <a:rPr lang="en-US" sz="5900" b="true">
                <a:solidFill>
                  <a:srgbClr val="FFFFFF"/>
                </a:solidFill>
                <a:latin typeface="Poppins Heavy"/>
                <a:ea typeface="Poppins Heavy"/>
                <a:cs typeface="Poppins Heavy"/>
                <a:sym typeface="Poppins Heavy"/>
              </a:rPr>
              <a:t>IT DEPENDS</a:t>
            </a:r>
          </a:p>
        </p:txBody>
      </p:sp>
      <p:grpSp>
        <p:nvGrpSpPr>
          <p:cNvPr name="Group 33" id="33"/>
          <p:cNvGrpSpPr/>
          <p:nvPr/>
        </p:nvGrpSpPr>
        <p:grpSpPr>
          <a:xfrm rot="0">
            <a:off x="3857803" y="6559486"/>
            <a:ext cx="10756617" cy="2036826"/>
            <a:chOff x="0" y="0"/>
            <a:chExt cx="14342157" cy="2715768"/>
          </a:xfrm>
        </p:grpSpPr>
        <p:grpSp>
          <p:nvGrpSpPr>
            <p:cNvPr name="Group 34" id="34"/>
            <p:cNvGrpSpPr/>
            <p:nvPr/>
          </p:nvGrpSpPr>
          <p:grpSpPr>
            <a:xfrm rot="0">
              <a:off x="168625" y="12700"/>
              <a:ext cx="14173532" cy="2665787"/>
              <a:chOff x="0" y="0"/>
              <a:chExt cx="1280731" cy="240883"/>
            </a:xfrm>
          </p:grpSpPr>
          <p:sp>
            <p:nvSpPr>
              <p:cNvPr name="Freeform 35" id="35"/>
              <p:cNvSpPr/>
              <p:nvPr/>
            </p:nvSpPr>
            <p:spPr>
              <a:xfrm flipH="false" flipV="false" rot="0">
                <a:off x="0" y="0"/>
                <a:ext cx="1280731" cy="240883"/>
              </a:xfrm>
              <a:custGeom>
                <a:avLst/>
                <a:gdLst/>
                <a:ahLst/>
                <a:cxnLst/>
                <a:rect r="r" b="b" t="t" l="l"/>
                <a:pathLst>
                  <a:path h="240883" w="1280731">
                    <a:moveTo>
                      <a:pt x="6828" y="0"/>
                    </a:moveTo>
                    <a:lnTo>
                      <a:pt x="1273903" y="0"/>
                    </a:lnTo>
                    <a:cubicBezTo>
                      <a:pt x="1275714" y="0"/>
                      <a:pt x="1277451" y="719"/>
                      <a:pt x="1278731" y="2000"/>
                    </a:cubicBezTo>
                    <a:cubicBezTo>
                      <a:pt x="1280012" y="3280"/>
                      <a:pt x="1280731" y="5017"/>
                      <a:pt x="1280731" y="6828"/>
                    </a:cubicBezTo>
                    <a:lnTo>
                      <a:pt x="1280731" y="234055"/>
                    </a:lnTo>
                    <a:cubicBezTo>
                      <a:pt x="1280731" y="235866"/>
                      <a:pt x="1280012" y="237602"/>
                      <a:pt x="1278731" y="238883"/>
                    </a:cubicBezTo>
                    <a:cubicBezTo>
                      <a:pt x="1277451" y="240163"/>
                      <a:pt x="1275714" y="240883"/>
                      <a:pt x="1273903" y="240883"/>
                    </a:cubicBezTo>
                    <a:lnTo>
                      <a:pt x="6828" y="240883"/>
                    </a:lnTo>
                    <a:cubicBezTo>
                      <a:pt x="5017" y="240883"/>
                      <a:pt x="3280" y="240163"/>
                      <a:pt x="2000" y="238883"/>
                    </a:cubicBezTo>
                    <a:cubicBezTo>
                      <a:pt x="719" y="237602"/>
                      <a:pt x="0" y="235866"/>
                      <a:pt x="0" y="234055"/>
                    </a:cubicBezTo>
                    <a:lnTo>
                      <a:pt x="0" y="6828"/>
                    </a:lnTo>
                    <a:cubicBezTo>
                      <a:pt x="0" y="5017"/>
                      <a:pt x="719" y="3280"/>
                      <a:pt x="2000" y="2000"/>
                    </a:cubicBezTo>
                    <a:cubicBezTo>
                      <a:pt x="3280" y="719"/>
                      <a:pt x="5017" y="0"/>
                      <a:pt x="6828" y="0"/>
                    </a:cubicBezTo>
                    <a:close/>
                  </a:path>
                </a:pathLst>
              </a:custGeom>
              <a:gradFill rotWithShape="true">
                <a:gsLst>
                  <a:gs pos="0">
                    <a:srgbClr val="FFFFFF">
                      <a:alpha val="100000"/>
                    </a:srgbClr>
                  </a:gs>
                  <a:gs pos="100000">
                    <a:srgbClr val="FFFFFF">
                      <a:alpha val="0"/>
                    </a:srgbClr>
                  </a:gs>
                </a:gsLst>
                <a:lin ang="0"/>
              </a:gradFill>
            </p:spPr>
          </p:sp>
          <p:sp>
            <p:nvSpPr>
              <p:cNvPr name="TextBox 36" id="36"/>
              <p:cNvSpPr txBox="true"/>
              <p:nvPr/>
            </p:nvSpPr>
            <p:spPr>
              <a:xfrm>
                <a:off x="0" y="28575"/>
                <a:ext cx="1280731" cy="212308"/>
              </a:xfrm>
              <a:prstGeom prst="rect">
                <a:avLst/>
              </a:prstGeom>
            </p:spPr>
            <p:txBody>
              <a:bodyPr anchor="ctr" rtlCol="false" tIns="42145" lIns="42145" bIns="42145" rIns="42145"/>
              <a:lstStyle/>
              <a:p>
                <a:pPr algn="ctr">
                  <a:lnSpc>
                    <a:spcPts val="1919"/>
                  </a:lnSpc>
                </a:pPr>
              </a:p>
            </p:txBody>
          </p:sp>
        </p:grpSp>
        <p:grpSp>
          <p:nvGrpSpPr>
            <p:cNvPr name="Group 37" id="37"/>
            <p:cNvGrpSpPr/>
            <p:nvPr/>
          </p:nvGrpSpPr>
          <p:grpSpPr>
            <a:xfrm rot="0">
              <a:off x="0" y="0"/>
              <a:ext cx="299496" cy="2715768"/>
              <a:chOff x="0" y="0"/>
              <a:chExt cx="46219" cy="419100"/>
            </a:xfrm>
          </p:grpSpPr>
          <p:sp>
            <p:nvSpPr>
              <p:cNvPr name="Freeform 38" id="38"/>
              <p:cNvSpPr/>
              <p:nvPr/>
            </p:nvSpPr>
            <p:spPr>
              <a:xfrm flipH="false" flipV="false" rot="0">
                <a:off x="0" y="0"/>
                <a:ext cx="46219" cy="419100"/>
              </a:xfrm>
              <a:custGeom>
                <a:avLst/>
                <a:gdLst/>
                <a:ahLst/>
                <a:cxnLst/>
                <a:rect r="r" b="b" t="t" l="l"/>
                <a:pathLst>
                  <a:path h="419100" w="46219">
                    <a:moveTo>
                      <a:pt x="23109" y="0"/>
                    </a:moveTo>
                    <a:lnTo>
                      <a:pt x="23109" y="0"/>
                    </a:lnTo>
                    <a:cubicBezTo>
                      <a:pt x="29238" y="0"/>
                      <a:pt x="35116" y="2435"/>
                      <a:pt x="39450" y="6769"/>
                    </a:cubicBezTo>
                    <a:cubicBezTo>
                      <a:pt x="43784" y="11102"/>
                      <a:pt x="46219" y="16980"/>
                      <a:pt x="46219" y="23109"/>
                    </a:cubicBezTo>
                    <a:lnTo>
                      <a:pt x="46219" y="395991"/>
                    </a:lnTo>
                    <a:cubicBezTo>
                      <a:pt x="46219" y="402120"/>
                      <a:pt x="43784" y="407998"/>
                      <a:pt x="39450" y="412331"/>
                    </a:cubicBezTo>
                    <a:cubicBezTo>
                      <a:pt x="35116" y="416665"/>
                      <a:pt x="29238" y="419100"/>
                      <a:pt x="23109" y="419100"/>
                    </a:cubicBezTo>
                    <a:lnTo>
                      <a:pt x="23109" y="419100"/>
                    </a:lnTo>
                    <a:cubicBezTo>
                      <a:pt x="16980" y="419100"/>
                      <a:pt x="11102" y="416665"/>
                      <a:pt x="6769" y="412331"/>
                    </a:cubicBezTo>
                    <a:cubicBezTo>
                      <a:pt x="2435" y="407998"/>
                      <a:pt x="0" y="402120"/>
                      <a:pt x="0" y="395991"/>
                    </a:cubicBezTo>
                    <a:lnTo>
                      <a:pt x="0" y="23109"/>
                    </a:lnTo>
                    <a:cubicBezTo>
                      <a:pt x="0" y="16980"/>
                      <a:pt x="2435" y="11102"/>
                      <a:pt x="6769" y="6769"/>
                    </a:cubicBezTo>
                    <a:cubicBezTo>
                      <a:pt x="11102" y="2435"/>
                      <a:pt x="16980" y="0"/>
                      <a:pt x="23109" y="0"/>
                    </a:cubicBezTo>
                    <a:close/>
                  </a:path>
                </a:pathLst>
              </a:custGeom>
              <a:solidFill>
                <a:srgbClr val="6E3125"/>
              </a:solidFill>
            </p:spPr>
          </p:sp>
          <p:sp>
            <p:nvSpPr>
              <p:cNvPr name="TextBox 39" id="39"/>
              <p:cNvSpPr txBox="true"/>
              <p:nvPr/>
            </p:nvSpPr>
            <p:spPr>
              <a:xfrm>
                <a:off x="0" y="28575"/>
                <a:ext cx="46219" cy="390525"/>
              </a:xfrm>
              <a:prstGeom prst="rect">
                <a:avLst/>
              </a:prstGeom>
            </p:spPr>
            <p:txBody>
              <a:bodyPr anchor="ctr" rtlCol="false" tIns="50800" lIns="50800" bIns="50800" rIns="50800"/>
              <a:lstStyle/>
              <a:p>
                <a:pPr algn="ctr">
                  <a:lnSpc>
                    <a:spcPts val="1919"/>
                  </a:lnSpc>
                </a:pPr>
              </a:p>
            </p:txBody>
          </p:sp>
        </p:grpSp>
        <p:sp>
          <p:nvSpPr>
            <p:cNvPr name="TextBox 40" id="40"/>
            <p:cNvSpPr txBox="true"/>
            <p:nvPr/>
          </p:nvSpPr>
          <p:spPr>
            <a:xfrm rot="0">
              <a:off x="789272" y="528814"/>
              <a:ext cx="12932236" cy="1625007"/>
            </a:xfrm>
            <a:prstGeom prst="rect">
              <a:avLst/>
            </a:prstGeom>
          </p:spPr>
          <p:txBody>
            <a:bodyPr anchor="t" rtlCol="false" tIns="0" lIns="0" bIns="0" rIns="0">
              <a:spAutoFit/>
            </a:bodyPr>
            <a:lstStyle/>
            <a:p>
              <a:pPr algn="l">
                <a:lnSpc>
                  <a:spcPts val="4600"/>
                </a:lnSpc>
              </a:pPr>
              <a:r>
                <a:rPr lang="en-US" sz="4299" b="true">
                  <a:solidFill>
                    <a:srgbClr val="6E3125"/>
                  </a:solidFill>
                  <a:latin typeface="Poppins Heavy"/>
                  <a:ea typeface="Poppins Heavy"/>
                  <a:cs typeface="Poppins Heavy"/>
                  <a:sym typeface="Poppins Heavy"/>
                </a:rPr>
                <a:t>What single detail would make this clearly green?</a:t>
              </a:r>
            </a:p>
          </p:txBody>
        </p:sp>
      </p:grpSp>
    </p:spTree>
  </p:cSld>
  <p:clrMapOvr>
    <a:masterClrMapping/>
  </p:clrMapOvr>
</p:sld>
</file>

<file path=ppt/slides/slide32.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271343" y="1105777"/>
            <a:ext cx="7487927" cy="1140886"/>
            <a:chOff x="0" y="0"/>
            <a:chExt cx="605413" cy="92243"/>
          </a:xfrm>
        </p:grpSpPr>
        <p:sp>
          <p:nvSpPr>
            <p:cNvPr name="Freeform 16" id="16"/>
            <p:cNvSpPr/>
            <p:nvPr/>
          </p:nvSpPr>
          <p:spPr>
            <a:xfrm flipH="false" flipV="false" rot="0">
              <a:off x="0" y="0"/>
              <a:ext cx="605413" cy="92243"/>
            </a:xfrm>
            <a:custGeom>
              <a:avLst/>
              <a:gdLst/>
              <a:ahLst/>
              <a:cxnLst/>
              <a:rect r="r" b="b" t="t" l="l"/>
              <a:pathLst>
                <a:path h="92243" w="605413">
                  <a:moveTo>
                    <a:pt x="46121" y="0"/>
                  </a:moveTo>
                  <a:lnTo>
                    <a:pt x="559292" y="0"/>
                  </a:lnTo>
                  <a:cubicBezTo>
                    <a:pt x="571524" y="0"/>
                    <a:pt x="583255" y="4859"/>
                    <a:pt x="591905" y="13509"/>
                  </a:cubicBezTo>
                  <a:cubicBezTo>
                    <a:pt x="600554" y="22158"/>
                    <a:pt x="605413" y="33889"/>
                    <a:pt x="605413" y="46121"/>
                  </a:cubicBezTo>
                  <a:lnTo>
                    <a:pt x="605413" y="46121"/>
                  </a:lnTo>
                  <a:cubicBezTo>
                    <a:pt x="605413" y="58354"/>
                    <a:pt x="600554" y="70085"/>
                    <a:pt x="591905" y="78734"/>
                  </a:cubicBezTo>
                  <a:cubicBezTo>
                    <a:pt x="583255" y="87384"/>
                    <a:pt x="571524" y="92243"/>
                    <a:pt x="559292" y="92243"/>
                  </a:cubicBezTo>
                  <a:lnTo>
                    <a:pt x="46121" y="92243"/>
                  </a:lnTo>
                  <a:cubicBezTo>
                    <a:pt x="33889" y="92243"/>
                    <a:pt x="22158" y="87384"/>
                    <a:pt x="13509" y="78734"/>
                  </a:cubicBezTo>
                  <a:cubicBezTo>
                    <a:pt x="4859" y="70085"/>
                    <a:pt x="0" y="58354"/>
                    <a:pt x="0" y="46121"/>
                  </a:cubicBezTo>
                  <a:lnTo>
                    <a:pt x="0" y="46121"/>
                  </a:lnTo>
                  <a:cubicBezTo>
                    <a:pt x="0" y="33889"/>
                    <a:pt x="4859" y="22158"/>
                    <a:pt x="13509" y="13509"/>
                  </a:cubicBezTo>
                  <a:cubicBezTo>
                    <a:pt x="22158" y="4859"/>
                    <a:pt x="33889" y="0"/>
                    <a:pt x="46121" y="0"/>
                  </a:cubicBezTo>
                  <a:close/>
                </a:path>
              </a:pathLst>
            </a:custGeom>
            <a:gradFill rotWithShape="true">
              <a:gsLst>
                <a:gs pos="0">
                  <a:srgbClr val="85200C">
                    <a:alpha val="100000"/>
                  </a:srgbClr>
                </a:gs>
                <a:gs pos="100000">
                  <a:srgbClr val="DC4B0F">
                    <a:alpha val="100000"/>
                  </a:srgbClr>
                </a:gs>
              </a:gsLst>
              <a:lin ang="0"/>
            </a:gradFill>
          </p:spPr>
        </p:sp>
        <p:sp>
          <p:nvSpPr>
            <p:cNvPr name="TextBox 17" id="17"/>
            <p:cNvSpPr txBox="true"/>
            <p:nvPr/>
          </p:nvSpPr>
          <p:spPr>
            <a:xfrm>
              <a:off x="0" y="28575"/>
              <a:ext cx="605413" cy="63668"/>
            </a:xfrm>
            <a:prstGeom prst="rect">
              <a:avLst/>
            </a:prstGeom>
          </p:spPr>
          <p:txBody>
            <a:bodyPr anchor="ctr" rtlCol="false" tIns="50800" lIns="50800" bIns="50800" rIns="50800"/>
            <a:lstStyle/>
            <a:p>
              <a:pPr algn="ctr">
                <a:lnSpc>
                  <a:spcPts val="1919"/>
                </a:lnSpc>
              </a:pPr>
            </a:p>
          </p:txBody>
        </p:sp>
      </p:grpSp>
      <p:grpSp>
        <p:nvGrpSpPr>
          <p:cNvPr name="Group 18" id="18"/>
          <p:cNvGrpSpPr/>
          <p:nvPr/>
        </p:nvGrpSpPr>
        <p:grpSpPr>
          <a:xfrm rot="0">
            <a:off x="2051027" y="2707540"/>
            <a:ext cx="14046712" cy="2246740"/>
            <a:chOff x="0" y="0"/>
            <a:chExt cx="18728950" cy="2995653"/>
          </a:xfrm>
        </p:grpSpPr>
        <p:grpSp>
          <p:nvGrpSpPr>
            <p:cNvPr name="Group 19" id="19"/>
            <p:cNvGrpSpPr/>
            <p:nvPr/>
          </p:nvGrpSpPr>
          <p:grpSpPr>
            <a:xfrm rot="0">
              <a:off x="0" y="0"/>
              <a:ext cx="18728950" cy="2995653"/>
              <a:chOff x="0" y="0"/>
              <a:chExt cx="1135704" cy="181653"/>
            </a:xfrm>
          </p:grpSpPr>
          <p:sp>
            <p:nvSpPr>
              <p:cNvPr name="Freeform 20" id="20"/>
              <p:cNvSpPr/>
              <p:nvPr/>
            </p:nvSpPr>
            <p:spPr>
              <a:xfrm flipH="false" flipV="false" rot="0">
                <a:off x="0" y="0"/>
                <a:ext cx="1135704" cy="181653"/>
              </a:xfrm>
              <a:custGeom>
                <a:avLst/>
                <a:gdLst/>
                <a:ahLst/>
                <a:cxnLst/>
                <a:rect r="r" b="b" t="t" l="l"/>
                <a:pathLst>
                  <a:path h="181653" w="1135704">
                    <a:moveTo>
                      <a:pt x="42628" y="0"/>
                    </a:moveTo>
                    <a:lnTo>
                      <a:pt x="1093075" y="0"/>
                    </a:lnTo>
                    <a:cubicBezTo>
                      <a:pt x="1104381" y="0"/>
                      <a:pt x="1115224" y="4491"/>
                      <a:pt x="1123218" y="12486"/>
                    </a:cubicBezTo>
                    <a:cubicBezTo>
                      <a:pt x="1131212" y="20480"/>
                      <a:pt x="1135704" y="31323"/>
                      <a:pt x="1135704" y="42628"/>
                    </a:cubicBezTo>
                    <a:lnTo>
                      <a:pt x="1135704" y="139025"/>
                    </a:lnTo>
                    <a:cubicBezTo>
                      <a:pt x="1135704" y="150331"/>
                      <a:pt x="1131212" y="161173"/>
                      <a:pt x="1123218" y="169168"/>
                    </a:cubicBezTo>
                    <a:cubicBezTo>
                      <a:pt x="1115224" y="177162"/>
                      <a:pt x="1104381" y="181653"/>
                      <a:pt x="1093075" y="181653"/>
                    </a:cubicBezTo>
                    <a:lnTo>
                      <a:pt x="42628" y="181653"/>
                    </a:lnTo>
                    <a:cubicBezTo>
                      <a:pt x="31323" y="181653"/>
                      <a:pt x="20480" y="177162"/>
                      <a:pt x="12486" y="169168"/>
                    </a:cubicBezTo>
                    <a:cubicBezTo>
                      <a:pt x="4491" y="161173"/>
                      <a:pt x="0" y="150331"/>
                      <a:pt x="0" y="139025"/>
                    </a:cubicBezTo>
                    <a:lnTo>
                      <a:pt x="0" y="42628"/>
                    </a:lnTo>
                    <a:cubicBezTo>
                      <a:pt x="0" y="31323"/>
                      <a:pt x="4491" y="20480"/>
                      <a:pt x="12486" y="12486"/>
                    </a:cubicBezTo>
                    <a:cubicBezTo>
                      <a:pt x="20480" y="4491"/>
                      <a:pt x="31323" y="0"/>
                      <a:pt x="42628" y="0"/>
                    </a:cubicBezTo>
                    <a:close/>
                  </a:path>
                </a:pathLst>
              </a:custGeom>
              <a:gradFill rotWithShape="true">
                <a:gsLst>
                  <a:gs pos="0">
                    <a:srgbClr val="85200C">
                      <a:alpha val="30000"/>
                    </a:srgbClr>
                  </a:gs>
                  <a:gs pos="100000">
                    <a:srgbClr val="DC4B0F">
                      <a:alpha val="100000"/>
                    </a:srgbClr>
                  </a:gs>
                </a:gsLst>
                <a:lin ang="0"/>
              </a:gradFill>
            </p:spPr>
          </p:sp>
          <p:sp>
            <p:nvSpPr>
              <p:cNvPr name="TextBox 21" id="21"/>
              <p:cNvSpPr txBox="true"/>
              <p:nvPr/>
            </p:nvSpPr>
            <p:spPr>
              <a:xfrm>
                <a:off x="0" y="28575"/>
                <a:ext cx="1135704" cy="153078"/>
              </a:xfrm>
              <a:prstGeom prst="rect">
                <a:avLst/>
              </a:prstGeom>
            </p:spPr>
            <p:txBody>
              <a:bodyPr anchor="ctr" rtlCol="false" tIns="50800" lIns="50800" bIns="50800" rIns="50800"/>
              <a:lstStyle/>
              <a:p>
                <a:pPr algn="ctr">
                  <a:lnSpc>
                    <a:spcPts val="1919"/>
                  </a:lnSpc>
                </a:pPr>
              </a:p>
            </p:txBody>
          </p:sp>
        </p:grpSp>
        <p:sp>
          <p:nvSpPr>
            <p:cNvPr name="TextBox 22" id="22"/>
            <p:cNvSpPr txBox="true"/>
            <p:nvPr/>
          </p:nvSpPr>
          <p:spPr>
            <a:xfrm rot="0">
              <a:off x="558221" y="531568"/>
              <a:ext cx="17739037" cy="1903942"/>
            </a:xfrm>
            <a:prstGeom prst="rect">
              <a:avLst/>
            </a:prstGeom>
          </p:spPr>
          <p:txBody>
            <a:bodyPr anchor="t" rtlCol="false" tIns="0" lIns="0" bIns="0" rIns="0">
              <a:spAutoFit/>
            </a:bodyPr>
            <a:lstStyle/>
            <a:p>
              <a:pPr algn="ctr">
                <a:lnSpc>
                  <a:spcPts val="2755"/>
                </a:lnSpc>
              </a:pPr>
              <a:r>
                <a:rPr lang="en-US" sz="2900" b="true">
                  <a:solidFill>
                    <a:srgbClr val="FFFFFF"/>
                  </a:solidFill>
                  <a:latin typeface="Poppins Semi-Bold"/>
                  <a:ea typeface="Poppins Semi-Bold"/>
                  <a:cs typeface="Poppins Semi-Bold"/>
                  <a:sym typeface="Poppins Semi-Bold"/>
                </a:rPr>
                <a:t>Nobody organised the group in the first fortnight, so Ella started assigning tasks and chairing meetings. The team is ahead of schedule. She never asked if anyone else wanted a role, and when someone proposed restructuring in week 8 she said the plan was locked.</a:t>
              </a:r>
            </a:p>
          </p:txBody>
        </p:sp>
      </p:grpSp>
      <p:grpSp>
        <p:nvGrpSpPr>
          <p:cNvPr name="Group 23" id="23"/>
          <p:cNvGrpSpPr/>
          <p:nvPr/>
        </p:nvGrpSpPr>
        <p:grpSpPr>
          <a:xfrm rot="0">
            <a:off x="2086942" y="5524148"/>
            <a:ext cx="6705133" cy="2864363"/>
            <a:chOff x="0" y="0"/>
            <a:chExt cx="542123" cy="231589"/>
          </a:xfrm>
        </p:grpSpPr>
        <p:sp>
          <p:nvSpPr>
            <p:cNvPr name="Freeform 24" id="24"/>
            <p:cNvSpPr/>
            <p:nvPr/>
          </p:nvSpPr>
          <p:spPr>
            <a:xfrm flipH="false" flipV="false" rot="0">
              <a:off x="0" y="0"/>
              <a:ext cx="542123" cy="231589"/>
            </a:xfrm>
            <a:custGeom>
              <a:avLst/>
              <a:gdLst/>
              <a:ahLst/>
              <a:cxnLst/>
              <a:rect r="r" b="b" t="t" l="l"/>
              <a:pathLst>
                <a:path h="231589" w="542123">
                  <a:moveTo>
                    <a:pt x="68556" y="0"/>
                  </a:moveTo>
                  <a:lnTo>
                    <a:pt x="473567" y="0"/>
                  </a:lnTo>
                  <a:cubicBezTo>
                    <a:pt x="511429" y="0"/>
                    <a:pt x="542123" y="30694"/>
                    <a:pt x="542123" y="68556"/>
                  </a:cubicBezTo>
                  <a:lnTo>
                    <a:pt x="542123" y="163033"/>
                  </a:lnTo>
                  <a:cubicBezTo>
                    <a:pt x="542123" y="181215"/>
                    <a:pt x="534900" y="198653"/>
                    <a:pt x="522043" y="211510"/>
                  </a:cubicBezTo>
                  <a:cubicBezTo>
                    <a:pt x="509187" y="224366"/>
                    <a:pt x="491749" y="231589"/>
                    <a:pt x="473567" y="231589"/>
                  </a:cubicBezTo>
                  <a:lnTo>
                    <a:pt x="68556" y="231589"/>
                  </a:lnTo>
                  <a:cubicBezTo>
                    <a:pt x="50374" y="231589"/>
                    <a:pt x="32936" y="224366"/>
                    <a:pt x="20080" y="211510"/>
                  </a:cubicBezTo>
                  <a:cubicBezTo>
                    <a:pt x="7223" y="198653"/>
                    <a:pt x="0" y="181215"/>
                    <a:pt x="0" y="163033"/>
                  </a:cubicBezTo>
                  <a:lnTo>
                    <a:pt x="0" y="68556"/>
                  </a:lnTo>
                  <a:cubicBezTo>
                    <a:pt x="0" y="50374"/>
                    <a:pt x="7223" y="32936"/>
                    <a:pt x="20080" y="20080"/>
                  </a:cubicBezTo>
                  <a:cubicBezTo>
                    <a:pt x="32936" y="7223"/>
                    <a:pt x="50374" y="0"/>
                    <a:pt x="68556" y="0"/>
                  </a:cubicBezTo>
                  <a:close/>
                </a:path>
              </a:pathLst>
            </a:custGeom>
            <a:gradFill rotWithShape="true">
              <a:gsLst>
                <a:gs pos="0">
                  <a:srgbClr val="85200C">
                    <a:alpha val="30000"/>
                  </a:srgbClr>
                </a:gs>
                <a:gs pos="100000">
                  <a:srgbClr val="940000">
                    <a:alpha val="100000"/>
                  </a:srgbClr>
                </a:gs>
              </a:gsLst>
              <a:lin ang="0"/>
            </a:gradFill>
          </p:spPr>
        </p:sp>
        <p:sp>
          <p:nvSpPr>
            <p:cNvPr name="TextBox 25" id="25"/>
            <p:cNvSpPr txBox="true"/>
            <p:nvPr/>
          </p:nvSpPr>
          <p:spPr>
            <a:xfrm>
              <a:off x="0" y="28575"/>
              <a:ext cx="542123" cy="203014"/>
            </a:xfrm>
            <a:prstGeom prst="rect">
              <a:avLst/>
            </a:prstGeom>
          </p:spPr>
          <p:txBody>
            <a:bodyPr anchor="ctr" rtlCol="false" tIns="50800" lIns="50800" bIns="50800" rIns="50800"/>
            <a:lstStyle/>
            <a:p>
              <a:pPr algn="ctr">
                <a:lnSpc>
                  <a:spcPts val="1919"/>
                </a:lnSpc>
              </a:pPr>
            </a:p>
          </p:txBody>
        </p:sp>
      </p:grpSp>
      <p:grpSp>
        <p:nvGrpSpPr>
          <p:cNvPr name="Group 26" id="26"/>
          <p:cNvGrpSpPr/>
          <p:nvPr/>
        </p:nvGrpSpPr>
        <p:grpSpPr>
          <a:xfrm rot="0">
            <a:off x="9036459" y="5554638"/>
            <a:ext cx="6857760" cy="2864363"/>
            <a:chOff x="0" y="0"/>
            <a:chExt cx="9143680" cy="3819150"/>
          </a:xfrm>
        </p:grpSpPr>
        <p:grpSp>
          <p:nvGrpSpPr>
            <p:cNvPr name="Group 27" id="27"/>
            <p:cNvGrpSpPr/>
            <p:nvPr/>
          </p:nvGrpSpPr>
          <p:grpSpPr>
            <a:xfrm rot="0">
              <a:off x="50565" y="0"/>
              <a:ext cx="8869518" cy="3819150"/>
              <a:chOff x="0" y="0"/>
              <a:chExt cx="537838" cy="231589"/>
            </a:xfrm>
          </p:grpSpPr>
          <p:sp>
            <p:nvSpPr>
              <p:cNvPr name="Freeform 28" id="28"/>
              <p:cNvSpPr/>
              <p:nvPr/>
            </p:nvSpPr>
            <p:spPr>
              <a:xfrm flipH="false" flipV="false" rot="0">
                <a:off x="0" y="0"/>
                <a:ext cx="537838" cy="231589"/>
              </a:xfrm>
              <a:custGeom>
                <a:avLst/>
                <a:gdLst/>
                <a:ahLst/>
                <a:cxnLst/>
                <a:rect r="r" b="b" t="t" l="l"/>
                <a:pathLst>
                  <a:path h="231589" w="537838">
                    <a:moveTo>
                      <a:pt x="35130" y="0"/>
                    </a:moveTo>
                    <a:lnTo>
                      <a:pt x="502708" y="0"/>
                    </a:lnTo>
                    <a:cubicBezTo>
                      <a:pt x="512025" y="0"/>
                      <a:pt x="520961" y="3701"/>
                      <a:pt x="527549" y="10289"/>
                    </a:cubicBezTo>
                    <a:cubicBezTo>
                      <a:pt x="534137" y="16878"/>
                      <a:pt x="537838" y="25813"/>
                      <a:pt x="537838" y="35130"/>
                    </a:cubicBezTo>
                    <a:lnTo>
                      <a:pt x="537838" y="196459"/>
                    </a:lnTo>
                    <a:cubicBezTo>
                      <a:pt x="537838" y="205776"/>
                      <a:pt x="534137" y="214712"/>
                      <a:pt x="527549" y="221300"/>
                    </a:cubicBezTo>
                    <a:cubicBezTo>
                      <a:pt x="520961" y="227888"/>
                      <a:pt x="512025" y="231589"/>
                      <a:pt x="502708" y="231589"/>
                    </a:cubicBezTo>
                    <a:lnTo>
                      <a:pt x="35130" y="231589"/>
                    </a:lnTo>
                    <a:cubicBezTo>
                      <a:pt x="25813" y="231589"/>
                      <a:pt x="16878" y="227888"/>
                      <a:pt x="10289" y="221300"/>
                    </a:cubicBezTo>
                    <a:cubicBezTo>
                      <a:pt x="3701" y="214712"/>
                      <a:pt x="0" y="205776"/>
                      <a:pt x="0" y="196459"/>
                    </a:cubicBezTo>
                    <a:lnTo>
                      <a:pt x="0" y="35130"/>
                    </a:lnTo>
                    <a:cubicBezTo>
                      <a:pt x="0" y="25813"/>
                      <a:pt x="3701" y="16878"/>
                      <a:pt x="10289" y="10289"/>
                    </a:cubicBezTo>
                    <a:cubicBezTo>
                      <a:pt x="16878" y="3701"/>
                      <a:pt x="25813" y="0"/>
                      <a:pt x="35130" y="0"/>
                    </a:cubicBezTo>
                    <a:close/>
                  </a:path>
                </a:pathLst>
              </a:custGeom>
              <a:gradFill rotWithShape="true">
                <a:gsLst>
                  <a:gs pos="0">
                    <a:srgbClr val="85200C">
                      <a:alpha val="30000"/>
                    </a:srgbClr>
                  </a:gs>
                  <a:gs pos="100000">
                    <a:srgbClr val="008601">
                      <a:alpha val="100000"/>
                    </a:srgbClr>
                  </a:gs>
                </a:gsLst>
                <a:lin ang="0"/>
              </a:gradFill>
            </p:spPr>
          </p:sp>
          <p:sp>
            <p:nvSpPr>
              <p:cNvPr name="TextBox 29" id="29"/>
              <p:cNvSpPr txBox="true"/>
              <p:nvPr/>
            </p:nvSpPr>
            <p:spPr>
              <a:xfrm>
                <a:off x="0" y="28575"/>
                <a:ext cx="537838" cy="203014"/>
              </a:xfrm>
              <a:prstGeom prst="rect">
                <a:avLst/>
              </a:prstGeom>
            </p:spPr>
            <p:txBody>
              <a:bodyPr anchor="ctr" rtlCol="false" tIns="99925" lIns="99925" bIns="99925" rIns="99925"/>
              <a:lstStyle/>
              <a:p>
                <a:pPr algn="ctr">
                  <a:lnSpc>
                    <a:spcPts val="1919"/>
                  </a:lnSpc>
                </a:pPr>
              </a:p>
            </p:txBody>
          </p:sp>
        </p:grpSp>
        <p:sp>
          <p:nvSpPr>
            <p:cNvPr name="TextBox 30" id="30"/>
            <p:cNvSpPr txBox="true"/>
            <p:nvPr/>
          </p:nvSpPr>
          <p:spPr>
            <a:xfrm rot="0">
              <a:off x="0" y="656138"/>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GreenFlag</a:t>
              </a:r>
            </a:p>
          </p:txBody>
        </p:sp>
        <p:sp>
          <p:nvSpPr>
            <p:cNvPr name="TextBox 31" id="31"/>
            <p:cNvSpPr txBox="true"/>
            <p:nvPr/>
          </p:nvSpPr>
          <p:spPr>
            <a:xfrm rot="0">
              <a:off x="415950" y="506572"/>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Green Flag</a:t>
              </a:r>
            </a:p>
          </p:txBody>
        </p:sp>
      </p:grpSp>
      <p:sp>
        <p:nvSpPr>
          <p:cNvPr name="TextBox 32" id="32"/>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31</a:t>
            </a:r>
          </a:p>
        </p:txBody>
      </p:sp>
      <p:sp>
        <p:nvSpPr>
          <p:cNvPr name="TextBox 33" id="33"/>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34" id="34"/>
          <p:cNvSpPr txBox="true"/>
          <p:nvPr/>
        </p:nvSpPr>
        <p:spPr>
          <a:xfrm rot="0">
            <a:off x="415994" y="1418607"/>
            <a:ext cx="5981225" cy="549275"/>
          </a:xfrm>
          <a:prstGeom prst="rect">
            <a:avLst/>
          </a:prstGeom>
        </p:spPr>
        <p:txBody>
          <a:bodyPr anchor="t" rtlCol="false" tIns="0" lIns="0" bIns="0" rIns="0">
            <a:spAutoFit/>
          </a:bodyPr>
          <a:lstStyle/>
          <a:p>
            <a:pPr algn="l">
              <a:lnSpc>
                <a:spcPts val="3895"/>
              </a:lnSpc>
            </a:pPr>
            <a:r>
              <a:rPr lang="en-US" sz="4100" b="true">
                <a:solidFill>
                  <a:srgbClr val="FFFFFF"/>
                </a:solidFill>
                <a:latin typeface="Poppins Heavy"/>
                <a:ea typeface="Poppins Heavy"/>
                <a:cs typeface="Poppins Heavy"/>
                <a:sym typeface="Poppins Heavy"/>
              </a:rPr>
              <a:t>SCENARIO 12: ELLA</a:t>
            </a:r>
          </a:p>
        </p:txBody>
      </p:sp>
      <p:grpSp>
        <p:nvGrpSpPr>
          <p:cNvPr name="Group 35" id="35"/>
          <p:cNvGrpSpPr/>
          <p:nvPr/>
        </p:nvGrpSpPr>
        <p:grpSpPr>
          <a:xfrm rot="0">
            <a:off x="2001030" y="6106016"/>
            <a:ext cx="6857760" cy="1869997"/>
            <a:chOff x="0" y="0"/>
            <a:chExt cx="9143680" cy="2493329"/>
          </a:xfrm>
        </p:grpSpPr>
        <p:sp>
          <p:nvSpPr>
            <p:cNvPr name="TextBox 36" id="36"/>
            <p:cNvSpPr txBox="true"/>
            <p:nvPr/>
          </p:nvSpPr>
          <p:spPr>
            <a:xfrm rot="0">
              <a:off x="0" y="-79033"/>
              <a:ext cx="9143680" cy="2572362"/>
            </a:xfrm>
            <a:prstGeom prst="rect">
              <a:avLst/>
            </a:prstGeom>
          </p:spPr>
          <p:txBody>
            <a:bodyPr anchor="t" rtlCol="false" tIns="0" lIns="0" bIns="0" rIns="0">
              <a:spAutoFit/>
            </a:bodyPr>
            <a:lstStyle/>
            <a:p>
              <a:pPr algn="ctr">
                <a:lnSpc>
                  <a:spcPts val="16199"/>
                </a:lnSpc>
              </a:pPr>
              <a:r>
                <a:rPr lang="en-US" sz="11570" spc="34">
                  <a:solidFill>
                    <a:srgbClr val="000000">
                      <a:alpha val="30980"/>
                    </a:srgbClr>
                  </a:solidFill>
                  <a:latin typeface="Milestone Script"/>
                  <a:ea typeface="Milestone Script"/>
                  <a:cs typeface="Milestone Script"/>
                  <a:sym typeface="Milestone Script"/>
                </a:rPr>
                <a:t>Red Flag</a:t>
              </a:r>
            </a:p>
          </p:txBody>
        </p:sp>
        <p:sp>
          <p:nvSpPr>
            <p:cNvPr name="TextBox 37" id="37"/>
            <p:cNvSpPr txBox="true"/>
            <p:nvPr/>
          </p:nvSpPr>
          <p:spPr>
            <a:xfrm rot="0">
              <a:off x="415950" y="-228600"/>
              <a:ext cx="8121423" cy="2572362"/>
            </a:xfrm>
            <a:prstGeom prst="rect">
              <a:avLst/>
            </a:prstGeom>
          </p:spPr>
          <p:txBody>
            <a:bodyPr anchor="t" rtlCol="false" tIns="0" lIns="0" bIns="0" rIns="0">
              <a:spAutoFit/>
            </a:bodyPr>
            <a:lstStyle/>
            <a:p>
              <a:pPr algn="ctr">
                <a:lnSpc>
                  <a:spcPts val="16199"/>
                </a:lnSpc>
              </a:pPr>
              <a:r>
                <a:rPr lang="en-US" sz="11570" spc="34">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Red Flag</a:t>
              </a:r>
            </a:p>
          </p:txBody>
        </p:sp>
      </p:grpSp>
    </p:spTree>
  </p:cSld>
  <p:clrMapOvr>
    <a:masterClrMapping/>
  </p:clrMapOvr>
</p:sld>
</file>

<file path=ppt/slides/slide33.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grpSp>
        <p:nvGrpSpPr>
          <p:cNvPr name="Group 15" id="15"/>
          <p:cNvGrpSpPr/>
          <p:nvPr/>
        </p:nvGrpSpPr>
        <p:grpSpPr>
          <a:xfrm rot="0">
            <a:off x="1761809" y="1287870"/>
            <a:ext cx="15278418" cy="1583102"/>
            <a:chOff x="0" y="0"/>
            <a:chExt cx="20371224" cy="2110803"/>
          </a:xfrm>
        </p:grpSpPr>
        <p:grpSp>
          <p:nvGrpSpPr>
            <p:cNvPr name="Group 16" id="16"/>
            <p:cNvGrpSpPr/>
            <p:nvPr/>
          </p:nvGrpSpPr>
          <p:grpSpPr>
            <a:xfrm rot="0">
              <a:off x="0" y="0"/>
              <a:ext cx="20371224" cy="2110803"/>
              <a:chOff x="0" y="0"/>
              <a:chExt cx="1488968" cy="154282"/>
            </a:xfrm>
          </p:grpSpPr>
          <p:sp>
            <p:nvSpPr>
              <p:cNvPr name="Freeform 17" id="17"/>
              <p:cNvSpPr/>
              <p:nvPr/>
            </p:nvSpPr>
            <p:spPr>
              <a:xfrm flipH="false" flipV="false" rot="0">
                <a:off x="0" y="0"/>
                <a:ext cx="1488968" cy="154282"/>
              </a:xfrm>
              <a:custGeom>
                <a:avLst/>
                <a:gdLst/>
                <a:ahLst/>
                <a:cxnLst/>
                <a:rect r="r" b="b" t="t" l="l"/>
                <a:pathLst>
                  <a:path h="154282" w="1488968">
                    <a:moveTo>
                      <a:pt x="32515" y="0"/>
                    </a:moveTo>
                    <a:lnTo>
                      <a:pt x="1456454" y="0"/>
                    </a:lnTo>
                    <a:cubicBezTo>
                      <a:pt x="1465077" y="0"/>
                      <a:pt x="1473347" y="3426"/>
                      <a:pt x="1479445" y="9523"/>
                    </a:cubicBezTo>
                    <a:cubicBezTo>
                      <a:pt x="1485543" y="15621"/>
                      <a:pt x="1488968" y="23891"/>
                      <a:pt x="1488968" y="32515"/>
                    </a:cubicBezTo>
                    <a:lnTo>
                      <a:pt x="1488968" y="121768"/>
                    </a:lnTo>
                    <a:cubicBezTo>
                      <a:pt x="1488968" y="130391"/>
                      <a:pt x="1485543" y="138661"/>
                      <a:pt x="1479445" y="144759"/>
                    </a:cubicBezTo>
                    <a:cubicBezTo>
                      <a:pt x="1473347" y="150857"/>
                      <a:pt x="1465077" y="154282"/>
                      <a:pt x="1456454" y="154282"/>
                    </a:cubicBezTo>
                    <a:lnTo>
                      <a:pt x="32515" y="154282"/>
                    </a:lnTo>
                    <a:cubicBezTo>
                      <a:pt x="23891" y="154282"/>
                      <a:pt x="15621" y="150857"/>
                      <a:pt x="9523" y="144759"/>
                    </a:cubicBezTo>
                    <a:cubicBezTo>
                      <a:pt x="3426" y="138661"/>
                      <a:pt x="0" y="130391"/>
                      <a:pt x="0" y="121768"/>
                    </a:cubicBezTo>
                    <a:lnTo>
                      <a:pt x="0" y="32515"/>
                    </a:lnTo>
                    <a:cubicBezTo>
                      <a:pt x="0" y="23891"/>
                      <a:pt x="3426" y="15621"/>
                      <a:pt x="9523" y="9523"/>
                    </a:cubicBezTo>
                    <a:cubicBezTo>
                      <a:pt x="15621" y="3426"/>
                      <a:pt x="23891" y="0"/>
                      <a:pt x="32515" y="0"/>
                    </a:cubicBezTo>
                    <a:close/>
                  </a:path>
                </a:pathLst>
              </a:custGeom>
              <a:gradFill rotWithShape="true">
                <a:gsLst>
                  <a:gs pos="0">
                    <a:srgbClr val="85200C">
                      <a:alpha val="100000"/>
                    </a:srgbClr>
                  </a:gs>
                  <a:gs pos="100000">
                    <a:srgbClr val="DC4B0F">
                      <a:alpha val="100000"/>
                    </a:srgbClr>
                  </a:gs>
                </a:gsLst>
                <a:lin ang="0"/>
              </a:gradFill>
            </p:spPr>
          </p:sp>
          <p:sp>
            <p:nvSpPr>
              <p:cNvPr name="TextBox 18" id="18"/>
              <p:cNvSpPr txBox="true"/>
              <p:nvPr/>
            </p:nvSpPr>
            <p:spPr>
              <a:xfrm>
                <a:off x="0" y="28575"/>
                <a:ext cx="1488968" cy="125707"/>
              </a:xfrm>
              <a:prstGeom prst="rect">
                <a:avLst/>
              </a:prstGeom>
            </p:spPr>
            <p:txBody>
              <a:bodyPr anchor="ctr" rtlCol="false" tIns="50800" lIns="50800" bIns="50800" rIns="50800"/>
              <a:lstStyle/>
              <a:p>
                <a:pPr algn="ctr">
                  <a:lnSpc>
                    <a:spcPts val="1919"/>
                  </a:lnSpc>
                </a:pPr>
              </a:p>
            </p:txBody>
          </p:sp>
        </p:grpSp>
        <p:sp>
          <p:nvSpPr>
            <p:cNvPr name="TextBox 19" id="19"/>
            <p:cNvSpPr txBox="true"/>
            <p:nvPr/>
          </p:nvSpPr>
          <p:spPr>
            <a:xfrm rot="0">
              <a:off x="607170" y="439593"/>
              <a:ext cx="19294509" cy="1206500"/>
            </a:xfrm>
            <a:prstGeom prst="rect">
              <a:avLst/>
            </a:prstGeom>
          </p:spPr>
          <p:txBody>
            <a:bodyPr anchor="t" rtlCol="false" tIns="0" lIns="0" bIns="0" rIns="0">
              <a:spAutoFit/>
            </a:bodyPr>
            <a:lstStyle/>
            <a:p>
              <a:pPr algn="ctr">
                <a:lnSpc>
                  <a:spcPts val="2279"/>
                </a:lnSpc>
              </a:pPr>
              <a:r>
                <a:rPr lang="en-US" sz="2400" b="true">
                  <a:solidFill>
                    <a:srgbClr val="FFFFFF"/>
                  </a:solidFill>
                  <a:latin typeface="Poppins Semi-Bold"/>
                  <a:ea typeface="Poppins Semi-Bold"/>
                  <a:cs typeface="Poppins Semi-Bold"/>
                  <a:sym typeface="Poppins Semi-Bold"/>
                </a:rPr>
                <a:t>Nobody organised the group in the first fortnight, so Ella started assigning tasks and chairing meetings. The team is ahead of schedule. She never asked if anyone else wanted a role, and when someone proposed restructuring in week 8 she said the plan was locked.</a:t>
              </a:r>
            </a:p>
          </p:txBody>
        </p:sp>
      </p:grpSp>
      <p:grpSp>
        <p:nvGrpSpPr>
          <p:cNvPr name="Group 20" id="20"/>
          <p:cNvGrpSpPr/>
          <p:nvPr/>
        </p:nvGrpSpPr>
        <p:grpSpPr>
          <a:xfrm rot="0">
            <a:off x="1848619" y="3267658"/>
            <a:ext cx="5070623" cy="2864363"/>
            <a:chOff x="0" y="0"/>
            <a:chExt cx="409970" cy="231589"/>
          </a:xfrm>
        </p:grpSpPr>
        <p:sp>
          <p:nvSpPr>
            <p:cNvPr name="Freeform 21" id="21"/>
            <p:cNvSpPr/>
            <p:nvPr/>
          </p:nvSpPr>
          <p:spPr>
            <a:xfrm flipH="false" flipV="false" rot="0">
              <a:off x="0" y="0"/>
              <a:ext cx="409970" cy="231589"/>
            </a:xfrm>
            <a:custGeom>
              <a:avLst/>
              <a:gdLst/>
              <a:ahLst/>
              <a:cxnLst/>
              <a:rect r="r" b="b" t="t" l="l"/>
              <a:pathLst>
                <a:path h="231589" w="409970">
                  <a:moveTo>
                    <a:pt x="90655" y="0"/>
                  </a:moveTo>
                  <a:lnTo>
                    <a:pt x="319315" y="0"/>
                  </a:lnTo>
                  <a:cubicBezTo>
                    <a:pt x="343358" y="0"/>
                    <a:pt x="366416" y="9551"/>
                    <a:pt x="383417" y="26552"/>
                  </a:cubicBezTo>
                  <a:cubicBezTo>
                    <a:pt x="400418" y="43553"/>
                    <a:pt x="409970" y="66612"/>
                    <a:pt x="409970" y="90655"/>
                  </a:cubicBezTo>
                  <a:lnTo>
                    <a:pt x="409970" y="140934"/>
                  </a:lnTo>
                  <a:cubicBezTo>
                    <a:pt x="409970" y="164978"/>
                    <a:pt x="400418" y="188036"/>
                    <a:pt x="383417" y="205037"/>
                  </a:cubicBezTo>
                  <a:cubicBezTo>
                    <a:pt x="366416" y="222038"/>
                    <a:pt x="343358" y="231589"/>
                    <a:pt x="319315" y="231589"/>
                  </a:cubicBezTo>
                  <a:lnTo>
                    <a:pt x="90655" y="231589"/>
                  </a:lnTo>
                  <a:cubicBezTo>
                    <a:pt x="40588" y="231589"/>
                    <a:pt x="0" y="191002"/>
                    <a:pt x="0" y="140934"/>
                  </a:cubicBezTo>
                  <a:lnTo>
                    <a:pt x="0" y="90655"/>
                  </a:lnTo>
                  <a:cubicBezTo>
                    <a:pt x="0" y="66612"/>
                    <a:pt x="9551" y="43553"/>
                    <a:pt x="26552" y="26552"/>
                  </a:cubicBezTo>
                  <a:cubicBezTo>
                    <a:pt x="43553" y="9551"/>
                    <a:pt x="66612" y="0"/>
                    <a:pt x="90655" y="0"/>
                  </a:cubicBezTo>
                  <a:close/>
                </a:path>
              </a:pathLst>
            </a:custGeom>
            <a:gradFill rotWithShape="true">
              <a:gsLst>
                <a:gs pos="0">
                  <a:srgbClr val="85200C">
                    <a:alpha val="30000"/>
                  </a:srgbClr>
                </a:gs>
                <a:gs pos="100000">
                  <a:srgbClr val="FFB30B">
                    <a:alpha val="100000"/>
                  </a:srgbClr>
                </a:gs>
              </a:gsLst>
              <a:lin ang="0"/>
            </a:gradFill>
          </p:spPr>
        </p:sp>
        <p:sp>
          <p:nvSpPr>
            <p:cNvPr name="TextBox 22" id="22"/>
            <p:cNvSpPr txBox="true"/>
            <p:nvPr/>
          </p:nvSpPr>
          <p:spPr>
            <a:xfrm>
              <a:off x="0" y="28575"/>
              <a:ext cx="409970" cy="203014"/>
            </a:xfrm>
            <a:prstGeom prst="rect">
              <a:avLst/>
            </a:prstGeom>
          </p:spPr>
          <p:txBody>
            <a:bodyPr anchor="ctr" rtlCol="false" tIns="50800" lIns="50800" bIns="50800" rIns="50800"/>
            <a:lstStyle/>
            <a:p>
              <a:pPr algn="ctr">
                <a:lnSpc>
                  <a:spcPts val="1919"/>
                </a:lnSpc>
              </a:pPr>
            </a:p>
          </p:txBody>
        </p:sp>
      </p:grpSp>
      <p:grpSp>
        <p:nvGrpSpPr>
          <p:cNvPr name="Group 23" id="23"/>
          <p:cNvGrpSpPr/>
          <p:nvPr/>
        </p:nvGrpSpPr>
        <p:grpSpPr>
          <a:xfrm rot="0">
            <a:off x="7218350" y="3300359"/>
            <a:ext cx="9821878" cy="2715306"/>
            <a:chOff x="0" y="0"/>
            <a:chExt cx="957198" cy="264622"/>
          </a:xfrm>
        </p:grpSpPr>
        <p:sp>
          <p:nvSpPr>
            <p:cNvPr name="Freeform 24" id="24"/>
            <p:cNvSpPr/>
            <p:nvPr/>
          </p:nvSpPr>
          <p:spPr>
            <a:xfrm flipH="false" flipV="false" rot="0">
              <a:off x="0" y="0"/>
              <a:ext cx="957198" cy="264622"/>
            </a:xfrm>
            <a:custGeom>
              <a:avLst/>
              <a:gdLst/>
              <a:ahLst/>
              <a:cxnLst/>
              <a:rect r="r" b="b" t="t" l="l"/>
              <a:pathLst>
                <a:path h="264622" w="957198">
                  <a:moveTo>
                    <a:pt x="60965" y="0"/>
                  </a:moveTo>
                  <a:lnTo>
                    <a:pt x="896233" y="0"/>
                  </a:lnTo>
                  <a:cubicBezTo>
                    <a:pt x="912402" y="0"/>
                    <a:pt x="927908" y="6423"/>
                    <a:pt x="939341" y="17856"/>
                  </a:cubicBezTo>
                  <a:cubicBezTo>
                    <a:pt x="950775" y="29289"/>
                    <a:pt x="957198" y="44796"/>
                    <a:pt x="957198" y="60965"/>
                  </a:cubicBezTo>
                  <a:lnTo>
                    <a:pt x="957198" y="203657"/>
                  </a:lnTo>
                  <a:cubicBezTo>
                    <a:pt x="957198" y="237327"/>
                    <a:pt x="929903" y="264622"/>
                    <a:pt x="896233" y="264622"/>
                  </a:cubicBezTo>
                  <a:lnTo>
                    <a:pt x="60965" y="264622"/>
                  </a:lnTo>
                  <a:cubicBezTo>
                    <a:pt x="27295" y="264622"/>
                    <a:pt x="0" y="237327"/>
                    <a:pt x="0" y="203657"/>
                  </a:cubicBezTo>
                  <a:lnTo>
                    <a:pt x="0" y="60965"/>
                  </a:lnTo>
                  <a:cubicBezTo>
                    <a:pt x="0" y="27295"/>
                    <a:pt x="27295" y="0"/>
                    <a:pt x="60965" y="0"/>
                  </a:cubicBezTo>
                  <a:close/>
                </a:path>
              </a:pathLst>
            </a:custGeom>
            <a:gradFill rotWithShape="true">
              <a:gsLst>
                <a:gs pos="0">
                  <a:srgbClr val="85200C">
                    <a:alpha val="30000"/>
                  </a:srgbClr>
                </a:gs>
                <a:gs pos="100000">
                  <a:srgbClr val="DC4B0F">
                    <a:alpha val="100000"/>
                  </a:srgbClr>
                </a:gs>
              </a:gsLst>
              <a:lin ang="0"/>
            </a:gradFill>
          </p:spPr>
        </p:sp>
        <p:sp>
          <p:nvSpPr>
            <p:cNvPr name="TextBox 25" id="25"/>
            <p:cNvSpPr txBox="true"/>
            <p:nvPr/>
          </p:nvSpPr>
          <p:spPr>
            <a:xfrm>
              <a:off x="0" y="28575"/>
              <a:ext cx="957198" cy="236047"/>
            </a:xfrm>
            <a:prstGeom prst="rect">
              <a:avLst/>
            </a:prstGeom>
          </p:spPr>
          <p:txBody>
            <a:bodyPr anchor="ctr" rtlCol="false" tIns="42145" lIns="42145" bIns="42145" rIns="42145"/>
            <a:lstStyle/>
            <a:p>
              <a:pPr algn="ctr">
                <a:lnSpc>
                  <a:spcPts val="1919"/>
                </a:lnSpc>
              </a:pPr>
            </a:p>
          </p:txBody>
        </p:sp>
      </p:grpSp>
      <p:sp>
        <p:nvSpPr>
          <p:cNvPr name="TextBox 26" id="26"/>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32</a:t>
            </a:r>
          </a:p>
        </p:txBody>
      </p:sp>
      <p:sp>
        <p:nvSpPr>
          <p:cNvPr name="TextBox 27" id="27"/>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28" id="28"/>
          <p:cNvSpPr txBox="true"/>
          <p:nvPr/>
        </p:nvSpPr>
        <p:spPr>
          <a:xfrm rot="0">
            <a:off x="11797590" y="3651238"/>
            <a:ext cx="4879373" cy="1812925"/>
          </a:xfrm>
          <a:prstGeom prst="rect">
            <a:avLst/>
          </a:prstGeom>
        </p:spPr>
        <p:txBody>
          <a:bodyPr anchor="t" rtlCol="false" tIns="0" lIns="0" bIns="0" rIns="0">
            <a:spAutoFit/>
          </a:bodyPr>
          <a:lstStyle/>
          <a:p>
            <a:pPr algn="l">
              <a:lnSpc>
                <a:spcPts val="2374"/>
              </a:lnSpc>
            </a:pPr>
            <a:r>
              <a:rPr lang="en-US" sz="2499" b="true">
                <a:solidFill>
                  <a:srgbClr val="FFFFFF"/>
                </a:solidFill>
                <a:latin typeface="Poppins Semi-Bold"/>
                <a:ea typeface="Poppins Semi-Bold"/>
                <a:cs typeface="Poppins Semi-Bold"/>
                <a:sym typeface="Poppins Semi-Bold"/>
              </a:rPr>
              <a:t>She filled a vacuum nobody else would, and the group is genuinely better off. But a team that runs well and can’t be influenced is not a team, it’s an assistant pool.</a:t>
            </a:r>
          </a:p>
        </p:txBody>
      </p:sp>
      <p:grpSp>
        <p:nvGrpSpPr>
          <p:cNvPr name="Group 29" id="29"/>
          <p:cNvGrpSpPr/>
          <p:nvPr/>
        </p:nvGrpSpPr>
        <p:grpSpPr>
          <a:xfrm rot="0">
            <a:off x="7098242" y="3722679"/>
            <a:ext cx="4796052" cy="2152728"/>
            <a:chOff x="0" y="0"/>
            <a:chExt cx="6394736" cy="2870304"/>
          </a:xfrm>
        </p:grpSpPr>
        <p:sp>
          <p:nvSpPr>
            <p:cNvPr name="TextBox 30" id="30"/>
            <p:cNvSpPr txBox="true"/>
            <p:nvPr/>
          </p:nvSpPr>
          <p:spPr>
            <a:xfrm rot="0">
              <a:off x="370530" y="-94520"/>
              <a:ext cx="6024207" cy="2964824"/>
            </a:xfrm>
            <a:prstGeom prst="rect">
              <a:avLst/>
            </a:prstGeom>
          </p:spPr>
          <p:txBody>
            <a:bodyPr anchor="t" rtlCol="false" tIns="0" lIns="0" bIns="0" rIns="0">
              <a:spAutoFit/>
            </a:bodyPr>
            <a:lstStyle/>
            <a:p>
              <a:pPr algn="ctr">
                <a:lnSpc>
                  <a:spcPts val="18648"/>
                </a:lnSpc>
              </a:pPr>
              <a:r>
                <a:rPr lang="en-US" sz="13320" spc="39">
                  <a:solidFill>
                    <a:srgbClr val="000000">
                      <a:alpha val="30980"/>
                    </a:srgbClr>
                  </a:solidFill>
                  <a:latin typeface="Milestone Script"/>
                  <a:ea typeface="Milestone Script"/>
                  <a:cs typeface="Milestone Script"/>
                  <a:sym typeface="Milestone Script"/>
                </a:rPr>
                <a:t>Why?</a:t>
              </a:r>
            </a:p>
          </p:txBody>
        </p:sp>
        <p:sp>
          <p:nvSpPr>
            <p:cNvPr name="TextBox 31" id="31"/>
            <p:cNvSpPr txBox="true"/>
            <p:nvPr/>
          </p:nvSpPr>
          <p:spPr>
            <a:xfrm rot="0">
              <a:off x="0" y="-266700"/>
              <a:ext cx="6263643" cy="2964824"/>
            </a:xfrm>
            <a:prstGeom prst="rect">
              <a:avLst/>
            </a:prstGeom>
          </p:spPr>
          <p:txBody>
            <a:bodyPr anchor="t" rtlCol="false" tIns="0" lIns="0" bIns="0" rIns="0">
              <a:spAutoFit/>
            </a:bodyPr>
            <a:lstStyle/>
            <a:p>
              <a:pPr algn="ctr">
                <a:lnSpc>
                  <a:spcPts val="18648"/>
                </a:lnSpc>
              </a:pPr>
              <a:r>
                <a:rPr lang="en-US" sz="13320" spc="39">
                  <a:gradFill>
                    <a:gsLst>
                      <a:gs pos="0">
                        <a:srgbClr val="841F0B">
                          <a:alpha val="100000"/>
                        </a:srgbClr>
                      </a:gs>
                      <a:gs pos="100000">
                        <a:srgbClr val="DA4610">
                          <a:alpha val="100000"/>
                        </a:srgbClr>
                      </a:gs>
                    </a:gsLst>
                    <a:lin ang="0"/>
                  </a:gradFill>
                  <a:latin typeface="Milestone Script"/>
                  <a:ea typeface="Milestone Script"/>
                  <a:cs typeface="Milestone Script"/>
                  <a:sym typeface="Milestone Script"/>
                </a:rPr>
                <a:t>Why?</a:t>
              </a:r>
            </a:p>
          </p:txBody>
        </p:sp>
      </p:grpSp>
      <p:sp>
        <p:nvSpPr>
          <p:cNvPr name="TextBox 32" id="32"/>
          <p:cNvSpPr txBox="true"/>
          <p:nvPr/>
        </p:nvSpPr>
        <p:spPr>
          <a:xfrm rot="0">
            <a:off x="2626674" y="3878386"/>
            <a:ext cx="3514512" cy="1520825"/>
          </a:xfrm>
          <a:prstGeom prst="rect">
            <a:avLst/>
          </a:prstGeom>
        </p:spPr>
        <p:txBody>
          <a:bodyPr anchor="t" rtlCol="false" tIns="0" lIns="0" bIns="0" rIns="0">
            <a:spAutoFit/>
          </a:bodyPr>
          <a:lstStyle/>
          <a:p>
            <a:pPr algn="ctr">
              <a:lnSpc>
                <a:spcPts val="5605"/>
              </a:lnSpc>
            </a:pPr>
            <a:r>
              <a:rPr lang="en-US" sz="5900" b="true">
                <a:solidFill>
                  <a:srgbClr val="FFFFFF"/>
                </a:solidFill>
                <a:latin typeface="Poppins Heavy"/>
                <a:ea typeface="Poppins Heavy"/>
                <a:cs typeface="Poppins Heavy"/>
                <a:sym typeface="Poppins Heavy"/>
              </a:rPr>
              <a:t>IT DEPENDS</a:t>
            </a:r>
          </a:p>
        </p:txBody>
      </p:sp>
      <p:grpSp>
        <p:nvGrpSpPr>
          <p:cNvPr name="Group 33" id="33"/>
          <p:cNvGrpSpPr/>
          <p:nvPr/>
        </p:nvGrpSpPr>
        <p:grpSpPr>
          <a:xfrm rot="0">
            <a:off x="3857803" y="6559486"/>
            <a:ext cx="10756617" cy="2036826"/>
            <a:chOff x="0" y="0"/>
            <a:chExt cx="14342157" cy="2715768"/>
          </a:xfrm>
        </p:grpSpPr>
        <p:grpSp>
          <p:nvGrpSpPr>
            <p:cNvPr name="Group 34" id="34"/>
            <p:cNvGrpSpPr/>
            <p:nvPr/>
          </p:nvGrpSpPr>
          <p:grpSpPr>
            <a:xfrm rot="0">
              <a:off x="168625" y="12700"/>
              <a:ext cx="14173532" cy="2665787"/>
              <a:chOff x="0" y="0"/>
              <a:chExt cx="1280731" cy="240883"/>
            </a:xfrm>
          </p:grpSpPr>
          <p:sp>
            <p:nvSpPr>
              <p:cNvPr name="Freeform 35" id="35"/>
              <p:cNvSpPr/>
              <p:nvPr/>
            </p:nvSpPr>
            <p:spPr>
              <a:xfrm flipH="false" flipV="false" rot="0">
                <a:off x="0" y="0"/>
                <a:ext cx="1280731" cy="240883"/>
              </a:xfrm>
              <a:custGeom>
                <a:avLst/>
                <a:gdLst/>
                <a:ahLst/>
                <a:cxnLst/>
                <a:rect r="r" b="b" t="t" l="l"/>
                <a:pathLst>
                  <a:path h="240883" w="1280731">
                    <a:moveTo>
                      <a:pt x="6828" y="0"/>
                    </a:moveTo>
                    <a:lnTo>
                      <a:pt x="1273903" y="0"/>
                    </a:lnTo>
                    <a:cubicBezTo>
                      <a:pt x="1275714" y="0"/>
                      <a:pt x="1277451" y="719"/>
                      <a:pt x="1278731" y="2000"/>
                    </a:cubicBezTo>
                    <a:cubicBezTo>
                      <a:pt x="1280012" y="3280"/>
                      <a:pt x="1280731" y="5017"/>
                      <a:pt x="1280731" y="6828"/>
                    </a:cubicBezTo>
                    <a:lnTo>
                      <a:pt x="1280731" y="234055"/>
                    </a:lnTo>
                    <a:cubicBezTo>
                      <a:pt x="1280731" y="235866"/>
                      <a:pt x="1280012" y="237602"/>
                      <a:pt x="1278731" y="238883"/>
                    </a:cubicBezTo>
                    <a:cubicBezTo>
                      <a:pt x="1277451" y="240163"/>
                      <a:pt x="1275714" y="240883"/>
                      <a:pt x="1273903" y="240883"/>
                    </a:cubicBezTo>
                    <a:lnTo>
                      <a:pt x="6828" y="240883"/>
                    </a:lnTo>
                    <a:cubicBezTo>
                      <a:pt x="5017" y="240883"/>
                      <a:pt x="3280" y="240163"/>
                      <a:pt x="2000" y="238883"/>
                    </a:cubicBezTo>
                    <a:cubicBezTo>
                      <a:pt x="719" y="237602"/>
                      <a:pt x="0" y="235866"/>
                      <a:pt x="0" y="234055"/>
                    </a:cubicBezTo>
                    <a:lnTo>
                      <a:pt x="0" y="6828"/>
                    </a:lnTo>
                    <a:cubicBezTo>
                      <a:pt x="0" y="5017"/>
                      <a:pt x="719" y="3280"/>
                      <a:pt x="2000" y="2000"/>
                    </a:cubicBezTo>
                    <a:cubicBezTo>
                      <a:pt x="3280" y="719"/>
                      <a:pt x="5017" y="0"/>
                      <a:pt x="6828" y="0"/>
                    </a:cubicBezTo>
                    <a:close/>
                  </a:path>
                </a:pathLst>
              </a:custGeom>
              <a:gradFill rotWithShape="true">
                <a:gsLst>
                  <a:gs pos="0">
                    <a:srgbClr val="FFFFFF">
                      <a:alpha val="100000"/>
                    </a:srgbClr>
                  </a:gs>
                  <a:gs pos="100000">
                    <a:srgbClr val="FFFFFF">
                      <a:alpha val="0"/>
                    </a:srgbClr>
                  </a:gs>
                </a:gsLst>
                <a:lin ang="0"/>
              </a:gradFill>
            </p:spPr>
          </p:sp>
          <p:sp>
            <p:nvSpPr>
              <p:cNvPr name="TextBox 36" id="36"/>
              <p:cNvSpPr txBox="true"/>
              <p:nvPr/>
            </p:nvSpPr>
            <p:spPr>
              <a:xfrm>
                <a:off x="0" y="28575"/>
                <a:ext cx="1280731" cy="212308"/>
              </a:xfrm>
              <a:prstGeom prst="rect">
                <a:avLst/>
              </a:prstGeom>
            </p:spPr>
            <p:txBody>
              <a:bodyPr anchor="ctr" rtlCol="false" tIns="42145" lIns="42145" bIns="42145" rIns="42145"/>
              <a:lstStyle/>
              <a:p>
                <a:pPr algn="ctr">
                  <a:lnSpc>
                    <a:spcPts val="1919"/>
                  </a:lnSpc>
                </a:pPr>
              </a:p>
            </p:txBody>
          </p:sp>
        </p:grpSp>
        <p:grpSp>
          <p:nvGrpSpPr>
            <p:cNvPr name="Group 37" id="37"/>
            <p:cNvGrpSpPr/>
            <p:nvPr/>
          </p:nvGrpSpPr>
          <p:grpSpPr>
            <a:xfrm rot="0">
              <a:off x="0" y="0"/>
              <a:ext cx="299496" cy="2715768"/>
              <a:chOff x="0" y="0"/>
              <a:chExt cx="46219" cy="419100"/>
            </a:xfrm>
          </p:grpSpPr>
          <p:sp>
            <p:nvSpPr>
              <p:cNvPr name="Freeform 38" id="38"/>
              <p:cNvSpPr/>
              <p:nvPr/>
            </p:nvSpPr>
            <p:spPr>
              <a:xfrm flipH="false" flipV="false" rot="0">
                <a:off x="0" y="0"/>
                <a:ext cx="46219" cy="419100"/>
              </a:xfrm>
              <a:custGeom>
                <a:avLst/>
                <a:gdLst/>
                <a:ahLst/>
                <a:cxnLst/>
                <a:rect r="r" b="b" t="t" l="l"/>
                <a:pathLst>
                  <a:path h="419100" w="46219">
                    <a:moveTo>
                      <a:pt x="23109" y="0"/>
                    </a:moveTo>
                    <a:lnTo>
                      <a:pt x="23109" y="0"/>
                    </a:lnTo>
                    <a:cubicBezTo>
                      <a:pt x="29238" y="0"/>
                      <a:pt x="35116" y="2435"/>
                      <a:pt x="39450" y="6769"/>
                    </a:cubicBezTo>
                    <a:cubicBezTo>
                      <a:pt x="43784" y="11102"/>
                      <a:pt x="46219" y="16980"/>
                      <a:pt x="46219" y="23109"/>
                    </a:cubicBezTo>
                    <a:lnTo>
                      <a:pt x="46219" y="395991"/>
                    </a:lnTo>
                    <a:cubicBezTo>
                      <a:pt x="46219" y="402120"/>
                      <a:pt x="43784" y="407998"/>
                      <a:pt x="39450" y="412331"/>
                    </a:cubicBezTo>
                    <a:cubicBezTo>
                      <a:pt x="35116" y="416665"/>
                      <a:pt x="29238" y="419100"/>
                      <a:pt x="23109" y="419100"/>
                    </a:cubicBezTo>
                    <a:lnTo>
                      <a:pt x="23109" y="419100"/>
                    </a:lnTo>
                    <a:cubicBezTo>
                      <a:pt x="16980" y="419100"/>
                      <a:pt x="11102" y="416665"/>
                      <a:pt x="6769" y="412331"/>
                    </a:cubicBezTo>
                    <a:cubicBezTo>
                      <a:pt x="2435" y="407998"/>
                      <a:pt x="0" y="402120"/>
                      <a:pt x="0" y="395991"/>
                    </a:cubicBezTo>
                    <a:lnTo>
                      <a:pt x="0" y="23109"/>
                    </a:lnTo>
                    <a:cubicBezTo>
                      <a:pt x="0" y="16980"/>
                      <a:pt x="2435" y="11102"/>
                      <a:pt x="6769" y="6769"/>
                    </a:cubicBezTo>
                    <a:cubicBezTo>
                      <a:pt x="11102" y="2435"/>
                      <a:pt x="16980" y="0"/>
                      <a:pt x="23109" y="0"/>
                    </a:cubicBezTo>
                    <a:close/>
                  </a:path>
                </a:pathLst>
              </a:custGeom>
              <a:solidFill>
                <a:srgbClr val="6E3125"/>
              </a:solidFill>
            </p:spPr>
          </p:sp>
          <p:sp>
            <p:nvSpPr>
              <p:cNvPr name="TextBox 39" id="39"/>
              <p:cNvSpPr txBox="true"/>
              <p:nvPr/>
            </p:nvSpPr>
            <p:spPr>
              <a:xfrm>
                <a:off x="0" y="28575"/>
                <a:ext cx="46219" cy="390525"/>
              </a:xfrm>
              <a:prstGeom prst="rect">
                <a:avLst/>
              </a:prstGeom>
            </p:spPr>
            <p:txBody>
              <a:bodyPr anchor="ctr" rtlCol="false" tIns="50800" lIns="50800" bIns="50800" rIns="50800"/>
              <a:lstStyle/>
              <a:p>
                <a:pPr algn="ctr">
                  <a:lnSpc>
                    <a:spcPts val="1919"/>
                  </a:lnSpc>
                </a:pPr>
              </a:p>
            </p:txBody>
          </p:sp>
        </p:grpSp>
        <p:sp>
          <p:nvSpPr>
            <p:cNvPr name="TextBox 40" id="40"/>
            <p:cNvSpPr txBox="true"/>
            <p:nvPr/>
          </p:nvSpPr>
          <p:spPr>
            <a:xfrm rot="0">
              <a:off x="789272" y="528814"/>
              <a:ext cx="12932236" cy="1544405"/>
            </a:xfrm>
            <a:prstGeom prst="rect">
              <a:avLst/>
            </a:prstGeom>
          </p:spPr>
          <p:txBody>
            <a:bodyPr anchor="t" rtlCol="false" tIns="0" lIns="0" bIns="0" rIns="0">
              <a:spAutoFit/>
            </a:bodyPr>
            <a:lstStyle/>
            <a:p>
              <a:pPr algn="l">
                <a:lnSpc>
                  <a:spcPts val="4387"/>
                </a:lnSpc>
              </a:pPr>
              <a:r>
                <a:rPr lang="en-US" sz="4100" b="true">
                  <a:solidFill>
                    <a:srgbClr val="6E3125"/>
                  </a:solidFill>
                  <a:latin typeface="Poppins Heavy"/>
                  <a:ea typeface="Poppins Heavy"/>
                  <a:cs typeface="Poppins Heavy"/>
                  <a:sym typeface="Poppins Heavy"/>
                </a:rPr>
                <a:t>T</a:t>
              </a:r>
              <a:r>
                <a:rPr lang="en-US" sz="4100" b="true">
                  <a:solidFill>
                    <a:srgbClr val="6E3125"/>
                  </a:solidFill>
                  <a:latin typeface="Poppins Heavy"/>
                  <a:ea typeface="Poppins Heavy"/>
                  <a:cs typeface="Poppins Heavy"/>
                  <a:sym typeface="Poppins Heavy"/>
                </a:rPr>
                <a:t>he team is functioning well. Is that enough for teamwork and respect?</a:t>
              </a:r>
            </a:p>
          </p:txBody>
        </p:sp>
      </p:grpSp>
    </p:spTree>
  </p:cSld>
  <p:clrMapOvr>
    <a:masterClrMapping/>
  </p:clrMapOvr>
</p:sld>
</file>

<file path=ppt/slides/slide34.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sp>
        <p:nvSpPr>
          <p:cNvPr name="TextBox 15" id="15"/>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33</a:t>
            </a:r>
          </a:p>
        </p:txBody>
      </p:sp>
      <p:sp>
        <p:nvSpPr>
          <p:cNvPr name="TextBox 16" id="16"/>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grpSp>
        <p:nvGrpSpPr>
          <p:cNvPr name="Group 17" id="17"/>
          <p:cNvGrpSpPr/>
          <p:nvPr/>
        </p:nvGrpSpPr>
        <p:grpSpPr>
          <a:xfrm rot="0">
            <a:off x="835890" y="4643171"/>
            <a:ext cx="5070283" cy="3741697"/>
            <a:chOff x="0" y="0"/>
            <a:chExt cx="6760377" cy="4988930"/>
          </a:xfrm>
        </p:grpSpPr>
        <p:grpSp>
          <p:nvGrpSpPr>
            <p:cNvPr name="Group 18" id="18"/>
            <p:cNvGrpSpPr/>
            <p:nvPr/>
          </p:nvGrpSpPr>
          <p:grpSpPr>
            <a:xfrm rot="0">
              <a:off x="0" y="527081"/>
              <a:ext cx="6760377" cy="4461849"/>
              <a:chOff x="0" y="0"/>
              <a:chExt cx="635000" cy="419100"/>
            </a:xfrm>
          </p:grpSpPr>
          <p:sp>
            <p:nvSpPr>
              <p:cNvPr name="Freeform 19" id="19"/>
              <p:cNvSpPr/>
              <p:nvPr/>
            </p:nvSpPr>
            <p:spPr>
              <a:xfrm flipH="false" flipV="false" rot="0">
                <a:off x="0" y="0"/>
                <a:ext cx="635000" cy="419100"/>
              </a:xfrm>
              <a:custGeom>
                <a:avLst/>
                <a:gdLst/>
                <a:ahLst/>
                <a:cxnLst/>
                <a:rect r="r" b="b" t="t" l="l"/>
                <a:pathLst>
                  <a:path h="419100" w="635000">
                    <a:moveTo>
                      <a:pt x="69231" y="0"/>
                    </a:moveTo>
                    <a:lnTo>
                      <a:pt x="565769" y="0"/>
                    </a:lnTo>
                    <a:cubicBezTo>
                      <a:pt x="604004" y="0"/>
                      <a:pt x="635000" y="30996"/>
                      <a:pt x="635000" y="69231"/>
                    </a:cubicBezTo>
                    <a:lnTo>
                      <a:pt x="635000" y="349869"/>
                    </a:lnTo>
                    <a:cubicBezTo>
                      <a:pt x="635000" y="388104"/>
                      <a:pt x="604004" y="419100"/>
                      <a:pt x="565769" y="419100"/>
                    </a:cubicBezTo>
                    <a:lnTo>
                      <a:pt x="69231" y="419100"/>
                    </a:lnTo>
                    <a:cubicBezTo>
                      <a:pt x="30996" y="419100"/>
                      <a:pt x="0" y="388104"/>
                      <a:pt x="0" y="349869"/>
                    </a:cubicBezTo>
                    <a:lnTo>
                      <a:pt x="0" y="69231"/>
                    </a:lnTo>
                    <a:cubicBezTo>
                      <a:pt x="0" y="30996"/>
                      <a:pt x="30996" y="0"/>
                      <a:pt x="69231" y="0"/>
                    </a:cubicBezTo>
                    <a:close/>
                  </a:path>
                </a:pathLst>
              </a:custGeom>
              <a:gradFill rotWithShape="true">
                <a:gsLst>
                  <a:gs pos="0">
                    <a:srgbClr val="841F0B">
                      <a:alpha val="100000"/>
                    </a:srgbClr>
                  </a:gs>
                  <a:gs pos="100000">
                    <a:srgbClr val="DA4610">
                      <a:alpha val="100000"/>
                    </a:srgbClr>
                  </a:gs>
                </a:gsLst>
                <a:lin ang="0"/>
              </a:gradFill>
              <a:ln w="85725" cap="rnd">
                <a:solidFill>
                  <a:srgbClr val="6E3125"/>
                </a:solidFill>
                <a:prstDash val="solid"/>
                <a:round/>
              </a:ln>
            </p:spPr>
          </p:sp>
          <p:sp>
            <p:nvSpPr>
              <p:cNvPr name="TextBox 20" id="20"/>
              <p:cNvSpPr txBox="true"/>
              <p:nvPr/>
            </p:nvSpPr>
            <p:spPr>
              <a:xfrm>
                <a:off x="0" y="28575"/>
                <a:ext cx="635000" cy="390525"/>
              </a:xfrm>
              <a:prstGeom prst="rect">
                <a:avLst/>
              </a:prstGeom>
            </p:spPr>
            <p:txBody>
              <a:bodyPr anchor="ctr" rtlCol="false" tIns="50800" lIns="50800" bIns="50800" rIns="50800"/>
              <a:lstStyle/>
              <a:p>
                <a:pPr algn="ctr">
                  <a:lnSpc>
                    <a:spcPts val="1919"/>
                  </a:lnSpc>
                </a:pPr>
              </a:p>
            </p:txBody>
          </p:sp>
        </p:grpSp>
        <p:grpSp>
          <p:nvGrpSpPr>
            <p:cNvPr name="Group 21" id="21"/>
            <p:cNvGrpSpPr/>
            <p:nvPr/>
          </p:nvGrpSpPr>
          <p:grpSpPr>
            <a:xfrm rot="0">
              <a:off x="521125" y="0"/>
              <a:ext cx="5718127" cy="1054161"/>
              <a:chOff x="0" y="0"/>
              <a:chExt cx="635000" cy="117065"/>
            </a:xfrm>
          </p:grpSpPr>
          <p:sp>
            <p:nvSpPr>
              <p:cNvPr name="Freeform 22" id="22"/>
              <p:cNvSpPr/>
              <p:nvPr/>
            </p:nvSpPr>
            <p:spPr>
              <a:xfrm flipH="false" flipV="false" rot="0">
                <a:off x="0" y="0"/>
                <a:ext cx="635000" cy="117065"/>
              </a:xfrm>
              <a:custGeom>
                <a:avLst/>
                <a:gdLst/>
                <a:ahLst/>
                <a:cxnLst/>
                <a:rect r="r" b="b" t="t" l="l"/>
                <a:pathLst>
                  <a:path h="117065" w="635000">
                    <a:moveTo>
                      <a:pt x="58532" y="0"/>
                    </a:moveTo>
                    <a:lnTo>
                      <a:pt x="576468" y="0"/>
                    </a:lnTo>
                    <a:cubicBezTo>
                      <a:pt x="608794" y="0"/>
                      <a:pt x="635000" y="26206"/>
                      <a:pt x="635000" y="58532"/>
                    </a:cubicBezTo>
                    <a:lnTo>
                      <a:pt x="635000" y="58532"/>
                    </a:lnTo>
                    <a:cubicBezTo>
                      <a:pt x="635000" y="74056"/>
                      <a:pt x="628833" y="88944"/>
                      <a:pt x="617856" y="99921"/>
                    </a:cubicBezTo>
                    <a:cubicBezTo>
                      <a:pt x="606879" y="110898"/>
                      <a:pt x="591991" y="117065"/>
                      <a:pt x="576468" y="117065"/>
                    </a:cubicBezTo>
                    <a:lnTo>
                      <a:pt x="58532" y="117065"/>
                    </a:lnTo>
                    <a:cubicBezTo>
                      <a:pt x="26206" y="117065"/>
                      <a:pt x="0" y="90859"/>
                      <a:pt x="0" y="58532"/>
                    </a:cubicBezTo>
                    <a:lnTo>
                      <a:pt x="0" y="58532"/>
                    </a:lnTo>
                    <a:cubicBezTo>
                      <a:pt x="0" y="26206"/>
                      <a:pt x="26206" y="0"/>
                      <a:pt x="58532"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a:ln w="85725" cap="rnd">
                <a:solidFill>
                  <a:srgbClr val="6E3125"/>
                </a:solidFill>
                <a:prstDash val="solid"/>
                <a:round/>
              </a:ln>
            </p:spPr>
          </p:sp>
          <p:sp>
            <p:nvSpPr>
              <p:cNvPr name="TextBox 23" id="23"/>
              <p:cNvSpPr txBox="true"/>
              <p:nvPr/>
            </p:nvSpPr>
            <p:spPr>
              <a:xfrm>
                <a:off x="0" y="28575"/>
                <a:ext cx="635000" cy="88490"/>
              </a:xfrm>
              <a:prstGeom prst="rect">
                <a:avLst/>
              </a:prstGeom>
            </p:spPr>
            <p:txBody>
              <a:bodyPr anchor="ctr" rtlCol="false" tIns="50800" lIns="50800" bIns="50800" rIns="50800"/>
              <a:lstStyle/>
              <a:p>
                <a:pPr algn="ctr">
                  <a:lnSpc>
                    <a:spcPts val="1919"/>
                  </a:lnSpc>
                </a:pPr>
              </a:p>
            </p:txBody>
          </p:sp>
        </p:grpSp>
        <p:sp>
          <p:nvSpPr>
            <p:cNvPr name="TextBox 24" id="24"/>
            <p:cNvSpPr txBox="true"/>
            <p:nvPr/>
          </p:nvSpPr>
          <p:spPr>
            <a:xfrm rot="0">
              <a:off x="1406726" y="208371"/>
              <a:ext cx="3946925" cy="694569"/>
            </a:xfrm>
            <a:prstGeom prst="rect">
              <a:avLst/>
            </a:prstGeom>
          </p:spPr>
          <p:txBody>
            <a:bodyPr anchor="t" rtlCol="false" tIns="0" lIns="0" bIns="0" rIns="0">
              <a:spAutoFit/>
            </a:bodyPr>
            <a:lstStyle/>
            <a:p>
              <a:pPr algn="ctr">
                <a:lnSpc>
                  <a:spcPts val="3538"/>
                </a:lnSpc>
              </a:pPr>
              <a:r>
                <a:rPr lang="en-US" sz="3724" b="true">
                  <a:solidFill>
                    <a:srgbClr val="6E3125"/>
                  </a:solidFill>
                  <a:latin typeface="Poppins Heavy"/>
                  <a:ea typeface="Poppins Heavy"/>
                  <a:cs typeface="Poppins Heavy"/>
                  <a:sym typeface="Poppins Heavy"/>
                </a:rPr>
                <a:t>NOT USABLE</a:t>
              </a:r>
            </a:p>
          </p:txBody>
        </p:sp>
      </p:grpSp>
      <p:grpSp>
        <p:nvGrpSpPr>
          <p:cNvPr name="Group 25" id="25"/>
          <p:cNvGrpSpPr/>
          <p:nvPr/>
        </p:nvGrpSpPr>
        <p:grpSpPr>
          <a:xfrm rot="0">
            <a:off x="6301785" y="4996166"/>
            <a:ext cx="5070283" cy="3346387"/>
            <a:chOff x="0" y="0"/>
            <a:chExt cx="635000" cy="419100"/>
          </a:xfrm>
        </p:grpSpPr>
        <p:sp>
          <p:nvSpPr>
            <p:cNvPr name="Freeform 26" id="26"/>
            <p:cNvSpPr/>
            <p:nvPr/>
          </p:nvSpPr>
          <p:spPr>
            <a:xfrm flipH="false" flipV="false" rot="0">
              <a:off x="0" y="0"/>
              <a:ext cx="635000" cy="419100"/>
            </a:xfrm>
            <a:custGeom>
              <a:avLst/>
              <a:gdLst/>
              <a:ahLst/>
              <a:cxnLst/>
              <a:rect r="r" b="b" t="t" l="l"/>
              <a:pathLst>
                <a:path h="419100" w="635000">
                  <a:moveTo>
                    <a:pt x="79925" y="0"/>
                  </a:moveTo>
                  <a:lnTo>
                    <a:pt x="555075" y="0"/>
                  </a:lnTo>
                  <a:cubicBezTo>
                    <a:pt x="576273" y="0"/>
                    <a:pt x="596602" y="8421"/>
                    <a:pt x="611591" y="23409"/>
                  </a:cubicBezTo>
                  <a:cubicBezTo>
                    <a:pt x="626579" y="38398"/>
                    <a:pt x="635000" y="58727"/>
                    <a:pt x="635000" y="79925"/>
                  </a:cubicBezTo>
                  <a:lnTo>
                    <a:pt x="635000" y="339175"/>
                  </a:lnTo>
                  <a:cubicBezTo>
                    <a:pt x="635000" y="360373"/>
                    <a:pt x="626579" y="380702"/>
                    <a:pt x="611591" y="395691"/>
                  </a:cubicBezTo>
                  <a:cubicBezTo>
                    <a:pt x="596602" y="410679"/>
                    <a:pt x="576273" y="419100"/>
                    <a:pt x="555075" y="419100"/>
                  </a:cubicBezTo>
                  <a:lnTo>
                    <a:pt x="79925" y="419100"/>
                  </a:lnTo>
                  <a:cubicBezTo>
                    <a:pt x="58727" y="419100"/>
                    <a:pt x="38398" y="410679"/>
                    <a:pt x="23409" y="395691"/>
                  </a:cubicBezTo>
                  <a:cubicBezTo>
                    <a:pt x="8421" y="380702"/>
                    <a:pt x="0" y="360373"/>
                    <a:pt x="0" y="339175"/>
                  </a:cubicBezTo>
                  <a:lnTo>
                    <a:pt x="0" y="79925"/>
                  </a:lnTo>
                  <a:cubicBezTo>
                    <a:pt x="0" y="58727"/>
                    <a:pt x="8421" y="38398"/>
                    <a:pt x="23409" y="23409"/>
                  </a:cubicBezTo>
                  <a:cubicBezTo>
                    <a:pt x="38398" y="8421"/>
                    <a:pt x="58727" y="0"/>
                    <a:pt x="79925" y="0"/>
                  </a:cubicBezTo>
                  <a:close/>
                </a:path>
              </a:pathLst>
            </a:custGeom>
            <a:gradFill rotWithShape="true">
              <a:gsLst>
                <a:gs pos="0">
                  <a:srgbClr val="841F0B">
                    <a:alpha val="100000"/>
                  </a:srgbClr>
                </a:gs>
                <a:gs pos="100000">
                  <a:srgbClr val="DA4610">
                    <a:alpha val="100000"/>
                  </a:srgbClr>
                </a:gs>
              </a:gsLst>
              <a:lin ang="0"/>
            </a:gradFill>
            <a:ln w="85725" cap="rnd">
              <a:solidFill>
                <a:srgbClr val="6E3125"/>
              </a:solidFill>
              <a:prstDash val="solid"/>
              <a:round/>
            </a:ln>
          </p:spPr>
        </p:sp>
        <p:sp>
          <p:nvSpPr>
            <p:cNvPr name="TextBox 27" id="27"/>
            <p:cNvSpPr txBox="true"/>
            <p:nvPr/>
          </p:nvSpPr>
          <p:spPr>
            <a:xfrm>
              <a:off x="0" y="28575"/>
              <a:ext cx="635000" cy="390525"/>
            </a:xfrm>
            <a:prstGeom prst="rect">
              <a:avLst/>
            </a:prstGeom>
          </p:spPr>
          <p:txBody>
            <a:bodyPr anchor="ctr" rtlCol="false" tIns="44003" lIns="44003" bIns="44003" rIns="44003"/>
            <a:lstStyle/>
            <a:p>
              <a:pPr algn="ctr">
                <a:lnSpc>
                  <a:spcPts val="1919"/>
                </a:lnSpc>
              </a:pPr>
            </a:p>
          </p:txBody>
        </p:sp>
      </p:grpSp>
      <p:grpSp>
        <p:nvGrpSpPr>
          <p:cNvPr name="Group 28" id="28"/>
          <p:cNvGrpSpPr/>
          <p:nvPr/>
        </p:nvGrpSpPr>
        <p:grpSpPr>
          <a:xfrm rot="0">
            <a:off x="6692629" y="4600856"/>
            <a:ext cx="4288595" cy="790621"/>
            <a:chOff x="0" y="0"/>
            <a:chExt cx="635000" cy="117065"/>
          </a:xfrm>
        </p:grpSpPr>
        <p:sp>
          <p:nvSpPr>
            <p:cNvPr name="Freeform 29" id="29"/>
            <p:cNvSpPr/>
            <p:nvPr/>
          </p:nvSpPr>
          <p:spPr>
            <a:xfrm flipH="false" flipV="false" rot="0">
              <a:off x="0" y="0"/>
              <a:ext cx="635000" cy="117065"/>
            </a:xfrm>
            <a:custGeom>
              <a:avLst/>
              <a:gdLst/>
              <a:ahLst/>
              <a:cxnLst/>
              <a:rect r="r" b="b" t="t" l="l"/>
              <a:pathLst>
                <a:path h="117065" w="635000">
                  <a:moveTo>
                    <a:pt x="58532" y="0"/>
                  </a:moveTo>
                  <a:lnTo>
                    <a:pt x="576468" y="0"/>
                  </a:lnTo>
                  <a:cubicBezTo>
                    <a:pt x="608794" y="0"/>
                    <a:pt x="635000" y="26206"/>
                    <a:pt x="635000" y="58532"/>
                  </a:cubicBezTo>
                  <a:lnTo>
                    <a:pt x="635000" y="58532"/>
                  </a:lnTo>
                  <a:cubicBezTo>
                    <a:pt x="635000" y="74056"/>
                    <a:pt x="628833" y="88944"/>
                    <a:pt x="617856" y="99921"/>
                  </a:cubicBezTo>
                  <a:cubicBezTo>
                    <a:pt x="606879" y="110898"/>
                    <a:pt x="591991" y="117065"/>
                    <a:pt x="576468" y="117065"/>
                  </a:cubicBezTo>
                  <a:lnTo>
                    <a:pt x="58532" y="117065"/>
                  </a:lnTo>
                  <a:cubicBezTo>
                    <a:pt x="26206" y="117065"/>
                    <a:pt x="0" y="90859"/>
                    <a:pt x="0" y="58532"/>
                  </a:cubicBezTo>
                  <a:lnTo>
                    <a:pt x="0" y="58532"/>
                  </a:lnTo>
                  <a:cubicBezTo>
                    <a:pt x="0" y="26206"/>
                    <a:pt x="26206" y="0"/>
                    <a:pt x="58532"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a:ln w="85725" cap="rnd">
              <a:solidFill>
                <a:srgbClr val="6E3125"/>
              </a:solidFill>
              <a:prstDash val="solid"/>
              <a:round/>
            </a:ln>
          </p:spPr>
        </p:sp>
        <p:sp>
          <p:nvSpPr>
            <p:cNvPr name="TextBox 30" id="30"/>
            <p:cNvSpPr txBox="true"/>
            <p:nvPr/>
          </p:nvSpPr>
          <p:spPr>
            <a:xfrm>
              <a:off x="0" y="28575"/>
              <a:ext cx="635000" cy="88490"/>
            </a:xfrm>
            <a:prstGeom prst="rect">
              <a:avLst/>
            </a:prstGeom>
          </p:spPr>
          <p:txBody>
            <a:bodyPr anchor="ctr" rtlCol="false" tIns="44003" lIns="44003" bIns="44003" rIns="44003"/>
            <a:lstStyle/>
            <a:p>
              <a:pPr algn="ctr">
                <a:lnSpc>
                  <a:spcPts val="1919"/>
                </a:lnSpc>
              </a:pPr>
            </a:p>
          </p:txBody>
        </p:sp>
      </p:grpSp>
      <p:sp>
        <p:nvSpPr>
          <p:cNvPr name="TextBox 31" id="31"/>
          <p:cNvSpPr txBox="true"/>
          <p:nvPr/>
        </p:nvSpPr>
        <p:spPr>
          <a:xfrm rot="0">
            <a:off x="7356829" y="4771421"/>
            <a:ext cx="2960194" cy="506639"/>
          </a:xfrm>
          <a:prstGeom prst="rect">
            <a:avLst/>
          </a:prstGeom>
        </p:spPr>
        <p:txBody>
          <a:bodyPr anchor="t" rtlCol="false" tIns="0" lIns="0" bIns="0" rIns="0">
            <a:spAutoFit/>
          </a:bodyPr>
          <a:lstStyle/>
          <a:p>
            <a:pPr algn="ctr">
              <a:lnSpc>
                <a:spcPts val="3538"/>
              </a:lnSpc>
            </a:pPr>
            <a:r>
              <a:rPr lang="en-US" sz="3724" b="true">
                <a:solidFill>
                  <a:srgbClr val="6E3125"/>
                </a:solidFill>
                <a:latin typeface="Poppins Heavy"/>
                <a:ea typeface="Poppins Heavy"/>
                <a:cs typeface="Poppins Heavy"/>
                <a:sym typeface="Poppins Heavy"/>
              </a:rPr>
              <a:t> USABLE</a:t>
            </a:r>
          </a:p>
        </p:txBody>
      </p:sp>
      <p:grpSp>
        <p:nvGrpSpPr>
          <p:cNvPr name="Group 32" id="32"/>
          <p:cNvGrpSpPr/>
          <p:nvPr/>
        </p:nvGrpSpPr>
        <p:grpSpPr>
          <a:xfrm rot="0">
            <a:off x="661732" y="1028700"/>
            <a:ext cx="11280105" cy="3226279"/>
            <a:chOff x="0" y="0"/>
            <a:chExt cx="15040140" cy="4301705"/>
          </a:xfrm>
        </p:grpSpPr>
        <p:sp>
          <p:nvSpPr>
            <p:cNvPr name="TextBox 33" id="33"/>
            <p:cNvSpPr txBox="true"/>
            <p:nvPr/>
          </p:nvSpPr>
          <p:spPr>
            <a:xfrm rot="0">
              <a:off x="0" y="171450"/>
              <a:ext cx="15040140" cy="2174502"/>
            </a:xfrm>
            <a:prstGeom prst="rect">
              <a:avLst/>
            </a:prstGeom>
          </p:spPr>
          <p:txBody>
            <a:bodyPr anchor="t" rtlCol="false" tIns="0" lIns="0" bIns="0" rIns="0">
              <a:spAutoFit/>
            </a:bodyPr>
            <a:lstStyle/>
            <a:p>
              <a:pPr algn="l">
                <a:lnSpc>
                  <a:spcPts val="10979"/>
                </a:lnSpc>
              </a:pPr>
              <a:r>
                <a:rPr lang="en-US" sz="11557" b="true">
                  <a:solidFill>
                    <a:srgbClr val="FFFFFF"/>
                  </a:solidFill>
                  <a:latin typeface="Poppins Heavy"/>
                  <a:ea typeface="Poppins Heavy"/>
                  <a:cs typeface="Poppins Heavy"/>
                  <a:sym typeface="Poppins Heavy"/>
                </a:rPr>
                <a:t>FROM FLAG TO</a:t>
              </a:r>
            </a:p>
          </p:txBody>
        </p:sp>
        <p:grpSp>
          <p:nvGrpSpPr>
            <p:cNvPr name="Group 34" id="34"/>
            <p:cNvGrpSpPr/>
            <p:nvPr/>
          </p:nvGrpSpPr>
          <p:grpSpPr>
            <a:xfrm rot="158860">
              <a:off x="1178617" y="1922918"/>
              <a:ext cx="10905714" cy="2012111"/>
              <a:chOff x="0" y="0"/>
              <a:chExt cx="1500741" cy="276888"/>
            </a:xfrm>
          </p:grpSpPr>
          <p:sp>
            <p:nvSpPr>
              <p:cNvPr name="Freeform 35" id="35"/>
              <p:cNvSpPr/>
              <p:nvPr/>
            </p:nvSpPr>
            <p:spPr>
              <a:xfrm flipH="false" flipV="false" rot="0">
                <a:off x="0" y="0"/>
                <a:ext cx="1500741" cy="276888"/>
              </a:xfrm>
              <a:custGeom>
                <a:avLst/>
                <a:gdLst/>
                <a:ahLst/>
                <a:cxnLst/>
                <a:rect r="r" b="b" t="t" l="l"/>
                <a:pathLst>
                  <a:path h="276888" w="1500741">
                    <a:moveTo>
                      <a:pt x="17388" y="0"/>
                    </a:moveTo>
                    <a:lnTo>
                      <a:pt x="1483353" y="0"/>
                    </a:lnTo>
                    <a:cubicBezTo>
                      <a:pt x="1492956" y="0"/>
                      <a:pt x="1500741" y="7785"/>
                      <a:pt x="1500741" y="17388"/>
                    </a:cubicBezTo>
                    <a:lnTo>
                      <a:pt x="1500741" y="259499"/>
                    </a:lnTo>
                    <a:cubicBezTo>
                      <a:pt x="1500741" y="269103"/>
                      <a:pt x="1492956" y="276888"/>
                      <a:pt x="1483353" y="276888"/>
                    </a:cubicBezTo>
                    <a:lnTo>
                      <a:pt x="17388" y="276888"/>
                    </a:lnTo>
                    <a:cubicBezTo>
                      <a:pt x="7785" y="276888"/>
                      <a:pt x="0" y="269103"/>
                      <a:pt x="0" y="259499"/>
                    </a:cubicBezTo>
                    <a:lnTo>
                      <a:pt x="0" y="17388"/>
                    </a:lnTo>
                    <a:cubicBezTo>
                      <a:pt x="0" y="7785"/>
                      <a:pt x="7785" y="0"/>
                      <a:pt x="17388" y="0"/>
                    </a:cubicBezTo>
                    <a:close/>
                  </a:path>
                </a:pathLst>
              </a:custGeom>
              <a:gradFill rotWithShape="true">
                <a:gsLst>
                  <a:gs pos="0">
                    <a:srgbClr val="841F0B">
                      <a:alpha val="100000"/>
                    </a:srgbClr>
                  </a:gs>
                  <a:gs pos="100000">
                    <a:srgbClr val="DA4610">
                      <a:alpha val="100000"/>
                    </a:srgbClr>
                  </a:gs>
                </a:gsLst>
                <a:lin ang="0"/>
              </a:gradFill>
            </p:spPr>
          </p:sp>
          <p:sp>
            <p:nvSpPr>
              <p:cNvPr name="TextBox 36" id="36"/>
              <p:cNvSpPr txBox="true"/>
              <p:nvPr/>
            </p:nvSpPr>
            <p:spPr>
              <a:xfrm>
                <a:off x="0" y="28575"/>
                <a:ext cx="1500741" cy="248313"/>
              </a:xfrm>
              <a:prstGeom prst="rect">
                <a:avLst/>
              </a:prstGeom>
            </p:spPr>
            <p:txBody>
              <a:bodyPr anchor="ctr" rtlCol="false" tIns="40547" lIns="40547" bIns="40547" rIns="40547"/>
              <a:lstStyle/>
              <a:p>
                <a:pPr algn="ctr">
                  <a:lnSpc>
                    <a:spcPts val="1919"/>
                  </a:lnSpc>
                </a:pPr>
              </a:p>
            </p:txBody>
          </p:sp>
        </p:grpSp>
        <p:sp>
          <p:nvSpPr>
            <p:cNvPr name="TextBox 37" id="37"/>
            <p:cNvSpPr txBox="true"/>
            <p:nvPr/>
          </p:nvSpPr>
          <p:spPr>
            <a:xfrm rot="158385">
              <a:off x="1398338" y="1885040"/>
              <a:ext cx="10566058" cy="2174502"/>
            </a:xfrm>
            <a:prstGeom prst="rect">
              <a:avLst/>
            </a:prstGeom>
          </p:spPr>
          <p:txBody>
            <a:bodyPr anchor="t" rtlCol="false" tIns="0" lIns="0" bIns="0" rIns="0">
              <a:spAutoFit/>
            </a:bodyPr>
            <a:lstStyle/>
            <a:p>
              <a:pPr algn="l">
                <a:lnSpc>
                  <a:spcPts val="10979"/>
                </a:lnSpc>
              </a:pPr>
              <a:r>
                <a:rPr lang="en-US" sz="11557" b="true">
                  <a:solidFill>
                    <a:srgbClr val="FFFFFF"/>
                  </a:solidFill>
                  <a:latin typeface="Poppins Heavy"/>
                  <a:ea typeface="Poppins Heavy"/>
                  <a:cs typeface="Poppins Heavy"/>
                  <a:sym typeface="Poppins Heavy"/>
                </a:rPr>
                <a:t>FEEDBACK</a:t>
              </a:r>
            </a:p>
          </p:txBody>
        </p:sp>
      </p:grpSp>
      <p:sp>
        <p:nvSpPr>
          <p:cNvPr name="TextBox 38" id="38"/>
          <p:cNvSpPr txBox="true"/>
          <p:nvPr/>
        </p:nvSpPr>
        <p:spPr>
          <a:xfrm rot="0">
            <a:off x="1167543" y="5937520"/>
            <a:ext cx="4406978" cy="1501779"/>
          </a:xfrm>
          <a:prstGeom prst="rect">
            <a:avLst/>
          </a:prstGeom>
        </p:spPr>
        <p:txBody>
          <a:bodyPr anchor="t" rtlCol="false" tIns="0" lIns="0" bIns="0" rIns="0">
            <a:spAutoFit/>
          </a:bodyPr>
          <a:lstStyle/>
          <a:p>
            <a:pPr algn="ctr">
              <a:lnSpc>
                <a:spcPts val="2901"/>
              </a:lnSpc>
            </a:pPr>
            <a:r>
              <a:rPr lang="en-US" sz="3054" b="true">
                <a:solidFill>
                  <a:srgbClr val="FFFFFF"/>
                </a:solidFill>
                <a:latin typeface="Poppins Semi-Bold"/>
                <a:ea typeface="Poppins Semi-Bold"/>
                <a:cs typeface="Poppins Semi-Bold"/>
                <a:sym typeface="Poppins Semi-Bold"/>
              </a:rPr>
              <a:t>“Sam didn’t really contribute much and was pretty hard to get hold of.”</a:t>
            </a:r>
          </a:p>
        </p:txBody>
      </p:sp>
      <p:sp>
        <p:nvSpPr>
          <p:cNvPr name="TextBox 39" id="39"/>
          <p:cNvSpPr txBox="true"/>
          <p:nvPr/>
        </p:nvSpPr>
        <p:spPr>
          <a:xfrm rot="0">
            <a:off x="6603422" y="5734826"/>
            <a:ext cx="4467009" cy="1897642"/>
          </a:xfrm>
          <a:prstGeom prst="rect">
            <a:avLst/>
          </a:prstGeom>
        </p:spPr>
        <p:txBody>
          <a:bodyPr anchor="t" rtlCol="false" tIns="0" lIns="0" bIns="0" rIns="0">
            <a:spAutoFit/>
          </a:bodyPr>
          <a:lstStyle/>
          <a:p>
            <a:pPr algn="ctr">
              <a:lnSpc>
                <a:spcPts val="2131"/>
              </a:lnSpc>
            </a:pPr>
            <a:r>
              <a:rPr lang="en-US" sz="2243" b="true">
                <a:solidFill>
                  <a:srgbClr val="FFFFFF"/>
                </a:solidFill>
                <a:latin typeface="Poppins Semi-Bold"/>
                <a:ea typeface="Poppins Semi-Bold"/>
                <a:cs typeface="Poppins Semi-Bold"/>
                <a:sym typeface="Poppins Semi-Bold"/>
              </a:rPr>
              <a:t>“Sam took the market analysis in week 4 and didn’t share a draft or reply between weeks 6 and 9. We reallocated it with two weeks left. Flagging early would have let us redistribute without losing time.”</a:t>
            </a:r>
          </a:p>
        </p:txBody>
      </p:sp>
      <p:grpSp>
        <p:nvGrpSpPr>
          <p:cNvPr name="Group 40" id="40"/>
          <p:cNvGrpSpPr/>
          <p:nvPr/>
        </p:nvGrpSpPr>
        <p:grpSpPr>
          <a:xfrm rot="0">
            <a:off x="12179962" y="1724219"/>
            <a:ext cx="6403087" cy="6543895"/>
            <a:chOff x="0" y="0"/>
            <a:chExt cx="8537450" cy="8725193"/>
          </a:xfrm>
        </p:grpSpPr>
        <p:grpSp>
          <p:nvGrpSpPr>
            <p:cNvPr name="Group 41" id="41"/>
            <p:cNvGrpSpPr/>
            <p:nvPr/>
          </p:nvGrpSpPr>
          <p:grpSpPr>
            <a:xfrm rot="0">
              <a:off x="0" y="0"/>
              <a:ext cx="8537450" cy="8725193"/>
              <a:chOff x="0" y="0"/>
              <a:chExt cx="801920" cy="819555"/>
            </a:xfrm>
          </p:grpSpPr>
          <p:sp>
            <p:nvSpPr>
              <p:cNvPr name="Freeform 42" id="42"/>
              <p:cNvSpPr/>
              <p:nvPr/>
            </p:nvSpPr>
            <p:spPr>
              <a:xfrm flipH="false" flipV="false" rot="0">
                <a:off x="0" y="0"/>
                <a:ext cx="801920" cy="819555"/>
              </a:xfrm>
              <a:custGeom>
                <a:avLst/>
                <a:gdLst/>
                <a:ahLst/>
                <a:cxnLst/>
                <a:rect r="r" b="b" t="t" l="l"/>
                <a:pathLst>
                  <a:path h="819555" w="801920">
                    <a:moveTo>
                      <a:pt x="37784" y="0"/>
                    </a:moveTo>
                    <a:lnTo>
                      <a:pt x="764136" y="0"/>
                    </a:lnTo>
                    <a:cubicBezTo>
                      <a:pt x="785003" y="0"/>
                      <a:pt x="801920" y="16917"/>
                      <a:pt x="801920" y="37784"/>
                    </a:cubicBezTo>
                    <a:lnTo>
                      <a:pt x="801920" y="781770"/>
                    </a:lnTo>
                    <a:cubicBezTo>
                      <a:pt x="801920" y="802638"/>
                      <a:pt x="785003" y="819555"/>
                      <a:pt x="764136" y="819555"/>
                    </a:cubicBezTo>
                    <a:lnTo>
                      <a:pt x="37784" y="819555"/>
                    </a:lnTo>
                    <a:cubicBezTo>
                      <a:pt x="16917" y="819555"/>
                      <a:pt x="0" y="802638"/>
                      <a:pt x="0" y="781770"/>
                    </a:cubicBezTo>
                    <a:lnTo>
                      <a:pt x="0" y="37784"/>
                    </a:lnTo>
                    <a:cubicBezTo>
                      <a:pt x="0" y="16917"/>
                      <a:pt x="16917" y="0"/>
                      <a:pt x="37784" y="0"/>
                    </a:cubicBezTo>
                    <a:close/>
                  </a:path>
                </a:pathLst>
              </a:custGeom>
              <a:gradFill rotWithShape="true">
                <a:gsLst>
                  <a:gs pos="0">
                    <a:srgbClr val="85200C">
                      <a:alpha val="30000"/>
                    </a:srgbClr>
                  </a:gs>
                  <a:gs pos="100000">
                    <a:srgbClr val="DC4B0F">
                      <a:alpha val="100000"/>
                    </a:srgbClr>
                  </a:gs>
                </a:gsLst>
                <a:lin ang="0"/>
              </a:gradFill>
              <a:ln cap="rnd">
                <a:noFill/>
                <a:prstDash val="solid"/>
                <a:round/>
              </a:ln>
            </p:spPr>
          </p:sp>
          <p:sp>
            <p:nvSpPr>
              <p:cNvPr name="TextBox 43" id="43"/>
              <p:cNvSpPr txBox="true"/>
              <p:nvPr/>
            </p:nvSpPr>
            <p:spPr>
              <a:xfrm>
                <a:off x="0" y="28575"/>
                <a:ext cx="801920" cy="790980"/>
              </a:xfrm>
              <a:prstGeom prst="rect">
                <a:avLst/>
              </a:prstGeom>
            </p:spPr>
            <p:txBody>
              <a:bodyPr anchor="ctr" rtlCol="false" tIns="44003" lIns="44003" bIns="44003" rIns="44003"/>
              <a:lstStyle/>
              <a:p>
                <a:pPr algn="ctr">
                  <a:lnSpc>
                    <a:spcPts val="1919"/>
                  </a:lnSpc>
                </a:pPr>
              </a:p>
            </p:txBody>
          </p:sp>
        </p:grpSp>
        <p:sp>
          <p:nvSpPr>
            <p:cNvPr name="TextBox 44" id="44"/>
            <p:cNvSpPr txBox="true"/>
            <p:nvPr/>
          </p:nvSpPr>
          <p:spPr>
            <a:xfrm rot="0">
              <a:off x="183810" y="1991844"/>
              <a:ext cx="7469224" cy="6367251"/>
            </a:xfrm>
            <a:prstGeom prst="rect">
              <a:avLst/>
            </a:prstGeom>
          </p:spPr>
          <p:txBody>
            <a:bodyPr anchor="t" rtlCol="false" tIns="0" lIns="0" bIns="0" rIns="0">
              <a:spAutoFit/>
            </a:bodyPr>
            <a:lstStyle/>
            <a:p>
              <a:pPr algn="l" marL="741619" indent="-370810" lvl="1">
                <a:lnSpc>
                  <a:spcPts val="3744"/>
                </a:lnSpc>
                <a:buFont typeface="Arial"/>
                <a:buChar char="•"/>
              </a:pPr>
              <a:r>
                <a:rPr lang="en-US" b="true" sz="3435">
                  <a:solidFill>
                    <a:srgbClr val="FFFFFF"/>
                  </a:solidFill>
                  <a:latin typeface="Poppins Semi-Bold"/>
                  <a:ea typeface="Poppins Semi-Bold"/>
                  <a:cs typeface="Poppins Semi-Bold"/>
                  <a:sym typeface="Poppins Semi-Bold"/>
                </a:rPr>
                <a:t>Specific, not general  </a:t>
              </a:r>
            </a:p>
            <a:p>
              <a:pPr algn="l" marL="741619" indent="-370810" lvl="1">
                <a:lnSpc>
                  <a:spcPts val="3744"/>
                </a:lnSpc>
                <a:buFont typeface="Arial"/>
                <a:buChar char="•"/>
              </a:pPr>
              <a:r>
                <a:rPr lang="en-US" b="true" sz="3435">
                  <a:solidFill>
                    <a:srgbClr val="FFFFFF"/>
                  </a:solidFill>
                  <a:latin typeface="Poppins Semi-Bold"/>
                  <a:ea typeface="Poppins Semi-Bold"/>
                  <a:cs typeface="Poppins Semi-Bold"/>
                  <a:sym typeface="Poppins Semi-Bold"/>
                </a:rPr>
                <a:t>Dated, so the tutor can see when it happened  </a:t>
              </a:r>
            </a:p>
            <a:p>
              <a:pPr algn="l" marL="741619" indent="-370810" lvl="1">
                <a:lnSpc>
                  <a:spcPts val="3744"/>
                </a:lnSpc>
                <a:buFont typeface="Arial"/>
                <a:buChar char="•"/>
              </a:pPr>
              <a:r>
                <a:rPr lang="en-US" b="true" sz="3435">
                  <a:solidFill>
                    <a:srgbClr val="FFFFFF"/>
                  </a:solidFill>
                  <a:latin typeface="Poppins Semi-Bold"/>
                  <a:ea typeface="Poppins Semi-Bold"/>
                  <a:cs typeface="Poppins Semi-Bold"/>
                  <a:sym typeface="Poppins Semi-Bold"/>
                </a:rPr>
                <a:t>About the behaviour, not the person  </a:t>
              </a:r>
            </a:p>
            <a:p>
              <a:pPr algn="l" marL="741619" indent="-370810" lvl="1">
                <a:lnSpc>
                  <a:spcPts val="3744"/>
                </a:lnSpc>
                <a:buFont typeface="Arial"/>
                <a:buChar char="•"/>
              </a:pPr>
              <a:r>
                <a:rPr lang="en-US" b="true" sz="3435">
                  <a:solidFill>
                    <a:srgbClr val="FFFFFF"/>
                  </a:solidFill>
                  <a:latin typeface="Poppins Semi-Bold"/>
                  <a:ea typeface="Poppins Semi-Bold"/>
                  <a:cs typeface="Poppins Semi-Bold"/>
                  <a:sym typeface="Poppins Semi-Bold"/>
                </a:rPr>
                <a:t>Says what could have been done differently, which is exactly what the form asks</a:t>
              </a:r>
            </a:p>
          </p:txBody>
        </p:sp>
        <p:sp>
          <p:nvSpPr>
            <p:cNvPr name="TextBox 45" id="45"/>
            <p:cNvSpPr txBox="true"/>
            <p:nvPr/>
          </p:nvSpPr>
          <p:spPr>
            <a:xfrm rot="0">
              <a:off x="207591" y="319457"/>
              <a:ext cx="7859079" cy="1517620"/>
            </a:xfrm>
            <a:prstGeom prst="rect">
              <a:avLst/>
            </a:prstGeom>
          </p:spPr>
          <p:txBody>
            <a:bodyPr anchor="t" rtlCol="false" tIns="0" lIns="0" bIns="0" rIns="0">
              <a:spAutoFit/>
            </a:bodyPr>
            <a:lstStyle/>
            <a:p>
              <a:pPr algn="ctr">
                <a:lnSpc>
                  <a:spcPts val="4140"/>
                </a:lnSpc>
              </a:pPr>
              <a:r>
                <a:rPr lang="en-US" sz="4358" b="true">
                  <a:solidFill>
                    <a:srgbClr val="FFFFFF"/>
                  </a:solidFill>
                  <a:latin typeface="Poppins Heavy"/>
                  <a:ea typeface="Poppins Heavy"/>
                  <a:cs typeface="Poppins Heavy"/>
                  <a:sym typeface="Poppins Heavy"/>
                </a:rPr>
                <a:t>What</a:t>
              </a:r>
              <a:r>
                <a:rPr lang="en-US" b="true" sz="4358">
                  <a:solidFill>
                    <a:srgbClr val="FFFFFF"/>
                  </a:solidFill>
                  <a:latin typeface="Poppins Heavy"/>
                  <a:ea typeface="Poppins Heavy"/>
                  <a:cs typeface="Poppins Heavy"/>
                  <a:sym typeface="Poppins Heavy"/>
                </a:rPr>
                <a:t> makes the second one work:</a:t>
              </a:r>
            </a:p>
          </p:txBody>
        </p:sp>
      </p:grpSp>
    </p:spTree>
  </p:cSld>
  <p:clrMapOvr>
    <a:masterClrMapping/>
  </p:clrMapOvr>
</p:sld>
</file>

<file path=ppt/slides/slide35.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sp>
        <p:nvSpPr>
          <p:cNvPr name="TextBox 15" id="15"/>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34</a:t>
            </a:r>
          </a:p>
        </p:txBody>
      </p:sp>
      <p:sp>
        <p:nvSpPr>
          <p:cNvPr name="TextBox 16" id="16"/>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17" id="17"/>
          <p:cNvSpPr txBox="true"/>
          <p:nvPr/>
        </p:nvSpPr>
        <p:spPr>
          <a:xfrm rot="0">
            <a:off x="415994" y="2569526"/>
            <a:ext cx="18193708" cy="2571529"/>
          </a:xfrm>
          <a:prstGeom prst="rect">
            <a:avLst/>
          </a:prstGeom>
        </p:spPr>
        <p:txBody>
          <a:bodyPr anchor="t" rtlCol="false" tIns="0" lIns="0" bIns="0" rIns="0">
            <a:spAutoFit/>
          </a:bodyPr>
          <a:lstStyle/>
          <a:p>
            <a:pPr algn="ctr">
              <a:lnSpc>
                <a:spcPts val="17708"/>
              </a:lnSpc>
            </a:pPr>
            <a:r>
              <a:rPr lang="en-US" sz="18640" b="true">
                <a:solidFill>
                  <a:srgbClr val="FFFFFF"/>
                </a:solidFill>
                <a:latin typeface="Poppins Heavy"/>
                <a:ea typeface="Poppins Heavy"/>
                <a:cs typeface="Poppins Heavy"/>
                <a:sym typeface="Poppins Heavy"/>
              </a:rPr>
              <a:t>DEBRIEF &amp;</a:t>
            </a:r>
          </a:p>
        </p:txBody>
      </p:sp>
      <p:grpSp>
        <p:nvGrpSpPr>
          <p:cNvPr name="Group 18" id="18"/>
          <p:cNvGrpSpPr/>
          <p:nvPr/>
        </p:nvGrpSpPr>
        <p:grpSpPr>
          <a:xfrm rot="158860">
            <a:off x="5647402" y="4659515"/>
            <a:ext cx="6903549" cy="2434004"/>
            <a:chOff x="0" y="0"/>
            <a:chExt cx="785335" cy="276888"/>
          </a:xfrm>
        </p:grpSpPr>
        <p:sp>
          <p:nvSpPr>
            <p:cNvPr name="Freeform 19" id="19"/>
            <p:cNvSpPr/>
            <p:nvPr/>
          </p:nvSpPr>
          <p:spPr>
            <a:xfrm flipH="false" flipV="false" rot="0">
              <a:off x="0" y="0"/>
              <a:ext cx="785335" cy="276888"/>
            </a:xfrm>
            <a:custGeom>
              <a:avLst/>
              <a:gdLst/>
              <a:ahLst/>
              <a:cxnLst/>
              <a:rect r="r" b="b" t="t" l="l"/>
              <a:pathLst>
                <a:path h="276888" w="785335">
                  <a:moveTo>
                    <a:pt x="16646" y="0"/>
                  </a:moveTo>
                  <a:lnTo>
                    <a:pt x="768688" y="0"/>
                  </a:lnTo>
                  <a:cubicBezTo>
                    <a:pt x="777882" y="0"/>
                    <a:pt x="785335" y="7453"/>
                    <a:pt x="785335" y="16646"/>
                  </a:cubicBezTo>
                  <a:lnTo>
                    <a:pt x="785335" y="260241"/>
                  </a:lnTo>
                  <a:cubicBezTo>
                    <a:pt x="785335" y="264656"/>
                    <a:pt x="783581" y="268890"/>
                    <a:pt x="780459" y="272012"/>
                  </a:cubicBezTo>
                  <a:cubicBezTo>
                    <a:pt x="777337" y="275134"/>
                    <a:pt x="773103" y="276888"/>
                    <a:pt x="768688" y="276888"/>
                  </a:cubicBezTo>
                  <a:lnTo>
                    <a:pt x="16646" y="276888"/>
                  </a:lnTo>
                  <a:cubicBezTo>
                    <a:pt x="12231" y="276888"/>
                    <a:pt x="7997" y="275134"/>
                    <a:pt x="4876" y="272012"/>
                  </a:cubicBezTo>
                  <a:cubicBezTo>
                    <a:pt x="1754" y="268890"/>
                    <a:pt x="0" y="264656"/>
                    <a:pt x="0" y="260241"/>
                  </a:cubicBezTo>
                  <a:lnTo>
                    <a:pt x="0" y="16646"/>
                  </a:lnTo>
                  <a:cubicBezTo>
                    <a:pt x="0" y="12231"/>
                    <a:pt x="1754" y="7997"/>
                    <a:pt x="4876" y="4876"/>
                  </a:cubicBezTo>
                  <a:cubicBezTo>
                    <a:pt x="7997" y="1754"/>
                    <a:pt x="12231" y="0"/>
                    <a:pt x="16646" y="0"/>
                  </a:cubicBezTo>
                  <a:close/>
                </a:path>
              </a:pathLst>
            </a:custGeom>
            <a:gradFill rotWithShape="true">
              <a:gsLst>
                <a:gs pos="0">
                  <a:srgbClr val="841F0B">
                    <a:alpha val="100000"/>
                  </a:srgbClr>
                </a:gs>
                <a:gs pos="100000">
                  <a:srgbClr val="DA4610">
                    <a:alpha val="100000"/>
                  </a:srgbClr>
                </a:gs>
              </a:gsLst>
              <a:lin ang="0"/>
            </a:gradFill>
          </p:spPr>
        </p:sp>
        <p:sp>
          <p:nvSpPr>
            <p:cNvPr name="TextBox 20" id="20"/>
            <p:cNvSpPr txBox="true"/>
            <p:nvPr/>
          </p:nvSpPr>
          <p:spPr>
            <a:xfrm>
              <a:off x="0" y="28575"/>
              <a:ext cx="785335" cy="248313"/>
            </a:xfrm>
            <a:prstGeom prst="rect">
              <a:avLst/>
            </a:prstGeom>
          </p:spPr>
          <p:txBody>
            <a:bodyPr anchor="ctr" rtlCol="false" tIns="80937" lIns="80937" bIns="80937" rIns="80937"/>
            <a:lstStyle/>
            <a:p>
              <a:pPr algn="ctr">
                <a:lnSpc>
                  <a:spcPts val="1919"/>
                </a:lnSpc>
              </a:pPr>
            </a:p>
          </p:txBody>
        </p:sp>
      </p:grpSp>
      <p:sp>
        <p:nvSpPr>
          <p:cNvPr name="TextBox 21" id="21"/>
          <p:cNvSpPr txBox="true"/>
          <p:nvPr/>
        </p:nvSpPr>
        <p:spPr>
          <a:xfrm rot="158385">
            <a:off x="6302728" y="4649005"/>
            <a:ext cx="6407955" cy="2571144"/>
          </a:xfrm>
          <a:prstGeom prst="rect">
            <a:avLst/>
          </a:prstGeom>
        </p:spPr>
        <p:txBody>
          <a:bodyPr anchor="t" rtlCol="false" tIns="0" lIns="0" bIns="0" rIns="0">
            <a:spAutoFit/>
          </a:bodyPr>
          <a:lstStyle/>
          <a:p>
            <a:pPr algn="l">
              <a:lnSpc>
                <a:spcPts val="17708"/>
              </a:lnSpc>
            </a:pPr>
            <a:r>
              <a:rPr lang="en-US" sz="18640" b="true">
                <a:solidFill>
                  <a:srgbClr val="FFFFFF"/>
                </a:solidFill>
                <a:latin typeface="Poppins Heavy"/>
                <a:ea typeface="Poppins Heavy"/>
                <a:cs typeface="Poppins Heavy"/>
                <a:sym typeface="Poppins Heavy"/>
              </a:rPr>
              <a:t>Q&amp;A</a:t>
            </a:r>
          </a:p>
        </p:txBody>
      </p:sp>
    </p:spTree>
  </p:cSld>
  <p:clrMapOvr>
    <a:masterClrMapping/>
  </p:clrMapOvr>
</p:sld>
</file>

<file path=ppt/slides/slide36.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sp>
        <p:nvSpPr>
          <p:cNvPr name="TextBox 15" id="15"/>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35</a:t>
            </a:r>
          </a:p>
        </p:txBody>
      </p:sp>
      <p:sp>
        <p:nvSpPr>
          <p:cNvPr name="TextBox 16" id="16"/>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17" id="17"/>
          <p:cNvSpPr txBox="true"/>
          <p:nvPr/>
        </p:nvSpPr>
        <p:spPr>
          <a:xfrm rot="127719">
            <a:off x="746930" y="2683196"/>
            <a:ext cx="16771498" cy="3584224"/>
          </a:xfrm>
          <a:prstGeom prst="rect">
            <a:avLst/>
          </a:prstGeom>
        </p:spPr>
        <p:txBody>
          <a:bodyPr anchor="t" rtlCol="false" tIns="0" lIns="0" bIns="0" rIns="0">
            <a:spAutoFit/>
          </a:bodyPr>
          <a:lstStyle/>
          <a:p>
            <a:pPr algn="ctr">
              <a:lnSpc>
                <a:spcPts val="12544"/>
              </a:lnSpc>
            </a:pPr>
            <a:r>
              <a:rPr lang="en-US" sz="17183" b="true">
                <a:solidFill>
                  <a:srgbClr val="FFFFFF"/>
                </a:solidFill>
                <a:latin typeface="Poppins Heavy"/>
                <a:ea typeface="Poppins Heavy"/>
                <a:cs typeface="Poppins Heavy"/>
                <a:sym typeface="Poppins Heavy"/>
              </a:rPr>
              <a:t>Placeholder for feedback</a:t>
            </a:r>
          </a:p>
        </p:txBody>
      </p:sp>
      <p:grpSp>
        <p:nvGrpSpPr>
          <p:cNvPr name="Group 18" id="18"/>
          <p:cNvGrpSpPr/>
          <p:nvPr/>
        </p:nvGrpSpPr>
        <p:grpSpPr>
          <a:xfrm rot="0">
            <a:off x="929555" y="5326522"/>
            <a:ext cx="16305297" cy="2042207"/>
            <a:chOff x="0" y="0"/>
            <a:chExt cx="21740396" cy="2722942"/>
          </a:xfrm>
        </p:grpSpPr>
        <p:grpSp>
          <p:nvGrpSpPr>
            <p:cNvPr name="Group 19" id="19"/>
            <p:cNvGrpSpPr/>
            <p:nvPr/>
          </p:nvGrpSpPr>
          <p:grpSpPr>
            <a:xfrm rot="158860">
              <a:off x="457420" y="476496"/>
              <a:ext cx="20670971" cy="1769950"/>
              <a:chOff x="0" y="0"/>
              <a:chExt cx="785335" cy="67244"/>
            </a:xfrm>
          </p:grpSpPr>
          <p:sp>
            <p:nvSpPr>
              <p:cNvPr name="Freeform 20" id="20"/>
              <p:cNvSpPr/>
              <p:nvPr/>
            </p:nvSpPr>
            <p:spPr>
              <a:xfrm flipH="false" flipV="false" rot="0">
                <a:off x="0" y="0"/>
                <a:ext cx="785335" cy="67244"/>
              </a:xfrm>
              <a:custGeom>
                <a:avLst/>
                <a:gdLst/>
                <a:ahLst/>
                <a:cxnLst/>
                <a:rect r="r" b="b" t="t" l="l"/>
                <a:pathLst>
                  <a:path h="67244" w="785335">
                    <a:moveTo>
                      <a:pt x="8150" y="0"/>
                    </a:moveTo>
                    <a:lnTo>
                      <a:pt x="777185" y="0"/>
                    </a:lnTo>
                    <a:cubicBezTo>
                      <a:pt x="781686" y="0"/>
                      <a:pt x="785335" y="3649"/>
                      <a:pt x="785335" y="8150"/>
                    </a:cubicBezTo>
                    <a:lnTo>
                      <a:pt x="785335" y="59094"/>
                    </a:lnTo>
                    <a:cubicBezTo>
                      <a:pt x="785335" y="61256"/>
                      <a:pt x="784476" y="63329"/>
                      <a:pt x="782948" y="64857"/>
                    </a:cubicBezTo>
                    <a:cubicBezTo>
                      <a:pt x="781419" y="66386"/>
                      <a:pt x="779346" y="67244"/>
                      <a:pt x="777185" y="67244"/>
                    </a:cubicBezTo>
                    <a:lnTo>
                      <a:pt x="8150" y="67244"/>
                    </a:lnTo>
                    <a:cubicBezTo>
                      <a:pt x="5988" y="67244"/>
                      <a:pt x="3915" y="66386"/>
                      <a:pt x="2387" y="64857"/>
                    </a:cubicBezTo>
                    <a:cubicBezTo>
                      <a:pt x="859" y="63329"/>
                      <a:pt x="0" y="61256"/>
                      <a:pt x="0" y="59094"/>
                    </a:cubicBezTo>
                    <a:lnTo>
                      <a:pt x="0" y="8150"/>
                    </a:lnTo>
                    <a:cubicBezTo>
                      <a:pt x="0" y="5988"/>
                      <a:pt x="859" y="3915"/>
                      <a:pt x="2387" y="2387"/>
                    </a:cubicBezTo>
                    <a:cubicBezTo>
                      <a:pt x="3915" y="859"/>
                      <a:pt x="5988" y="0"/>
                      <a:pt x="8150" y="0"/>
                    </a:cubicBezTo>
                    <a:close/>
                  </a:path>
                </a:pathLst>
              </a:custGeom>
              <a:gradFill rotWithShape="true">
                <a:gsLst>
                  <a:gs pos="0">
                    <a:srgbClr val="841F0B">
                      <a:alpha val="100000"/>
                    </a:srgbClr>
                  </a:gs>
                  <a:gs pos="100000">
                    <a:srgbClr val="DA4610">
                      <a:alpha val="100000"/>
                    </a:srgbClr>
                  </a:gs>
                </a:gsLst>
                <a:lin ang="0"/>
              </a:gradFill>
            </p:spPr>
          </p:sp>
          <p:sp>
            <p:nvSpPr>
              <p:cNvPr name="TextBox 21" id="21"/>
              <p:cNvSpPr txBox="true"/>
              <p:nvPr/>
            </p:nvSpPr>
            <p:spPr>
              <a:xfrm>
                <a:off x="0" y="28575"/>
                <a:ext cx="785335" cy="38669"/>
              </a:xfrm>
              <a:prstGeom prst="rect">
                <a:avLst/>
              </a:prstGeom>
            </p:spPr>
            <p:txBody>
              <a:bodyPr anchor="ctr" rtlCol="false" tIns="80937" lIns="80937" bIns="80937" rIns="80937"/>
              <a:lstStyle/>
              <a:p>
                <a:pPr algn="ctr">
                  <a:lnSpc>
                    <a:spcPts val="1919"/>
                  </a:lnSpc>
                </a:pPr>
              </a:p>
            </p:txBody>
          </p:sp>
        </p:grpSp>
        <p:sp>
          <p:nvSpPr>
            <p:cNvPr name="TextBox 22" id="22"/>
            <p:cNvSpPr txBox="true"/>
            <p:nvPr/>
          </p:nvSpPr>
          <p:spPr>
            <a:xfrm rot="135597">
              <a:off x="12587" y="887998"/>
              <a:ext cx="21706207" cy="1066535"/>
            </a:xfrm>
            <a:prstGeom prst="rect">
              <a:avLst/>
            </a:prstGeom>
          </p:spPr>
          <p:txBody>
            <a:bodyPr anchor="t" rtlCol="false" tIns="0" lIns="0" bIns="0" rIns="0">
              <a:spAutoFit/>
            </a:bodyPr>
            <a:lstStyle/>
            <a:p>
              <a:pPr algn="ctr">
                <a:lnSpc>
                  <a:spcPts val="4668"/>
                </a:lnSpc>
              </a:pPr>
              <a:r>
                <a:rPr lang="en-US" sz="6395" b="true">
                  <a:solidFill>
                    <a:srgbClr val="FFFFFF"/>
                  </a:solidFill>
                  <a:latin typeface="Poppins Heavy"/>
                  <a:ea typeface="Poppins Heavy"/>
                  <a:cs typeface="Poppins Heavy"/>
                  <a:sym typeface="Poppins Heavy"/>
                </a:rPr>
                <a:t>(this slide will be interactive Menti)</a:t>
              </a:r>
            </a:p>
          </p:txBody>
        </p:sp>
      </p:grpSp>
    </p:spTree>
  </p:cSld>
  <p:clrMapOvr>
    <a:masterClrMapping/>
  </p:clrMapOvr>
</p:sld>
</file>

<file path=ppt/slides/slide37.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F08839">
                <a:alpha val="100000"/>
              </a:srgbClr>
            </a:gs>
            <a:gs pos="50000">
              <a:srgbClr val="FEB06D">
                <a:alpha val="100000"/>
              </a:srgbClr>
            </a:gs>
            <a:gs pos="100000">
              <a:srgbClr val="FFC695">
                <a:alpha val="100000"/>
              </a:srgbClr>
            </a:gs>
          </a:gsLst>
          <a:lin ang="0"/>
        </a:gradFill>
      </p:bgPr>
    </p:bg>
    <p:spTree>
      <p:nvGrpSpPr>
        <p:cNvPr id="1" name=""/>
        <p:cNvGrpSpPr/>
        <p:nvPr/>
      </p:nvGrpSpPr>
      <p:grpSpPr>
        <a:xfrm>
          <a:off x="0" y="0"/>
          <a:ext cx="0" cy="0"/>
          <a:chOff x="0" y="0"/>
          <a:chExt cx="0" cy="0"/>
        </a:xfrm>
      </p:grpSpPr>
      <p:sp>
        <p:nvSpPr>
          <p:cNvPr name="Freeform 2" id="2"/>
          <p:cNvSpPr/>
          <p:nvPr/>
        </p:nvSpPr>
        <p:spPr>
          <a:xfrm flipH="false" flipV="false" rot="0">
            <a:off x="-177335" y="-4014935"/>
            <a:ext cx="18503435" cy="18503435"/>
          </a:xfrm>
          <a:custGeom>
            <a:avLst/>
            <a:gdLst/>
            <a:ahLst/>
            <a:cxnLst/>
            <a:rect r="r" b="b" t="t" l="l"/>
            <a:pathLst>
              <a:path h="18503435" w="18503435">
                <a:moveTo>
                  <a:pt x="0" y="0"/>
                </a:moveTo>
                <a:lnTo>
                  <a:pt x="18503435" y="0"/>
                </a:lnTo>
                <a:lnTo>
                  <a:pt x="18503435" y="18503435"/>
                </a:lnTo>
                <a:lnTo>
                  <a:pt x="0" y="18503435"/>
                </a:lnTo>
                <a:lnTo>
                  <a:pt x="0" y="0"/>
                </a:lnTo>
                <a:close/>
              </a:path>
            </a:pathLst>
          </a:custGeom>
          <a:blipFill>
            <a:blip r:embed="rId2">
              <a:alphaModFix amt="65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271343" y="6014118"/>
            <a:ext cx="22249068" cy="5784758"/>
          </a:xfrm>
          <a:custGeom>
            <a:avLst/>
            <a:gdLst/>
            <a:ahLst/>
            <a:cxnLst/>
            <a:rect r="r" b="b" t="t" l="l"/>
            <a:pathLst>
              <a:path h="5784758" w="22249068">
                <a:moveTo>
                  <a:pt x="0" y="0"/>
                </a:moveTo>
                <a:lnTo>
                  <a:pt x="22249069" y="0"/>
                </a:lnTo>
                <a:lnTo>
                  <a:pt x="22249069" y="5784758"/>
                </a:lnTo>
                <a:lnTo>
                  <a:pt x="0" y="5784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415994" y="9258300"/>
            <a:ext cx="4387595" cy="2093523"/>
            <a:chOff x="0" y="0"/>
            <a:chExt cx="5850127" cy="2791364"/>
          </a:xfrm>
        </p:grpSpPr>
        <p:grpSp>
          <p:nvGrpSpPr>
            <p:cNvPr name="Group 5" id="5"/>
            <p:cNvGrpSpPr/>
            <p:nvPr/>
          </p:nvGrpSpPr>
          <p:grpSpPr>
            <a:xfrm rot="0">
              <a:off x="0" y="0"/>
              <a:ext cx="5850127" cy="2791364"/>
              <a:chOff x="0" y="0"/>
              <a:chExt cx="902797" cy="430766"/>
            </a:xfrm>
          </p:grpSpPr>
          <p:sp>
            <p:nvSpPr>
              <p:cNvPr name="Freeform 6" id="6"/>
              <p:cNvSpPr/>
              <p:nvPr/>
            </p:nvSpPr>
            <p:spPr>
              <a:xfrm flipH="false" flipV="false" rot="0">
                <a:off x="0" y="0"/>
                <a:ext cx="902797" cy="430766"/>
              </a:xfrm>
              <a:custGeom>
                <a:avLst/>
                <a:gdLst/>
                <a:ahLst/>
                <a:cxnLst/>
                <a:rect r="r" b="b" t="t" l="l"/>
                <a:pathLst>
                  <a:path h="430766" w="902797">
                    <a:moveTo>
                      <a:pt x="93739" y="0"/>
                    </a:moveTo>
                    <a:lnTo>
                      <a:pt x="809058" y="0"/>
                    </a:lnTo>
                    <a:cubicBezTo>
                      <a:pt x="860829" y="0"/>
                      <a:pt x="902797" y="41968"/>
                      <a:pt x="902797" y="93739"/>
                    </a:cubicBezTo>
                    <a:lnTo>
                      <a:pt x="902797" y="337027"/>
                    </a:lnTo>
                    <a:cubicBezTo>
                      <a:pt x="902797" y="361888"/>
                      <a:pt x="892921" y="385731"/>
                      <a:pt x="875342" y="403310"/>
                    </a:cubicBezTo>
                    <a:cubicBezTo>
                      <a:pt x="857762" y="420890"/>
                      <a:pt x="833919" y="430766"/>
                      <a:pt x="809058" y="430766"/>
                    </a:cubicBezTo>
                    <a:lnTo>
                      <a:pt x="93739" y="430766"/>
                    </a:lnTo>
                    <a:cubicBezTo>
                      <a:pt x="68878" y="430766"/>
                      <a:pt x="45035" y="420890"/>
                      <a:pt x="27456" y="403310"/>
                    </a:cubicBezTo>
                    <a:cubicBezTo>
                      <a:pt x="9876" y="385731"/>
                      <a:pt x="0" y="361888"/>
                      <a:pt x="0" y="337027"/>
                    </a:cubicBezTo>
                    <a:lnTo>
                      <a:pt x="0" y="93739"/>
                    </a:lnTo>
                    <a:cubicBezTo>
                      <a:pt x="0" y="41968"/>
                      <a:pt x="41968" y="0"/>
                      <a:pt x="93739" y="0"/>
                    </a:cubicBezTo>
                    <a:close/>
                  </a:path>
                </a:pathLst>
              </a:custGeom>
              <a:gradFill rotWithShape="true">
                <a:gsLst>
                  <a:gs pos="0">
                    <a:srgbClr val="F08839">
                      <a:alpha val="100000"/>
                    </a:srgbClr>
                  </a:gs>
                  <a:gs pos="50000">
                    <a:srgbClr val="FEB06D">
                      <a:alpha val="100000"/>
                    </a:srgbClr>
                  </a:gs>
                  <a:gs pos="100000">
                    <a:srgbClr val="FFC695">
                      <a:alpha val="100000"/>
                    </a:srgbClr>
                  </a:gs>
                </a:gsLst>
                <a:lin ang="0"/>
              </a:gradFill>
            </p:spPr>
          </p:sp>
          <p:sp>
            <p:nvSpPr>
              <p:cNvPr name="TextBox 7" id="7"/>
              <p:cNvSpPr txBox="true"/>
              <p:nvPr/>
            </p:nvSpPr>
            <p:spPr>
              <a:xfrm>
                <a:off x="0" y="28575"/>
                <a:ext cx="902797" cy="402191"/>
              </a:xfrm>
              <a:prstGeom prst="rect">
                <a:avLst/>
              </a:prstGeom>
            </p:spPr>
            <p:txBody>
              <a:bodyPr anchor="ctr" rtlCol="false" tIns="50800" lIns="50800" bIns="50800" rIns="50800"/>
              <a:lstStyle/>
              <a:p>
                <a:pPr algn="ctr">
                  <a:lnSpc>
                    <a:spcPts val="1919"/>
                  </a:lnSpc>
                </a:pPr>
              </a:p>
            </p:txBody>
          </p:sp>
        </p:grpSp>
        <p:sp>
          <p:nvSpPr>
            <p:cNvPr name="Freeform 8" id="8"/>
            <p:cNvSpPr/>
            <p:nvPr/>
          </p:nvSpPr>
          <p:spPr>
            <a:xfrm flipH="false" flipV="false" rot="0">
              <a:off x="392923" y="91459"/>
              <a:ext cx="3233530" cy="1554266"/>
            </a:xfrm>
            <a:custGeom>
              <a:avLst/>
              <a:gdLst/>
              <a:ahLst/>
              <a:cxnLst/>
              <a:rect r="r" b="b" t="t" l="l"/>
              <a:pathLst>
                <a:path h="1554266" w="3233530">
                  <a:moveTo>
                    <a:pt x="0" y="0"/>
                  </a:moveTo>
                  <a:lnTo>
                    <a:pt x="3233529" y="0"/>
                  </a:lnTo>
                  <a:lnTo>
                    <a:pt x="3233529" y="1554265"/>
                  </a:lnTo>
                  <a:lnTo>
                    <a:pt x="0" y="1554265"/>
                  </a:lnTo>
                  <a:lnTo>
                    <a:pt x="0" y="0"/>
                  </a:lnTo>
                  <a:close/>
                </a:path>
              </a:pathLst>
            </a:custGeom>
            <a:blipFill>
              <a:blip r:embed="rId6"/>
              <a:stretch>
                <a:fillRect l="0" t="-15579" r="0" b="0"/>
              </a:stretch>
            </a:blipFill>
          </p:spPr>
        </p:sp>
      </p:grpSp>
      <p:grpSp>
        <p:nvGrpSpPr>
          <p:cNvPr name="Group 9" id="9"/>
          <p:cNvGrpSpPr/>
          <p:nvPr/>
        </p:nvGrpSpPr>
        <p:grpSpPr>
          <a:xfrm rot="0">
            <a:off x="3162265" y="9258300"/>
            <a:ext cx="11963470" cy="4031369"/>
            <a:chOff x="0" y="0"/>
            <a:chExt cx="1057797" cy="356449"/>
          </a:xfrm>
        </p:grpSpPr>
        <p:sp>
          <p:nvSpPr>
            <p:cNvPr name="Freeform 10" id="10"/>
            <p:cNvSpPr/>
            <p:nvPr/>
          </p:nvSpPr>
          <p:spPr>
            <a:xfrm flipH="false" flipV="false" rot="0">
              <a:off x="0" y="0"/>
              <a:ext cx="1057797" cy="356449"/>
            </a:xfrm>
            <a:custGeom>
              <a:avLst/>
              <a:gdLst/>
              <a:ahLst/>
              <a:cxnLst/>
              <a:rect r="r" b="b" t="t" l="l"/>
              <a:pathLst>
                <a:path h="356449" w="1057797">
                  <a:moveTo>
                    <a:pt x="50557" y="0"/>
                  </a:moveTo>
                  <a:lnTo>
                    <a:pt x="1007240" y="0"/>
                  </a:lnTo>
                  <a:cubicBezTo>
                    <a:pt x="1035162" y="0"/>
                    <a:pt x="1057797" y="22635"/>
                    <a:pt x="1057797" y="50557"/>
                  </a:cubicBezTo>
                  <a:lnTo>
                    <a:pt x="1057797" y="305892"/>
                  </a:lnTo>
                  <a:cubicBezTo>
                    <a:pt x="1057797" y="333814"/>
                    <a:pt x="1035162" y="356449"/>
                    <a:pt x="1007240" y="356449"/>
                  </a:cubicBezTo>
                  <a:lnTo>
                    <a:pt x="50557" y="356449"/>
                  </a:lnTo>
                  <a:cubicBezTo>
                    <a:pt x="22635" y="356449"/>
                    <a:pt x="0" y="333814"/>
                    <a:pt x="0" y="305892"/>
                  </a:cubicBezTo>
                  <a:lnTo>
                    <a:pt x="0" y="50557"/>
                  </a:lnTo>
                  <a:cubicBezTo>
                    <a:pt x="0" y="22635"/>
                    <a:pt x="22635" y="0"/>
                    <a:pt x="50557" y="0"/>
                  </a:cubicBezTo>
                  <a:close/>
                </a:path>
              </a:pathLst>
            </a:custGeom>
            <a:gradFill rotWithShape="true">
              <a:gsLst>
                <a:gs pos="0">
                  <a:srgbClr val="85200C">
                    <a:alpha val="100000"/>
                  </a:srgbClr>
                </a:gs>
                <a:gs pos="100000">
                  <a:srgbClr val="DC4B0F">
                    <a:alpha val="100000"/>
                  </a:srgbClr>
                </a:gs>
              </a:gsLst>
              <a:lin ang="0"/>
            </a:gradFill>
          </p:spPr>
        </p:sp>
        <p:sp>
          <p:nvSpPr>
            <p:cNvPr name="TextBox 11" id="11"/>
            <p:cNvSpPr txBox="true"/>
            <p:nvPr/>
          </p:nvSpPr>
          <p:spPr>
            <a:xfrm>
              <a:off x="0" y="-38100"/>
              <a:ext cx="1057797" cy="394549"/>
            </a:xfrm>
            <a:prstGeom prst="rect">
              <a:avLst/>
            </a:prstGeom>
          </p:spPr>
          <p:txBody>
            <a:bodyPr anchor="ctr" rtlCol="false" tIns="50800" lIns="50800" bIns="50800" rIns="50800"/>
            <a:lstStyle/>
            <a:p>
              <a:pPr algn="ctr">
                <a:lnSpc>
                  <a:spcPts val="2659"/>
                </a:lnSpc>
                <a:spcBef>
                  <a:spcPct val="0"/>
                </a:spcBef>
              </a:pPr>
            </a:p>
          </p:txBody>
        </p:sp>
      </p:grpSp>
      <p:grpSp>
        <p:nvGrpSpPr>
          <p:cNvPr name="Group 12" id="12"/>
          <p:cNvGrpSpPr/>
          <p:nvPr/>
        </p:nvGrpSpPr>
        <p:grpSpPr>
          <a:xfrm rot="0">
            <a:off x="13874565" y="9023776"/>
            <a:ext cx="2263079" cy="2785329"/>
            <a:chOff x="0" y="0"/>
            <a:chExt cx="660400" cy="812800"/>
          </a:xfrm>
        </p:grpSpPr>
        <p:sp>
          <p:nvSpPr>
            <p:cNvPr name="Freeform 13" id="13"/>
            <p:cNvSpPr/>
            <p:nvPr/>
          </p:nvSpPr>
          <p:spPr>
            <a:xfrm flipH="false" flipV="false" rot="0">
              <a:off x="0" y="0"/>
              <a:ext cx="660400" cy="812800"/>
            </a:xfrm>
            <a:custGeom>
              <a:avLst/>
              <a:gdLst/>
              <a:ahLst/>
              <a:cxnLst/>
              <a:rect r="r" b="b" t="t" l="l"/>
              <a:pathLst>
                <a:path h="812800" w="6604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gradFill rotWithShape="true">
              <a:gsLst>
                <a:gs pos="0">
                  <a:srgbClr val="85200C">
                    <a:alpha val="100000"/>
                  </a:srgbClr>
                </a:gs>
                <a:gs pos="100000">
                  <a:srgbClr val="DC4B0F">
                    <a:alpha val="100000"/>
                  </a:srgbClr>
                </a:gs>
              </a:gsLst>
              <a:lin ang="0"/>
            </a:gradFill>
          </p:spPr>
        </p:sp>
        <p:sp>
          <p:nvSpPr>
            <p:cNvPr name="TextBox 14" id="14"/>
            <p:cNvSpPr txBox="true"/>
            <p:nvPr/>
          </p:nvSpPr>
          <p:spPr>
            <a:xfrm>
              <a:off x="0" y="155575"/>
              <a:ext cx="660400" cy="657225"/>
            </a:xfrm>
            <a:prstGeom prst="rect">
              <a:avLst/>
            </a:prstGeom>
          </p:spPr>
          <p:txBody>
            <a:bodyPr anchor="ctr" rtlCol="false" tIns="50800" lIns="50800" bIns="50800" rIns="50800"/>
            <a:lstStyle/>
            <a:p>
              <a:pPr algn="ctr">
                <a:lnSpc>
                  <a:spcPts val="1919"/>
                </a:lnSpc>
              </a:pPr>
            </a:p>
          </p:txBody>
        </p:sp>
      </p:grpSp>
      <p:sp>
        <p:nvSpPr>
          <p:cNvPr name="TextBox 15" id="15"/>
          <p:cNvSpPr txBox="true"/>
          <p:nvPr/>
        </p:nvSpPr>
        <p:spPr>
          <a:xfrm rot="0">
            <a:off x="14612249" y="9372600"/>
            <a:ext cx="1061070" cy="816970"/>
          </a:xfrm>
          <a:prstGeom prst="rect">
            <a:avLst/>
          </a:prstGeom>
        </p:spPr>
        <p:txBody>
          <a:bodyPr anchor="t" rtlCol="false" tIns="0" lIns="0" bIns="0" rIns="0">
            <a:spAutoFit/>
          </a:bodyPr>
          <a:lstStyle/>
          <a:p>
            <a:pPr algn="l">
              <a:lnSpc>
                <a:spcPts val="5733"/>
              </a:lnSpc>
            </a:pPr>
            <a:r>
              <a:rPr lang="en-US" sz="6035" b="true">
                <a:solidFill>
                  <a:srgbClr val="FFFFFF"/>
                </a:solidFill>
                <a:latin typeface="Poppins Heavy"/>
                <a:ea typeface="Poppins Heavy"/>
                <a:cs typeface="Poppins Heavy"/>
                <a:sym typeface="Poppins Heavy"/>
              </a:rPr>
              <a:t>36</a:t>
            </a:r>
          </a:p>
        </p:txBody>
      </p:sp>
      <p:sp>
        <p:nvSpPr>
          <p:cNvPr name="TextBox 16" id="16"/>
          <p:cNvSpPr txBox="true"/>
          <p:nvPr/>
        </p:nvSpPr>
        <p:spPr>
          <a:xfrm rot="0">
            <a:off x="3726851" y="9629933"/>
            <a:ext cx="10600166" cy="380827"/>
          </a:xfrm>
          <a:prstGeom prst="rect">
            <a:avLst/>
          </a:prstGeom>
        </p:spPr>
        <p:txBody>
          <a:bodyPr anchor="t" rtlCol="false" tIns="0" lIns="0" bIns="0" rIns="0">
            <a:spAutoFit/>
          </a:bodyPr>
          <a:lstStyle/>
          <a:p>
            <a:pPr algn="l">
              <a:lnSpc>
                <a:spcPts val="2604"/>
              </a:lnSpc>
            </a:pPr>
            <a:r>
              <a:rPr lang="en-US" sz="2742" b="true">
                <a:solidFill>
                  <a:srgbClr val="FFFFFF"/>
                </a:solidFill>
                <a:latin typeface="Poppins Semi-Bold"/>
                <a:ea typeface="Poppins Semi-Bold"/>
                <a:cs typeface="Poppins Semi-Bold"/>
                <a:sym typeface="Poppins Semi-Bold"/>
              </a:rPr>
              <a:t>RED FLAG, GREEN FLAG: What makes a good teammate?</a:t>
            </a:r>
          </a:p>
        </p:txBody>
      </p:sp>
      <p:sp>
        <p:nvSpPr>
          <p:cNvPr name="TextBox 17" id="17"/>
          <p:cNvSpPr txBox="true"/>
          <p:nvPr/>
        </p:nvSpPr>
        <p:spPr>
          <a:xfrm rot="0">
            <a:off x="415994" y="2569526"/>
            <a:ext cx="18193708" cy="2571529"/>
          </a:xfrm>
          <a:prstGeom prst="rect">
            <a:avLst/>
          </a:prstGeom>
        </p:spPr>
        <p:txBody>
          <a:bodyPr anchor="t" rtlCol="false" tIns="0" lIns="0" bIns="0" rIns="0">
            <a:spAutoFit/>
          </a:bodyPr>
          <a:lstStyle/>
          <a:p>
            <a:pPr algn="ctr">
              <a:lnSpc>
                <a:spcPts val="17708"/>
              </a:lnSpc>
            </a:pPr>
            <a:r>
              <a:rPr lang="en-US" sz="18640" b="true">
                <a:solidFill>
                  <a:srgbClr val="FFFFFF"/>
                </a:solidFill>
                <a:latin typeface="Poppins Heavy"/>
                <a:ea typeface="Poppins Heavy"/>
                <a:cs typeface="Poppins Heavy"/>
                <a:sym typeface="Poppins Heavy"/>
              </a:rPr>
              <a:t>THANK YOU</a:t>
            </a:r>
          </a:p>
        </p:txBody>
      </p:sp>
      <p:grpSp>
        <p:nvGrpSpPr>
          <p:cNvPr name="Group 18" id="18"/>
          <p:cNvGrpSpPr/>
          <p:nvPr/>
        </p:nvGrpSpPr>
        <p:grpSpPr>
          <a:xfrm rot="158860">
            <a:off x="2026522" y="4684060"/>
            <a:ext cx="15206884" cy="2434004"/>
            <a:chOff x="0" y="0"/>
            <a:chExt cx="1729907" cy="276888"/>
          </a:xfrm>
        </p:grpSpPr>
        <p:sp>
          <p:nvSpPr>
            <p:cNvPr name="Freeform 19" id="19"/>
            <p:cNvSpPr/>
            <p:nvPr/>
          </p:nvSpPr>
          <p:spPr>
            <a:xfrm flipH="false" flipV="false" rot="0">
              <a:off x="0" y="0"/>
              <a:ext cx="1729907" cy="276888"/>
            </a:xfrm>
            <a:custGeom>
              <a:avLst/>
              <a:gdLst/>
              <a:ahLst/>
              <a:cxnLst/>
              <a:rect r="r" b="b" t="t" l="l"/>
              <a:pathLst>
                <a:path h="276888" w="1729907">
                  <a:moveTo>
                    <a:pt x="7557" y="0"/>
                  </a:moveTo>
                  <a:lnTo>
                    <a:pt x="1722350" y="0"/>
                  </a:lnTo>
                  <a:cubicBezTo>
                    <a:pt x="1724354" y="0"/>
                    <a:pt x="1726276" y="796"/>
                    <a:pt x="1727693" y="2213"/>
                  </a:cubicBezTo>
                  <a:cubicBezTo>
                    <a:pt x="1729110" y="3631"/>
                    <a:pt x="1729907" y="5553"/>
                    <a:pt x="1729907" y="7557"/>
                  </a:cubicBezTo>
                  <a:lnTo>
                    <a:pt x="1729907" y="269331"/>
                  </a:lnTo>
                  <a:cubicBezTo>
                    <a:pt x="1729907" y="273504"/>
                    <a:pt x="1726523" y="276888"/>
                    <a:pt x="1722350" y="276888"/>
                  </a:cubicBezTo>
                  <a:lnTo>
                    <a:pt x="7557" y="276888"/>
                  </a:lnTo>
                  <a:cubicBezTo>
                    <a:pt x="5553" y="276888"/>
                    <a:pt x="3631" y="276092"/>
                    <a:pt x="2213" y="274674"/>
                  </a:cubicBezTo>
                  <a:cubicBezTo>
                    <a:pt x="796" y="273257"/>
                    <a:pt x="0" y="271335"/>
                    <a:pt x="0" y="269331"/>
                  </a:cubicBezTo>
                  <a:lnTo>
                    <a:pt x="0" y="7557"/>
                  </a:lnTo>
                  <a:cubicBezTo>
                    <a:pt x="0" y="5553"/>
                    <a:pt x="796" y="3631"/>
                    <a:pt x="2213" y="2213"/>
                  </a:cubicBezTo>
                  <a:cubicBezTo>
                    <a:pt x="3631" y="796"/>
                    <a:pt x="5553" y="0"/>
                    <a:pt x="7557" y="0"/>
                  </a:cubicBezTo>
                  <a:close/>
                </a:path>
              </a:pathLst>
            </a:custGeom>
            <a:gradFill rotWithShape="true">
              <a:gsLst>
                <a:gs pos="0">
                  <a:srgbClr val="841F0B">
                    <a:alpha val="100000"/>
                  </a:srgbClr>
                </a:gs>
                <a:gs pos="100000">
                  <a:srgbClr val="DA4610">
                    <a:alpha val="100000"/>
                  </a:srgbClr>
                </a:gs>
              </a:gsLst>
              <a:lin ang="0"/>
            </a:gradFill>
          </p:spPr>
        </p:sp>
        <p:sp>
          <p:nvSpPr>
            <p:cNvPr name="TextBox 20" id="20"/>
            <p:cNvSpPr txBox="true"/>
            <p:nvPr/>
          </p:nvSpPr>
          <p:spPr>
            <a:xfrm>
              <a:off x="0" y="28575"/>
              <a:ext cx="1729907" cy="248313"/>
            </a:xfrm>
            <a:prstGeom prst="rect">
              <a:avLst/>
            </a:prstGeom>
          </p:spPr>
          <p:txBody>
            <a:bodyPr anchor="ctr" rtlCol="false" tIns="80937" lIns="80937" bIns="80937" rIns="80937"/>
            <a:lstStyle/>
            <a:p>
              <a:pPr algn="ctr">
                <a:lnSpc>
                  <a:spcPts val="1919"/>
                </a:lnSpc>
              </a:pPr>
            </a:p>
          </p:txBody>
        </p:sp>
      </p:grpSp>
      <p:sp>
        <p:nvSpPr>
          <p:cNvPr name="TextBox 21" id="21"/>
          <p:cNvSpPr txBox="true"/>
          <p:nvPr/>
        </p:nvSpPr>
        <p:spPr>
          <a:xfrm rot="158385">
            <a:off x="2204473" y="4748698"/>
            <a:ext cx="16058655" cy="2571144"/>
          </a:xfrm>
          <a:prstGeom prst="rect">
            <a:avLst/>
          </a:prstGeom>
        </p:spPr>
        <p:txBody>
          <a:bodyPr anchor="t" rtlCol="false" tIns="0" lIns="0" bIns="0" rIns="0">
            <a:spAutoFit/>
          </a:bodyPr>
          <a:lstStyle/>
          <a:p>
            <a:pPr algn="l">
              <a:lnSpc>
                <a:spcPts val="17708"/>
              </a:lnSpc>
            </a:pPr>
            <a:r>
              <a:rPr lang="en-US" sz="18640" b="true">
                <a:solidFill>
                  <a:srgbClr val="FFFFFF"/>
                </a:solidFill>
                <a:latin typeface="Poppins Heavy"/>
                <a:ea typeface="Poppins Heavy"/>
                <a:cs typeface="Poppins Heavy"/>
                <a:sym typeface="Poppins Heavy"/>
              </a:rPr>
              <a:t>SELFIE TIME?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DAHU6PXj11c</dc:identifier>
  <dcterms:modified xsi:type="dcterms:W3CDTF">2011-08-01T06:04:30Z</dcterms:modified>
  <cp:revision>1</cp:revision>
  <dc:title>RED FLAG, GREEN FLAG: What makes a good teammate?</dc:title>
</cp:coreProperties>
</file>